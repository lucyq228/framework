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2D6EF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1B24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Subscribed</c:v>
                </c:pt>
                <c:pt idx="1">
                  <c:v>Clicked upgrade</c:v>
                </c:pt>
                <c:pt idx="2">
                  <c:v>Published an app</c:v>
                </c:pt>
                <c:pt idx="3">
                  <c:v>First prompt</c:v>
                </c:pt>
                <c:pt idx="4">
                  <c:v>Signed up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76</c:v>
                </c:pt>
                <c:pt idx="2">
                  <c:v>220</c:v>
                </c:pt>
                <c:pt idx="3">
                  <c:v>241</c:v>
                </c:pt>
                <c:pt idx="4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1B-4A13-BB64-10AB623916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b"/>
        <c:majorGridlines>
          <c:spPr>
            <a:ln w="12700" cap="flat">
              <a:solidFill>
                <a:srgbClr val="ED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Activation rate</c:v>
                </c:pt>
              </c:strCache>
            </c:strRef>
          </c:tx>
          <c:spPr>
            <a:solidFill>
              <a:srgbClr val="D8DFE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1B24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Referral</c:v>
                </c:pt>
                <c:pt idx="1">
                  <c:v>Organic</c:v>
                </c:pt>
                <c:pt idx="2">
                  <c:v>Social</c:v>
                </c:pt>
                <c:pt idx="3">
                  <c:v>Paid search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32.1</c:v>
                </c:pt>
                <c:pt idx="1">
                  <c:v>36.6</c:v>
                </c:pt>
                <c:pt idx="2">
                  <c:v>36.799999999999997</c:v>
                </c:pt>
                <c:pt idx="3">
                  <c:v>31.7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9B-4DBD-BC93-8B1F0E2F63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Conversion once activated</c:v>
                </c:pt>
              </c:strCache>
            </c:strRef>
          </c:tx>
          <c:spPr>
            <a:solidFill>
              <a:srgbClr val="2D6EF5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1B24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Referral</c:v>
                </c:pt>
                <c:pt idx="1">
                  <c:v>Organic</c:v>
                </c:pt>
                <c:pt idx="2">
                  <c:v>Social</c:v>
                </c:pt>
                <c:pt idx="3">
                  <c:v>Paid search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42.2</c:v>
                </c:pt>
                <c:pt idx="1">
                  <c:v>19.100000000000001</c:v>
                </c:pt>
                <c:pt idx="2">
                  <c:v>11.9</c:v>
                </c:pt>
                <c:pt idx="3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9B-4DBD-BC93-8B1F0E2F63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DEFF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4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014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the conversion problem is an activation problem. The funnel below the first prompt is healthy; the funnel above it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Prompted vs converted: chi-square 68.8, df=1, p~1e-16. Activation rate by source: chi-square 1.75, df=3, p=0.63 (no difference). Conversion given activation, paid_search vs rest: p=0.012. Timing of the first prompt does not matter (same-day 19.3% vs within-7-days 19.7%).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Sizing is deliberately framed as an upper bound: newly activated users are unlikely to convert as well as today's self-selected activators.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THUNKABLE  |  SR. DATA ANALYST ANALYTICAL EXERCISE  |  HYUN-BI PARK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losing paid conversions at the checkout.</a:t>
            </a:r>
            <a:endParaRPr lang="en-US" sz="33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losing them before anyone builds anything.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456691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3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thirds of sign-ups never type a single prompt. Everything downstream of that first prompt already works.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28707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3457307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4280267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sign-ups never submit</a:t>
            </a:r>
            <a:endParaRPr lang="en-US" sz="13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prompt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5066651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 of 700 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3228707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3457307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B8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11x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81728" y="4280267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once a</a:t>
            </a:r>
            <a:endParaRPr lang="en-US" sz="13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one prompt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81728" y="5066651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 vs 1.7%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3228707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03336" y="3457307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B8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 → 11%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03336" y="4280267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search: share of sign-ups</a:t>
            </a:r>
            <a:endParaRPr lang="en-US" sz="13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share of subscribers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03336" y="5066651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users, 6 paid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WHERE THE CONVERSION GAP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broken step — and a separate paid-search problem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81328"/>
          <a:ext cx="54406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users reaching each funnel stage</a:t>
            </a:r>
            <a:endParaRPr lang="en-US" sz="105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172200" y="1481328"/>
          <a:ext cx="54406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172200" y="45262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acquisition source. The gap between the grey bars is within statistical noise; the gap between the blue bars is not.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48640" y="4864608"/>
            <a:ext cx="5440680" cy="1591056"/>
          </a:xfrm>
          <a:prstGeom prst="roundRect">
            <a:avLst>
              <a:gd name="adj" fmla="val 4598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65.6% is lost at sign-up → first prompt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5340096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 users create an account and never describe an app. Everything after that step is healthy — 91% of users who prompt go on to publish. And the first app is the whole effect: conversion is 20.0% at one app, 21.0% at 2–3, 20.2% at 4+.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4864608"/>
            <a:ext cx="5440680" cy="1591056"/>
          </a:xfrm>
          <a:prstGeom prst="roundRect">
            <a:avLst>
              <a:gd name="adj" fmla="val 4598"/>
            </a:avLst>
          </a:prstGeom>
          <a:solidFill>
            <a:srgbClr val="EDF2FE"/>
          </a:solidFill>
          <a:ln w="12700">
            <a:solidFill>
              <a:srgbClr val="ED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4652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is a targeting problem, not an onboarding one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5340096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sources activate at 32–37%, so paid users behave normally inside the product — they just do not buy afterwards (8.3% vs referral's 42.2%). Paid search is 27% of sign-ups but only 11% of subscribers; referral is the mirror image.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activation first, then re-aim the paid budget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680960" cy="1298448"/>
          </a:xfrm>
          <a:prstGeom prst="roundRect">
            <a:avLst>
              <a:gd name="adj" fmla="val 5634"/>
            </a:avLst>
          </a:prstGeom>
          <a:solidFill>
            <a:srgbClr val="EDF2FE"/>
          </a:solidFill>
          <a:ln w="12700">
            <a:solidFill>
              <a:srgbClr val="ED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792224"/>
            <a:ext cx="384048" cy="384048"/>
          </a:xfrm>
          <a:prstGeom prst="ellipse">
            <a:avLst/>
          </a:prstGeom>
          <a:solidFill>
            <a:srgbClr val="2D6EF5"/>
          </a:solidFill>
          <a:ln w="12700">
            <a:solidFill>
              <a:srgbClr val="2D6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17190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first prompt unskippable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0116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new users straight into a prompt box with three pre-filled example apps instead of an empty dashboard. This is the single highest-leverage change available: it targets the only broken step.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89888" y="2578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· Measure: 7-day activation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768096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1248" y="3236976"/>
            <a:ext cx="384048" cy="384048"/>
          </a:xfrm>
          <a:prstGeom prst="ellipse">
            <a:avLst/>
          </a:prstGeom>
          <a:solidFill>
            <a:srgbClr val="AFC0DE"/>
          </a:solidFill>
          <a:ln w="12700">
            <a:solidFill>
              <a:srgbClr val="AFC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89888" y="31638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Re-aim paid search at intent, not volume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345643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toward build-intent and competitor terms, and hold the channel to cost per subscriber rather than cost per sign-up. Cutting spend outright is premature until we see keyword-level data.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89888" y="402336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Growth · Measure: cost per subscriber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768096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" y="4681728"/>
            <a:ext cx="384048" cy="384048"/>
          </a:xfrm>
          <a:prstGeom prst="ellipse">
            <a:avLst/>
          </a:prstGeom>
          <a:solidFill>
            <a:srgbClr val="AFC0DE"/>
          </a:solidFill>
          <a:ln w="12700">
            <a:solidFill>
              <a:srgbClr val="AFC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46085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referral, the best-converting channel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89888" y="490118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converts at 15.0% overall and 42.2% once activated — roughly five times paid search. It is 20% of sign-ups today and deserves a larger share of budget and product surface.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89888" y="546811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Growth · Measure: referral share of sign-ups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49640" y="1572768"/>
            <a:ext cx="3063240" cy="2761488"/>
          </a:xfrm>
          <a:prstGeom prst="roundRect">
            <a:avLst>
              <a:gd name="adj" fmla="val 2649"/>
            </a:avLst>
          </a:prstGeom>
          <a:solidFill>
            <a:srgbClr val="111C3A"/>
          </a:solidFill>
          <a:ln w="12700">
            <a:solidFill>
              <a:srgbClr val="111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2396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B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ACTIVATION REACHES 50%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823960" y="20848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+24%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8823960" y="285292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3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on the same traffic — 55 today, 68 at 50% activation, holding post-activation conversion constant.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23960" y="3931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 — see Flag 1.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49640" y="4498848"/>
            <a:ext cx="306324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23960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not 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23960" y="49194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users toward more apps, faster activation, or collaboration. None of the three separates converters from non-converters in this data.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verify before acting on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56816"/>
          </a:xfrm>
          <a:prstGeom prst="roundRect">
            <a:avLst>
              <a:gd name="adj" fmla="val 3738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819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Correlation, not proof of cause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2148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prompt convert 11x better — but motivated users both prompt and pay. Activation may be a symptom of intent rather than a cause of revenue. Recommendation 1 should ship as an A/B test, not a full rollout.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1956816"/>
          </a:xfrm>
          <a:prstGeom prst="roundRect">
            <a:avLst>
              <a:gd name="adj" fmla="val 3738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56248" y="1819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36% of subscribers never clicked upgrade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56248" y="2148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 55 subscribers have no upgrade_clicked event. Either a purchase path exists outside the tracked CTA, or the CTA is under-instrumented. Any CTA-to-purchase rate quoted today is understated.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13048"/>
            <a:ext cx="5349240" cy="1956816"/>
          </a:xfrm>
          <a:prstGeom prst="roundRect">
            <a:avLst>
              <a:gd name="adj" fmla="val 373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4032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Preview and publish events are unreliable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" y="43616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users published an app with no preview event, and app_published contains 38 duplicate rows. I excluded screen_previewed from the funnel and counted distinct users, not events. Worth an instrumentation audit.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813048"/>
            <a:ext cx="5349240" cy="1956816"/>
          </a:xfrm>
          <a:prstGeom prst="roundRect">
            <a:avLst>
              <a:gd name="adj" fmla="val 373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56248" y="4032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sample is small — do not read the monthly trend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56248" y="43616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conversions across six cohorts of roughly 115 users each. Monthly conversion swings from 15.3% to 3.3% and back, which is inside the noise band. 77% of timestamps are date-only, so no intra-day analysis is possible.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change the direction of the recommendation. They change how confidently the team should size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APPROACHED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process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720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whole-funnel view first, before splitting by anything, to find out where the loss actually sits. That showed one broken step — sign-up to first prompt — and a healthy funnel below it, which reframed the question from pricing to activation. I then split by source and decomposed the paid gap into activation versus conversion-given-activation. Activation was flat across sources (p = 0.63) while post-activation conversion was not (p = 0.012), which is what identifies paid search as a targeting problem rather than an onboarding one. Along the way I ruled out collaboration (7.5% vs 7.9%, flat), geography (the two extremes sit on the smallest cells, while the US at n=260 lands on the overall average) and a declining monthly trend (inside the noise band on 55 conversions). I also tested whether speed of activation mattered — it did not, which is why the recommendation is about whether the first prompt happens, not how fast.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26680" y="160020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28432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B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28432" y="2267712"/>
            <a:ext cx="128016" cy="128016"/>
          </a:xfrm>
          <a:prstGeom prst="ellipse">
            <a:avLst/>
          </a:prstGeom>
          <a:solidFill>
            <a:srgbClr val="5B8DF7"/>
          </a:solidFill>
          <a:ln w="12700">
            <a:solidFill>
              <a:srgbClr val="5B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84464" y="2132727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C3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data on the 459 who never prompted — did they see the prompt box at all, or drop at signup?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28432" y="3108960"/>
            <a:ext cx="128016" cy="128016"/>
          </a:xfrm>
          <a:prstGeom prst="ellipse">
            <a:avLst/>
          </a:prstGeom>
          <a:solidFill>
            <a:srgbClr val="5B8DF7"/>
          </a:solidFill>
          <a:ln w="12700">
            <a:solidFill>
              <a:srgbClr val="5B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84464" y="2973975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C3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and campaign breakdown inside paid_search, to separate bad channels from bad keywords.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28432" y="3950208"/>
            <a:ext cx="128016" cy="128016"/>
          </a:xfrm>
          <a:prstGeom prst="ellipse">
            <a:avLst/>
          </a:prstGeom>
          <a:solidFill>
            <a:srgbClr val="5B8DF7"/>
          </a:solidFill>
          <a:ln w="12700">
            <a:solidFill>
              <a:srgbClr val="5B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84464" y="380651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C3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subscriber by source. A 3.2% conversion rate on high-ACV paid users may still beat referral.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4791456"/>
            <a:ext cx="128016" cy="128016"/>
          </a:xfrm>
          <a:prstGeom prst="ellipse">
            <a:avLst/>
          </a:prstGeom>
          <a:solidFill>
            <a:srgbClr val="5B8DF7"/>
          </a:solidFill>
          <a:ln w="12700">
            <a:solidFill>
              <a:srgbClr val="5B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84464" y="454325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C3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untracked subscribers — identify the purchase path they used.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700 users, 2,165 events, cohorts Sep 2024 – Feb 2025  ·  all metrics counted on distinct users  ·  full SQL provided as a separate appendix (SQLite)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</Words>
  <Application>Microsoft Office PowerPoint</Application>
  <PresentationFormat>Widescreen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Thunkable - Paid Conversion Analysis</dc:title>
  <dc:subject>PptxGenJS Presentation</dc:subject>
  <dc:creator>Hyun-Bi (Trisha) Park</dc:creator>
  <cp:lastModifiedBy>Hyun-Bi Park</cp:lastModifiedBy>
  <cp:revision>4</cp:revision>
  <dcterms:created xsi:type="dcterms:W3CDTF">2026-08-14T21:09:03Z</dcterms:created>
  <dcterms:modified xsi:type="dcterms:W3CDTF">2026-08-14T21:11:50Z</dcterms:modified>
</cp:coreProperties>
</file>