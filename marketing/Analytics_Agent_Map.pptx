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3491e7cf8b44c3" /><Relationship Type="http://schemas.openxmlformats.org/officeDocument/2006/relationships/extended-properties" Target="/docProps/app.xml" Id="Rb71ebb8826ae408a" /><Relationship Type="http://schemas.openxmlformats.org/officeDocument/2006/relationships/officeDocument" Target="/ppt/presentation.xml" Id="Reb5c89fd9a6a4c7a" /></Relationships>
</file>

<file path=ppt/presentation.xml><?xml version="1.0" encoding="utf-8"?>
<p:presentation xmlns:p="http://schemas.openxmlformats.org/presentationml/2006/main">
  <p:sldMasterIdLst>
    <p:sldMasterId xmlns:r="http://schemas.openxmlformats.org/officeDocument/2006/relationships" id="2147483648" r:id="Rf202f0fb2ecb4430"/>
  </p:sldMasterIdLst>
  <p:notesMasterIdLst>
    <p:notesMasterId xmlns:r="http://schemas.openxmlformats.org/officeDocument/2006/relationships" r:id="Rfc7f04b8e45f4c8a"/>
  </p:notesMasterIdLst>
  <p:sldIdLst>
    <p:sldId xmlns:r="http://schemas.openxmlformats.org/officeDocument/2006/relationships" id="256" r:id="Rc594a0707c94406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a99c17d17a4178" /><Relationship Type="http://schemas.openxmlformats.org/officeDocument/2006/relationships/slideMaster" Target="/ppt/slideMasters/slideMaster1.xml" Id="Rf202f0fb2ecb4430" /><Relationship Type="http://schemas.openxmlformats.org/officeDocument/2006/relationships/notesMaster" Target="/ppt/notesMasters/notesMaster1.xml" Id="Rfc7f04b8e45f4c8a" /><Relationship Type="http://schemas.openxmlformats.org/officeDocument/2006/relationships/presProps" Target="/ppt/presProps.xml" Id="Re5643794df1d47c8" /><Relationship Type="http://schemas.openxmlformats.org/officeDocument/2006/relationships/tableStyles" Target="/ppt/tableStyles.xml" Id="R9b88722c8e6943d4" /><Relationship Type="http://schemas.openxmlformats.org/officeDocument/2006/relationships/slide" Target="/ppt/slides/slide1.xml" Id="Rc594a0707c9440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f55c2006e648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a290c888184629" /><Relationship Type="http://schemas.openxmlformats.org/officeDocument/2006/relationships/notesMaster" Target="/ppt/notesMasters/notesMaster1.xml" Id="R5f0e3e1ab93a44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design based on the project discussion. PACE is execution assessment, CSAT is customer satisfaction. Agents select appropriate methods rather than running all 20 skills automatically. The HTML companion retains explanatory detail for each skill and enables agent-to-skill highlighting. Association and regression do not alone establish causal effects. The workflow includes permissions, traceability, reproducibility and human review. Shared tools are capability categories, not a specific platform procurement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571b07cd0444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3f0f1dfecd4d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14c388ecde46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8a3a36cada49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0584a4d94b4a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d1ec406e2f4f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C959BE-86F9-47F6-A672-E6167A03DF4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B494BF-886D-4D47-9496-26038CE2E9C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6DB5A1-4373-4457-A63A-E152DD39076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8EAD8F-E1DF-4D47-9D73-281A9C496FE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C14941-E23B-43B5-ADB2-67A19E77B14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425D9D-B903-4DAA-B184-199C169EAB1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C293D1-101C-4AD9-9455-A89F0A61DB5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F78700-FE3C-424A-9C9E-9CB3E5094A6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6A7F0C-7098-440B-BB1C-AD03DC2A7BF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8DF4D5-FBBE-4E8C-91B4-C7B9613A204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c8171cc44f4cd6" /><Relationship Type="http://schemas.openxmlformats.org/officeDocument/2006/relationships/slideLayout" Target="/ppt/slideLayouts/slideLayout1.xml" Id="R2a8a757595514d4b" /><Relationship Type="http://schemas.openxmlformats.org/officeDocument/2006/relationships/slideLayout" Target="/ppt/slideLayouts/slideLayout2.xml" Id="R2f12f3bcc2c344f7" /><Relationship Type="http://schemas.openxmlformats.org/officeDocument/2006/relationships/slideLayout" Target="/ppt/slideLayouts/slideLayout3.xml" Id="R5a9436f73644417b" /><Relationship Type="http://schemas.openxmlformats.org/officeDocument/2006/relationships/slideLayout" Target="/ppt/slideLayouts/slideLayout4.xml" Id="R6748b76fc2d44ef7" /><Relationship Type="http://schemas.openxmlformats.org/officeDocument/2006/relationships/slideLayout" Target="/ppt/slideLayouts/slideLayout5.xml" Id="Rdacccff4b6fc4c3d" /><Relationship Type="http://schemas.openxmlformats.org/officeDocument/2006/relationships/slideLayout" Target="/ppt/slideLayouts/slideLayout6.xml" Id="R3f47aadb37b049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8a757595514d4b"/>
    <p:sldLayoutId xmlns:r="http://schemas.openxmlformats.org/officeDocument/2006/relationships" id="2147483650" r:id="R2f12f3bcc2c344f7"/>
    <p:sldLayoutId xmlns:r="http://schemas.openxmlformats.org/officeDocument/2006/relationships" id="2147483651" r:id="R5a9436f73644417b"/>
    <p:sldLayoutId xmlns:r="http://schemas.openxmlformats.org/officeDocument/2006/relationships" id="2147483652" r:id="R6748b76fc2d44ef7"/>
    <p:sldLayoutId xmlns:r="http://schemas.openxmlformats.org/officeDocument/2006/relationships" id="2147483653" r:id="Rdacccff4b6fc4c3d"/>
    <p:sldLayoutId xmlns:r="http://schemas.openxmlformats.org/officeDocument/2006/relationships" id="2147483654" r:id="R3f47aadb37b049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cb0aaec38f4043" /><Relationship Type="http://schemas.openxmlformats.org/officeDocument/2006/relationships/notesSlide" Target="/ppt/notesSlides/notesSlide1.xml" Id="Ra4a2b7f0191a45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C56492FA-003A-4221-9042-B13EF5575C87}"/>
              </a:ext>
            </a:extLst>
          </p:cNvPr>
          <p:cNvCxnSpPr>
            <a:stCxn xmlns:a="http://schemas.openxmlformats.org/drawingml/2006/main" id="20" idx="3"/>
            <a:endCxn xmlns:a="http://schemas.openxmlformats.org/drawingml/2006/main" id="25" idx="1"/>
          </p:cNvCxnSpPr>
          <p:nvPr/>
        </p:nvCxnSpPr>
        <p:spPr>
          <a:xfrm xmlns:a="http://schemas.openxmlformats.org/drawingml/2006/main">
            <a:off x="11925300" y="2547938"/>
            <a:ext cx="190500" cy="0"/>
          </a:xfrm>
          <a:prstGeom xmlns:a="http://schemas.openxmlformats.org/drawingml/2006/main" prst="straightConnector1">
            <a:avLst/>
          </a:prstGeom>
          <a:ln xmlns:a="http://schemas.openxmlformats.org/drawingml/2006/main" w="19050">
            <a:solidFill>
              <a:srgbClr val="12698A"/>
            </a:solidFill>
            <a:tailEnd type="triangle" w="sm" len="sm"/>
          </a:ln>
        </p:spPr>
      </p:cxnSp>
      <p:cxnSp>
        <p:nvCxnSpPr>
          <p:cNvPr id="32" name="">
            <a:extLst xmlns:a="http://schemas.openxmlformats.org/drawingml/2006/main">
              <a:ext uri="{FF2B5EF4-FFF2-40B4-BE49-F238E27FC236}">
                <a16:creationId xmlns:a16="http://schemas.microsoft.com/office/drawing/2014/main" id="{EA58ACFD-5E37-43AC-8247-B87142B2B6D6}"/>
              </a:ext>
            </a:extLst>
          </p:cNvPr>
          <p:cNvCxnSpPr>
            <a:stCxn xmlns:a="http://schemas.openxmlformats.org/drawingml/2006/main" id="15" idx="3"/>
            <a:endCxn xmlns:a="http://schemas.openxmlformats.org/drawingml/2006/main" id="20" idx="1"/>
          </p:cNvCxnSpPr>
          <p:nvPr/>
        </p:nvCxnSpPr>
        <p:spPr>
          <a:xfrm xmlns:a="http://schemas.openxmlformats.org/drawingml/2006/main">
            <a:off x="8991600" y="2547938"/>
            <a:ext cx="190500" cy="0"/>
          </a:xfrm>
          <a:prstGeom xmlns:a="http://schemas.openxmlformats.org/drawingml/2006/main" prst="straightConnector1">
            <a:avLst/>
          </a:prstGeom>
          <a:ln xmlns:a="http://schemas.openxmlformats.org/drawingml/2006/main" w="19050">
            <a:solidFill>
              <a:srgbClr val="12698A"/>
            </a:solidFill>
            <a:tailEnd type="triangle" w="sm" len="sm"/>
          </a:ln>
        </p:spPr>
      </p:cxnSp>
      <p:cxnSp>
        <p:nvCxnSpPr>
          <p:cNvPr id="31" name="">
            <a:extLst xmlns:a="http://schemas.openxmlformats.org/drawingml/2006/main">
              <a:ext uri="{FF2B5EF4-FFF2-40B4-BE49-F238E27FC236}">
                <a16:creationId xmlns:a16="http://schemas.microsoft.com/office/drawing/2014/main" id="{2324679B-CD9D-48DA-9C0D-4DAFC8F8F7DD}"/>
              </a:ext>
            </a:extLst>
          </p:cNvPr>
          <p:cNvCxnSpPr>
            <a:stCxn xmlns:a="http://schemas.openxmlformats.org/drawingml/2006/main" id="10" idx="3"/>
            <a:endCxn xmlns:a="http://schemas.openxmlformats.org/drawingml/2006/main" id="15" idx="1"/>
          </p:cNvCxnSpPr>
          <p:nvPr/>
        </p:nvCxnSpPr>
        <p:spPr>
          <a:xfrm xmlns:a="http://schemas.openxmlformats.org/drawingml/2006/main">
            <a:off x="6057900" y="2547938"/>
            <a:ext cx="190500" cy="0"/>
          </a:xfrm>
          <a:prstGeom xmlns:a="http://schemas.openxmlformats.org/drawingml/2006/main" prst="straightConnector1">
            <a:avLst/>
          </a:prstGeom>
          <a:ln xmlns:a="http://schemas.openxmlformats.org/drawingml/2006/main" w="19050">
            <a:solidFill>
              <a:srgbClr val="12698A"/>
            </a:solidFill>
            <a:tailEnd type="triangle" w="sm" len="sm"/>
          </a:ln>
        </p:spPr>
      </p:cxnSp>
      <p:cxnSp>
        <p:nvCxnSpPr>
          <p:cNvPr id="30" name="">
            <a:extLst xmlns:a="http://schemas.openxmlformats.org/drawingml/2006/main">
              <a:ext uri="{FF2B5EF4-FFF2-40B4-BE49-F238E27FC236}">
                <a16:creationId xmlns:a16="http://schemas.microsoft.com/office/drawing/2014/main" id="{7F71B805-5480-449A-B35F-9B890C39D5F8}"/>
              </a:ext>
            </a:extLst>
          </p:cNvPr>
          <p:cNvCxnSpPr>
            <a:stCxn xmlns:a="http://schemas.openxmlformats.org/drawingml/2006/main" id="5" idx="3"/>
            <a:endCxn xmlns:a="http://schemas.openxmlformats.org/drawingml/2006/main" id="10" idx="1"/>
          </p:cNvCxnSpPr>
          <p:nvPr/>
        </p:nvCxnSpPr>
        <p:spPr>
          <a:xfrm xmlns:a="http://schemas.openxmlformats.org/drawingml/2006/main">
            <a:off x="3124200" y="2547938"/>
            <a:ext cx="190500" cy="0"/>
          </a:xfrm>
          <a:prstGeom xmlns:a="http://schemas.openxmlformats.org/drawingml/2006/main" prst="straightConnector1">
            <a:avLst/>
          </a:prstGeom>
          <a:ln xmlns:a="http://schemas.openxmlformats.org/drawingml/2006/main" w="19050">
            <a:solidFill>
              <a:srgbClr val="12698A"/>
            </a:solidFill>
            <a:tailEnd type="triangle" w="sm" len="sm"/>
          </a:ln>
        </p:spPr>
      </p:cxnSp>
      <p:sp>
        <p:nvSpPr>
          <p:cNvPr id="93" name="">
            <a:extLst xmlns:a="http://schemas.openxmlformats.org/drawingml/2006/main">
              <a:ext uri="{FF2B5EF4-FFF2-40B4-BE49-F238E27FC236}">
                <a16:creationId xmlns:a16="http://schemas.microsoft.com/office/drawing/2014/main" id="{E701E2F9-3317-4AEC-8C8C-21B4E59E432D}"/>
              </a:ext>
            </a:extLst>
          </p:cNvPr>
          <p:cNvSpPr>
            <a:spLocks xmlns:a="http://schemas.openxmlformats.org/drawingml/2006/main" noGrp="1"/>
          </p:cNvSpPr>
          <p:nvPr/>
        </p:nvSpPr>
        <p:spPr>
          <a:xfrm xmlns:a="http://schemas.openxmlformats.org/drawingml/2006/main">
            <a:off x="381000" y="209550"/>
            <a:ext cx="1428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172E40"/>
                </a:solidFill>
                <a:latin typeface="Arial"/>
                <a:ea typeface="Arial"/>
                <a:cs typeface="Arial"/>
              </a:defRPr>
            </a:defPPr>
          </a:lstStyle>
          <a:p xmlns:a="http://schemas.openxmlformats.org/drawingml/2006/main">
            <a:pPr>
              <a:defRPr sz="3000" b="1">
                <a:solidFill>
                  <a:srgbClr val="172E40"/>
                </a:solidFill>
                <a:latin typeface="Arial"/>
                <a:ea typeface="Arial"/>
                <a:cs typeface="Arial"/>
              </a:defRPr>
            </a:pPr>
            <a:r>
              <a:rPr sz="3000" b="1">
                <a:solidFill>
                  <a:srgbClr val="172E40"/>
                </a:solidFill>
                <a:latin typeface="Arial"/>
                <a:ea typeface="Arial"/>
                <a:cs typeface="Arial"/>
              </a:rPr>
              <a:t>AI agents for operational analytics</a:t>
            </a:r>
          </a:p>
        </p:txBody>
      </p:sp>
      <p:sp>
        <p:nvSpPr>
          <p:cNvPr id="2" name="">
            <a:extLst xmlns:a="http://schemas.openxmlformats.org/drawingml/2006/main">
              <a:ext uri="{FF2B5EF4-FFF2-40B4-BE49-F238E27FC236}">
                <a16:creationId xmlns:a16="http://schemas.microsoft.com/office/drawing/2014/main" id="{4FE31951-1C13-4541-83E1-1713DB159570}"/>
              </a:ext>
            </a:extLst>
          </p:cNvPr>
          <p:cNvSpPr>
            <a:spLocks xmlns:a="http://schemas.openxmlformats.org/drawingml/2006/main" noGrp="1"/>
          </p:cNvSpPr>
          <p:nvPr/>
        </p:nvSpPr>
        <p:spPr>
          <a:xfrm xmlns:a="http://schemas.openxmlformats.org/drawingml/2006/main">
            <a:off x="381000" y="733425"/>
            <a:ext cx="1438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526778"/>
                </a:solidFill>
                <a:latin typeface="Arial"/>
                <a:ea typeface="Arial"/>
                <a:cs typeface="Arial"/>
              </a:defRPr>
            </a:defPPr>
          </a:lstStyle>
          <a:p xmlns:a="http://schemas.openxmlformats.org/drawingml/2006/main">
            <a:pPr>
              <a:defRPr sz="1725" b="0">
                <a:solidFill>
                  <a:srgbClr val="526778"/>
                </a:solidFill>
                <a:latin typeface="Arial"/>
                <a:ea typeface="Arial"/>
                <a:cs typeface="Arial"/>
              </a:defRPr>
            </a:pPr>
            <a:r>
              <a:rPr sz="1725" b="0">
                <a:solidFill>
                  <a:srgbClr val="526778"/>
                </a:solidFill>
                <a:latin typeface="Arial"/>
                <a:ea typeface="Arial"/>
                <a:cs typeface="Arial"/>
              </a:rPr>
              <a:t>PACE–CSAT pilot: five agents use a shared skill library to turn business questions into improvement opportunities</a:t>
            </a:r>
          </a:p>
        </p:txBody>
      </p:sp>
      <p:sp>
        <p:nvSpPr>
          <p:cNvPr id="3" name="">
            <a:extLst xmlns:a="http://schemas.openxmlformats.org/drawingml/2006/main">
              <a:ext uri="{FF2B5EF4-FFF2-40B4-BE49-F238E27FC236}">
                <a16:creationId xmlns:a16="http://schemas.microsoft.com/office/drawing/2014/main" id="{068899E6-1508-4406-A280-556E0CFE6E1B}"/>
              </a:ext>
            </a:extLst>
          </p:cNvPr>
          <p:cNvSpPr>
            <a:spLocks xmlns:a="http://schemas.openxmlformats.org/drawingml/2006/main" noGrp="1"/>
          </p:cNvSpPr>
          <p:nvPr/>
        </p:nvSpPr>
        <p:spPr>
          <a:xfrm xmlns:a="http://schemas.openxmlformats.org/drawingml/2006/main">
            <a:off x="381000" y="1171575"/>
            <a:ext cx="14478000" cy="333375"/>
          </a:xfrm>
          <a:prstGeom xmlns:a="http://schemas.openxmlformats.org/drawingml/2006/main" prst="rect">
            <a:avLst/>
          </a:prstGeom>
          <a:solidFill xmlns:a="http://schemas.openxmlformats.org/drawingml/2006/main">
            <a:srgbClr val="EDF3F6"/>
          </a:solidFill>
          <a:ln xmlns:a="http://schemas.openxmlformats.org/drawingml/2006/main" w="9525">
            <a:noFill/>
          </a:ln>
        </p:spPr>
      </p:sp>
      <p:sp>
        <p:nvSpPr>
          <p:cNvPr id="4" name="">
            <a:extLst xmlns:a="http://schemas.openxmlformats.org/drawingml/2006/main">
              <a:ext uri="{FF2B5EF4-FFF2-40B4-BE49-F238E27FC236}">
                <a16:creationId xmlns:a16="http://schemas.microsoft.com/office/drawing/2014/main" id="{4D3ECB42-8F5E-4B72-8685-1D7AE92B5361}"/>
              </a:ext>
            </a:extLst>
          </p:cNvPr>
          <p:cNvSpPr>
            <a:spLocks xmlns:a="http://schemas.openxmlformats.org/drawingml/2006/main" noGrp="1"/>
          </p:cNvSpPr>
          <p:nvPr/>
        </p:nvSpPr>
        <p:spPr>
          <a:xfrm xmlns:a="http://schemas.openxmlformats.org/drawingml/2006/main">
            <a:off x="523875" y="1200150"/>
            <a:ext cx="1419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SHARED ORCHESTRATION     Task routing, project context, method decisions and run history</a:t>
            </a:r>
          </a:p>
        </p:txBody>
      </p:sp>
      <p:sp>
        <p:nvSpPr>
          <p:cNvPr id="5" name="">
            <a:extLst xmlns:a="http://schemas.openxmlformats.org/drawingml/2006/main">
              <a:ext uri="{FF2B5EF4-FFF2-40B4-BE49-F238E27FC236}">
                <a16:creationId xmlns:a16="http://schemas.microsoft.com/office/drawing/2014/main" id="{5E276F4A-38AF-4899-A055-8EA07E2C41E1}"/>
              </a:ext>
            </a:extLst>
          </p:cNvPr>
          <p:cNvSpPr>
            <a:spLocks xmlns:a="http://schemas.openxmlformats.org/drawingml/2006/main" noGrp="1"/>
          </p:cNvSpPr>
          <p:nvPr/>
        </p:nvSpPr>
        <p:spPr>
          <a:xfrm xmlns:a="http://schemas.openxmlformats.org/drawingml/2006/main">
            <a:off x="381000" y="1743075"/>
            <a:ext cx="2743200" cy="1609725"/>
          </a:xfrm>
          <a:prstGeom xmlns:a="http://schemas.openxmlformats.org/drawingml/2006/main" prst="rect">
            <a:avLst/>
          </a:prstGeom>
          <a:solidFill xmlns:a="http://schemas.openxmlformats.org/drawingml/2006/main">
            <a:srgbClr val="EAF4F2"/>
          </a:solidFill>
          <a:ln xmlns:a="http://schemas.openxmlformats.org/drawingml/2006/main" w="9525">
            <a:solidFill>
              <a:srgbClr val="BFD4CF"/>
            </a:solidFill>
          </a:ln>
        </p:spPr>
      </p:sp>
      <p:sp>
        <p:nvSpPr>
          <p:cNvPr id="6" name="">
            <a:extLst xmlns:a="http://schemas.openxmlformats.org/drawingml/2006/main">
              <a:ext uri="{FF2B5EF4-FFF2-40B4-BE49-F238E27FC236}">
                <a16:creationId xmlns:a16="http://schemas.microsoft.com/office/drawing/2014/main" id="{1DEE2778-0043-4E01-8B21-EF3EFD38C4E4}"/>
              </a:ext>
            </a:extLst>
          </p:cNvPr>
          <p:cNvSpPr>
            <a:spLocks xmlns:a="http://schemas.openxmlformats.org/drawingml/2006/main" noGrp="1"/>
          </p:cNvSpPr>
          <p:nvPr/>
        </p:nvSpPr>
        <p:spPr>
          <a:xfrm xmlns:a="http://schemas.openxmlformats.org/drawingml/2006/main">
            <a:off x="495300" y="18192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72E40"/>
                </a:solidFill>
                <a:latin typeface="Arial"/>
                <a:ea typeface="Arial"/>
                <a:cs typeface="Arial"/>
              </a:defRPr>
            </a:defPPr>
          </a:lstStyle>
          <a:p xmlns:a="http://schemas.openxmlformats.org/drawingml/2006/main">
            <a:pPr>
              <a:defRPr sz="1575" b="1">
                <a:solidFill>
                  <a:srgbClr val="172E40"/>
                </a:solidFill>
                <a:latin typeface="Arial"/>
                <a:ea typeface="Arial"/>
                <a:cs typeface="Arial"/>
              </a:defRPr>
            </a:pPr>
            <a:r>
              <a:rPr sz="1575" b="1">
                <a:solidFill>
                  <a:srgbClr val="172E40"/>
                </a:solidFill>
                <a:latin typeface="Arial"/>
                <a:ea typeface="Arial"/>
                <a:cs typeface="Arial"/>
              </a:rPr>
              <a:t>A1  Scope &amp; hypotheses</a:t>
            </a:r>
          </a:p>
        </p:txBody>
      </p:sp>
      <p:sp>
        <p:nvSpPr>
          <p:cNvPr id="7" name="">
            <a:extLst xmlns:a="http://schemas.openxmlformats.org/drawingml/2006/main">
              <a:ext uri="{FF2B5EF4-FFF2-40B4-BE49-F238E27FC236}">
                <a16:creationId xmlns:a16="http://schemas.microsoft.com/office/drawing/2014/main" id="{42D71EFF-8B7E-45F1-AE85-CA5CA1DC638E}"/>
              </a:ext>
            </a:extLst>
          </p:cNvPr>
          <p:cNvSpPr>
            <a:spLocks xmlns:a="http://schemas.openxmlformats.org/drawingml/2006/main" noGrp="1"/>
          </p:cNvSpPr>
          <p:nvPr/>
        </p:nvSpPr>
        <p:spPr>
          <a:xfrm xmlns:a="http://schemas.openxmlformats.org/drawingml/2006/main">
            <a:off x="495300" y="222885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72E40"/>
                </a:solidFill>
                <a:latin typeface="Arial"/>
                <a:ea typeface="Arial"/>
                <a:cs typeface="Arial"/>
              </a:defRPr>
            </a:defPPr>
          </a:lstStyle>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Set purpose and hypotheses.</a:t>
            </a:r>
          </a:p>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Choose method pathways.</a:t>
            </a:r>
          </a:p>
        </p:txBody>
      </p:sp>
      <p:sp>
        <p:nvSpPr>
          <p:cNvPr id="8" name="">
            <a:extLst xmlns:a="http://schemas.openxmlformats.org/drawingml/2006/main">
              <a:ext uri="{FF2B5EF4-FFF2-40B4-BE49-F238E27FC236}">
                <a16:creationId xmlns:a16="http://schemas.microsoft.com/office/drawing/2014/main" id="{BEC7D77A-2230-4AA8-BD97-80337D45BC52}"/>
              </a:ext>
            </a:extLst>
          </p:cNvPr>
          <p:cNvSpPr>
            <a:spLocks xmlns:a="http://schemas.openxmlformats.org/drawingml/2006/main" noGrp="1"/>
          </p:cNvSpPr>
          <p:nvPr/>
        </p:nvSpPr>
        <p:spPr>
          <a:xfrm xmlns:a="http://schemas.openxmlformats.org/drawingml/2006/main">
            <a:off x="495300" y="2800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12698A"/>
                </a:solidFill>
                <a:latin typeface="Arial"/>
                <a:ea typeface="Arial"/>
                <a:cs typeface="Arial"/>
              </a:defRPr>
            </a:defPPr>
          </a:lstStyle>
          <a:p xmlns:a="http://schemas.openxmlformats.org/drawingml/2006/main">
            <a:pPr>
              <a:defRPr sz="1275" b="1">
                <a:solidFill>
                  <a:srgbClr val="12698A"/>
                </a:solidFill>
                <a:latin typeface="Arial"/>
                <a:ea typeface="Arial"/>
                <a:cs typeface="Arial"/>
              </a:defRPr>
            </a:pPr>
            <a:r>
              <a:rPr sz="1275" b="1">
                <a:solidFill>
                  <a:srgbClr val="12698A"/>
                </a:solidFill>
                <a:latin typeface="Arial"/>
                <a:ea typeface="Arial"/>
                <a:cs typeface="Arial"/>
              </a:rPr>
              <a:t>Brief + initial plan</a:t>
            </a:r>
          </a:p>
        </p:txBody>
      </p:sp>
      <p:sp>
        <p:nvSpPr>
          <p:cNvPr id="9" name="">
            <a:extLst xmlns:a="http://schemas.openxmlformats.org/drawingml/2006/main">
              <a:ext uri="{FF2B5EF4-FFF2-40B4-BE49-F238E27FC236}">
                <a16:creationId xmlns:a16="http://schemas.microsoft.com/office/drawing/2014/main" id="{CF2ADD51-5DCD-4902-B563-DCA7D593ED25}"/>
              </a:ext>
            </a:extLst>
          </p:cNvPr>
          <p:cNvSpPr>
            <a:spLocks xmlns:a="http://schemas.openxmlformats.org/drawingml/2006/main" noGrp="1"/>
          </p:cNvSpPr>
          <p:nvPr/>
        </p:nvSpPr>
        <p:spPr>
          <a:xfrm xmlns:a="http://schemas.openxmlformats.org/drawingml/2006/main">
            <a:off x="495300" y="308610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26778"/>
                </a:solidFill>
                <a:latin typeface="Arial"/>
                <a:ea typeface="Arial"/>
                <a:cs typeface="Arial"/>
              </a:defRPr>
            </a:defPPr>
          </a:lstStyle>
          <a:p xmlns:a="http://schemas.openxmlformats.org/drawingml/2006/main">
            <a:pPr>
              <a:defRPr sz="1125" b="0">
                <a:solidFill>
                  <a:srgbClr val="526778"/>
                </a:solidFill>
                <a:latin typeface="Arial"/>
                <a:ea typeface="Arial"/>
                <a:cs typeface="Arial"/>
              </a:defRPr>
            </a:pPr>
            <a:r>
              <a:rPr sz="1125" b="0">
                <a:solidFill>
                  <a:srgbClr val="526778"/>
                </a:solidFill>
                <a:latin typeface="Arial"/>
                <a:ea typeface="Arial"/>
                <a:cs typeface="Arial"/>
              </a:rPr>
              <a:t>Main skills: 01, 19–20</a:t>
            </a:r>
          </a:p>
        </p:txBody>
      </p:sp>
      <p:sp>
        <p:nvSpPr>
          <p:cNvPr id="10" name="">
            <a:extLst xmlns:a="http://schemas.openxmlformats.org/drawingml/2006/main">
              <a:ext uri="{FF2B5EF4-FFF2-40B4-BE49-F238E27FC236}">
                <a16:creationId xmlns:a16="http://schemas.microsoft.com/office/drawing/2014/main" id="{1A351BC5-3163-4BD2-B494-518EC049E471}"/>
              </a:ext>
            </a:extLst>
          </p:cNvPr>
          <p:cNvSpPr>
            <a:spLocks xmlns:a="http://schemas.openxmlformats.org/drawingml/2006/main" noGrp="1"/>
          </p:cNvSpPr>
          <p:nvPr/>
        </p:nvSpPr>
        <p:spPr>
          <a:xfrm xmlns:a="http://schemas.openxmlformats.org/drawingml/2006/main">
            <a:off x="3314700" y="1743075"/>
            <a:ext cx="2743200" cy="1609725"/>
          </a:xfrm>
          <a:prstGeom xmlns:a="http://schemas.openxmlformats.org/drawingml/2006/main" prst="rect">
            <a:avLst/>
          </a:prstGeom>
          <a:solidFill xmlns:a="http://schemas.openxmlformats.org/drawingml/2006/main">
            <a:srgbClr val="EAF4F2"/>
          </a:solidFill>
          <a:ln xmlns:a="http://schemas.openxmlformats.org/drawingml/2006/main" w="9525">
            <a:solidFill>
              <a:srgbClr val="BFD4CF"/>
            </a:solidFill>
          </a:ln>
        </p:spPr>
      </p:sp>
      <p:sp>
        <p:nvSpPr>
          <p:cNvPr id="11" name="">
            <a:extLst xmlns:a="http://schemas.openxmlformats.org/drawingml/2006/main">
              <a:ext uri="{FF2B5EF4-FFF2-40B4-BE49-F238E27FC236}">
                <a16:creationId xmlns:a16="http://schemas.microsoft.com/office/drawing/2014/main" id="{A7992D05-697D-4340-BA96-4D6364BF5C9E}"/>
              </a:ext>
            </a:extLst>
          </p:cNvPr>
          <p:cNvSpPr>
            <a:spLocks xmlns:a="http://schemas.openxmlformats.org/drawingml/2006/main" noGrp="1"/>
          </p:cNvSpPr>
          <p:nvPr/>
        </p:nvSpPr>
        <p:spPr>
          <a:xfrm xmlns:a="http://schemas.openxmlformats.org/drawingml/2006/main">
            <a:off x="3429000" y="18192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72E40"/>
                </a:solidFill>
                <a:latin typeface="Arial"/>
                <a:ea typeface="Arial"/>
                <a:cs typeface="Arial"/>
              </a:defRPr>
            </a:defPPr>
          </a:lstStyle>
          <a:p xmlns:a="http://schemas.openxmlformats.org/drawingml/2006/main">
            <a:pPr>
              <a:defRPr sz="1575" b="1">
                <a:solidFill>
                  <a:srgbClr val="172E40"/>
                </a:solidFill>
                <a:latin typeface="Arial"/>
                <a:ea typeface="Arial"/>
                <a:cs typeface="Arial"/>
              </a:defRPr>
            </a:pPr>
            <a:r>
              <a:rPr sz="1575" b="1">
                <a:solidFill>
                  <a:srgbClr val="172E40"/>
                </a:solidFill>
                <a:latin typeface="Arial"/>
                <a:ea typeface="Arial"/>
                <a:cs typeface="Arial"/>
              </a:rPr>
              <a:t>A2  Data &amp; method design</a:t>
            </a:r>
          </a:p>
        </p:txBody>
      </p:sp>
      <p:sp>
        <p:nvSpPr>
          <p:cNvPr id="12" name="">
            <a:extLst xmlns:a="http://schemas.openxmlformats.org/drawingml/2006/main">
              <a:ext uri="{FF2B5EF4-FFF2-40B4-BE49-F238E27FC236}">
                <a16:creationId xmlns:a16="http://schemas.microsoft.com/office/drawing/2014/main" id="{D07C1A49-7CDD-4485-8CCA-B70B68E4D847}"/>
              </a:ext>
            </a:extLst>
          </p:cNvPr>
          <p:cNvSpPr>
            <a:spLocks xmlns:a="http://schemas.openxmlformats.org/drawingml/2006/main" noGrp="1"/>
          </p:cNvSpPr>
          <p:nvPr/>
        </p:nvSpPr>
        <p:spPr>
          <a:xfrm xmlns:a="http://schemas.openxmlformats.org/drawingml/2006/main">
            <a:off x="3429000" y="222885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72E40"/>
                </a:solidFill>
                <a:latin typeface="Arial"/>
                <a:ea typeface="Arial"/>
                <a:cs typeface="Arial"/>
              </a:defRPr>
            </a:defPPr>
          </a:lstStyle>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Identify sources and features.</a:t>
            </a:r>
          </a:p>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Match methods to the question.</a:t>
            </a:r>
          </a:p>
        </p:txBody>
      </p:sp>
      <p:sp>
        <p:nvSpPr>
          <p:cNvPr id="13" name="">
            <a:extLst xmlns:a="http://schemas.openxmlformats.org/drawingml/2006/main">
              <a:ext uri="{FF2B5EF4-FFF2-40B4-BE49-F238E27FC236}">
                <a16:creationId xmlns:a16="http://schemas.microsoft.com/office/drawing/2014/main" id="{BCD67B45-D534-4827-83FF-9A48E05271DE}"/>
              </a:ext>
            </a:extLst>
          </p:cNvPr>
          <p:cNvSpPr>
            <a:spLocks xmlns:a="http://schemas.openxmlformats.org/drawingml/2006/main" noGrp="1"/>
          </p:cNvSpPr>
          <p:nvPr/>
        </p:nvSpPr>
        <p:spPr>
          <a:xfrm xmlns:a="http://schemas.openxmlformats.org/drawingml/2006/main">
            <a:off x="3429000" y="2800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12698A"/>
                </a:solidFill>
                <a:latin typeface="Arial"/>
                <a:ea typeface="Arial"/>
                <a:cs typeface="Arial"/>
              </a:defRPr>
            </a:defPPr>
          </a:lstStyle>
          <a:p xmlns:a="http://schemas.openxmlformats.org/drawingml/2006/main">
            <a:pPr>
              <a:defRPr sz="1275" b="1">
                <a:solidFill>
                  <a:srgbClr val="12698A"/>
                </a:solidFill>
                <a:latin typeface="Arial"/>
                <a:ea typeface="Arial"/>
                <a:cs typeface="Arial"/>
              </a:defRPr>
            </a:pPr>
            <a:r>
              <a:rPr sz="1275" b="1">
                <a:solidFill>
                  <a:srgbClr val="12698A"/>
                </a:solidFill>
                <a:latin typeface="Arial"/>
                <a:ea typeface="Arial"/>
                <a:cs typeface="Arial"/>
              </a:rPr>
              <a:t>Data map + analysis plan</a:t>
            </a:r>
          </a:p>
        </p:txBody>
      </p:sp>
      <p:sp>
        <p:nvSpPr>
          <p:cNvPr id="14" name="">
            <a:extLst xmlns:a="http://schemas.openxmlformats.org/drawingml/2006/main">
              <a:ext uri="{FF2B5EF4-FFF2-40B4-BE49-F238E27FC236}">
                <a16:creationId xmlns:a16="http://schemas.microsoft.com/office/drawing/2014/main" id="{CF3A9761-E875-416F-83D8-BF93B00083D0}"/>
              </a:ext>
            </a:extLst>
          </p:cNvPr>
          <p:cNvSpPr>
            <a:spLocks xmlns:a="http://schemas.openxmlformats.org/drawingml/2006/main" noGrp="1"/>
          </p:cNvSpPr>
          <p:nvPr/>
        </p:nvSpPr>
        <p:spPr>
          <a:xfrm xmlns:a="http://schemas.openxmlformats.org/drawingml/2006/main">
            <a:off x="3429000" y="308610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26778"/>
                </a:solidFill>
                <a:latin typeface="Arial"/>
                <a:ea typeface="Arial"/>
                <a:cs typeface="Arial"/>
              </a:defRPr>
            </a:defPPr>
          </a:lstStyle>
          <a:p xmlns:a="http://schemas.openxmlformats.org/drawingml/2006/main">
            <a:pPr>
              <a:defRPr sz="1125" b="0">
                <a:solidFill>
                  <a:srgbClr val="526778"/>
                </a:solidFill>
                <a:latin typeface="Arial"/>
                <a:ea typeface="Arial"/>
                <a:cs typeface="Arial"/>
              </a:defRPr>
            </a:pPr>
            <a:r>
              <a:rPr sz="1125" b="0">
                <a:solidFill>
                  <a:srgbClr val="526778"/>
                </a:solidFill>
                <a:latin typeface="Arial"/>
                <a:ea typeface="Arial"/>
                <a:cs typeface="Arial"/>
              </a:rPr>
              <a:t>Main skills: 01–03, 06–15, 17–18</a:t>
            </a:r>
          </a:p>
        </p:txBody>
      </p:sp>
      <p:sp>
        <p:nvSpPr>
          <p:cNvPr id="15" name="">
            <a:extLst xmlns:a="http://schemas.openxmlformats.org/drawingml/2006/main">
              <a:ext uri="{FF2B5EF4-FFF2-40B4-BE49-F238E27FC236}">
                <a16:creationId xmlns:a16="http://schemas.microsoft.com/office/drawing/2014/main" id="{95D496DC-09C2-4FA4-B1A9-B2BB9EFE579B}"/>
              </a:ext>
            </a:extLst>
          </p:cNvPr>
          <p:cNvSpPr>
            <a:spLocks xmlns:a="http://schemas.openxmlformats.org/drawingml/2006/main" noGrp="1"/>
          </p:cNvSpPr>
          <p:nvPr/>
        </p:nvSpPr>
        <p:spPr>
          <a:xfrm xmlns:a="http://schemas.openxmlformats.org/drawingml/2006/main">
            <a:off x="6248400" y="1743075"/>
            <a:ext cx="2743200" cy="1609725"/>
          </a:xfrm>
          <a:prstGeom xmlns:a="http://schemas.openxmlformats.org/drawingml/2006/main" prst="rect">
            <a:avLst/>
          </a:prstGeom>
          <a:solidFill xmlns:a="http://schemas.openxmlformats.org/drawingml/2006/main">
            <a:srgbClr val="EAF4F2"/>
          </a:solidFill>
          <a:ln xmlns:a="http://schemas.openxmlformats.org/drawingml/2006/main" w="9525">
            <a:solidFill>
              <a:srgbClr val="BFD4CF"/>
            </a:solidFill>
          </a:ln>
        </p:spPr>
      </p:sp>
      <p:sp>
        <p:nvSpPr>
          <p:cNvPr id="16" name="">
            <a:extLst xmlns:a="http://schemas.openxmlformats.org/drawingml/2006/main">
              <a:ext uri="{FF2B5EF4-FFF2-40B4-BE49-F238E27FC236}">
                <a16:creationId xmlns:a16="http://schemas.microsoft.com/office/drawing/2014/main" id="{F14A7127-6147-4042-9898-C07062167B9A}"/>
              </a:ext>
            </a:extLst>
          </p:cNvPr>
          <p:cNvSpPr>
            <a:spLocks xmlns:a="http://schemas.openxmlformats.org/drawingml/2006/main" noGrp="1"/>
          </p:cNvSpPr>
          <p:nvPr/>
        </p:nvSpPr>
        <p:spPr>
          <a:xfrm xmlns:a="http://schemas.openxmlformats.org/drawingml/2006/main">
            <a:off x="6362700" y="18192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72E40"/>
                </a:solidFill>
                <a:latin typeface="Arial"/>
                <a:ea typeface="Arial"/>
                <a:cs typeface="Arial"/>
              </a:defRPr>
            </a:defPPr>
          </a:lstStyle>
          <a:p xmlns:a="http://schemas.openxmlformats.org/drawingml/2006/main">
            <a:pPr>
              <a:defRPr sz="1575" b="1">
                <a:solidFill>
                  <a:srgbClr val="172E40"/>
                </a:solidFill>
                <a:latin typeface="Arial"/>
                <a:ea typeface="Arial"/>
                <a:cs typeface="Arial"/>
              </a:defRPr>
            </a:pPr>
            <a:r>
              <a:rPr sz="1575" b="1">
                <a:solidFill>
                  <a:srgbClr val="172E40"/>
                </a:solidFill>
                <a:latin typeface="Arial"/>
                <a:ea typeface="Arial"/>
                <a:cs typeface="Arial"/>
              </a:rPr>
              <a:t>A3  Readiness &amp; feasibility</a:t>
            </a:r>
          </a:p>
        </p:txBody>
      </p:sp>
      <p:sp>
        <p:nvSpPr>
          <p:cNvPr id="17" name="">
            <a:extLst xmlns:a="http://schemas.openxmlformats.org/drawingml/2006/main">
              <a:ext uri="{FF2B5EF4-FFF2-40B4-BE49-F238E27FC236}">
                <a16:creationId xmlns:a16="http://schemas.microsoft.com/office/drawing/2014/main" id="{61154E47-6F61-4FB4-98A5-A560D62C6717}"/>
              </a:ext>
            </a:extLst>
          </p:cNvPr>
          <p:cNvSpPr>
            <a:spLocks xmlns:a="http://schemas.openxmlformats.org/drawingml/2006/main" noGrp="1"/>
          </p:cNvSpPr>
          <p:nvPr/>
        </p:nvSpPr>
        <p:spPr>
          <a:xfrm xmlns:a="http://schemas.openxmlformats.org/drawingml/2006/main">
            <a:off x="6362700" y="222885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72E40"/>
                </a:solidFill>
                <a:latin typeface="Arial"/>
                <a:ea typeface="Arial"/>
                <a:cs typeface="Arial"/>
              </a:defRPr>
            </a:defPPr>
          </a:lstStyle>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Check quality and sample limits.</a:t>
            </a:r>
          </a:p>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Revise data structure if needed.</a:t>
            </a:r>
          </a:p>
        </p:txBody>
      </p:sp>
      <p:sp>
        <p:nvSpPr>
          <p:cNvPr id="18" name="">
            <a:extLst xmlns:a="http://schemas.openxmlformats.org/drawingml/2006/main">
              <a:ext uri="{FF2B5EF4-FFF2-40B4-BE49-F238E27FC236}">
                <a16:creationId xmlns:a16="http://schemas.microsoft.com/office/drawing/2014/main" id="{B78D9F73-CF6E-486B-9777-2F15D7058B2F}"/>
              </a:ext>
            </a:extLst>
          </p:cNvPr>
          <p:cNvSpPr>
            <a:spLocks xmlns:a="http://schemas.openxmlformats.org/drawingml/2006/main" noGrp="1"/>
          </p:cNvSpPr>
          <p:nvPr/>
        </p:nvSpPr>
        <p:spPr>
          <a:xfrm xmlns:a="http://schemas.openxmlformats.org/drawingml/2006/main">
            <a:off x="6362700" y="2800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12698A"/>
                </a:solidFill>
                <a:latin typeface="Arial"/>
                <a:ea typeface="Arial"/>
                <a:cs typeface="Arial"/>
              </a:defRPr>
            </a:defPPr>
          </a:lstStyle>
          <a:p xmlns:a="http://schemas.openxmlformats.org/drawingml/2006/main">
            <a:pPr>
              <a:defRPr sz="1275" b="1">
                <a:solidFill>
                  <a:srgbClr val="12698A"/>
                </a:solidFill>
                <a:latin typeface="Arial"/>
                <a:ea typeface="Arial"/>
                <a:cs typeface="Arial"/>
              </a:defRPr>
            </a:pPr>
            <a:r>
              <a:rPr sz="1275" b="1">
                <a:solidFill>
                  <a:srgbClr val="12698A"/>
                </a:solidFill>
                <a:latin typeface="Arial"/>
                <a:ea typeface="Arial"/>
                <a:cs typeface="Arial"/>
              </a:rPr>
              <a:t>Validated data + feasibility</a:t>
            </a:r>
          </a:p>
        </p:txBody>
      </p:sp>
      <p:sp>
        <p:nvSpPr>
          <p:cNvPr id="19" name="">
            <a:extLst xmlns:a="http://schemas.openxmlformats.org/drawingml/2006/main">
              <a:ext uri="{FF2B5EF4-FFF2-40B4-BE49-F238E27FC236}">
                <a16:creationId xmlns:a16="http://schemas.microsoft.com/office/drawing/2014/main" id="{7DFA852E-6BF2-4B3F-AEA7-41B91947F3C5}"/>
              </a:ext>
            </a:extLst>
          </p:cNvPr>
          <p:cNvSpPr>
            <a:spLocks xmlns:a="http://schemas.openxmlformats.org/drawingml/2006/main" noGrp="1"/>
          </p:cNvSpPr>
          <p:nvPr/>
        </p:nvSpPr>
        <p:spPr>
          <a:xfrm xmlns:a="http://schemas.openxmlformats.org/drawingml/2006/main">
            <a:off x="6362700" y="308610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26778"/>
                </a:solidFill>
                <a:latin typeface="Arial"/>
                <a:ea typeface="Arial"/>
                <a:cs typeface="Arial"/>
              </a:defRPr>
            </a:defPPr>
          </a:lstStyle>
          <a:p xmlns:a="http://schemas.openxmlformats.org/drawingml/2006/main">
            <a:pPr>
              <a:defRPr sz="1125" b="0">
                <a:solidFill>
                  <a:srgbClr val="526778"/>
                </a:solidFill>
                <a:latin typeface="Arial"/>
                <a:ea typeface="Arial"/>
                <a:cs typeface="Arial"/>
              </a:defRPr>
            </a:pPr>
            <a:r>
              <a:rPr sz="1125" b="0">
                <a:solidFill>
                  <a:srgbClr val="526778"/>
                </a:solidFill>
                <a:latin typeface="Arial"/>
                <a:ea typeface="Arial"/>
                <a:cs typeface="Arial"/>
              </a:rPr>
              <a:t>Main skills: 02–05, 18</a:t>
            </a:r>
          </a:p>
        </p:txBody>
      </p:sp>
      <p:sp>
        <p:nvSpPr>
          <p:cNvPr id="20" name="">
            <a:extLst xmlns:a="http://schemas.openxmlformats.org/drawingml/2006/main">
              <a:ext uri="{FF2B5EF4-FFF2-40B4-BE49-F238E27FC236}">
                <a16:creationId xmlns:a16="http://schemas.microsoft.com/office/drawing/2014/main" id="{42C62B34-C32C-4BB3-AA12-F3FB9A39CC35}"/>
              </a:ext>
            </a:extLst>
          </p:cNvPr>
          <p:cNvSpPr>
            <a:spLocks xmlns:a="http://schemas.openxmlformats.org/drawingml/2006/main" noGrp="1"/>
          </p:cNvSpPr>
          <p:nvPr/>
        </p:nvSpPr>
        <p:spPr>
          <a:xfrm xmlns:a="http://schemas.openxmlformats.org/drawingml/2006/main">
            <a:off x="9182100" y="1743075"/>
            <a:ext cx="2743200" cy="1609725"/>
          </a:xfrm>
          <a:prstGeom xmlns:a="http://schemas.openxmlformats.org/drawingml/2006/main" prst="rect">
            <a:avLst/>
          </a:prstGeom>
          <a:solidFill xmlns:a="http://schemas.openxmlformats.org/drawingml/2006/main">
            <a:srgbClr val="EAF4F2"/>
          </a:solidFill>
          <a:ln xmlns:a="http://schemas.openxmlformats.org/drawingml/2006/main" w="9525">
            <a:solidFill>
              <a:srgbClr val="BFD4CF"/>
            </a:solidFill>
          </a:ln>
        </p:spPr>
      </p:sp>
      <p:sp>
        <p:nvSpPr>
          <p:cNvPr id="21" name="">
            <a:extLst xmlns:a="http://schemas.openxmlformats.org/drawingml/2006/main">
              <a:ext uri="{FF2B5EF4-FFF2-40B4-BE49-F238E27FC236}">
                <a16:creationId xmlns:a16="http://schemas.microsoft.com/office/drawing/2014/main" id="{B93DE331-7C2D-4AE2-9133-7209252EB31F}"/>
              </a:ext>
            </a:extLst>
          </p:cNvPr>
          <p:cNvSpPr>
            <a:spLocks xmlns:a="http://schemas.openxmlformats.org/drawingml/2006/main" noGrp="1"/>
          </p:cNvSpPr>
          <p:nvPr/>
        </p:nvSpPr>
        <p:spPr>
          <a:xfrm xmlns:a="http://schemas.openxmlformats.org/drawingml/2006/main">
            <a:off x="9296400" y="18192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72E40"/>
                </a:solidFill>
                <a:latin typeface="Arial"/>
                <a:ea typeface="Arial"/>
                <a:cs typeface="Arial"/>
              </a:defRPr>
            </a:defPPr>
          </a:lstStyle>
          <a:p xmlns:a="http://schemas.openxmlformats.org/drawingml/2006/main">
            <a:pPr>
              <a:defRPr sz="1575" b="1">
                <a:solidFill>
                  <a:srgbClr val="172E40"/>
                </a:solidFill>
                <a:latin typeface="Arial"/>
                <a:ea typeface="Arial"/>
                <a:cs typeface="Arial"/>
              </a:defRPr>
            </a:pPr>
            <a:r>
              <a:rPr sz="1575" b="1">
                <a:solidFill>
                  <a:srgbClr val="172E40"/>
                </a:solidFill>
                <a:latin typeface="Arial"/>
                <a:ea typeface="Arial"/>
                <a:cs typeface="Arial"/>
              </a:rPr>
              <a:t>A4  Analysis execution</a:t>
            </a:r>
          </a:p>
        </p:txBody>
      </p:sp>
      <p:sp>
        <p:nvSpPr>
          <p:cNvPr id="22" name="">
            <a:extLst xmlns:a="http://schemas.openxmlformats.org/drawingml/2006/main">
              <a:ext uri="{FF2B5EF4-FFF2-40B4-BE49-F238E27FC236}">
                <a16:creationId xmlns:a16="http://schemas.microsoft.com/office/drawing/2014/main" id="{39CF0974-D87E-4774-9A85-79F75F8903D0}"/>
              </a:ext>
            </a:extLst>
          </p:cNvPr>
          <p:cNvSpPr>
            <a:spLocks xmlns:a="http://schemas.openxmlformats.org/drawingml/2006/main" noGrp="1"/>
          </p:cNvSpPr>
          <p:nvPr/>
        </p:nvSpPr>
        <p:spPr>
          <a:xfrm xmlns:a="http://schemas.openxmlformats.org/drawingml/2006/main">
            <a:off x="9296400" y="222885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72E40"/>
                </a:solidFill>
                <a:latin typeface="Arial"/>
                <a:ea typeface="Arial"/>
                <a:cs typeface="Arial"/>
              </a:defRPr>
            </a:defPPr>
          </a:lstStyle>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Run selected analyses.</a:t>
            </a:r>
          </a:p>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Check diagnostics and uncertainty.</a:t>
            </a:r>
          </a:p>
        </p:txBody>
      </p:sp>
      <p:sp>
        <p:nvSpPr>
          <p:cNvPr id="23" name="">
            <a:extLst xmlns:a="http://schemas.openxmlformats.org/drawingml/2006/main">
              <a:ext uri="{FF2B5EF4-FFF2-40B4-BE49-F238E27FC236}">
                <a16:creationId xmlns:a16="http://schemas.microsoft.com/office/drawing/2014/main" id="{DF861E3F-E350-42B8-83B7-5A6F0440AF14}"/>
              </a:ext>
            </a:extLst>
          </p:cNvPr>
          <p:cNvSpPr>
            <a:spLocks xmlns:a="http://schemas.openxmlformats.org/drawingml/2006/main" noGrp="1"/>
          </p:cNvSpPr>
          <p:nvPr/>
        </p:nvSpPr>
        <p:spPr>
          <a:xfrm xmlns:a="http://schemas.openxmlformats.org/drawingml/2006/main">
            <a:off x="9296400" y="2800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12698A"/>
                </a:solidFill>
                <a:latin typeface="Arial"/>
                <a:ea typeface="Arial"/>
                <a:cs typeface="Arial"/>
              </a:defRPr>
            </a:defPPr>
          </a:lstStyle>
          <a:p xmlns:a="http://schemas.openxmlformats.org/drawingml/2006/main">
            <a:pPr>
              <a:defRPr sz="1275" b="1">
                <a:solidFill>
                  <a:srgbClr val="12698A"/>
                </a:solidFill>
                <a:latin typeface="Arial"/>
                <a:ea typeface="Arial"/>
                <a:cs typeface="Arial"/>
              </a:defRPr>
            </a:pPr>
            <a:r>
              <a:rPr sz="1275" b="1">
                <a:solidFill>
                  <a:srgbClr val="12698A"/>
                </a:solidFill>
                <a:latin typeface="Arial"/>
                <a:ea typeface="Arial"/>
                <a:cs typeface="Arial"/>
              </a:rPr>
              <a:t>Code + results + diagnostics</a:t>
            </a:r>
          </a:p>
        </p:txBody>
      </p:sp>
      <p:sp>
        <p:nvSpPr>
          <p:cNvPr id="24" name="">
            <a:extLst xmlns:a="http://schemas.openxmlformats.org/drawingml/2006/main">
              <a:ext uri="{FF2B5EF4-FFF2-40B4-BE49-F238E27FC236}">
                <a16:creationId xmlns:a16="http://schemas.microsoft.com/office/drawing/2014/main" id="{D4BA168A-C105-44F0-9EF4-7C9CE3C43DB8}"/>
              </a:ext>
            </a:extLst>
          </p:cNvPr>
          <p:cNvSpPr>
            <a:spLocks xmlns:a="http://schemas.openxmlformats.org/drawingml/2006/main" noGrp="1"/>
          </p:cNvSpPr>
          <p:nvPr/>
        </p:nvSpPr>
        <p:spPr>
          <a:xfrm xmlns:a="http://schemas.openxmlformats.org/drawingml/2006/main">
            <a:off x="9296400" y="308610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26778"/>
                </a:solidFill>
                <a:latin typeface="Arial"/>
                <a:ea typeface="Arial"/>
                <a:cs typeface="Arial"/>
              </a:defRPr>
            </a:defPPr>
          </a:lstStyle>
          <a:p xmlns:a="http://schemas.openxmlformats.org/drawingml/2006/main">
            <a:pPr>
              <a:defRPr sz="1125" b="0">
                <a:solidFill>
                  <a:srgbClr val="526778"/>
                </a:solidFill>
                <a:latin typeface="Arial"/>
                <a:ea typeface="Arial"/>
                <a:cs typeface="Arial"/>
              </a:defRPr>
            </a:pPr>
            <a:r>
              <a:rPr sz="1125" b="0">
                <a:solidFill>
                  <a:srgbClr val="526778"/>
                </a:solidFill>
                <a:latin typeface="Arial"/>
                <a:ea typeface="Arial"/>
                <a:cs typeface="Arial"/>
              </a:rPr>
              <a:t>Main skills: 02–03, 05–18</a:t>
            </a:r>
          </a:p>
        </p:txBody>
      </p:sp>
      <p:sp>
        <p:nvSpPr>
          <p:cNvPr id="25" name="">
            <a:extLst xmlns:a="http://schemas.openxmlformats.org/drawingml/2006/main">
              <a:ext uri="{FF2B5EF4-FFF2-40B4-BE49-F238E27FC236}">
                <a16:creationId xmlns:a16="http://schemas.microsoft.com/office/drawing/2014/main" id="{1C5E6BCF-4E52-49E6-9F0C-30BC9EAD502B}"/>
              </a:ext>
            </a:extLst>
          </p:cNvPr>
          <p:cNvSpPr>
            <a:spLocks xmlns:a="http://schemas.openxmlformats.org/drawingml/2006/main" noGrp="1"/>
          </p:cNvSpPr>
          <p:nvPr/>
        </p:nvSpPr>
        <p:spPr>
          <a:xfrm xmlns:a="http://schemas.openxmlformats.org/drawingml/2006/main">
            <a:off x="12115800" y="1743075"/>
            <a:ext cx="2743200" cy="1609725"/>
          </a:xfrm>
          <a:prstGeom xmlns:a="http://schemas.openxmlformats.org/drawingml/2006/main" prst="rect">
            <a:avLst/>
          </a:prstGeom>
          <a:solidFill xmlns:a="http://schemas.openxmlformats.org/drawingml/2006/main">
            <a:srgbClr val="EAF4F2"/>
          </a:solidFill>
          <a:ln xmlns:a="http://schemas.openxmlformats.org/drawingml/2006/main" w="9525">
            <a:solidFill>
              <a:srgbClr val="BFD4CF"/>
            </a:solidFill>
          </a:ln>
        </p:spPr>
      </p:sp>
      <p:sp>
        <p:nvSpPr>
          <p:cNvPr id="26" name="">
            <a:extLst xmlns:a="http://schemas.openxmlformats.org/drawingml/2006/main">
              <a:ext uri="{FF2B5EF4-FFF2-40B4-BE49-F238E27FC236}">
                <a16:creationId xmlns:a16="http://schemas.microsoft.com/office/drawing/2014/main" id="{E64CB1C7-5019-4C8C-AB59-DF063E72299D}"/>
              </a:ext>
            </a:extLst>
          </p:cNvPr>
          <p:cNvSpPr>
            <a:spLocks xmlns:a="http://schemas.openxmlformats.org/drawingml/2006/main" noGrp="1"/>
          </p:cNvSpPr>
          <p:nvPr/>
        </p:nvSpPr>
        <p:spPr>
          <a:xfrm xmlns:a="http://schemas.openxmlformats.org/drawingml/2006/main">
            <a:off x="12230100" y="18192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72E40"/>
                </a:solidFill>
                <a:latin typeface="Arial"/>
                <a:ea typeface="Arial"/>
                <a:cs typeface="Arial"/>
              </a:defRPr>
            </a:defPPr>
          </a:lstStyle>
          <a:p xmlns:a="http://schemas.openxmlformats.org/drawingml/2006/main">
            <a:pPr>
              <a:defRPr sz="1575" b="1">
                <a:solidFill>
                  <a:srgbClr val="172E40"/>
                </a:solidFill>
                <a:latin typeface="Arial"/>
                <a:ea typeface="Arial"/>
                <a:cs typeface="Arial"/>
              </a:defRPr>
            </a:pPr>
            <a:r>
              <a:rPr sz="1575" b="1">
                <a:solidFill>
                  <a:srgbClr val="172E40"/>
                </a:solidFill>
                <a:latin typeface="Arial"/>
                <a:ea typeface="Arial"/>
                <a:cs typeface="Arial"/>
              </a:rPr>
              <a:t>A5  Review &amp; synthesis</a:t>
            </a:r>
          </a:p>
        </p:txBody>
      </p:sp>
      <p:sp>
        <p:nvSpPr>
          <p:cNvPr id="27" name="">
            <a:extLst xmlns:a="http://schemas.openxmlformats.org/drawingml/2006/main">
              <a:ext uri="{FF2B5EF4-FFF2-40B4-BE49-F238E27FC236}">
                <a16:creationId xmlns:a16="http://schemas.microsoft.com/office/drawing/2014/main" id="{BDE7FF70-4D64-43DD-B639-AAFB6D1DDEDD}"/>
              </a:ext>
            </a:extLst>
          </p:cNvPr>
          <p:cNvSpPr>
            <a:spLocks xmlns:a="http://schemas.openxmlformats.org/drawingml/2006/main" noGrp="1"/>
          </p:cNvSpPr>
          <p:nvPr/>
        </p:nvSpPr>
        <p:spPr>
          <a:xfrm xmlns:a="http://schemas.openxmlformats.org/drawingml/2006/main">
            <a:off x="12230100" y="222885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72E40"/>
                </a:solidFill>
                <a:latin typeface="Arial"/>
                <a:ea typeface="Arial"/>
                <a:cs typeface="Arial"/>
              </a:defRPr>
            </a:defPPr>
          </a:lstStyle>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Challenge and reconcile results.</a:t>
            </a:r>
          </a:p>
          <a:p xmlns:a="http://schemas.openxmlformats.org/drawingml/2006/main">
            <a:pPr>
              <a:defRPr sz="1350" b="0">
                <a:solidFill>
                  <a:srgbClr val="172E40"/>
                </a:solidFill>
                <a:latin typeface="Arial"/>
                <a:ea typeface="Arial"/>
                <a:cs typeface="Arial"/>
              </a:defRPr>
            </a:pPr>
            <a:r>
              <a:rPr sz="1350" b="0">
                <a:solidFill>
                  <a:srgbClr val="172E40"/>
                </a:solidFill>
                <a:latin typeface="Arial"/>
                <a:ea typeface="Arial"/>
                <a:cs typeface="Arial"/>
              </a:rPr>
              <a:t>Prioritize opportunities.</a:t>
            </a:r>
          </a:p>
        </p:txBody>
      </p:sp>
      <p:sp>
        <p:nvSpPr>
          <p:cNvPr id="28" name="">
            <a:extLst xmlns:a="http://schemas.openxmlformats.org/drawingml/2006/main">
              <a:ext uri="{FF2B5EF4-FFF2-40B4-BE49-F238E27FC236}">
                <a16:creationId xmlns:a16="http://schemas.microsoft.com/office/drawing/2014/main" id="{8D10605D-C474-445B-AC0C-A6C28848404C}"/>
              </a:ext>
            </a:extLst>
          </p:cNvPr>
          <p:cNvSpPr>
            <a:spLocks xmlns:a="http://schemas.openxmlformats.org/drawingml/2006/main" noGrp="1"/>
          </p:cNvSpPr>
          <p:nvPr/>
        </p:nvSpPr>
        <p:spPr>
          <a:xfrm xmlns:a="http://schemas.openxmlformats.org/drawingml/2006/main">
            <a:off x="12230100" y="2800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12698A"/>
                </a:solidFill>
                <a:latin typeface="Arial"/>
                <a:ea typeface="Arial"/>
                <a:cs typeface="Arial"/>
              </a:defRPr>
            </a:defPPr>
          </a:lstStyle>
          <a:p xmlns:a="http://schemas.openxmlformats.org/drawingml/2006/main">
            <a:pPr>
              <a:defRPr sz="1275" b="1">
                <a:solidFill>
                  <a:srgbClr val="12698A"/>
                </a:solidFill>
                <a:latin typeface="Arial"/>
                <a:ea typeface="Arial"/>
                <a:cs typeface="Arial"/>
              </a:defRPr>
            </a:pPr>
            <a:r>
              <a:rPr sz="1275" b="1">
                <a:solidFill>
                  <a:srgbClr val="12698A"/>
                </a:solidFill>
                <a:latin typeface="Arial"/>
                <a:ea typeface="Arial"/>
                <a:cs typeface="Arial"/>
              </a:rPr>
              <a:t>Findings + next actions</a:t>
            </a:r>
          </a:p>
        </p:txBody>
      </p:sp>
      <p:sp>
        <p:nvSpPr>
          <p:cNvPr id="29" name="">
            <a:extLst xmlns:a="http://schemas.openxmlformats.org/drawingml/2006/main">
              <a:ext uri="{FF2B5EF4-FFF2-40B4-BE49-F238E27FC236}">
                <a16:creationId xmlns:a16="http://schemas.microsoft.com/office/drawing/2014/main" id="{CDD1433A-2AC4-449E-82CB-51CDB723A868}"/>
              </a:ext>
            </a:extLst>
          </p:cNvPr>
          <p:cNvSpPr>
            <a:spLocks xmlns:a="http://schemas.openxmlformats.org/drawingml/2006/main" noGrp="1"/>
          </p:cNvSpPr>
          <p:nvPr/>
        </p:nvSpPr>
        <p:spPr>
          <a:xfrm xmlns:a="http://schemas.openxmlformats.org/drawingml/2006/main">
            <a:off x="12230100" y="3086100"/>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26778"/>
                </a:solidFill>
                <a:latin typeface="Arial"/>
                <a:ea typeface="Arial"/>
                <a:cs typeface="Arial"/>
              </a:defRPr>
            </a:defPPr>
          </a:lstStyle>
          <a:p xmlns:a="http://schemas.openxmlformats.org/drawingml/2006/main">
            <a:pPr>
              <a:defRPr sz="1125" b="0">
                <a:solidFill>
                  <a:srgbClr val="526778"/>
                </a:solidFill>
                <a:latin typeface="Arial"/>
                <a:ea typeface="Arial"/>
                <a:cs typeface="Arial"/>
              </a:defRPr>
            </a:pPr>
            <a:r>
              <a:rPr sz="1125" b="0">
                <a:solidFill>
                  <a:srgbClr val="526778"/>
                </a:solidFill>
                <a:latin typeface="Arial"/>
                <a:ea typeface="Arial"/>
                <a:cs typeface="Arial"/>
              </a:rPr>
              <a:t>Main skills: 01, 14, 16–20</a:t>
            </a:r>
          </a:p>
        </p:txBody>
      </p:sp>
      <p:sp>
        <p:nvSpPr>
          <p:cNvPr id="34" name="">
            <a:extLst xmlns:a="http://schemas.openxmlformats.org/drawingml/2006/main">
              <a:ext uri="{FF2B5EF4-FFF2-40B4-BE49-F238E27FC236}">
                <a16:creationId xmlns:a16="http://schemas.microsoft.com/office/drawing/2014/main" id="{8DA04253-5933-438A-A346-F7A84B6BA4C0}"/>
              </a:ext>
            </a:extLst>
          </p:cNvPr>
          <p:cNvSpPr>
            <a:spLocks xmlns:a="http://schemas.openxmlformats.org/drawingml/2006/main" noGrp="1"/>
          </p:cNvSpPr>
          <p:nvPr/>
        </p:nvSpPr>
        <p:spPr>
          <a:xfrm xmlns:a="http://schemas.openxmlformats.org/drawingml/2006/main">
            <a:off x="381000" y="3429000"/>
            <a:ext cx="1447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FEEDBACK     A3 returns data gaps to A2 / A1.     A5 requests checks from A4 or new hypotheses from A1.</a:t>
            </a:r>
          </a:p>
        </p:txBody>
      </p:sp>
      <p:sp>
        <p:nvSpPr>
          <p:cNvPr id="35" name="">
            <a:extLst xmlns:a="http://schemas.openxmlformats.org/drawingml/2006/main">
              <a:ext uri="{FF2B5EF4-FFF2-40B4-BE49-F238E27FC236}">
                <a16:creationId xmlns:a16="http://schemas.microsoft.com/office/drawing/2014/main" id="{E90DA883-8112-4CC3-8658-D315F8532D3D}"/>
              </a:ext>
            </a:extLst>
          </p:cNvPr>
          <p:cNvSpPr>
            <a:spLocks xmlns:a="http://schemas.openxmlformats.org/drawingml/2006/main" noGrp="1"/>
          </p:cNvSpPr>
          <p:nvPr/>
        </p:nvSpPr>
        <p:spPr>
          <a:xfrm xmlns:a="http://schemas.openxmlformats.org/drawingml/2006/main">
            <a:off x="381000" y="3829050"/>
            <a:ext cx="1447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172E40"/>
                </a:solidFill>
                <a:latin typeface="Arial"/>
                <a:ea typeface="Arial"/>
                <a:cs typeface="Arial"/>
              </a:defRPr>
            </a:defPPr>
          </a:lstStyle>
          <a:p xmlns:a="http://schemas.openxmlformats.org/drawingml/2006/main">
            <a:pPr>
              <a:defRPr sz="1875" b="1">
                <a:solidFill>
                  <a:srgbClr val="172E40"/>
                </a:solidFill>
                <a:latin typeface="Arial"/>
                <a:ea typeface="Arial"/>
                <a:cs typeface="Arial"/>
              </a:defRPr>
            </a:pPr>
            <a:r>
              <a:rPr sz="1875" b="1">
                <a:solidFill>
                  <a:srgbClr val="172E40"/>
                </a:solidFill>
                <a:latin typeface="Arial"/>
                <a:ea typeface="Arial"/>
                <a:cs typeface="Arial"/>
              </a:rPr>
              <a:t>Shared analytical skills: select what the question and data support</a:t>
            </a:r>
          </a:p>
        </p:txBody>
      </p:sp>
      <p:sp>
        <p:nvSpPr>
          <p:cNvPr id="36" name="">
            <a:extLst xmlns:a="http://schemas.openxmlformats.org/drawingml/2006/main">
              <a:ext uri="{FF2B5EF4-FFF2-40B4-BE49-F238E27FC236}">
                <a16:creationId xmlns:a16="http://schemas.microsoft.com/office/drawing/2014/main" id="{D754084A-41A2-49C6-997D-A07F6E5E2549}"/>
              </a:ext>
            </a:extLst>
          </p:cNvPr>
          <p:cNvSpPr>
            <a:spLocks xmlns:a="http://schemas.openxmlformats.org/drawingml/2006/main" noGrp="1"/>
          </p:cNvSpPr>
          <p:nvPr/>
        </p:nvSpPr>
        <p:spPr>
          <a:xfrm xmlns:a="http://schemas.openxmlformats.org/drawingml/2006/main">
            <a:off x="381000" y="4162425"/>
            <a:ext cx="1447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All agents can reuse these assets. Skill numbers above show main usage, not exclusive ownership.</a:t>
            </a:r>
          </a:p>
        </p:txBody>
      </p:sp>
      <p:sp>
        <p:nvSpPr>
          <p:cNvPr id="37" name="">
            <a:extLst xmlns:a="http://schemas.openxmlformats.org/drawingml/2006/main">
              <a:ext uri="{FF2B5EF4-FFF2-40B4-BE49-F238E27FC236}">
                <a16:creationId xmlns:a16="http://schemas.microsoft.com/office/drawing/2014/main" id="{F5C7D41A-92CC-487C-8533-60FFDAB6A342}"/>
              </a:ext>
            </a:extLst>
          </p:cNvPr>
          <p:cNvSpPr>
            <a:spLocks xmlns:a="http://schemas.openxmlformats.org/drawingml/2006/main" noGrp="1"/>
          </p:cNvSpPr>
          <p:nvPr/>
        </p:nvSpPr>
        <p:spPr>
          <a:xfrm xmlns:a="http://schemas.openxmlformats.org/drawingml/2006/main">
            <a:off x="381000" y="4543425"/>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FRAME &amp; PREPARE</a:t>
            </a:r>
          </a:p>
        </p:txBody>
      </p:sp>
      <p:sp>
        <p:nvSpPr>
          <p:cNvPr id="38" name="">
            <a:extLst xmlns:a="http://schemas.openxmlformats.org/drawingml/2006/main">
              <a:ext uri="{FF2B5EF4-FFF2-40B4-BE49-F238E27FC236}">
                <a16:creationId xmlns:a16="http://schemas.microsoft.com/office/drawing/2014/main" id="{49640F36-C2C7-4BF5-BD55-618F418E63E2}"/>
              </a:ext>
            </a:extLst>
          </p:cNvPr>
          <p:cNvSpPr>
            <a:spLocks xmlns:a="http://schemas.openxmlformats.org/drawingml/2006/main" noGrp="1"/>
          </p:cNvSpPr>
          <p:nvPr/>
        </p:nvSpPr>
        <p:spPr>
          <a:xfrm xmlns:a="http://schemas.openxmlformats.org/drawingml/2006/main">
            <a:off x="381000" y="4857750"/>
            <a:ext cx="27432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39" name="">
            <a:extLst xmlns:a="http://schemas.openxmlformats.org/drawingml/2006/main">
              <a:ext uri="{FF2B5EF4-FFF2-40B4-BE49-F238E27FC236}">
                <a16:creationId xmlns:a16="http://schemas.microsoft.com/office/drawing/2014/main" id="{1EFC49F7-F4F1-4604-A912-08EB38087D8F}"/>
              </a:ext>
            </a:extLst>
          </p:cNvPr>
          <p:cNvSpPr>
            <a:spLocks xmlns:a="http://schemas.openxmlformats.org/drawingml/2006/main" noGrp="1"/>
          </p:cNvSpPr>
          <p:nvPr/>
        </p:nvSpPr>
        <p:spPr>
          <a:xfrm xmlns:a="http://schemas.openxmlformats.org/drawingml/2006/main">
            <a:off x="381000" y="495300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01</a:t>
            </a:r>
          </a:p>
        </p:txBody>
      </p:sp>
      <p:sp>
        <p:nvSpPr>
          <p:cNvPr id="40" name="">
            <a:extLst xmlns:a="http://schemas.openxmlformats.org/drawingml/2006/main">
              <a:ext uri="{FF2B5EF4-FFF2-40B4-BE49-F238E27FC236}">
                <a16:creationId xmlns:a16="http://schemas.microsoft.com/office/drawing/2014/main" id="{E1A26932-967E-42B2-A2B6-25E06E999C16}"/>
              </a:ext>
            </a:extLst>
          </p:cNvPr>
          <p:cNvSpPr>
            <a:spLocks xmlns:a="http://schemas.openxmlformats.org/drawingml/2006/main" noGrp="1"/>
          </p:cNvSpPr>
          <p:nvPr/>
        </p:nvSpPr>
        <p:spPr>
          <a:xfrm xmlns:a="http://schemas.openxmlformats.org/drawingml/2006/main">
            <a:off x="714375" y="495300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Business hypothesis design</a:t>
            </a:r>
          </a:p>
        </p:txBody>
      </p:sp>
      <p:sp>
        <p:nvSpPr>
          <p:cNvPr id="41" name="">
            <a:extLst xmlns:a="http://schemas.openxmlformats.org/drawingml/2006/main">
              <a:ext uri="{FF2B5EF4-FFF2-40B4-BE49-F238E27FC236}">
                <a16:creationId xmlns:a16="http://schemas.microsoft.com/office/drawing/2014/main" id="{FD6F7C00-C277-4C70-ABE2-8C6172A360F5}"/>
              </a:ext>
            </a:extLst>
          </p:cNvPr>
          <p:cNvSpPr>
            <a:spLocks xmlns:a="http://schemas.openxmlformats.org/drawingml/2006/main" noGrp="1"/>
          </p:cNvSpPr>
          <p:nvPr/>
        </p:nvSpPr>
        <p:spPr>
          <a:xfrm xmlns:a="http://schemas.openxmlformats.org/drawingml/2006/main">
            <a:off x="381000" y="545782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02</a:t>
            </a:r>
          </a:p>
        </p:txBody>
      </p:sp>
      <p:sp>
        <p:nvSpPr>
          <p:cNvPr id="42" name="">
            <a:extLst xmlns:a="http://schemas.openxmlformats.org/drawingml/2006/main">
              <a:ext uri="{FF2B5EF4-FFF2-40B4-BE49-F238E27FC236}">
                <a16:creationId xmlns:a16="http://schemas.microsoft.com/office/drawing/2014/main" id="{6F6E6261-C73F-42E5-AAA6-7AFA68FDB412}"/>
              </a:ext>
            </a:extLst>
          </p:cNvPr>
          <p:cNvSpPr>
            <a:spLocks xmlns:a="http://schemas.openxmlformats.org/drawingml/2006/main" noGrp="1"/>
          </p:cNvSpPr>
          <p:nvPr/>
        </p:nvSpPr>
        <p:spPr>
          <a:xfrm xmlns:a="http://schemas.openxmlformats.org/drawingml/2006/main">
            <a:off x="714375" y="545782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Metric definition &amp; reconstruction</a:t>
            </a:r>
          </a:p>
        </p:txBody>
      </p:sp>
      <p:sp>
        <p:nvSpPr>
          <p:cNvPr id="43" name="">
            <a:extLst xmlns:a="http://schemas.openxmlformats.org/drawingml/2006/main">
              <a:ext uri="{FF2B5EF4-FFF2-40B4-BE49-F238E27FC236}">
                <a16:creationId xmlns:a16="http://schemas.microsoft.com/office/drawing/2014/main" id="{D1D3A4FD-5F9D-4533-8F62-967F0A1A5710}"/>
              </a:ext>
            </a:extLst>
          </p:cNvPr>
          <p:cNvSpPr>
            <a:spLocks xmlns:a="http://schemas.openxmlformats.org/drawingml/2006/main" noGrp="1"/>
          </p:cNvSpPr>
          <p:nvPr/>
        </p:nvSpPr>
        <p:spPr>
          <a:xfrm xmlns:a="http://schemas.openxmlformats.org/drawingml/2006/main">
            <a:off x="381000" y="596265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03</a:t>
            </a:r>
          </a:p>
        </p:txBody>
      </p:sp>
      <p:sp>
        <p:nvSpPr>
          <p:cNvPr id="44" name="">
            <a:extLst xmlns:a="http://schemas.openxmlformats.org/drawingml/2006/main">
              <a:ext uri="{FF2B5EF4-FFF2-40B4-BE49-F238E27FC236}">
                <a16:creationId xmlns:a16="http://schemas.microsoft.com/office/drawing/2014/main" id="{2F71E1C8-AEBF-427B-87A4-AA82423DE148}"/>
              </a:ext>
            </a:extLst>
          </p:cNvPr>
          <p:cNvSpPr>
            <a:spLocks xmlns:a="http://schemas.openxmlformats.org/drawingml/2006/main" noGrp="1"/>
          </p:cNvSpPr>
          <p:nvPr/>
        </p:nvSpPr>
        <p:spPr>
          <a:xfrm xmlns:a="http://schemas.openxmlformats.org/drawingml/2006/main">
            <a:off x="714375" y="596265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Data matching &amp; analytical structure</a:t>
            </a:r>
          </a:p>
        </p:txBody>
      </p:sp>
      <p:sp>
        <p:nvSpPr>
          <p:cNvPr id="45" name="">
            <a:extLst xmlns:a="http://schemas.openxmlformats.org/drawingml/2006/main">
              <a:ext uri="{FF2B5EF4-FFF2-40B4-BE49-F238E27FC236}">
                <a16:creationId xmlns:a16="http://schemas.microsoft.com/office/drawing/2014/main" id="{DF29C6DC-F87E-42F8-A4A6-10598EB33CBE}"/>
              </a:ext>
            </a:extLst>
          </p:cNvPr>
          <p:cNvSpPr>
            <a:spLocks xmlns:a="http://schemas.openxmlformats.org/drawingml/2006/main" noGrp="1"/>
          </p:cNvSpPr>
          <p:nvPr/>
        </p:nvSpPr>
        <p:spPr>
          <a:xfrm xmlns:a="http://schemas.openxmlformats.org/drawingml/2006/main">
            <a:off x="381000" y="646747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04</a:t>
            </a:r>
          </a:p>
        </p:txBody>
      </p:sp>
      <p:sp>
        <p:nvSpPr>
          <p:cNvPr id="46" name="">
            <a:extLst xmlns:a="http://schemas.openxmlformats.org/drawingml/2006/main">
              <a:ext uri="{FF2B5EF4-FFF2-40B4-BE49-F238E27FC236}">
                <a16:creationId xmlns:a16="http://schemas.microsoft.com/office/drawing/2014/main" id="{B11ECE25-E2B3-4BA3-A3D0-70DFA64C3759}"/>
              </a:ext>
            </a:extLst>
          </p:cNvPr>
          <p:cNvSpPr>
            <a:spLocks xmlns:a="http://schemas.openxmlformats.org/drawingml/2006/main" noGrp="1"/>
          </p:cNvSpPr>
          <p:nvPr/>
        </p:nvSpPr>
        <p:spPr>
          <a:xfrm xmlns:a="http://schemas.openxmlformats.org/drawingml/2006/main">
            <a:off x="714375" y="646747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Data quality &amp; feasibility</a:t>
            </a:r>
          </a:p>
        </p:txBody>
      </p:sp>
      <p:sp>
        <p:nvSpPr>
          <p:cNvPr id="47" name="">
            <a:extLst xmlns:a="http://schemas.openxmlformats.org/drawingml/2006/main">
              <a:ext uri="{FF2B5EF4-FFF2-40B4-BE49-F238E27FC236}">
                <a16:creationId xmlns:a16="http://schemas.microsoft.com/office/drawing/2014/main" id="{54710B66-7355-4B77-A91B-3D29AE00B9FE}"/>
              </a:ext>
            </a:extLst>
          </p:cNvPr>
          <p:cNvSpPr>
            <a:spLocks xmlns:a="http://schemas.openxmlformats.org/drawingml/2006/main" noGrp="1"/>
          </p:cNvSpPr>
          <p:nvPr/>
        </p:nvSpPr>
        <p:spPr>
          <a:xfrm xmlns:a="http://schemas.openxmlformats.org/drawingml/2006/main">
            <a:off x="3314700" y="4543425"/>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EXPLORE &amp; COMPARE</a:t>
            </a:r>
          </a:p>
        </p:txBody>
      </p:sp>
      <p:sp>
        <p:nvSpPr>
          <p:cNvPr id="48" name="">
            <a:extLst xmlns:a="http://schemas.openxmlformats.org/drawingml/2006/main">
              <a:ext uri="{FF2B5EF4-FFF2-40B4-BE49-F238E27FC236}">
                <a16:creationId xmlns:a16="http://schemas.microsoft.com/office/drawing/2014/main" id="{E7BA2C18-711C-4B8D-B6B6-9DF3FAB832A9}"/>
              </a:ext>
            </a:extLst>
          </p:cNvPr>
          <p:cNvSpPr>
            <a:spLocks xmlns:a="http://schemas.openxmlformats.org/drawingml/2006/main" noGrp="1"/>
          </p:cNvSpPr>
          <p:nvPr/>
        </p:nvSpPr>
        <p:spPr>
          <a:xfrm xmlns:a="http://schemas.openxmlformats.org/drawingml/2006/main">
            <a:off x="3314700" y="4857750"/>
            <a:ext cx="27432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49" name="">
            <a:extLst xmlns:a="http://schemas.openxmlformats.org/drawingml/2006/main">
              <a:ext uri="{FF2B5EF4-FFF2-40B4-BE49-F238E27FC236}">
                <a16:creationId xmlns:a16="http://schemas.microsoft.com/office/drawing/2014/main" id="{A6A46DA3-3D10-4106-9AEB-103A92537B9C}"/>
              </a:ext>
            </a:extLst>
          </p:cNvPr>
          <p:cNvSpPr>
            <a:spLocks xmlns:a="http://schemas.openxmlformats.org/drawingml/2006/main" noGrp="1"/>
          </p:cNvSpPr>
          <p:nvPr/>
        </p:nvSpPr>
        <p:spPr>
          <a:xfrm xmlns:a="http://schemas.openxmlformats.org/drawingml/2006/main">
            <a:off x="3314700" y="495300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05</a:t>
            </a:r>
          </a:p>
        </p:txBody>
      </p:sp>
      <p:sp>
        <p:nvSpPr>
          <p:cNvPr id="50" name="">
            <a:extLst xmlns:a="http://schemas.openxmlformats.org/drawingml/2006/main">
              <a:ext uri="{FF2B5EF4-FFF2-40B4-BE49-F238E27FC236}">
                <a16:creationId xmlns:a16="http://schemas.microsoft.com/office/drawing/2014/main" id="{083D56E3-CCC6-4B03-8061-A7A036FDB741}"/>
              </a:ext>
            </a:extLst>
          </p:cNvPr>
          <p:cNvSpPr>
            <a:spLocks xmlns:a="http://schemas.openxmlformats.org/drawingml/2006/main" noGrp="1"/>
          </p:cNvSpPr>
          <p:nvPr/>
        </p:nvSpPr>
        <p:spPr>
          <a:xfrm xmlns:a="http://schemas.openxmlformats.org/drawingml/2006/main">
            <a:off x="3648075" y="495300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Distributions &amp; variation</a:t>
            </a:r>
          </a:p>
        </p:txBody>
      </p:sp>
      <p:sp>
        <p:nvSpPr>
          <p:cNvPr id="51" name="">
            <a:extLst xmlns:a="http://schemas.openxmlformats.org/drawingml/2006/main">
              <a:ext uri="{FF2B5EF4-FFF2-40B4-BE49-F238E27FC236}">
                <a16:creationId xmlns:a16="http://schemas.microsoft.com/office/drawing/2014/main" id="{83B69FDD-2CE3-4810-B2D6-4CFFA44EB3CD}"/>
              </a:ext>
            </a:extLst>
          </p:cNvPr>
          <p:cNvSpPr>
            <a:spLocks xmlns:a="http://schemas.openxmlformats.org/drawingml/2006/main" noGrp="1"/>
          </p:cNvSpPr>
          <p:nvPr/>
        </p:nvSpPr>
        <p:spPr>
          <a:xfrm xmlns:a="http://schemas.openxmlformats.org/drawingml/2006/main">
            <a:off x="3314700" y="545782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06</a:t>
            </a:r>
          </a:p>
        </p:txBody>
      </p:sp>
      <p:sp>
        <p:nvSpPr>
          <p:cNvPr id="52" name="">
            <a:extLst xmlns:a="http://schemas.openxmlformats.org/drawingml/2006/main">
              <a:ext uri="{FF2B5EF4-FFF2-40B4-BE49-F238E27FC236}">
                <a16:creationId xmlns:a16="http://schemas.microsoft.com/office/drawing/2014/main" id="{C51E69D3-91B2-4ADF-BDF3-E716A16A4DE1}"/>
              </a:ext>
            </a:extLst>
          </p:cNvPr>
          <p:cNvSpPr>
            <a:spLocks xmlns:a="http://schemas.openxmlformats.org/drawingml/2006/main" noGrp="1"/>
          </p:cNvSpPr>
          <p:nvPr/>
        </p:nvSpPr>
        <p:spPr>
          <a:xfrm xmlns:a="http://schemas.openxmlformats.org/drawingml/2006/main">
            <a:off x="3648075" y="545782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Pairwise association</a:t>
            </a:r>
          </a:p>
        </p:txBody>
      </p:sp>
      <p:sp>
        <p:nvSpPr>
          <p:cNvPr id="53" name="">
            <a:extLst xmlns:a="http://schemas.openxmlformats.org/drawingml/2006/main">
              <a:ext uri="{FF2B5EF4-FFF2-40B4-BE49-F238E27FC236}">
                <a16:creationId xmlns:a16="http://schemas.microsoft.com/office/drawing/2014/main" id="{A7B99F50-D2A5-4003-AFE5-98598132082E}"/>
              </a:ext>
            </a:extLst>
          </p:cNvPr>
          <p:cNvSpPr>
            <a:spLocks xmlns:a="http://schemas.openxmlformats.org/drawingml/2006/main" noGrp="1"/>
          </p:cNvSpPr>
          <p:nvPr/>
        </p:nvSpPr>
        <p:spPr>
          <a:xfrm xmlns:a="http://schemas.openxmlformats.org/drawingml/2006/main">
            <a:off x="3314700" y="596265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07</a:t>
            </a:r>
          </a:p>
        </p:txBody>
      </p:sp>
      <p:sp>
        <p:nvSpPr>
          <p:cNvPr id="54" name="">
            <a:extLst xmlns:a="http://schemas.openxmlformats.org/drawingml/2006/main">
              <a:ext uri="{FF2B5EF4-FFF2-40B4-BE49-F238E27FC236}">
                <a16:creationId xmlns:a16="http://schemas.microsoft.com/office/drawing/2014/main" id="{AE9B0AE3-8D84-4FF5-8FC8-3158D29DF6E2}"/>
              </a:ext>
            </a:extLst>
          </p:cNvPr>
          <p:cNvSpPr>
            <a:spLocks xmlns:a="http://schemas.openxmlformats.org/drawingml/2006/main" noGrp="1"/>
          </p:cNvSpPr>
          <p:nvPr/>
        </p:nvSpPr>
        <p:spPr>
          <a:xfrm xmlns:a="http://schemas.openxmlformats.org/drawingml/2006/main">
            <a:off x="3648075" y="596265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Group &amp; benchmark comparisons</a:t>
            </a:r>
          </a:p>
        </p:txBody>
      </p:sp>
      <p:sp>
        <p:nvSpPr>
          <p:cNvPr id="55" name="">
            <a:extLst xmlns:a="http://schemas.openxmlformats.org/drawingml/2006/main">
              <a:ext uri="{FF2B5EF4-FFF2-40B4-BE49-F238E27FC236}">
                <a16:creationId xmlns:a16="http://schemas.microsoft.com/office/drawing/2014/main" id="{C7382CBA-A78C-4A46-9C1C-FFE835B3CDC7}"/>
              </a:ext>
            </a:extLst>
          </p:cNvPr>
          <p:cNvSpPr>
            <a:spLocks xmlns:a="http://schemas.openxmlformats.org/drawingml/2006/main" noGrp="1"/>
          </p:cNvSpPr>
          <p:nvPr/>
        </p:nvSpPr>
        <p:spPr>
          <a:xfrm xmlns:a="http://schemas.openxmlformats.org/drawingml/2006/main">
            <a:off x="3314700" y="646747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08</a:t>
            </a:r>
          </a:p>
        </p:txBody>
      </p:sp>
      <p:sp>
        <p:nvSpPr>
          <p:cNvPr id="56" name="">
            <a:extLst xmlns:a="http://schemas.openxmlformats.org/drawingml/2006/main">
              <a:ext uri="{FF2B5EF4-FFF2-40B4-BE49-F238E27FC236}">
                <a16:creationId xmlns:a16="http://schemas.microsoft.com/office/drawing/2014/main" id="{1B7AB83C-D74C-4205-BD94-C8531D7FE8C9}"/>
              </a:ext>
            </a:extLst>
          </p:cNvPr>
          <p:cNvSpPr>
            <a:spLocks xmlns:a="http://schemas.openxmlformats.org/drawingml/2006/main" noGrp="1"/>
          </p:cNvSpPr>
          <p:nvPr/>
        </p:nvSpPr>
        <p:spPr>
          <a:xfrm xmlns:a="http://schemas.openxmlformats.org/drawingml/2006/main">
            <a:off x="3648075" y="646747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Component decomposition</a:t>
            </a:r>
          </a:p>
        </p:txBody>
      </p:sp>
      <p:sp>
        <p:nvSpPr>
          <p:cNvPr id="57" name="">
            <a:extLst xmlns:a="http://schemas.openxmlformats.org/drawingml/2006/main">
              <a:ext uri="{FF2B5EF4-FFF2-40B4-BE49-F238E27FC236}">
                <a16:creationId xmlns:a16="http://schemas.microsoft.com/office/drawing/2014/main" id="{E000FE84-A190-4743-B131-94F8A234FB55}"/>
              </a:ext>
            </a:extLst>
          </p:cNvPr>
          <p:cNvSpPr>
            <a:spLocks xmlns:a="http://schemas.openxmlformats.org/drawingml/2006/main" noGrp="1"/>
          </p:cNvSpPr>
          <p:nvPr/>
        </p:nvSpPr>
        <p:spPr>
          <a:xfrm xmlns:a="http://schemas.openxmlformats.org/drawingml/2006/main">
            <a:off x="6248400" y="4543425"/>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LOCATE &amp; CHARACTERIZE</a:t>
            </a:r>
          </a:p>
        </p:txBody>
      </p:sp>
      <p:sp>
        <p:nvSpPr>
          <p:cNvPr id="58" name="">
            <a:extLst xmlns:a="http://schemas.openxmlformats.org/drawingml/2006/main">
              <a:ext uri="{FF2B5EF4-FFF2-40B4-BE49-F238E27FC236}">
                <a16:creationId xmlns:a16="http://schemas.microsoft.com/office/drawing/2014/main" id="{3C036A59-1AC0-40FF-B255-9CABDAE7E0E9}"/>
              </a:ext>
            </a:extLst>
          </p:cNvPr>
          <p:cNvSpPr>
            <a:spLocks xmlns:a="http://schemas.openxmlformats.org/drawingml/2006/main" noGrp="1"/>
          </p:cNvSpPr>
          <p:nvPr/>
        </p:nvSpPr>
        <p:spPr>
          <a:xfrm xmlns:a="http://schemas.openxmlformats.org/drawingml/2006/main">
            <a:off x="6248400" y="4857750"/>
            <a:ext cx="27432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59" name="">
            <a:extLst xmlns:a="http://schemas.openxmlformats.org/drawingml/2006/main">
              <a:ext uri="{FF2B5EF4-FFF2-40B4-BE49-F238E27FC236}">
                <a16:creationId xmlns:a16="http://schemas.microsoft.com/office/drawing/2014/main" id="{F15C637B-80D2-4ED1-BBC6-9B44C4FC40C2}"/>
              </a:ext>
            </a:extLst>
          </p:cNvPr>
          <p:cNvSpPr>
            <a:spLocks xmlns:a="http://schemas.openxmlformats.org/drawingml/2006/main" noGrp="1"/>
          </p:cNvSpPr>
          <p:nvPr/>
        </p:nvSpPr>
        <p:spPr>
          <a:xfrm xmlns:a="http://schemas.openxmlformats.org/drawingml/2006/main">
            <a:off x="6248400" y="495300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09</a:t>
            </a:r>
          </a:p>
        </p:txBody>
      </p:sp>
      <p:sp>
        <p:nvSpPr>
          <p:cNvPr id="60" name="">
            <a:extLst xmlns:a="http://schemas.openxmlformats.org/drawingml/2006/main">
              <a:ext uri="{FF2B5EF4-FFF2-40B4-BE49-F238E27FC236}">
                <a16:creationId xmlns:a16="http://schemas.microsoft.com/office/drawing/2014/main" id="{E1AC0788-BE3B-4412-80C7-C37A0B8CFAA7}"/>
              </a:ext>
            </a:extLst>
          </p:cNvPr>
          <p:cNvSpPr>
            <a:spLocks xmlns:a="http://schemas.openxmlformats.org/drawingml/2006/main" noGrp="1"/>
          </p:cNvSpPr>
          <p:nvPr/>
        </p:nvSpPr>
        <p:spPr>
          <a:xfrm xmlns:a="http://schemas.openxmlformats.org/drawingml/2006/main">
            <a:off x="6581775" y="495300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Segmentation &amp; heterogeneity</a:t>
            </a:r>
          </a:p>
        </p:txBody>
      </p:sp>
      <p:sp>
        <p:nvSpPr>
          <p:cNvPr id="61" name="">
            <a:extLst xmlns:a="http://schemas.openxmlformats.org/drawingml/2006/main">
              <a:ext uri="{FF2B5EF4-FFF2-40B4-BE49-F238E27FC236}">
                <a16:creationId xmlns:a16="http://schemas.microsoft.com/office/drawing/2014/main" id="{A25C6963-8153-431D-8AA6-752E27E20949}"/>
              </a:ext>
            </a:extLst>
          </p:cNvPr>
          <p:cNvSpPr>
            <a:spLocks xmlns:a="http://schemas.openxmlformats.org/drawingml/2006/main" noGrp="1"/>
          </p:cNvSpPr>
          <p:nvPr/>
        </p:nvSpPr>
        <p:spPr>
          <a:xfrm xmlns:a="http://schemas.openxmlformats.org/drawingml/2006/main">
            <a:off x="6248400" y="545782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10</a:t>
            </a:r>
          </a:p>
        </p:txBody>
      </p:sp>
      <p:sp>
        <p:nvSpPr>
          <p:cNvPr id="62" name="">
            <a:extLst xmlns:a="http://schemas.openxmlformats.org/drawingml/2006/main">
              <a:ext uri="{FF2B5EF4-FFF2-40B4-BE49-F238E27FC236}">
                <a16:creationId xmlns:a16="http://schemas.microsoft.com/office/drawing/2014/main" id="{B6ED389F-5950-4E82-87DF-477714EBF008}"/>
              </a:ext>
            </a:extLst>
          </p:cNvPr>
          <p:cNvSpPr>
            <a:spLocks xmlns:a="http://schemas.openxmlformats.org/drawingml/2006/main" noGrp="1"/>
          </p:cNvSpPr>
          <p:nvPr/>
        </p:nvSpPr>
        <p:spPr>
          <a:xfrm xmlns:a="http://schemas.openxmlformats.org/drawingml/2006/main">
            <a:off x="6581775" y="545782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Time &amp; longitudinal analysis</a:t>
            </a:r>
          </a:p>
        </p:txBody>
      </p:sp>
      <p:sp>
        <p:nvSpPr>
          <p:cNvPr id="63" name="">
            <a:extLst xmlns:a="http://schemas.openxmlformats.org/drawingml/2006/main">
              <a:ext uri="{FF2B5EF4-FFF2-40B4-BE49-F238E27FC236}">
                <a16:creationId xmlns:a16="http://schemas.microsoft.com/office/drawing/2014/main" id="{97BAFFC8-7740-48BF-B8C6-C76511A7459D}"/>
              </a:ext>
            </a:extLst>
          </p:cNvPr>
          <p:cNvSpPr>
            <a:spLocks xmlns:a="http://schemas.openxmlformats.org/drawingml/2006/main" noGrp="1"/>
          </p:cNvSpPr>
          <p:nvPr/>
        </p:nvSpPr>
        <p:spPr>
          <a:xfrm xmlns:a="http://schemas.openxmlformats.org/drawingml/2006/main">
            <a:off x="6248400" y="596265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11</a:t>
            </a:r>
          </a:p>
        </p:txBody>
      </p:sp>
      <p:sp>
        <p:nvSpPr>
          <p:cNvPr id="64" name="">
            <a:extLst xmlns:a="http://schemas.openxmlformats.org/drawingml/2006/main">
              <a:ext uri="{FF2B5EF4-FFF2-40B4-BE49-F238E27FC236}">
                <a16:creationId xmlns:a16="http://schemas.microsoft.com/office/drawing/2014/main" id="{8BF0E6D0-A8D2-493A-B101-5405A9C7E90D}"/>
              </a:ext>
            </a:extLst>
          </p:cNvPr>
          <p:cNvSpPr>
            <a:spLocks xmlns:a="http://schemas.openxmlformats.org/drawingml/2006/main" noGrp="1"/>
          </p:cNvSpPr>
          <p:nvPr/>
        </p:nvSpPr>
        <p:spPr>
          <a:xfrm xmlns:a="http://schemas.openxmlformats.org/drawingml/2006/main">
            <a:off x="6581775" y="596265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Consistency &amp; downside analysis</a:t>
            </a:r>
          </a:p>
        </p:txBody>
      </p:sp>
      <p:sp>
        <p:nvSpPr>
          <p:cNvPr id="65" name="">
            <a:extLst xmlns:a="http://schemas.openxmlformats.org/drawingml/2006/main">
              <a:ext uri="{FF2B5EF4-FFF2-40B4-BE49-F238E27FC236}">
                <a16:creationId xmlns:a16="http://schemas.microsoft.com/office/drawing/2014/main" id="{84931016-F1C8-416D-85BE-A3B7848C6F11}"/>
              </a:ext>
            </a:extLst>
          </p:cNvPr>
          <p:cNvSpPr>
            <a:spLocks xmlns:a="http://schemas.openxmlformats.org/drawingml/2006/main" noGrp="1"/>
          </p:cNvSpPr>
          <p:nvPr/>
        </p:nvSpPr>
        <p:spPr>
          <a:xfrm xmlns:a="http://schemas.openxmlformats.org/drawingml/2006/main">
            <a:off x="6248400" y="646747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12</a:t>
            </a:r>
          </a:p>
        </p:txBody>
      </p:sp>
      <p:sp>
        <p:nvSpPr>
          <p:cNvPr id="66" name="">
            <a:extLst xmlns:a="http://schemas.openxmlformats.org/drawingml/2006/main">
              <a:ext uri="{FF2B5EF4-FFF2-40B4-BE49-F238E27FC236}">
                <a16:creationId xmlns:a16="http://schemas.microsoft.com/office/drawing/2014/main" id="{D6F5D623-EE11-4AFE-A106-A0F15441C5B4}"/>
              </a:ext>
            </a:extLst>
          </p:cNvPr>
          <p:cNvSpPr>
            <a:spLocks xmlns:a="http://schemas.openxmlformats.org/drawingml/2006/main" noGrp="1"/>
          </p:cNvSpPr>
          <p:nvPr/>
        </p:nvSpPr>
        <p:spPr>
          <a:xfrm xmlns:a="http://schemas.openxmlformats.org/drawingml/2006/main">
            <a:off x="6581775" y="646747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Nonlinearity &amp; thresholds</a:t>
            </a:r>
          </a:p>
        </p:txBody>
      </p:sp>
      <p:sp>
        <p:nvSpPr>
          <p:cNvPr id="67" name="">
            <a:extLst xmlns:a="http://schemas.openxmlformats.org/drawingml/2006/main">
              <a:ext uri="{FF2B5EF4-FFF2-40B4-BE49-F238E27FC236}">
                <a16:creationId xmlns:a16="http://schemas.microsoft.com/office/drawing/2014/main" id="{942D9C6F-A727-4D6A-BA34-92F4AA2EE36B}"/>
              </a:ext>
            </a:extLst>
          </p:cNvPr>
          <p:cNvSpPr>
            <a:spLocks xmlns:a="http://schemas.openxmlformats.org/drawingml/2006/main" noGrp="1"/>
          </p:cNvSpPr>
          <p:nvPr/>
        </p:nvSpPr>
        <p:spPr>
          <a:xfrm xmlns:a="http://schemas.openxmlformats.org/drawingml/2006/main">
            <a:off x="9182100" y="4543425"/>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MODEL &amp; EXPLAIN</a:t>
            </a:r>
          </a:p>
        </p:txBody>
      </p:sp>
      <p:sp>
        <p:nvSpPr>
          <p:cNvPr id="68" name="">
            <a:extLst xmlns:a="http://schemas.openxmlformats.org/drawingml/2006/main">
              <a:ext uri="{FF2B5EF4-FFF2-40B4-BE49-F238E27FC236}">
                <a16:creationId xmlns:a16="http://schemas.microsoft.com/office/drawing/2014/main" id="{C807AD37-1FAC-4DF5-A4DC-3E3534DF6200}"/>
              </a:ext>
            </a:extLst>
          </p:cNvPr>
          <p:cNvSpPr>
            <a:spLocks xmlns:a="http://schemas.openxmlformats.org/drawingml/2006/main" noGrp="1"/>
          </p:cNvSpPr>
          <p:nvPr/>
        </p:nvSpPr>
        <p:spPr>
          <a:xfrm xmlns:a="http://schemas.openxmlformats.org/drawingml/2006/main">
            <a:off x="9182100" y="4857750"/>
            <a:ext cx="27432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69" name="">
            <a:extLst xmlns:a="http://schemas.openxmlformats.org/drawingml/2006/main">
              <a:ext uri="{FF2B5EF4-FFF2-40B4-BE49-F238E27FC236}">
                <a16:creationId xmlns:a16="http://schemas.microsoft.com/office/drawing/2014/main" id="{7EA72863-AB05-4389-B00E-95857E2F206C}"/>
              </a:ext>
            </a:extLst>
          </p:cNvPr>
          <p:cNvSpPr>
            <a:spLocks xmlns:a="http://schemas.openxmlformats.org/drawingml/2006/main" noGrp="1"/>
          </p:cNvSpPr>
          <p:nvPr/>
        </p:nvSpPr>
        <p:spPr>
          <a:xfrm xmlns:a="http://schemas.openxmlformats.org/drawingml/2006/main">
            <a:off x="9182100" y="495300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13</a:t>
            </a:r>
          </a:p>
        </p:txBody>
      </p:sp>
      <p:sp>
        <p:nvSpPr>
          <p:cNvPr id="70" name="">
            <a:extLst xmlns:a="http://schemas.openxmlformats.org/drawingml/2006/main">
              <a:ext uri="{FF2B5EF4-FFF2-40B4-BE49-F238E27FC236}">
                <a16:creationId xmlns:a16="http://schemas.microsoft.com/office/drawing/2014/main" id="{6D090A6E-9FAB-4347-8DC2-06D6D2047862}"/>
              </a:ext>
            </a:extLst>
          </p:cNvPr>
          <p:cNvSpPr>
            <a:spLocks xmlns:a="http://schemas.openxmlformats.org/drawingml/2006/main" noGrp="1"/>
          </p:cNvSpPr>
          <p:nvPr/>
        </p:nvSpPr>
        <p:spPr>
          <a:xfrm xmlns:a="http://schemas.openxmlformats.org/drawingml/2006/main">
            <a:off x="9515475" y="495300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Multivariable regression</a:t>
            </a:r>
          </a:p>
        </p:txBody>
      </p:sp>
      <p:sp>
        <p:nvSpPr>
          <p:cNvPr id="71" name="">
            <a:extLst xmlns:a="http://schemas.openxmlformats.org/drawingml/2006/main">
              <a:ext uri="{FF2B5EF4-FFF2-40B4-BE49-F238E27FC236}">
                <a16:creationId xmlns:a16="http://schemas.microsoft.com/office/drawing/2014/main" id="{395C224E-3DD3-4AE6-B8EB-67213A7A7357}"/>
              </a:ext>
            </a:extLst>
          </p:cNvPr>
          <p:cNvSpPr>
            <a:spLocks xmlns:a="http://schemas.openxmlformats.org/drawingml/2006/main" noGrp="1"/>
          </p:cNvSpPr>
          <p:nvPr/>
        </p:nvSpPr>
        <p:spPr>
          <a:xfrm xmlns:a="http://schemas.openxmlformats.org/drawingml/2006/main">
            <a:off x="9182100" y="545782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14</a:t>
            </a:r>
          </a:p>
        </p:txBody>
      </p:sp>
      <p:sp>
        <p:nvSpPr>
          <p:cNvPr id="72" name="">
            <a:extLst xmlns:a="http://schemas.openxmlformats.org/drawingml/2006/main">
              <a:ext uri="{FF2B5EF4-FFF2-40B4-BE49-F238E27FC236}">
                <a16:creationId xmlns:a16="http://schemas.microsoft.com/office/drawing/2014/main" id="{6D3A5E3C-9EC6-4561-9B42-59F0C20BDDEF}"/>
              </a:ext>
            </a:extLst>
          </p:cNvPr>
          <p:cNvSpPr>
            <a:spLocks xmlns:a="http://schemas.openxmlformats.org/drawingml/2006/main" noGrp="1"/>
          </p:cNvSpPr>
          <p:nvPr/>
        </p:nvSpPr>
        <p:spPr>
          <a:xfrm xmlns:a="http://schemas.openxmlformats.org/drawingml/2006/main">
            <a:off x="9515475" y="545782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Relative importance &amp; shared information</a:t>
            </a:r>
          </a:p>
        </p:txBody>
      </p:sp>
      <p:sp>
        <p:nvSpPr>
          <p:cNvPr id="73" name="">
            <a:extLst xmlns:a="http://schemas.openxmlformats.org/drawingml/2006/main">
              <a:ext uri="{FF2B5EF4-FFF2-40B4-BE49-F238E27FC236}">
                <a16:creationId xmlns:a16="http://schemas.microsoft.com/office/drawing/2014/main" id="{C2134D74-A4EF-4067-816F-CCD9616B3FD8}"/>
              </a:ext>
            </a:extLst>
          </p:cNvPr>
          <p:cNvSpPr>
            <a:spLocks xmlns:a="http://schemas.openxmlformats.org/drawingml/2006/main" noGrp="1"/>
          </p:cNvSpPr>
          <p:nvPr/>
        </p:nvSpPr>
        <p:spPr>
          <a:xfrm xmlns:a="http://schemas.openxmlformats.org/drawingml/2006/main">
            <a:off x="9182100" y="596265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15</a:t>
            </a:r>
          </a:p>
        </p:txBody>
      </p:sp>
      <p:sp>
        <p:nvSpPr>
          <p:cNvPr id="74" name="">
            <a:extLst xmlns:a="http://schemas.openxmlformats.org/drawingml/2006/main">
              <a:ext uri="{FF2B5EF4-FFF2-40B4-BE49-F238E27FC236}">
                <a16:creationId xmlns:a16="http://schemas.microsoft.com/office/drawing/2014/main" id="{47622A7D-2F6E-4671-9902-9B3E027697F7}"/>
              </a:ext>
            </a:extLst>
          </p:cNvPr>
          <p:cNvSpPr>
            <a:spLocks xmlns:a="http://schemas.openxmlformats.org/drawingml/2006/main" noGrp="1"/>
          </p:cNvSpPr>
          <p:nvPr/>
        </p:nvSpPr>
        <p:spPr>
          <a:xfrm xmlns:a="http://schemas.openxmlformats.org/drawingml/2006/main">
            <a:off x="9515475" y="596265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Interactions &amp; combinations</a:t>
            </a:r>
          </a:p>
        </p:txBody>
      </p:sp>
      <p:sp>
        <p:nvSpPr>
          <p:cNvPr id="75" name="">
            <a:extLst xmlns:a="http://schemas.openxmlformats.org/drawingml/2006/main">
              <a:ext uri="{FF2B5EF4-FFF2-40B4-BE49-F238E27FC236}">
                <a16:creationId xmlns:a16="http://schemas.microsoft.com/office/drawing/2014/main" id="{2D59CD19-B848-4E75-97E8-A0B6B195750C}"/>
              </a:ext>
            </a:extLst>
          </p:cNvPr>
          <p:cNvSpPr>
            <a:spLocks xmlns:a="http://schemas.openxmlformats.org/drawingml/2006/main" noGrp="1"/>
          </p:cNvSpPr>
          <p:nvPr/>
        </p:nvSpPr>
        <p:spPr>
          <a:xfrm xmlns:a="http://schemas.openxmlformats.org/drawingml/2006/main">
            <a:off x="9182100" y="646747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16</a:t>
            </a:r>
          </a:p>
        </p:txBody>
      </p:sp>
      <p:sp>
        <p:nvSpPr>
          <p:cNvPr id="76" name="">
            <a:extLst xmlns:a="http://schemas.openxmlformats.org/drawingml/2006/main">
              <a:ext uri="{FF2B5EF4-FFF2-40B4-BE49-F238E27FC236}">
                <a16:creationId xmlns:a16="http://schemas.microsoft.com/office/drawing/2014/main" id="{072DF69B-4ED6-4C18-8D37-99653ED4976B}"/>
              </a:ext>
            </a:extLst>
          </p:cNvPr>
          <p:cNvSpPr>
            <a:spLocks xmlns:a="http://schemas.openxmlformats.org/drawingml/2006/main" noGrp="1"/>
          </p:cNvSpPr>
          <p:nvPr/>
        </p:nvSpPr>
        <p:spPr>
          <a:xfrm xmlns:a="http://schemas.openxmlformats.org/drawingml/2006/main">
            <a:off x="9515475" y="646747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Exceptions &amp; unexplained gaps</a:t>
            </a:r>
          </a:p>
        </p:txBody>
      </p:sp>
      <p:sp>
        <p:nvSpPr>
          <p:cNvPr id="77" name="">
            <a:extLst xmlns:a="http://schemas.openxmlformats.org/drawingml/2006/main">
              <a:ext uri="{FF2B5EF4-FFF2-40B4-BE49-F238E27FC236}">
                <a16:creationId xmlns:a16="http://schemas.microsoft.com/office/drawing/2014/main" id="{A3E482A7-1ACF-4DBD-A494-F1AB08CFEBF8}"/>
              </a:ext>
            </a:extLst>
          </p:cNvPr>
          <p:cNvSpPr>
            <a:spLocks xmlns:a="http://schemas.openxmlformats.org/drawingml/2006/main" noGrp="1"/>
          </p:cNvSpPr>
          <p:nvPr/>
        </p:nvSpPr>
        <p:spPr>
          <a:xfrm xmlns:a="http://schemas.openxmlformats.org/drawingml/2006/main">
            <a:off x="12115800" y="4543425"/>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VALIDATE &amp; ACT</a:t>
            </a:r>
          </a:p>
        </p:txBody>
      </p:sp>
      <p:sp>
        <p:nvSpPr>
          <p:cNvPr id="78" name="">
            <a:extLst xmlns:a="http://schemas.openxmlformats.org/drawingml/2006/main">
              <a:ext uri="{FF2B5EF4-FFF2-40B4-BE49-F238E27FC236}">
                <a16:creationId xmlns:a16="http://schemas.microsoft.com/office/drawing/2014/main" id="{612165B7-9F65-401F-936C-D891BF3FAA19}"/>
              </a:ext>
            </a:extLst>
          </p:cNvPr>
          <p:cNvSpPr>
            <a:spLocks xmlns:a="http://schemas.openxmlformats.org/drawingml/2006/main" noGrp="1"/>
          </p:cNvSpPr>
          <p:nvPr/>
        </p:nvSpPr>
        <p:spPr>
          <a:xfrm xmlns:a="http://schemas.openxmlformats.org/drawingml/2006/main">
            <a:off x="12115800" y="4857750"/>
            <a:ext cx="27432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79" name="">
            <a:extLst xmlns:a="http://schemas.openxmlformats.org/drawingml/2006/main">
              <a:ext uri="{FF2B5EF4-FFF2-40B4-BE49-F238E27FC236}">
                <a16:creationId xmlns:a16="http://schemas.microsoft.com/office/drawing/2014/main" id="{C9F57476-E6B1-4D5F-BED3-2EAC52DBF3D6}"/>
              </a:ext>
            </a:extLst>
          </p:cNvPr>
          <p:cNvSpPr>
            <a:spLocks xmlns:a="http://schemas.openxmlformats.org/drawingml/2006/main" noGrp="1"/>
          </p:cNvSpPr>
          <p:nvPr/>
        </p:nvSpPr>
        <p:spPr>
          <a:xfrm xmlns:a="http://schemas.openxmlformats.org/drawingml/2006/main">
            <a:off x="12115800" y="495300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17</a:t>
            </a:r>
          </a:p>
        </p:txBody>
      </p:sp>
      <p:sp>
        <p:nvSpPr>
          <p:cNvPr id="80" name="">
            <a:extLst xmlns:a="http://schemas.openxmlformats.org/drawingml/2006/main">
              <a:ext uri="{FF2B5EF4-FFF2-40B4-BE49-F238E27FC236}">
                <a16:creationId xmlns:a16="http://schemas.microsoft.com/office/drawing/2014/main" id="{D9FF4CB8-C15A-4D37-A3A0-58FBFB32D02E}"/>
              </a:ext>
            </a:extLst>
          </p:cNvPr>
          <p:cNvSpPr>
            <a:spLocks xmlns:a="http://schemas.openxmlformats.org/drawingml/2006/main" noGrp="1"/>
          </p:cNvSpPr>
          <p:nvPr/>
        </p:nvSpPr>
        <p:spPr>
          <a:xfrm xmlns:a="http://schemas.openxmlformats.org/drawingml/2006/main">
            <a:off x="12449175" y="495300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Qualitative &amp; contextual evidence</a:t>
            </a:r>
          </a:p>
        </p:txBody>
      </p:sp>
      <p:sp>
        <p:nvSpPr>
          <p:cNvPr id="81" name="">
            <a:extLst xmlns:a="http://schemas.openxmlformats.org/drawingml/2006/main">
              <a:ext uri="{FF2B5EF4-FFF2-40B4-BE49-F238E27FC236}">
                <a16:creationId xmlns:a16="http://schemas.microsoft.com/office/drawing/2014/main" id="{F8B10052-57CF-4A67-A226-C208A1C9FCA8}"/>
              </a:ext>
            </a:extLst>
          </p:cNvPr>
          <p:cNvSpPr>
            <a:spLocks xmlns:a="http://schemas.openxmlformats.org/drawingml/2006/main" noGrp="1"/>
          </p:cNvSpPr>
          <p:nvPr/>
        </p:nvSpPr>
        <p:spPr>
          <a:xfrm xmlns:a="http://schemas.openxmlformats.org/drawingml/2006/main">
            <a:off x="12115800" y="545782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18</a:t>
            </a:r>
          </a:p>
        </p:txBody>
      </p:sp>
      <p:sp>
        <p:nvSpPr>
          <p:cNvPr id="82" name="">
            <a:extLst xmlns:a="http://schemas.openxmlformats.org/drawingml/2006/main">
              <a:ext uri="{FF2B5EF4-FFF2-40B4-BE49-F238E27FC236}">
                <a16:creationId xmlns:a16="http://schemas.microsoft.com/office/drawing/2014/main" id="{CDBD22DE-8170-47D3-8384-B0AB3435CB0F}"/>
              </a:ext>
            </a:extLst>
          </p:cNvPr>
          <p:cNvSpPr>
            <a:spLocks xmlns:a="http://schemas.openxmlformats.org/drawingml/2006/main" noGrp="1"/>
          </p:cNvSpPr>
          <p:nvPr/>
        </p:nvSpPr>
        <p:spPr>
          <a:xfrm xmlns:a="http://schemas.openxmlformats.org/drawingml/2006/main">
            <a:off x="12449175" y="545782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Robustness &amp; confirmation</a:t>
            </a:r>
          </a:p>
        </p:txBody>
      </p:sp>
      <p:sp>
        <p:nvSpPr>
          <p:cNvPr id="83" name="">
            <a:extLst xmlns:a="http://schemas.openxmlformats.org/drawingml/2006/main">
              <a:ext uri="{FF2B5EF4-FFF2-40B4-BE49-F238E27FC236}">
                <a16:creationId xmlns:a16="http://schemas.microsoft.com/office/drawing/2014/main" id="{3849E8F0-E8D1-4AFD-A3CE-2426B4F0AEEE}"/>
              </a:ext>
            </a:extLst>
          </p:cNvPr>
          <p:cNvSpPr>
            <a:spLocks xmlns:a="http://schemas.openxmlformats.org/drawingml/2006/main" noGrp="1"/>
          </p:cNvSpPr>
          <p:nvPr/>
        </p:nvSpPr>
        <p:spPr>
          <a:xfrm xmlns:a="http://schemas.openxmlformats.org/drawingml/2006/main">
            <a:off x="12115800" y="5962650"/>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19</a:t>
            </a:r>
          </a:p>
        </p:txBody>
      </p:sp>
      <p:sp>
        <p:nvSpPr>
          <p:cNvPr id="84" name="">
            <a:extLst xmlns:a="http://schemas.openxmlformats.org/drawingml/2006/main">
              <a:ext uri="{FF2B5EF4-FFF2-40B4-BE49-F238E27FC236}">
                <a16:creationId xmlns:a16="http://schemas.microsoft.com/office/drawing/2014/main" id="{D7CEAFA3-0DD0-4973-9EC1-9D690F5C03EF}"/>
              </a:ext>
            </a:extLst>
          </p:cNvPr>
          <p:cNvSpPr>
            <a:spLocks xmlns:a="http://schemas.openxmlformats.org/drawingml/2006/main" noGrp="1"/>
          </p:cNvSpPr>
          <p:nvPr/>
        </p:nvSpPr>
        <p:spPr>
          <a:xfrm xmlns:a="http://schemas.openxmlformats.org/drawingml/2006/main">
            <a:off x="12449175" y="5962650"/>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Opportunity prioritization</a:t>
            </a:r>
          </a:p>
        </p:txBody>
      </p:sp>
      <p:sp>
        <p:nvSpPr>
          <p:cNvPr id="85" name="">
            <a:extLst xmlns:a="http://schemas.openxmlformats.org/drawingml/2006/main">
              <a:ext uri="{FF2B5EF4-FFF2-40B4-BE49-F238E27FC236}">
                <a16:creationId xmlns:a16="http://schemas.microsoft.com/office/drawing/2014/main" id="{7C24AA6F-4259-4222-8444-D79F12F3EF71}"/>
              </a:ext>
            </a:extLst>
          </p:cNvPr>
          <p:cNvSpPr>
            <a:spLocks xmlns:a="http://schemas.openxmlformats.org/drawingml/2006/main" noGrp="1"/>
          </p:cNvSpPr>
          <p:nvPr/>
        </p:nvSpPr>
        <p:spPr>
          <a:xfrm xmlns:a="http://schemas.openxmlformats.org/drawingml/2006/main">
            <a:off x="12115800" y="6467475"/>
            <a:ext cx="295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2698A"/>
                </a:solidFill>
                <a:latin typeface="Arial"/>
                <a:ea typeface="Arial"/>
                <a:cs typeface="Arial"/>
              </a:defRPr>
            </a:defPPr>
          </a:lstStyle>
          <a:p xmlns:a="http://schemas.openxmlformats.org/drawingml/2006/main">
            <a:pPr>
              <a:defRPr sz="1350" b="1">
                <a:solidFill>
                  <a:srgbClr val="12698A"/>
                </a:solidFill>
                <a:latin typeface="Arial"/>
                <a:ea typeface="Arial"/>
                <a:cs typeface="Arial"/>
              </a:defRPr>
            </a:pPr>
            <a:r>
              <a:rPr sz="1350" b="1">
                <a:solidFill>
                  <a:srgbClr val="12698A"/>
                </a:solidFill>
                <a:latin typeface="Arial"/>
                <a:ea typeface="Arial"/>
                <a:cs typeface="Arial"/>
              </a:rPr>
              <a:t>20</a:t>
            </a:r>
          </a:p>
        </p:txBody>
      </p:sp>
      <p:sp>
        <p:nvSpPr>
          <p:cNvPr id="86" name="">
            <a:extLst xmlns:a="http://schemas.openxmlformats.org/drawingml/2006/main">
              <a:ext uri="{FF2B5EF4-FFF2-40B4-BE49-F238E27FC236}">
                <a16:creationId xmlns:a16="http://schemas.microsoft.com/office/drawing/2014/main" id="{21E0B47D-917E-4724-B772-7731D6D3F0A8}"/>
              </a:ext>
            </a:extLst>
          </p:cNvPr>
          <p:cNvSpPr>
            <a:spLocks xmlns:a="http://schemas.openxmlformats.org/drawingml/2006/main" noGrp="1"/>
          </p:cNvSpPr>
          <p:nvPr/>
        </p:nvSpPr>
        <p:spPr>
          <a:xfrm xmlns:a="http://schemas.openxmlformats.org/drawingml/2006/main">
            <a:off x="12449175" y="6467475"/>
            <a:ext cx="2371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Reporting &amp; evidence synthesis</a:t>
            </a:r>
          </a:p>
        </p:txBody>
      </p:sp>
      <p:sp>
        <p:nvSpPr>
          <p:cNvPr id="87" name="">
            <a:extLst xmlns:a="http://schemas.openxmlformats.org/drawingml/2006/main">
              <a:ext uri="{FF2B5EF4-FFF2-40B4-BE49-F238E27FC236}">
                <a16:creationId xmlns:a16="http://schemas.microsoft.com/office/drawing/2014/main" id="{764A7228-FD72-4D94-8020-E8DA67B643E3}"/>
              </a:ext>
            </a:extLst>
          </p:cNvPr>
          <p:cNvSpPr>
            <a:spLocks xmlns:a="http://schemas.openxmlformats.org/drawingml/2006/main" noGrp="1"/>
          </p:cNvSpPr>
          <p:nvPr/>
        </p:nvSpPr>
        <p:spPr>
          <a:xfrm xmlns:a="http://schemas.openxmlformats.org/drawingml/2006/main">
            <a:off x="381000" y="7115175"/>
            <a:ext cx="14478000" cy="19050"/>
          </a:xfrm>
          <a:prstGeom xmlns:a="http://schemas.openxmlformats.org/drawingml/2006/main" prst="rect">
            <a:avLst/>
          </a:prstGeom>
          <a:solidFill xmlns:a="http://schemas.openxmlformats.org/drawingml/2006/main">
            <a:srgbClr val="BDD0DB"/>
          </a:solidFill>
          <a:ln xmlns:a="http://schemas.openxmlformats.org/drawingml/2006/main" w="9525">
            <a:noFill/>
          </a:ln>
        </p:spPr>
      </p:sp>
      <p:sp>
        <p:nvSpPr>
          <p:cNvPr id="88" name="">
            <a:extLst xmlns:a="http://schemas.openxmlformats.org/drawingml/2006/main">
              <a:ext uri="{FF2B5EF4-FFF2-40B4-BE49-F238E27FC236}">
                <a16:creationId xmlns:a16="http://schemas.microsoft.com/office/drawing/2014/main" id="{5B0792D7-3098-40D3-925E-BCB55B85D591}"/>
              </a:ext>
            </a:extLst>
          </p:cNvPr>
          <p:cNvSpPr>
            <a:spLocks xmlns:a="http://schemas.openxmlformats.org/drawingml/2006/main" noGrp="1"/>
          </p:cNvSpPr>
          <p:nvPr/>
        </p:nvSpPr>
        <p:spPr>
          <a:xfrm xmlns:a="http://schemas.openxmlformats.org/drawingml/2006/main">
            <a:off x="381000" y="72390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12698A"/>
                </a:solidFill>
                <a:latin typeface="Arial"/>
                <a:ea typeface="Arial"/>
                <a:cs typeface="Arial"/>
              </a:defRPr>
            </a:defPPr>
          </a:lstStyle>
          <a:p xmlns:a="http://schemas.openxmlformats.org/drawingml/2006/main">
            <a:pPr>
              <a:defRPr sz="1425" b="1">
                <a:solidFill>
                  <a:srgbClr val="12698A"/>
                </a:solidFill>
                <a:latin typeface="Arial"/>
                <a:ea typeface="Arial"/>
                <a:cs typeface="Arial"/>
              </a:defRPr>
            </a:pPr>
            <a:r>
              <a:rPr sz="1425" b="1">
                <a:solidFill>
                  <a:srgbClr val="12698A"/>
                </a:solidFill>
                <a:latin typeface="Arial"/>
                <a:ea typeface="Arial"/>
                <a:cs typeface="Arial"/>
              </a:rPr>
              <a:t>SHARED TOOLS</a:t>
            </a:r>
          </a:p>
        </p:txBody>
      </p:sp>
      <p:sp>
        <p:nvSpPr>
          <p:cNvPr id="89" name="">
            <a:extLst xmlns:a="http://schemas.openxmlformats.org/drawingml/2006/main">
              <a:ext uri="{FF2B5EF4-FFF2-40B4-BE49-F238E27FC236}">
                <a16:creationId xmlns:a16="http://schemas.microsoft.com/office/drawing/2014/main" id="{9D17B608-C4A6-42E2-9062-1B99ADAABF1E}"/>
              </a:ext>
            </a:extLst>
          </p:cNvPr>
          <p:cNvSpPr>
            <a:spLocks xmlns:a="http://schemas.openxmlformats.org/drawingml/2006/main" noGrp="1"/>
          </p:cNvSpPr>
          <p:nvPr/>
        </p:nvSpPr>
        <p:spPr>
          <a:xfrm xmlns:a="http://schemas.openxmlformats.org/drawingml/2006/main">
            <a:off x="2428875" y="7210425"/>
            <a:ext cx="1243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72E40"/>
                </a:solidFill>
                <a:latin typeface="Arial"/>
                <a:ea typeface="Arial"/>
                <a:cs typeface="Arial"/>
              </a:defRPr>
            </a:defPPr>
          </a:lstStyle>
          <a:p xmlns:a="http://schemas.openxmlformats.org/drawingml/2006/main">
            <a:pPr>
              <a:defRPr sz="1575" b="0">
                <a:solidFill>
                  <a:srgbClr val="172E40"/>
                </a:solidFill>
                <a:latin typeface="Arial"/>
                <a:ea typeface="Arial"/>
                <a:cs typeface="Arial"/>
              </a:defRPr>
            </a:pPr>
            <a:r>
              <a:rPr sz="1575" b="0">
                <a:solidFill>
                  <a:srgbClr val="172E40"/>
                </a:solidFill>
                <a:latin typeface="Arial"/>
                <a:ea typeface="Arial"/>
                <a:cs typeface="Arial"/>
              </a:rPr>
              <a:t>Connectors / APIs / SQL     Python / R     Data checks     Charts &amp; diagnostics     Excel / slides / reports</a:t>
            </a:r>
          </a:p>
        </p:txBody>
      </p:sp>
      <p:sp>
        <p:nvSpPr>
          <p:cNvPr id="90" name="">
            <a:extLst xmlns:a="http://schemas.openxmlformats.org/drawingml/2006/main">
              <a:ext uri="{FF2B5EF4-FFF2-40B4-BE49-F238E27FC236}">
                <a16:creationId xmlns:a16="http://schemas.microsoft.com/office/drawing/2014/main" id="{86550E7B-C1E8-4EE5-B42E-6EAC4CB0DAF7}"/>
              </a:ext>
            </a:extLst>
          </p:cNvPr>
          <p:cNvSpPr>
            <a:spLocks xmlns:a="http://schemas.openxmlformats.org/drawingml/2006/main" noGrp="1"/>
          </p:cNvSpPr>
          <p:nvPr/>
        </p:nvSpPr>
        <p:spPr>
          <a:xfrm xmlns:a="http://schemas.openxmlformats.org/drawingml/2006/main">
            <a:off x="381000" y="768667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12698A"/>
                </a:solidFill>
                <a:latin typeface="Arial"/>
                <a:ea typeface="Arial"/>
                <a:cs typeface="Arial"/>
              </a:defRPr>
            </a:defPPr>
          </a:lstStyle>
          <a:p xmlns:a="http://schemas.openxmlformats.org/drawingml/2006/main">
            <a:pPr>
              <a:defRPr sz="1425" b="1">
                <a:solidFill>
                  <a:srgbClr val="12698A"/>
                </a:solidFill>
                <a:latin typeface="Arial"/>
                <a:ea typeface="Arial"/>
                <a:cs typeface="Arial"/>
              </a:defRPr>
            </a:pPr>
            <a:r>
              <a:rPr sz="1425" b="1">
                <a:solidFill>
                  <a:srgbClr val="12698A"/>
                </a:solidFill>
                <a:latin typeface="Arial"/>
                <a:ea typeface="Arial"/>
                <a:cs typeface="Arial"/>
              </a:rPr>
              <a:t>REUSABLE ASSETS</a:t>
            </a:r>
          </a:p>
        </p:txBody>
      </p:sp>
      <p:sp>
        <p:nvSpPr>
          <p:cNvPr id="91" name="">
            <a:extLst xmlns:a="http://schemas.openxmlformats.org/drawingml/2006/main">
              <a:ext uri="{FF2B5EF4-FFF2-40B4-BE49-F238E27FC236}">
                <a16:creationId xmlns:a16="http://schemas.microsoft.com/office/drawing/2014/main" id="{F9592783-2822-446D-82CA-82278D40572D}"/>
              </a:ext>
            </a:extLst>
          </p:cNvPr>
          <p:cNvSpPr>
            <a:spLocks xmlns:a="http://schemas.openxmlformats.org/drawingml/2006/main" noGrp="1"/>
          </p:cNvSpPr>
          <p:nvPr/>
        </p:nvSpPr>
        <p:spPr>
          <a:xfrm xmlns:a="http://schemas.openxmlformats.org/drawingml/2006/main">
            <a:off x="2428875" y="7639050"/>
            <a:ext cx="1243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72E40"/>
                </a:solidFill>
                <a:latin typeface="Arial"/>
                <a:ea typeface="Arial"/>
                <a:cs typeface="Arial"/>
              </a:defRPr>
            </a:defPPr>
          </a:lstStyle>
          <a:p xmlns:a="http://schemas.openxmlformats.org/drawingml/2006/main">
            <a:pPr>
              <a:defRPr sz="1500" b="0">
                <a:solidFill>
                  <a:srgbClr val="172E40"/>
                </a:solidFill>
                <a:latin typeface="Arial"/>
                <a:ea typeface="Arial"/>
                <a:cs typeface="Arial"/>
              </a:defRPr>
            </a:pPr>
            <a:r>
              <a:rPr sz="1500" b="0">
                <a:solidFill>
                  <a:srgbClr val="172E40"/>
                </a:solidFill>
                <a:latin typeface="Arial"/>
                <a:ea typeface="Arial"/>
                <a:cs typeface="Arial"/>
              </a:rPr>
              <a:t>Metric dictionary, source catalog, hypotheses, playbooks, datasets, code templates, evidence register and run logs</a:t>
            </a:r>
          </a:p>
        </p:txBody>
      </p:sp>
      <p:sp>
        <p:nvSpPr>
          <p:cNvPr id="92" name="">
            <a:extLst xmlns:a="http://schemas.openxmlformats.org/drawingml/2006/main">
              <a:ext uri="{FF2B5EF4-FFF2-40B4-BE49-F238E27FC236}">
                <a16:creationId xmlns:a16="http://schemas.microsoft.com/office/drawing/2014/main" id="{E87EB4D9-803C-4DCA-AE56-3A1855DB0317}"/>
              </a:ext>
            </a:extLst>
          </p:cNvPr>
          <p:cNvSpPr>
            <a:spLocks xmlns:a="http://schemas.openxmlformats.org/drawingml/2006/main" noGrp="1"/>
          </p:cNvSpPr>
          <p:nvPr/>
        </p:nvSpPr>
        <p:spPr>
          <a:xfrm xmlns:a="http://schemas.openxmlformats.org/drawingml/2006/main">
            <a:off x="381000" y="8153400"/>
            <a:ext cx="1447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Human review at scope and action decisions. Findings retain their uncertainty. Operational pilots test whether improvements work.</a:t>
            </a:r>
          </a:p>
        </p:txBody>
      </p:sp>
    </p:spTree>
    <p:extLst>
      <p:ext uri="{BB962C8B-B14F-4D97-AF65-F5344CB8AC3E}">
        <p14:creationId xmlns:p14="http://schemas.microsoft.com/office/powerpoint/2010/main" val="2140057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2026-10-12T13:42:19.4840000Z</dcterms:created>
  <dcterms:modified xsi:type="dcterms:W3CDTF">2026-10-12T13:42:19.4840000Z</dcterms:modified>
</coreProperties>
</file>