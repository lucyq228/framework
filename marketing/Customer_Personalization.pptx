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8ab1e1777646e3" /><Relationship Type="http://schemas.openxmlformats.org/officeDocument/2006/relationships/extended-properties" Target="/docProps/app.xml" Id="R3ee4663a640f4f39" /><Relationship Type="http://schemas.openxmlformats.org/officeDocument/2006/relationships/officeDocument" Target="/ppt/presentation.xml" Id="R3c2f79fdacfe4d2a" /></Relationships>
</file>

<file path=ppt/presentation.xml><?xml version="1.0" encoding="utf-8"?>
<p:presentation xmlns:p="http://schemas.openxmlformats.org/presentationml/2006/main">
  <p:sldMasterIdLst>
    <p:sldMasterId xmlns:r="http://schemas.openxmlformats.org/officeDocument/2006/relationships" id="2147483648" r:id="R1ae1a59b915a498d"/>
  </p:sldMasterIdLst>
  <p:notesMasterIdLst>
    <p:notesMasterId xmlns:r="http://schemas.openxmlformats.org/officeDocument/2006/relationships" r:id="R09571f8bfeba4d7d"/>
  </p:notesMasterIdLst>
  <p:sldIdLst>
    <p:sldId xmlns:r="http://schemas.openxmlformats.org/officeDocument/2006/relationships" id="256" r:id="R4b91b0793e95457f"/>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964f123f2f46d9" /><Relationship Type="http://schemas.openxmlformats.org/officeDocument/2006/relationships/slideMaster" Target="/ppt/slideMasters/slideMaster1.xml" Id="R1ae1a59b915a498d" /><Relationship Type="http://schemas.openxmlformats.org/officeDocument/2006/relationships/notesMaster" Target="/ppt/notesMasters/notesMaster1.xml" Id="R09571f8bfeba4d7d" /><Relationship Type="http://schemas.openxmlformats.org/officeDocument/2006/relationships/presProps" Target="/ppt/presProps.xml" Id="R6110c25ac2a4499c" /><Relationship Type="http://schemas.openxmlformats.org/officeDocument/2006/relationships/tableStyles" Target="/ppt/tableStyles.xml" Id="Rd98af8f1223947b5" /><Relationship Type="http://schemas.openxmlformats.org/officeDocument/2006/relationships/slide" Target="/ppt/slides/slide1.xml" Id="R4b91b0793e9545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1bae7dba3746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ef13651bd9437b" /><Relationship Type="http://schemas.openxmlformats.org/officeDocument/2006/relationships/notesMaster" Target="/ppt/notesMasters/notesMaster1.xml" Id="Rc7cd87613a3e4d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Five-minute discussion outline</a:t>
            </a:r>
          </a:p>
          <a:p xmlns:a="http://schemas.openxmlformats.org/drawingml/2006/main">
            <a:r>
              <a:t>0:00–0:45: Contrast selecting an audience for a campaign with selecting an eligible next action for each customer. This is a proposed future state, not a claim about current company implementation.</a:t>
            </a:r>
          </a:p>
          <a:p xmlns:a="http://schemas.openxmlformats.org/drawingml/2006/main">
            <a:r>
              <a:t>0:45–1:45: Explain the platform. Scores offer complementary signals. A decision service ranks available actions against an explicit objective, uplift evidence, budget and contact constraints. No contact is a valid action. Customer friction requires behavioral or qualitative evidence; a churn score alone does not identify its cause.</a:t>
            </a:r>
          </a:p>
          <a:p xmlns:a="http://schemas.openxmlformats.org/drawingml/2006/main">
            <a:r>
              <a:t>1:45–2:45: Explain MCP tools, resources and prompts. Tools call existing APIs or functions, resources provide score definitions and policies, and prompts provide reusable task instructions. MCP standardizes access; direct API integration remains possible.</a:t>
            </a:r>
          </a:p>
          <a:p xmlns:a="http://schemas.openxmlformats.org/drawingml/2006/main">
            <a:r>
              <a:t>2:45–3:45: Planning agent accesses the services through MCP. Execution agent receives the plan and uses approved marketing APIs. It can invoke MCP write tools to record results. The execution agent may also use MCP launch tools where implemented. Routine event pipelines may write directly without an agent.</a:t>
            </a:r>
          </a:p>
          <a:p xmlns:a="http://schemas.openxmlformats.org/drawingml/2006/main">
            <a:r>
              <a:t>3:45–4:30: Delivery and response events can arrive promptly. A/B lift is estimated after a defined observation window and validation. Store experiment-level estimates with experiment and policy IDs; do not treat lift as an observed causal outcome for each individual.</a:t>
            </a:r>
          </a:p>
          <a:p xmlns:a="http://schemas.openxmlformats.org/drawingml/2006/main">
            <a:r>
              <a:t>4:30–5:00: Start with a limited pilot and compare the new policy against campaign-based targeting on incremental visits or profit. At scale, the agent launches batch decision services rather than reading one million rows into an LLM.</a:t>
            </a:r>
          </a:p>
          <a:p xmlns:a="http://schemas.openxmlformats.org/drawingml/2006/main">
            <a:r>
              <a:t>Reference: https://modelcontextprotocol.io/specification/2025-06-18/server/tools</a:t>
            </a:r>
          </a:p>
          <a:p xmlns:a="http://schemas.openxmlformats.org/drawingml/2006/main">
            <a:r>
              <a:t>Reference: https://modelcontextprotocol.io/specification/draft/server/index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a57664028943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2e95976e4d455b" /><Relationship Type="http://schemas.openxmlformats.org/officeDocument/2006/relationships/slideLayout" Target="/ppt/slideLayouts/slideLayout1.xml" Id="R82cb5466794145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cb5466794145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c2570a1e52452d" /><Relationship Type="http://schemas.openxmlformats.org/officeDocument/2006/relationships/notesSlide" Target="/ppt/notesSlides/notesSlide1.xml" Id="R4283cc9302e0419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47" name=""/>
          <p:cNvCxnSpPr>
            <a:stCxn xmlns:a="http://schemas.openxmlformats.org/drawingml/2006/main" id="37" idx="0"/>
            <a:endCxn xmlns:a="http://schemas.openxmlformats.org/drawingml/2006/main" id="17" idx="2"/>
          </p:cNvCxnSpPr>
          <p:nvPr/>
        </p:nvCxnSpPr>
        <p:spPr>
          <a:xfrm xmlns:a="http://schemas.openxmlformats.org/drawingml/2006/main" flipV="1">
            <a:off x="7524750" y="6286500"/>
            <a:ext cx="0" cy="428625"/>
          </a:xfrm>
          <a:prstGeom xmlns:a="http://schemas.openxmlformats.org/drawingml/2006/main" prst="straightConnector1">
            <a:avLst/>
          </a:prstGeom>
          <a:ln xmlns:a="http://schemas.openxmlformats.org/drawingml/2006/main" w="23813">
            <a:solidFill>
              <a:srgbClr val="147563"/>
            </a:solidFill>
            <a:tailEnd type="triangle" w="med" len="med"/>
          </a:ln>
        </p:spPr>
      </p:cxnSp>
      <p:cxnSp>
        <p:nvCxnSpPr>
          <p:cNvPr id="48" name=""/>
          <p:cNvCxnSpPr>
            <a:stCxn xmlns:a="http://schemas.openxmlformats.org/drawingml/2006/main" id="36" idx="1"/>
            <a:endCxn xmlns:a="http://schemas.openxmlformats.org/drawingml/2006/main" id="37" idx="3"/>
          </p:cNvCxnSpPr>
          <p:nvPr/>
        </p:nvCxnSpPr>
        <p:spPr>
          <a:xfrm xmlns:a="http://schemas.openxmlformats.org/drawingml/2006/main" flipH="1">
            <a:off x="7534275" y="6724650"/>
            <a:ext cx="5124450" cy="0"/>
          </a:xfrm>
          <a:prstGeom xmlns:a="http://schemas.openxmlformats.org/drawingml/2006/main" prst="straightConnector1">
            <a:avLst/>
          </a:prstGeom>
          <a:ln xmlns:a="http://schemas.openxmlformats.org/drawingml/2006/main" w="23813">
            <a:solidFill>
              <a:srgbClr val="147563"/>
            </a:solidFill>
          </a:ln>
        </p:spPr>
      </p:cxnSp>
      <p:cxnSp>
        <p:nvCxnSpPr>
          <p:cNvPr id="49" name=""/>
          <p:cNvCxnSpPr>
            <a:stCxn xmlns:a="http://schemas.openxmlformats.org/drawingml/2006/main" id="29" idx="2"/>
            <a:endCxn xmlns:a="http://schemas.openxmlformats.org/drawingml/2006/main" id="36" idx="0"/>
          </p:cNvCxnSpPr>
          <p:nvPr/>
        </p:nvCxnSpPr>
        <p:spPr>
          <a:xfrm xmlns:a="http://schemas.openxmlformats.org/drawingml/2006/main">
            <a:off x="12668250" y="6286500"/>
            <a:ext cx="0" cy="428625"/>
          </a:xfrm>
          <a:prstGeom xmlns:a="http://schemas.openxmlformats.org/drawingml/2006/main" prst="straightConnector1">
            <a:avLst/>
          </a:prstGeom>
          <a:ln xmlns:a="http://schemas.openxmlformats.org/drawingml/2006/main" w="23813">
            <a:solidFill>
              <a:srgbClr val="147563"/>
            </a:solidFill>
            <a:tailEnd type="triangle" w="med" len="med"/>
          </a:ln>
        </p:spPr>
      </p:cxnSp>
      <p:cxnSp>
        <p:nvCxnSpPr>
          <p:cNvPr id="50" name=""/>
          <p:cNvCxnSpPr>
            <a:stCxn xmlns:a="http://schemas.openxmlformats.org/drawingml/2006/main" id="26" idx="2"/>
            <a:endCxn xmlns:a="http://schemas.openxmlformats.org/drawingml/2006/main" id="29" idx="0"/>
          </p:cNvCxnSpPr>
          <p:nvPr/>
        </p:nvCxnSpPr>
        <p:spPr>
          <a:xfrm xmlns:a="http://schemas.openxmlformats.org/drawingml/2006/main">
            <a:off x="12668250" y="4343400"/>
            <a:ext cx="0" cy="666750"/>
          </a:xfrm>
          <a:prstGeom xmlns:a="http://schemas.openxmlformats.org/drawingml/2006/main" prst="straightConnector1">
            <a:avLst/>
          </a:prstGeom>
          <a:ln xmlns:a="http://schemas.openxmlformats.org/drawingml/2006/main" w="23813">
            <a:solidFill>
              <a:srgbClr val="147563"/>
            </a:solidFill>
            <a:tailEnd type="triangle" w="med" len="med"/>
          </a:ln>
        </p:spPr>
      </p:cxnSp>
      <p:cxnSp>
        <p:nvCxnSpPr>
          <p:cNvPr id="51" name=""/>
          <p:cNvCxnSpPr>
            <a:stCxn xmlns:a="http://schemas.openxmlformats.org/drawingml/2006/main" id="17" idx="3"/>
            <a:endCxn xmlns:a="http://schemas.openxmlformats.org/drawingml/2006/main" id="26" idx="1"/>
          </p:cNvCxnSpPr>
          <p:nvPr/>
        </p:nvCxnSpPr>
        <p:spPr>
          <a:xfrm xmlns:a="http://schemas.openxmlformats.org/drawingml/2006/main" flipV="1">
            <a:off x="9620250" y="3743325"/>
            <a:ext cx="1047750" cy="971550"/>
          </a:xfrm>
          <a:prstGeom xmlns:a="http://schemas.openxmlformats.org/drawingml/2006/main" prst="straightConnector1">
            <a:avLst/>
          </a:prstGeom>
          <a:ln xmlns:a="http://schemas.openxmlformats.org/drawingml/2006/main" w="23813">
            <a:solidFill>
              <a:srgbClr val="166394"/>
            </a:solidFill>
            <a:headEnd type="triangle" w="med" len="med"/>
            <a:tailEnd type="triangle" w="med" len="med"/>
          </a:ln>
        </p:spPr>
      </p:cxnSp>
      <p:cxnSp>
        <p:nvCxnSpPr>
          <p:cNvPr id="52" name=""/>
          <p:cNvCxnSpPr>
            <a:stCxn xmlns:a="http://schemas.openxmlformats.org/drawingml/2006/main" id="9" idx="3"/>
            <a:endCxn xmlns:a="http://schemas.openxmlformats.org/drawingml/2006/main" id="17" idx="1"/>
          </p:cNvCxnSpPr>
          <p:nvPr/>
        </p:nvCxnSpPr>
        <p:spPr>
          <a:xfrm xmlns:a="http://schemas.openxmlformats.org/drawingml/2006/main">
            <a:off x="4572000" y="4714875"/>
            <a:ext cx="857250" cy="0"/>
          </a:xfrm>
          <a:prstGeom xmlns:a="http://schemas.openxmlformats.org/drawingml/2006/main" prst="straightConnector1">
            <a:avLst/>
          </a:prstGeom>
          <a:ln xmlns:a="http://schemas.openxmlformats.org/drawingml/2006/main" w="23813">
            <a:solidFill>
              <a:srgbClr val="166394"/>
            </a:solidFill>
            <a:headEnd type="triangle" w="med" len="med"/>
            <a:tailEnd type="triangle" w="med" len="med"/>
          </a:ln>
        </p:spPr>
      </p:cxnSp>
      <p:sp>
        <p:nvSpPr>
          <p:cNvPr id="53" name="">
            <a:extLst xmlns:a="http://schemas.openxmlformats.org/drawingml/2006/main">
              <a:ext uri="{FF2B5EF4-FFF2-40B4-BE49-F238E27FC236}">
                <a16:creationId xmlns:a16="http://schemas.microsoft.com/office/drawing/2014/main" id="{C4F09D92-025E-46AE-B004-30FEA4F719C7}"/>
              </a:ext>
            </a:extLst>
          </p:cNvPr>
          <p:cNvSpPr>
            <a:spLocks xmlns:a="http://schemas.openxmlformats.org/drawingml/2006/main" noGrp="1"/>
          </p:cNvSpPr>
          <p:nvPr/>
        </p:nvSpPr>
        <p:spPr>
          <a:xfrm xmlns:a="http://schemas.openxmlformats.org/drawingml/2006/main">
            <a:off x="457200" y="400050"/>
            <a:ext cx="76200" cy="866775"/>
          </a:xfrm>
          <a:prstGeom xmlns:a="http://schemas.openxmlformats.org/drawingml/2006/main" prst="rect">
            <a:avLst/>
          </a:prstGeom>
          <a:solidFill xmlns:a="http://schemas.openxmlformats.org/drawingml/2006/main">
            <a:srgbClr val="FFC72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B95240-13CA-4ADE-845C-60FDBF63DAA6}"/>
              </a:ext>
            </a:extLst>
          </p:cNvPr>
          <p:cNvSpPr>
            <a:spLocks xmlns:a="http://schemas.openxmlformats.org/drawingml/2006/main" noGrp="1"/>
          </p:cNvSpPr>
          <p:nvPr/>
        </p:nvSpPr>
        <p:spPr>
          <a:xfrm xmlns:a="http://schemas.openxmlformats.org/drawingml/2006/main">
            <a:off x="685800" y="342900"/>
            <a:ext cx="1381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82D3B"/>
                </a:solidFill>
                <a:latin typeface="Arial"/>
                <a:ea typeface="Arial"/>
                <a:cs typeface="Arial"/>
              </a:defRPr>
            </a:pPr>
            <a:r>
              <a:rPr sz="3375" b="1">
                <a:solidFill>
                  <a:srgbClr val="182D3B"/>
                </a:solidFill>
                <a:latin typeface="Arial"/>
                <a:ea typeface="Arial"/>
                <a:cs typeface="Arial"/>
              </a:rPr>
              <a:t>From campaign-based marketing</a:t>
            </a:r>
          </a:p>
          <a:p xmlns:a="http://schemas.openxmlformats.org/drawingml/2006/main">
            <a:pPr>
              <a:defRPr sz="3375" b="1">
                <a:solidFill>
                  <a:srgbClr val="182D3B"/>
                </a:solidFill>
                <a:latin typeface="Arial"/>
                <a:ea typeface="Arial"/>
                <a:cs typeface="Arial"/>
              </a:defRPr>
            </a:pPr>
            <a:r>
              <a:rPr sz="3375" b="1">
                <a:solidFill>
                  <a:srgbClr val="182D3B"/>
                </a:solidFill>
                <a:latin typeface="Arial"/>
                <a:ea typeface="Arial"/>
                <a:cs typeface="Arial"/>
              </a:rPr>
              <a:t>to customer-level execution</a:t>
            </a:r>
          </a:p>
        </p:txBody>
      </p:sp>
      <p:sp>
        <p:nvSpPr>
          <p:cNvPr id="3" name="">
            <a:extLst xmlns:a="http://schemas.openxmlformats.org/drawingml/2006/main">
              <a:ext uri="{FF2B5EF4-FFF2-40B4-BE49-F238E27FC236}">
                <a16:creationId xmlns:a16="http://schemas.microsoft.com/office/drawing/2014/main" id="{22F56449-DEAC-4A5D-B69A-A73D66550492}"/>
              </a:ext>
            </a:extLst>
          </p:cNvPr>
          <p:cNvSpPr>
            <a:spLocks xmlns:a="http://schemas.openxmlformats.org/drawingml/2006/main" noGrp="1"/>
          </p:cNvSpPr>
          <p:nvPr/>
        </p:nvSpPr>
        <p:spPr>
          <a:xfrm xmlns:a="http://schemas.openxmlformats.org/drawingml/2006/main">
            <a:off x="685800" y="1419225"/>
            <a:ext cx="1381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777"/>
                </a:solidFill>
                <a:latin typeface="Arial"/>
                <a:ea typeface="Arial"/>
                <a:cs typeface="Arial"/>
              </a:defRPr>
            </a:pPr>
            <a:r>
              <a:rPr sz="1875" b="0">
                <a:solidFill>
                  <a:srgbClr val="526777"/>
                </a:solidFill>
                <a:latin typeface="Arial"/>
                <a:ea typeface="Arial"/>
                <a:cs typeface="Arial"/>
              </a:rPr>
              <a:t>MCP connects agents to customer scores, decision services, execution tools and measurement.</a:t>
            </a:r>
          </a:p>
        </p:txBody>
      </p:sp>
      <p:sp>
        <p:nvSpPr>
          <p:cNvPr id="4" name="">
            <a:extLst xmlns:a="http://schemas.openxmlformats.org/drawingml/2006/main">
              <a:ext uri="{FF2B5EF4-FFF2-40B4-BE49-F238E27FC236}">
                <a16:creationId xmlns:a16="http://schemas.microsoft.com/office/drawing/2014/main" id="{F1996ADC-8E74-424F-9279-3D1B4443360E}"/>
              </a:ext>
            </a:extLst>
          </p:cNvPr>
          <p:cNvSpPr>
            <a:spLocks xmlns:a="http://schemas.openxmlformats.org/drawingml/2006/main" noGrp="1"/>
          </p:cNvSpPr>
          <p:nvPr/>
        </p:nvSpPr>
        <p:spPr>
          <a:xfrm xmlns:a="http://schemas.openxmlformats.org/drawingml/2006/main">
            <a:off x="571500" y="1971675"/>
            <a:ext cx="14097000" cy="723900"/>
          </a:xfrm>
          <a:prstGeom xmlns:a="http://schemas.openxmlformats.org/drawingml/2006/main" prst="rect">
            <a:avLst/>
          </a:prstGeom>
          <a:solidFill xmlns:a="http://schemas.openxmlformats.org/drawingml/2006/main">
            <a:srgbClr val="F5F7F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B55DBDA-B3B6-4481-8D72-271A79077BFC}"/>
              </a:ext>
            </a:extLst>
          </p:cNvPr>
          <p:cNvSpPr>
            <a:spLocks xmlns:a="http://schemas.openxmlformats.org/drawingml/2006/main" noGrp="1"/>
          </p:cNvSpPr>
          <p:nvPr/>
        </p:nvSpPr>
        <p:spPr>
          <a:xfrm xmlns:a="http://schemas.openxmlformats.org/drawingml/2006/main">
            <a:off x="762000" y="20955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26777"/>
                </a:solidFill>
                <a:latin typeface="Arial"/>
                <a:ea typeface="Arial"/>
                <a:cs typeface="Arial"/>
              </a:defRPr>
            </a:pPr>
            <a:r>
              <a:rPr sz="1425" b="1">
                <a:solidFill>
                  <a:srgbClr val="526777"/>
                </a:solidFill>
                <a:latin typeface="Arial"/>
                <a:ea typeface="Arial"/>
                <a:cs typeface="Arial"/>
              </a:rPr>
              <a:t>BEFORE</a:t>
            </a:r>
          </a:p>
        </p:txBody>
      </p:sp>
      <p:sp>
        <p:nvSpPr>
          <p:cNvPr id="6" name="">
            <a:extLst xmlns:a="http://schemas.openxmlformats.org/drawingml/2006/main">
              <a:ext uri="{FF2B5EF4-FFF2-40B4-BE49-F238E27FC236}">
                <a16:creationId xmlns:a16="http://schemas.microsoft.com/office/drawing/2014/main" id="{A8F93803-4E95-40A2-857A-8ACCAD274861}"/>
              </a:ext>
            </a:extLst>
          </p:cNvPr>
          <p:cNvSpPr>
            <a:spLocks xmlns:a="http://schemas.openxmlformats.org/drawingml/2006/main" noGrp="1"/>
          </p:cNvSpPr>
          <p:nvPr/>
        </p:nvSpPr>
        <p:spPr>
          <a:xfrm xmlns:a="http://schemas.openxmlformats.org/drawingml/2006/main">
            <a:off x="1952625" y="20669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777"/>
                </a:solidFill>
                <a:latin typeface="Arial"/>
                <a:ea typeface="Arial"/>
                <a:cs typeface="Arial"/>
              </a:defRPr>
            </a:pPr>
            <a:r>
              <a:rPr sz="2025" b="0">
                <a:solidFill>
                  <a:srgbClr val="526777"/>
                </a:solidFill>
                <a:latin typeface="Arial"/>
                <a:ea typeface="Arial"/>
                <a:cs typeface="Arial"/>
              </a:rPr>
              <a:t>Find customers for a campaign</a:t>
            </a:r>
          </a:p>
        </p:txBody>
      </p:sp>
      <p:sp>
        <p:nvSpPr>
          <p:cNvPr id="7" name="">
            <a:extLst xmlns:a="http://schemas.openxmlformats.org/drawingml/2006/main">
              <a:ext uri="{FF2B5EF4-FFF2-40B4-BE49-F238E27FC236}">
                <a16:creationId xmlns:a16="http://schemas.microsoft.com/office/drawing/2014/main" id="{72AE8B97-0100-496D-BD58-BB9DEAD320CE}"/>
              </a:ext>
            </a:extLst>
          </p:cNvPr>
          <p:cNvSpPr>
            <a:spLocks xmlns:a="http://schemas.openxmlformats.org/drawingml/2006/main" noGrp="1"/>
          </p:cNvSpPr>
          <p:nvPr/>
        </p:nvSpPr>
        <p:spPr>
          <a:xfrm xmlns:a="http://schemas.openxmlformats.org/drawingml/2006/main">
            <a:off x="7858125" y="20955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66394"/>
                </a:solidFill>
                <a:latin typeface="Arial"/>
                <a:ea typeface="Arial"/>
                <a:cs typeface="Arial"/>
              </a:defRPr>
            </a:pPr>
            <a:r>
              <a:rPr sz="1425" b="1">
                <a:solidFill>
                  <a:srgbClr val="166394"/>
                </a:solidFill>
                <a:latin typeface="Arial"/>
                <a:ea typeface="Arial"/>
                <a:cs typeface="Arial"/>
              </a:rPr>
              <a:t>PROPOSED</a:t>
            </a:r>
          </a:p>
        </p:txBody>
      </p:sp>
      <p:sp>
        <p:nvSpPr>
          <p:cNvPr id="8" name="">
            <a:extLst xmlns:a="http://schemas.openxmlformats.org/drawingml/2006/main">
              <a:ext uri="{FF2B5EF4-FFF2-40B4-BE49-F238E27FC236}">
                <a16:creationId xmlns:a16="http://schemas.microsoft.com/office/drawing/2014/main" id="{92B98023-5745-48F4-B85E-765705BFCA0E}"/>
              </a:ext>
            </a:extLst>
          </p:cNvPr>
          <p:cNvSpPr>
            <a:spLocks xmlns:a="http://schemas.openxmlformats.org/drawingml/2006/main" noGrp="1"/>
          </p:cNvSpPr>
          <p:nvPr/>
        </p:nvSpPr>
        <p:spPr>
          <a:xfrm xmlns:a="http://schemas.openxmlformats.org/drawingml/2006/main">
            <a:off x="9429750" y="206692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2D3B"/>
                </a:solidFill>
                <a:latin typeface="Arial"/>
                <a:ea typeface="Arial"/>
                <a:cs typeface="Arial"/>
              </a:defRPr>
            </a:pPr>
            <a:r>
              <a:rPr sz="1950" b="1">
                <a:solidFill>
                  <a:srgbClr val="182D3B"/>
                </a:solidFill>
                <a:latin typeface="Arial"/>
                <a:ea typeface="Arial"/>
                <a:cs typeface="Arial"/>
              </a:rPr>
              <a:t>Choose each customer’s next action</a:t>
            </a:r>
          </a:p>
        </p:txBody>
      </p:sp>
      <p:sp>
        <p:nvSpPr>
          <p:cNvPr id="9" name="">
            <a:extLst xmlns:a="http://schemas.openxmlformats.org/drawingml/2006/main">
              <a:ext uri="{FF2B5EF4-FFF2-40B4-BE49-F238E27FC236}">
                <a16:creationId xmlns:a16="http://schemas.microsoft.com/office/drawing/2014/main" id="{F341BBB3-32A9-4A15-BC30-9FE64BC66FC0}"/>
              </a:ext>
            </a:extLst>
          </p:cNvPr>
          <p:cNvSpPr>
            <a:spLocks xmlns:a="http://schemas.openxmlformats.org/drawingml/2006/main" noGrp="1"/>
          </p:cNvSpPr>
          <p:nvPr/>
        </p:nvSpPr>
        <p:spPr>
          <a:xfrm xmlns:a="http://schemas.openxmlformats.org/drawingml/2006/main">
            <a:off x="571500" y="3143250"/>
            <a:ext cx="4000500" cy="3143250"/>
          </a:xfrm>
          <a:prstGeom xmlns:a="http://schemas.openxmlformats.org/drawingml/2006/main" prst="rect">
            <a:avLst/>
          </a:prstGeom>
          <a:solidFill xmlns:a="http://schemas.openxmlformats.org/drawingml/2006/main">
            <a:srgbClr val="F7F9FB"/>
          </a:solidFill>
          <a:ln xmlns:a="http://schemas.openxmlformats.org/drawingml/2006/main" w="14288">
            <a:solidFill>
              <a:srgbClr val="C6D5DF"/>
            </a:solidFill>
          </a:ln>
        </p:spPr>
      </p:sp>
      <p:sp>
        <p:nvSpPr>
          <p:cNvPr id="10" name="">
            <a:extLst xmlns:a="http://schemas.openxmlformats.org/drawingml/2006/main">
              <a:ext uri="{FF2B5EF4-FFF2-40B4-BE49-F238E27FC236}">
                <a16:creationId xmlns:a16="http://schemas.microsoft.com/office/drawing/2014/main" id="{2C4AF83F-A545-4D5C-AEF0-7B360DBFA8A8}"/>
              </a:ext>
            </a:extLst>
          </p:cNvPr>
          <p:cNvSpPr>
            <a:spLocks xmlns:a="http://schemas.openxmlformats.org/drawingml/2006/main" noGrp="1"/>
          </p:cNvSpPr>
          <p:nvPr/>
        </p:nvSpPr>
        <p:spPr>
          <a:xfrm xmlns:a="http://schemas.openxmlformats.org/drawingml/2006/main">
            <a:off x="762000" y="283845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2D3B"/>
                </a:solidFill>
                <a:latin typeface="Arial"/>
                <a:ea typeface="Arial"/>
                <a:cs typeface="Arial"/>
              </a:defRPr>
            </a:pPr>
            <a:r>
              <a:rPr sz="1575" b="1">
                <a:solidFill>
                  <a:srgbClr val="182D3B"/>
                </a:solidFill>
                <a:latin typeface="Arial"/>
                <a:ea typeface="Arial"/>
                <a:cs typeface="Arial"/>
              </a:rPr>
              <a:t>DATA SCIENCE PLATFORM</a:t>
            </a:r>
          </a:p>
        </p:txBody>
      </p:sp>
      <p:sp>
        <p:nvSpPr>
          <p:cNvPr id="11" name="">
            <a:extLst xmlns:a="http://schemas.openxmlformats.org/drawingml/2006/main">
              <a:ext uri="{FF2B5EF4-FFF2-40B4-BE49-F238E27FC236}">
                <a16:creationId xmlns:a16="http://schemas.microsoft.com/office/drawing/2014/main" id="{B0459214-CECB-44D9-93FF-79F746830D78}"/>
              </a:ext>
            </a:extLst>
          </p:cNvPr>
          <p:cNvSpPr>
            <a:spLocks xmlns:a="http://schemas.openxmlformats.org/drawingml/2006/main" noGrp="1"/>
          </p:cNvSpPr>
          <p:nvPr/>
        </p:nvSpPr>
        <p:spPr>
          <a:xfrm xmlns:a="http://schemas.openxmlformats.org/drawingml/2006/main">
            <a:off x="781050" y="329565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D3B"/>
                </a:solidFill>
                <a:latin typeface="Arial"/>
                <a:ea typeface="Arial"/>
                <a:cs typeface="Arial"/>
              </a:defRPr>
            </a:pPr>
            <a:r>
              <a:rPr sz="1875" b="1">
                <a:solidFill>
                  <a:srgbClr val="182D3B"/>
                </a:solidFill>
                <a:latin typeface="Arial"/>
                <a:ea typeface="Arial"/>
                <a:cs typeface="Arial"/>
              </a:rPr>
              <a:t>Customer context</a:t>
            </a:r>
          </a:p>
        </p:txBody>
      </p:sp>
      <p:sp>
        <p:nvSpPr>
          <p:cNvPr id="12" name="">
            <a:extLst xmlns:a="http://schemas.openxmlformats.org/drawingml/2006/main">
              <a:ext uri="{FF2B5EF4-FFF2-40B4-BE49-F238E27FC236}">
                <a16:creationId xmlns:a16="http://schemas.microsoft.com/office/drawing/2014/main" id="{65193DDE-DEED-42F4-8BD5-DBCF0BF11D78}"/>
              </a:ext>
            </a:extLst>
          </p:cNvPr>
          <p:cNvSpPr>
            <a:spLocks xmlns:a="http://schemas.openxmlformats.org/drawingml/2006/main" noGrp="1"/>
          </p:cNvSpPr>
          <p:nvPr/>
        </p:nvSpPr>
        <p:spPr>
          <a:xfrm xmlns:a="http://schemas.openxmlformats.org/drawingml/2006/main">
            <a:off x="781050" y="3619500"/>
            <a:ext cx="3524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7"/>
                </a:solidFill>
                <a:latin typeface="Arial"/>
                <a:ea typeface="Arial"/>
                <a:cs typeface="Arial"/>
              </a:defRPr>
            </a:pPr>
            <a:r>
              <a:rPr sz="1575" b="0">
                <a:solidFill>
                  <a:srgbClr val="526777"/>
                </a:solidFill>
                <a:latin typeface="Arial"/>
                <a:ea typeface="Arial"/>
                <a:cs typeface="Arial"/>
              </a:rPr>
              <a:t>Churn, CLV, propensity and uplift</a:t>
            </a:r>
          </a:p>
          <a:p xmlns:a="http://schemas.openxmlformats.org/drawingml/2006/main">
            <a:pPr>
              <a:defRPr sz="1575" b="0">
                <a:solidFill>
                  <a:srgbClr val="526777"/>
                </a:solidFill>
                <a:latin typeface="Arial"/>
                <a:ea typeface="Arial"/>
                <a:cs typeface="Arial"/>
              </a:defRPr>
            </a:pPr>
            <a:r>
              <a:rPr sz="1575" b="0">
                <a:solidFill>
                  <a:srgbClr val="526777"/>
                </a:solidFill>
                <a:latin typeface="Arial"/>
                <a:ea typeface="Arial"/>
                <a:cs typeface="Arial"/>
              </a:rPr>
              <a:t>Preferences and friction signals</a:t>
            </a:r>
          </a:p>
        </p:txBody>
      </p:sp>
      <p:sp>
        <p:nvSpPr>
          <p:cNvPr id="13" name="">
            <a:extLst xmlns:a="http://schemas.openxmlformats.org/drawingml/2006/main">
              <a:ext uri="{FF2B5EF4-FFF2-40B4-BE49-F238E27FC236}">
                <a16:creationId xmlns:a16="http://schemas.microsoft.com/office/drawing/2014/main" id="{7F3EDBC0-227B-48D0-BBE7-5DBD1C91FFF6}"/>
              </a:ext>
            </a:extLst>
          </p:cNvPr>
          <p:cNvSpPr>
            <a:spLocks xmlns:a="http://schemas.openxmlformats.org/drawingml/2006/main" noGrp="1"/>
          </p:cNvSpPr>
          <p:nvPr/>
        </p:nvSpPr>
        <p:spPr>
          <a:xfrm xmlns:a="http://schemas.openxmlformats.org/drawingml/2006/main">
            <a:off x="781050" y="432435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D3B"/>
                </a:solidFill>
                <a:latin typeface="Arial"/>
                <a:ea typeface="Arial"/>
                <a:cs typeface="Arial"/>
              </a:defRPr>
            </a:pPr>
            <a:r>
              <a:rPr sz="1875" b="1">
                <a:solidFill>
                  <a:srgbClr val="182D3B"/>
                </a:solidFill>
                <a:latin typeface="Arial"/>
                <a:ea typeface="Arial"/>
                <a:cs typeface="Arial"/>
              </a:rPr>
              <a:t>Decision service</a:t>
            </a:r>
          </a:p>
        </p:txBody>
      </p:sp>
      <p:sp>
        <p:nvSpPr>
          <p:cNvPr id="14" name="">
            <a:extLst xmlns:a="http://schemas.openxmlformats.org/drawingml/2006/main">
              <a:ext uri="{FF2B5EF4-FFF2-40B4-BE49-F238E27FC236}">
                <a16:creationId xmlns:a16="http://schemas.microsoft.com/office/drawing/2014/main" id="{0DCB0B86-BE0F-48D6-9895-7FB959B7C41B}"/>
              </a:ext>
            </a:extLst>
          </p:cNvPr>
          <p:cNvSpPr>
            <a:spLocks xmlns:a="http://schemas.openxmlformats.org/drawingml/2006/main" noGrp="1"/>
          </p:cNvSpPr>
          <p:nvPr/>
        </p:nvSpPr>
        <p:spPr>
          <a:xfrm xmlns:a="http://schemas.openxmlformats.org/drawingml/2006/main">
            <a:off x="781050" y="4648200"/>
            <a:ext cx="3524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7"/>
                </a:solidFill>
                <a:latin typeface="Arial"/>
                <a:ea typeface="Arial"/>
                <a:cs typeface="Arial"/>
              </a:defRPr>
            </a:pPr>
            <a:r>
              <a:rPr sz="1575" b="0">
                <a:solidFill>
                  <a:srgbClr val="526777"/>
                </a:solidFill>
                <a:latin typeface="Arial"/>
                <a:ea typeface="Arial"/>
                <a:cs typeface="Arial"/>
              </a:rPr>
              <a:t>Rank eligible actions using uplift,</a:t>
            </a:r>
          </a:p>
          <a:p xmlns:a="http://schemas.openxmlformats.org/drawingml/2006/main">
            <a:pPr>
              <a:defRPr sz="1575" b="0">
                <a:solidFill>
                  <a:srgbClr val="526777"/>
                </a:solidFill>
                <a:latin typeface="Arial"/>
                <a:ea typeface="Arial"/>
                <a:cs typeface="Arial"/>
              </a:defRPr>
            </a:pPr>
            <a:r>
              <a:rPr sz="1575" b="0">
                <a:solidFill>
                  <a:srgbClr val="526777"/>
                </a:solidFill>
                <a:latin typeface="Arial"/>
                <a:ea typeface="Arial"/>
                <a:cs typeface="Arial"/>
              </a:rPr>
              <a:t>business objectives and contact limits</a:t>
            </a:r>
          </a:p>
        </p:txBody>
      </p:sp>
      <p:sp>
        <p:nvSpPr>
          <p:cNvPr id="15" name="">
            <a:extLst xmlns:a="http://schemas.openxmlformats.org/drawingml/2006/main">
              <a:ext uri="{FF2B5EF4-FFF2-40B4-BE49-F238E27FC236}">
                <a16:creationId xmlns:a16="http://schemas.microsoft.com/office/drawing/2014/main" id="{E267BF9E-79AF-4E60-956A-9B7110874526}"/>
              </a:ext>
            </a:extLst>
          </p:cNvPr>
          <p:cNvSpPr>
            <a:spLocks xmlns:a="http://schemas.openxmlformats.org/drawingml/2006/main" noGrp="1"/>
          </p:cNvSpPr>
          <p:nvPr/>
        </p:nvSpPr>
        <p:spPr>
          <a:xfrm xmlns:a="http://schemas.openxmlformats.org/drawingml/2006/main">
            <a:off x="781050" y="53340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D3B"/>
                </a:solidFill>
                <a:latin typeface="Arial"/>
                <a:ea typeface="Arial"/>
                <a:cs typeface="Arial"/>
              </a:defRPr>
            </a:pPr>
            <a:r>
              <a:rPr sz="1875" b="1">
                <a:solidFill>
                  <a:srgbClr val="182D3B"/>
                </a:solidFill>
                <a:latin typeface="Arial"/>
                <a:ea typeface="Arial"/>
                <a:cs typeface="Arial"/>
              </a:rPr>
              <a:t>Learning history</a:t>
            </a:r>
          </a:p>
        </p:txBody>
      </p:sp>
      <p:sp>
        <p:nvSpPr>
          <p:cNvPr id="16" name="">
            <a:extLst xmlns:a="http://schemas.openxmlformats.org/drawingml/2006/main">
              <a:ext uri="{FF2B5EF4-FFF2-40B4-BE49-F238E27FC236}">
                <a16:creationId xmlns:a16="http://schemas.microsoft.com/office/drawing/2014/main" id="{DF07856A-5824-465B-BA11-BD6127DEAC94}"/>
              </a:ext>
            </a:extLst>
          </p:cNvPr>
          <p:cNvSpPr>
            <a:spLocks xmlns:a="http://schemas.openxmlformats.org/drawingml/2006/main" noGrp="1"/>
          </p:cNvSpPr>
          <p:nvPr/>
        </p:nvSpPr>
        <p:spPr>
          <a:xfrm xmlns:a="http://schemas.openxmlformats.org/drawingml/2006/main">
            <a:off x="781050" y="565785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7"/>
                </a:solidFill>
                <a:latin typeface="Arial"/>
                <a:ea typeface="Arial"/>
                <a:cs typeface="Arial"/>
              </a:defRPr>
            </a:pPr>
            <a:r>
              <a:rPr sz="1575" b="0">
                <a:solidFill>
                  <a:srgbClr val="526777"/>
                </a:solidFill>
                <a:latin typeface="Arial"/>
                <a:ea typeface="Arial"/>
                <a:cs typeface="Arial"/>
              </a:rPr>
              <a:t>Store actions, responses and</a:t>
            </a:r>
          </a:p>
          <a:p xmlns:a="http://schemas.openxmlformats.org/drawingml/2006/main">
            <a:pPr>
              <a:defRPr sz="1575" b="0">
                <a:solidFill>
                  <a:srgbClr val="526777"/>
                </a:solidFill>
                <a:latin typeface="Arial"/>
                <a:ea typeface="Arial"/>
                <a:cs typeface="Arial"/>
              </a:defRPr>
            </a:pPr>
            <a:r>
              <a:rPr sz="1575" b="0">
                <a:solidFill>
                  <a:srgbClr val="526777"/>
                </a:solidFill>
                <a:latin typeface="Arial"/>
                <a:ea typeface="Arial"/>
                <a:cs typeface="Arial"/>
              </a:rPr>
              <a:t>validated experiment results</a:t>
            </a:r>
          </a:p>
        </p:txBody>
      </p:sp>
      <p:sp>
        <p:nvSpPr>
          <p:cNvPr id="17" name="">
            <a:extLst xmlns:a="http://schemas.openxmlformats.org/drawingml/2006/main">
              <a:ext uri="{FF2B5EF4-FFF2-40B4-BE49-F238E27FC236}">
                <a16:creationId xmlns:a16="http://schemas.microsoft.com/office/drawing/2014/main" id="{9E05D498-1458-48E8-9428-6C05ED19E8EE}"/>
              </a:ext>
            </a:extLst>
          </p:cNvPr>
          <p:cNvSpPr>
            <a:spLocks xmlns:a="http://schemas.openxmlformats.org/drawingml/2006/main" noGrp="1"/>
          </p:cNvSpPr>
          <p:nvPr/>
        </p:nvSpPr>
        <p:spPr>
          <a:xfrm xmlns:a="http://schemas.openxmlformats.org/drawingml/2006/main">
            <a:off x="5429250" y="3143250"/>
            <a:ext cx="4191000" cy="3143250"/>
          </a:xfrm>
          <a:prstGeom xmlns:a="http://schemas.openxmlformats.org/drawingml/2006/main" prst="rect">
            <a:avLst/>
          </a:prstGeom>
          <a:solidFill xmlns:a="http://schemas.openxmlformats.org/drawingml/2006/main">
            <a:srgbClr val="EDF5FA"/>
          </a:solidFill>
          <a:ln xmlns:a="http://schemas.openxmlformats.org/drawingml/2006/main" w="14288">
            <a:solidFill>
              <a:srgbClr val="9FC6DE"/>
            </a:solidFill>
          </a:ln>
        </p:spPr>
      </p:sp>
      <p:sp>
        <p:nvSpPr>
          <p:cNvPr id="18" name="">
            <a:extLst xmlns:a="http://schemas.openxmlformats.org/drawingml/2006/main">
              <a:ext uri="{FF2B5EF4-FFF2-40B4-BE49-F238E27FC236}">
                <a16:creationId xmlns:a16="http://schemas.microsoft.com/office/drawing/2014/main" id="{EDC1876A-4E75-46BA-A5FF-B09139F8EC9B}"/>
              </a:ext>
            </a:extLst>
          </p:cNvPr>
          <p:cNvSpPr>
            <a:spLocks xmlns:a="http://schemas.openxmlformats.org/drawingml/2006/main" noGrp="1"/>
          </p:cNvSpPr>
          <p:nvPr/>
        </p:nvSpPr>
        <p:spPr>
          <a:xfrm xmlns:a="http://schemas.openxmlformats.org/drawingml/2006/main">
            <a:off x="5619750" y="2838450"/>
            <a:ext cx="381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66394"/>
                </a:solidFill>
                <a:latin typeface="Arial"/>
                <a:ea typeface="Arial"/>
                <a:cs typeface="Arial"/>
              </a:defRPr>
            </a:pPr>
            <a:r>
              <a:rPr sz="1575" b="1">
                <a:solidFill>
                  <a:srgbClr val="166394"/>
                </a:solidFill>
                <a:latin typeface="Arial"/>
                <a:ea typeface="Arial"/>
                <a:cs typeface="Arial"/>
              </a:rPr>
              <a:t>MCP SERVER</a:t>
            </a:r>
          </a:p>
        </p:txBody>
      </p:sp>
      <p:sp>
        <p:nvSpPr>
          <p:cNvPr id="19" name="">
            <a:extLst xmlns:a="http://schemas.openxmlformats.org/drawingml/2006/main">
              <a:ext uri="{FF2B5EF4-FFF2-40B4-BE49-F238E27FC236}">
                <a16:creationId xmlns:a16="http://schemas.microsoft.com/office/drawing/2014/main" id="{36EFC74E-5AAF-48EC-BACA-787B4FEA56A8}"/>
              </a:ext>
            </a:extLst>
          </p:cNvPr>
          <p:cNvSpPr>
            <a:spLocks xmlns:a="http://schemas.openxmlformats.org/drawingml/2006/main" noGrp="1"/>
          </p:cNvSpPr>
          <p:nvPr/>
        </p:nvSpPr>
        <p:spPr>
          <a:xfrm xmlns:a="http://schemas.openxmlformats.org/drawingml/2006/main">
            <a:off x="5657850" y="328612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6394"/>
                </a:solidFill>
                <a:latin typeface="Arial"/>
                <a:ea typeface="Arial"/>
                <a:cs typeface="Arial"/>
              </a:defRPr>
            </a:pPr>
            <a:r>
              <a:rPr sz="1800" b="1">
                <a:solidFill>
                  <a:srgbClr val="166394"/>
                </a:solidFill>
                <a:latin typeface="Arial"/>
                <a:ea typeface="Arial"/>
                <a:cs typeface="Arial"/>
              </a:rPr>
              <a:t>TOOLS  /  perform actions</a:t>
            </a:r>
          </a:p>
        </p:txBody>
      </p:sp>
      <p:sp>
        <p:nvSpPr>
          <p:cNvPr id="20" name="">
            <a:extLst xmlns:a="http://schemas.openxmlformats.org/drawingml/2006/main">
              <a:ext uri="{FF2B5EF4-FFF2-40B4-BE49-F238E27FC236}">
                <a16:creationId xmlns:a16="http://schemas.microsoft.com/office/drawing/2014/main" id="{29C309E1-E811-4D91-AA43-06C2F5437C0F}"/>
              </a:ext>
            </a:extLst>
          </p:cNvPr>
          <p:cNvSpPr>
            <a:spLocks xmlns:a="http://schemas.openxmlformats.org/drawingml/2006/main" noGrp="1"/>
          </p:cNvSpPr>
          <p:nvPr/>
        </p:nvSpPr>
        <p:spPr>
          <a:xfrm xmlns:a="http://schemas.openxmlformats.org/drawingml/2006/main">
            <a:off x="5657850" y="361950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2D3B"/>
                </a:solidFill>
                <a:latin typeface="Arial"/>
                <a:ea typeface="Arial"/>
                <a:cs typeface="Arial"/>
              </a:defRPr>
            </a:pPr>
            <a:r>
              <a:rPr sz="1650" b="0">
                <a:solidFill>
                  <a:srgbClr val="182D3B"/>
                </a:solidFill>
                <a:latin typeface="Arial"/>
                <a:ea typeface="Arial"/>
                <a:cs typeface="Arial"/>
              </a:rPr>
              <a:t>Read scores, get next actions,</a:t>
            </a:r>
          </a:p>
          <a:p xmlns:a="http://schemas.openxmlformats.org/drawingml/2006/main">
            <a:pPr>
              <a:defRPr sz="1650" b="0">
                <a:solidFill>
                  <a:srgbClr val="182D3B"/>
                </a:solidFill>
                <a:latin typeface="Arial"/>
                <a:ea typeface="Arial"/>
                <a:cs typeface="Arial"/>
              </a:defRPr>
            </a:pPr>
            <a:r>
              <a:rPr sz="1650" b="0">
                <a:solidFill>
                  <a:srgbClr val="182D3B"/>
                </a:solidFill>
                <a:latin typeface="Arial"/>
                <a:ea typeface="Arial"/>
                <a:cs typeface="Arial"/>
              </a:rPr>
              <a:t>launch execution, write results</a:t>
            </a:r>
          </a:p>
        </p:txBody>
      </p:sp>
      <p:sp>
        <p:nvSpPr>
          <p:cNvPr id="21" name="">
            <a:extLst xmlns:a="http://schemas.openxmlformats.org/drawingml/2006/main">
              <a:ext uri="{FF2B5EF4-FFF2-40B4-BE49-F238E27FC236}">
                <a16:creationId xmlns:a16="http://schemas.microsoft.com/office/drawing/2014/main" id="{D4491138-1623-43D0-9521-921421305736}"/>
              </a:ext>
            </a:extLst>
          </p:cNvPr>
          <p:cNvSpPr>
            <a:spLocks xmlns:a="http://schemas.openxmlformats.org/drawingml/2006/main" noGrp="1"/>
          </p:cNvSpPr>
          <p:nvPr/>
        </p:nvSpPr>
        <p:spPr>
          <a:xfrm xmlns:a="http://schemas.openxmlformats.org/drawingml/2006/main">
            <a:off x="5657850" y="43243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6394"/>
                </a:solidFill>
                <a:latin typeface="Arial"/>
                <a:ea typeface="Arial"/>
                <a:cs typeface="Arial"/>
              </a:defRPr>
            </a:pPr>
            <a:r>
              <a:rPr sz="1800" b="1">
                <a:solidFill>
                  <a:srgbClr val="166394"/>
                </a:solidFill>
                <a:latin typeface="Arial"/>
                <a:ea typeface="Arial"/>
                <a:cs typeface="Arial"/>
              </a:rPr>
              <a:t>RESOURCES  /  provide context</a:t>
            </a:r>
          </a:p>
        </p:txBody>
      </p:sp>
      <p:sp>
        <p:nvSpPr>
          <p:cNvPr id="22" name="">
            <a:extLst xmlns:a="http://schemas.openxmlformats.org/drawingml/2006/main">
              <a:ext uri="{FF2B5EF4-FFF2-40B4-BE49-F238E27FC236}">
                <a16:creationId xmlns:a16="http://schemas.microsoft.com/office/drawing/2014/main" id="{3C10BE38-3333-487F-83D1-43C3E9445C0F}"/>
              </a:ext>
            </a:extLst>
          </p:cNvPr>
          <p:cNvSpPr>
            <a:spLocks xmlns:a="http://schemas.openxmlformats.org/drawingml/2006/main" noGrp="1"/>
          </p:cNvSpPr>
          <p:nvPr/>
        </p:nvSpPr>
        <p:spPr>
          <a:xfrm xmlns:a="http://schemas.openxmlformats.org/drawingml/2006/main">
            <a:off x="5657850" y="4657725"/>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2D3B"/>
                </a:solidFill>
                <a:latin typeface="Arial"/>
                <a:ea typeface="Arial"/>
                <a:cs typeface="Arial"/>
              </a:defRPr>
            </a:pPr>
            <a:r>
              <a:rPr sz="1650" b="0">
                <a:solidFill>
                  <a:srgbClr val="182D3B"/>
                </a:solidFill>
                <a:latin typeface="Arial"/>
                <a:ea typeface="Arial"/>
                <a:cs typeface="Arial"/>
              </a:rPr>
              <a:t>Model definitions, friction evidence,</a:t>
            </a:r>
          </a:p>
          <a:p xmlns:a="http://schemas.openxmlformats.org/drawingml/2006/main">
            <a:pPr>
              <a:defRPr sz="1650" b="0">
                <a:solidFill>
                  <a:srgbClr val="182D3B"/>
                </a:solidFill>
                <a:latin typeface="Arial"/>
                <a:ea typeface="Arial"/>
                <a:cs typeface="Arial"/>
              </a:defRPr>
            </a:pPr>
            <a:r>
              <a:rPr sz="1650" b="0">
                <a:solidFill>
                  <a:srgbClr val="182D3B"/>
                </a:solidFill>
                <a:latin typeface="Arial"/>
                <a:ea typeface="Arial"/>
                <a:cs typeface="Arial"/>
              </a:rPr>
              <a:t>eligibility rules and test methodology</a:t>
            </a:r>
          </a:p>
        </p:txBody>
      </p:sp>
      <p:sp>
        <p:nvSpPr>
          <p:cNvPr id="23" name="">
            <a:extLst xmlns:a="http://schemas.openxmlformats.org/drawingml/2006/main">
              <a:ext uri="{FF2B5EF4-FFF2-40B4-BE49-F238E27FC236}">
                <a16:creationId xmlns:a16="http://schemas.microsoft.com/office/drawing/2014/main" id="{FBD72305-702B-443C-AB6B-57E268D0C422}"/>
              </a:ext>
            </a:extLst>
          </p:cNvPr>
          <p:cNvSpPr>
            <a:spLocks xmlns:a="http://schemas.openxmlformats.org/drawingml/2006/main" noGrp="1"/>
          </p:cNvSpPr>
          <p:nvPr/>
        </p:nvSpPr>
        <p:spPr>
          <a:xfrm xmlns:a="http://schemas.openxmlformats.org/drawingml/2006/main">
            <a:off x="5657850" y="5353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6394"/>
                </a:solidFill>
                <a:latin typeface="Arial"/>
                <a:ea typeface="Arial"/>
                <a:cs typeface="Arial"/>
              </a:defRPr>
            </a:pPr>
            <a:r>
              <a:rPr sz="1800" b="1">
                <a:solidFill>
                  <a:srgbClr val="166394"/>
                </a:solidFill>
                <a:latin typeface="Arial"/>
                <a:ea typeface="Arial"/>
                <a:cs typeface="Arial"/>
              </a:rPr>
              <a:t>PROMPTS  /  guide workflows</a:t>
            </a:r>
          </a:p>
        </p:txBody>
      </p:sp>
      <p:sp>
        <p:nvSpPr>
          <p:cNvPr id="24" name="">
            <a:extLst xmlns:a="http://schemas.openxmlformats.org/drawingml/2006/main">
              <a:ext uri="{FF2B5EF4-FFF2-40B4-BE49-F238E27FC236}">
                <a16:creationId xmlns:a16="http://schemas.microsoft.com/office/drawing/2014/main" id="{265E36A0-C681-440E-8A93-665232EDC07A}"/>
              </a:ext>
            </a:extLst>
          </p:cNvPr>
          <p:cNvSpPr>
            <a:spLocks xmlns:a="http://schemas.openxmlformats.org/drawingml/2006/main" noGrp="1"/>
          </p:cNvSpPr>
          <p:nvPr/>
        </p:nvSpPr>
        <p:spPr>
          <a:xfrm xmlns:a="http://schemas.openxmlformats.org/drawingml/2006/main">
            <a:off x="5657850" y="5676900"/>
            <a:ext cx="3714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2D3B"/>
                </a:solidFill>
                <a:latin typeface="Arial"/>
                <a:ea typeface="Arial"/>
                <a:cs typeface="Arial"/>
              </a:defRPr>
            </a:pPr>
            <a:r>
              <a:rPr sz="1650" b="0">
                <a:solidFill>
                  <a:srgbClr val="182D3B"/>
                </a:solidFill>
                <a:latin typeface="Arial"/>
                <a:ea typeface="Arial"/>
                <a:cs typeface="Arial"/>
              </a:rPr>
              <a:t>Plan the week, explain an action,</a:t>
            </a:r>
          </a:p>
          <a:p xmlns:a="http://schemas.openxmlformats.org/drawingml/2006/main">
            <a:pPr>
              <a:defRPr sz="1650" b="0">
                <a:solidFill>
                  <a:srgbClr val="182D3B"/>
                </a:solidFill>
                <a:latin typeface="Arial"/>
                <a:ea typeface="Arial"/>
                <a:cs typeface="Arial"/>
              </a:defRPr>
            </a:pPr>
            <a:r>
              <a:rPr sz="1650" b="0">
                <a:solidFill>
                  <a:srgbClr val="182D3B"/>
                </a:solidFill>
                <a:latin typeface="Arial"/>
                <a:ea typeface="Arial"/>
                <a:cs typeface="Arial"/>
              </a:rPr>
              <a:t>review experimental lift</a:t>
            </a:r>
          </a:p>
        </p:txBody>
      </p:sp>
      <p:sp>
        <p:nvSpPr>
          <p:cNvPr id="25" name="">
            <a:extLst xmlns:a="http://schemas.openxmlformats.org/drawingml/2006/main">
              <a:ext uri="{FF2B5EF4-FFF2-40B4-BE49-F238E27FC236}">
                <a16:creationId xmlns:a16="http://schemas.microsoft.com/office/drawing/2014/main" id="{32A933CB-4D4D-401F-A6BA-56399BDC2DA2}"/>
              </a:ext>
            </a:extLst>
          </p:cNvPr>
          <p:cNvSpPr>
            <a:spLocks xmlns:a="http://schemas.openxmlformats.org/drawingml/2006/main" noGrp="1"/>
          </p:cNvSpPr>
          <p:nvPr/>
        </p:nvSpPr>
        <p:spPr>
          <a:xfrm xmlns:a="http://schemas.openxmlformats.org/drawingml/2006/main">
            <a:off x="10668000" y="283845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2D3B"/>
                </a:solidFill>
                <a:latin typeface="Arial"/>
                <a:ea typeface="Arial"/>
                <a:cs typeface="Arial"/>
              </a:defRPr>
            </a:pPr>
            <a:r>
              <a:rPr sz="1575" b="1">
                <a:solidFill>
                  <a:srgbClr val="182D3B"/>
                </a:solidFill>
                <a:latin typeface="Arial"/>
                <a:ea typeface="Arial"/>
                <a:cs typeface="Arial"/>
              </a:rPr>
              <a:t>MARKETING AGENTS</a:t>
            </a:r>
          </a:p>
        </p:txBody>
      </p:sp>
      <p:sp>
        <p:nvSpPr>
          <p:cNvPr id="26" name="">
            <a:extLst xmlns:a="http://schemas.openxmlformats.org/drawingml/2006/main">
              <a:ext uri="{FF2B5EF4-FFF2-40B4-BE49-F238E27FC236}">
                <a16:creationId xmlns:a16="http://schemas.microsoft.com/office/drawing/2014/main" id="{D693212A-D682-4E00-BAE8-01C94E9AB143}"/>
              </a:ext>
            </a:extLst>
          </p:cNvPr>
          <p:cNvSpPr>
            <a:spLocks xmlns:a="http://schemas.openxmlformats.org/drawingml/2006/main" noGrp="1"/>
          </p:cNvSpPr>
          <p:nvPr/>
        </p:nvSpPr>
        <p:spPr>
          <a:xfrm xmlns:a="http://schemas.openxmlformats.org/drawingml/2006/main">
            <a:off x="10668000" y="3143250"/>
            <a:ext cx="4000500" cy="1200150"/>
          </a:xfrm>
          <a:prstGeom xmlns:a="http://schemas.openxmlformats.org/drawingml/2006/main" prst="rect">
            <a:avLst/>
          </a:prstGeom>
          <a:solidFill xmlns:a="http://schemas.openxmlformats.org/drawingml/2006/main">
            <a:srgbClr val="EEF7F3"/>
          </a:solidFill>
          <a:ln xmlns:a="http://schemas.openxmlformats.org/drawingml/2006/main" w="14288">
            <a:solidFill>
              <a:srgbClr val="ADD2C5"/>
            </a:solidFill>
          </a:ln>
        </p:spPr>
      </p:sp>
      <p:sp>
        <p:nvSpPr>
          <p:cNvPr id="27" name="">
            <a:extLst xmlns:a="http://schemas.openxmlformats.org/drawingml/2006/main">
              <a:ext uri="{FF2B5EF4-FFF2-40B4-BE49-F238E27FC236}">
                <a16:creationId xmlns:a16="http://schemas.microsoft.com/office/drawing/2014/main" id="{F7CEE798-2801-430A-A414-B9378AF7AF6E}"/>
              </a:ext>
            </a:extLst>
          </p:cNvPr>
          <p:cNvSpPr>
            <a:spLocks xmlns:a="http://schemas.openxmlformats.org/drawingml/2006/main" noGrp="1"/>
          </p:cNvSpPr>
          <p:nvPr/>
        </p:nvSpPr>
        <p:spPr>
          <a:xfrm xmlns:a="http://schemas.openxmlformats.org/drawingml/2006/main">
            <a:off x="10877550" y="3276600"/>
            <a:ext cx="3543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7563"/>
                </a:solidFill>
                <a:latin typeface="Arial"/>
                <a:ea typeface="Arial"/>
                <a:cs typeface="Arial"/>
              </a:defRPr>
            </a:pPr>
            <a:r>
              <a:rPr sz="1950" b="1">
                <a:solidFill>
                  <a:srgbClr val="147563"/>
                </a:solidFill>
                <a:latin typeface="Arial"/>
                <a:ea typeface="Arial"/>
                <a:cs typeface="Arial"/>
              </a:rPr>
              <a:t>Planning agent</a:t>
            </a:r>
          </a:p>
        </p:txBody>
      </p:sp>
      <p:sp>
        <p:nvSpPr>
          <p:cNvPr id="28" name="">
            <a:extLst xmlns:a="http://schemas.openxmlformats.org/drawingml/2006/main">
              <a:ext uri="{FF2B5EF4-FFF2-40B4-BE49-F238E27FC236}">
                <a16:creationId xmlns:a16="http://schemas.microsoft.com/office/drawing/2014/main" id="{5BF8667A-E632-4920-A75D-426B84094F63}"/>
              </a:ext>
            </a:extLst>
          </p:cNvPr>
          <p:cNvSpPr>
            <a:spLocks xmlns:a="http://schemas.openxmlformats.org/drawingml/2006/main" noGrp="1"/>
          </p:cNvSpPr>
          <p:nvPr/>
        </p:nvSpPr>
        <p:spPr>
          <a:xfrm xmlns:a="http://schemas.openxmlformats.org/drawingml/2006/main">
            <a:off x="10877550" y="3648075"/>
            <a:ext cx="3543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2D3B"/>
                </a:solidFill>
                <a:latin typeface="Arial"/>
                <a:ea typeface="Arial"/>
                <a:cs typeface="Arial"/>
              </a:defRPr>
            </a:pPr>
            <a:r>
              <a:rPr sz="1650" b="0">
                <a:solidFill>
                  <a:srgbClr val="182D3B"/>
                </a:solidFill>
                <a:latin typeface="Arial"/>
                <a:ea typeface="Arial"/>
                <a:cs typeface="Arial"/>
              </a:rPr>
              <a:t>Call decision services to plan</a:t>
            </a:r>
          </a:p>
          <a:p xmlns:a="http://schemas.openxmlformats.org/drawingml/2006/main">
            <a:pPr>
              <a:defRPr sz="1650" b="0">
                <a:solidFill>
                  <a:srgbClr val="182D3B"/>
                </a:solidFill>
                <a:latin typeface="Arial"/>
                <a:ea typeface="Arial"/>
                <a:cs typeface="Arial"/>
              </a:defRPr>
            </a:pPr>
            <a:r>
              <a:rPr sz="1650" b="0">
                <a:solidFill>
                  <a:srgbClr val="182D3B"/>
                </a:solidFill>
                <a:latin typeface="Arial"/>
                <a:ea typeface="Arial"/>
                <a:cs typeface="Arial"/>
              </a:rPr>
              <a:t>an action for each customer</a:t>
            </a:r>
          </a:p>
        </p:txBody>
      </p:sp>
      <p:sp>
        <p:nvSpPr>
          <p:cNvPr id="29" name="">
            <a:extLst xmlns:a="http://schemas.openxmlformats.org/drawingml/2006/main">
              <a:ext uri="{FF2B5EF4-FFF2-40B4-BE49-F238E27FC236}">
                <a16:creationId xmlns:a16="http://schemas.microsoft.com/office/drawing/2014/main" id="{03187B63-62A8-4CF4-8A68-DDACD17AE479}"/>
              </a:ext>
            </a:extLst>
          </p:cNvPr>
          <p:cNvSpPr>
            <a:spLocks xmlns:a="http://schemas.openxmlformats.org/drawingml/2006/main" noGrp="1"/>
          </p:cNvSpPr>
          <p:nvPr/>
        </p:nvSpPr>
        <p:spPr>
          <a:xfrm xmlns:a="http://schemas.openxmlformats.org/drawingml/2006/main">
            <a:off x="10668000" y="5010150"/>
            <a:ext cx="4000500" cy="1276350"/>
          </a:xfrm>
          <a:prstGeom xmlns:a="http://schemas.openxmlformats.org/drawingml/2006/main" prst="rect">
            <a:avLst/>
          </a:prstGeom>
          <a:solidFill xmlns:a="http://schemas.openxmlformats.org/drawingml/2006/main">
            <a:srgbClr val="EEF7F3"/>
          </a:solidFill>
          <a:ln xmlns:a="http://schemas.openxmlformats.org/drawingml/2006/main" w="14288">
            <a:solidFill>
              <a:srgbClr val="ADD2C5"/>
            </a:solidFill>
          </a:ln>
        </p:spPr>
      </p:sp>
      <p:sp>
        <p:nvSpPr>
          <p:cNvPr id="30" name="">
            <a:extLst xmlns:a="http://schemas.openxmlformats.org/drawingml/2006/main">
              <a:ext uri="{FF2B5EF4-FFF2-40B4-BE49-F238E27FC236}">
                <a16:creationId xmlns:a16="http://schemas.microsoft.com/office/drawing/2014/main" id="{F3C04131-6C25-4D0A-818C-5877D94AC015}"/>
              </a:ext>
            </a:extLst>
          </p:cNvPr>
          <p:cNvSpPr>
            <a:spLocks xmlns:a="http://schemas.openxmlformats.org/drawingml/2006/main" noGrp="1"/>
          </p:cNvSpPr>
          <p:nvPr/>
        </p:nvSpPr>
        <p:spPr>
          <a:xfrm xmlns:a="http://schemas.openxmlformats.org/drawingml/2006/main">
            <a:off x="10877550" y="5133975"/>
            <a:ext cx="3543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7563"/>
                </a:solidFill>
                <a:latin typeface="Arial"/>
                <a:ea typeface="Arial"/>
                <a:cs typeface="Arial"/>
              </a:defRPr>
            </a:pPr>
            <a:r>
              <a:rPr sz="1950" b="1">
                <a:solidFill>
                  <a:srgbClr val="147563"/>
                </a:solidFill>
                <a:latin typeface="Arial"/>
                <a:ea typeface="Arial"/>
                <a:cs typeface="Arial"/>
              </a:rPr>
              <a:t>Execution agent</a:t>
            </a:r>
          </a:p>
        </p:txBody>
      </p:sp>
      <p:sp>
        <p:nvSpPr>
          <p:cNvPr id="31" name="">
            <a:extLst xmlns:a="http://schemas.openxmlformats.org/drawingml/2006/main">
              <a:ext uri="{FF2B5EF4-FFF2-40B4-BE49-F238E27FC236}">
                <a16:creationId xmlns:a16="http://schemas.microsoft.com/office/drawing/2014/main" id="{DABD2F7B-F0E6-4184-B03D-6DF83E3C7825}"/>
              </a:ext>
            </a:extLst>
          </p:cNvPr>
          <p:cNvSpPr>
            <a:spLocks xmlns:a="http://schemas.openxmlformats.org/drawingml/2006/main" noGrp="1"/>
          </p:cNvSpPr>
          <p:nvPr/>
        </p:nvSpPr>
        <p:spPr>
          <a:xfrm xmlns:a="http://schemas.openxmlformats.org/drawingml/2006/main">
            <a:off x="10877550" y="5505450"/>
            <a:ext cx="3543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2D3B"/>
                </a:solidFill>
                <a:latin typeface="Arial"/>
                <a:ea typeface="Arial"/>
                <a:cs typeface="Arial"/>
              </a:defRPr>
            </a:pPr>
            <a:r>
              <a:rPr sz="1650" b="0">
                <a:solidFill>
                  <a:srgbClr val="182D3B"/>
                </a:solidFill>
                <a:latin typeface="Arial"/>
                <a:ea typeface="Arial"/>
                <a:cs typeface="Arial"/>
              </a:rPr>
              <a:t>Deliver actions via marketing APIs</a:t>
            </a:r>
          </a:p>
          <a:p xmlns:a="http://schemas.openxmlformats.org/drawingml/2006/main">
            <a:pPr>
              <a:defRPr sz="1650" b="0">
                <a:solidFill>
                  <a:srgbClr val="182D3B"/>
                </a:solidFill>
                <a:latin typeface="Arial"/>
                <a:ea typeface="Arial"/>
                <a:cs typeface="Arial"/>
              </a:defRPr>
            </a:pPr>
            <a:r>
              <a:rPr sz="1650" b="0">
                <a:solidFill>
                  <a:srgbClr val="182D3B"/>
                </a:solidFill>
                <a:latin typeface="Arial"/>
                <a:ea typeface="Arial"/>
                <a:cs typeface="Arial"/>
              </a:rPr>
              <a:t>and capture customer responses</a:t>
            </a:r>
          </a:p>
        </p:txBody>
      </p:sp>
      <p:sp>
        <p:nvSpPr>
          <p:cNvPr id="35" name="">
            <a:extLst xmlns:a="http://schemas.openxmlformats.org/drawingml/2006/main">
              <a:ext uri="{FF2B5EF4-FFF2-40B4-BE49-F238E27FC236}">
                <a16:creationId xmlns:a16="http://schemas.microsoft.com/office/drawing/2014/main" id="{F5AAE481-0CAB-4745-A869-F1808B5F3A66}"/>
              </a:ext>
            </a:extLst>
          </p:cNvPr>
          <p:cNvSpPr>
            <a:spLocks xmlns:a="http://schemas.openxmlformats.org/drawingml/2006/main" noGrp="1"/>
          </p:cNvSpPr>
          <p:nvPr/>
        </p:nvSpPr>
        <p:spPr>
          <a:xfrm xmlns:a="http://schemas.openxmlformats.org/drawingml/2006/main">
            <a:off x="12811125" y="4533900"/>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47563"/>
                </a:solidFill>
                <a:latin typeface="Arial"/>
                <a:ea typeface="Arial"/>
                <a:cs typeface="Arial"/>
              </a:defRPr>
            </a:pPr>
            <a:r>
              <a:rPr sz="1350" b="0">
                <a:solidFill>
                  <a:srgbClr val="147563"/>
                </a:solidFill>
                <a:latin typeface="Arial"/>
                <a:ea typeface="Arial"/>
                <a:cs typeface="Arial"/>
              </a:rPr>
              <a:t>Action plan</a:t>
            </a:r>
          </a:p>
        </p:txBody>
      </p:sp>
      <p:sp>
        <p:nvSpPr>
          <p:cNvPr id="36" name="">
            <a:extLst xmlns:a="http://schemas.openxmlformats.org/drawingml/2006/main">
              <a:ext uri="{FF2B5EF4-FFF2-40B4-BE49-F238E27FC236}">
                <a16:creationId xmlns:a16="http://schemas.microsoft.com/office/drawing/2014/main" id="{DB0D3A79-B3A9-4437-ADB4-619FC6F50E7D}"/>
              </a:ext>
            </a:extLst>
          </p:cNvPr>
          <p:cNvSpPr>
            <a:spLocks xmlns:a="http://schemas.openxmlformats.org/drawingml/2006/main" noGrp="1"/>
          </p:cNvSpPr>
          <p:nvPr/>
        </p:nvSpPr>
        <p:spPr>
          <a:xfrm xmlns:a="http://schemas.openxmlformats.org/drawingml/2006/main">
            <a:off x="12658725" y="67151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445816C-3E58-485A-A212-325D23537B35}"/>
              </a:ext>
            </a:extLst>
          </p:cNvPr>
          <p:cNvSpPr>
            <a:spLocks xmlns:a="http://schemas.openxmlformats.org/drawingml/2006/main" noGrp="1"/>
          </p:cNvSpPr>
          <p:nvPr/>
        </p:nvSpPr>
        <p:spPr>
          <a:xfrm xmlns:a="http://schemas.openxmlformats.org/drawingml/2006/main">
            <a:off x="7515225" y="67151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769EE955-18D8-44BC-86BD-30392A391E64}"/>
              </a:ext>
            </a:extLst>
          </p:cNvPr>
          <p:cNvSpPr>
            <a:spLocks xmlns:a="http://schemas.openxmlformats.org/drawingml/2006/main" noGrp="1"/>
          </p:cNvSpPr>
          <p:nvPr/>
        </p:nvSpPr>
        <p:spPr>
          <a:xfrm xmlns:a="http://schemas.openxmlformats.org/drawingml/2006/main">
            <a:off x="5715000" y="6838950"/>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47563"/>
                </a:solidFill>
                <a:latin typeface="Arial"/>
                <a:ea typeface="Arial"/>
                <a:cs typeface="Arial"/>
              </a:defRPr>
            </a:pPr>
            <a:r>
              <a:rPr sz="1575" b="1">
                <a:solidFill>
                  <a:srgbClr val="147563"/>
                </a:solidFill>
                <a:latin typeface="Arial"/>
                <a:ea typeface="Arial"/>
                <a:cs typeface="Arial"/>
              </a:rPr>
              <a:t>Write back through MCP: events now, validated A/B lift after analysis</a:t>
            </a:r>
          </a:p>
        </p:txBody>
      </p:sp>
      <p:sp>
        <p:nvSpPr>
          <p:cNvPr id="42" name="">
            <a:extLst xmlns:a="http://schemas.openxmlformats.org/drawingml/2006/main">
              <a:ext uri="{FF2B5EF4-FFF2-40B4-BE49-F238E27FC236}">
                <a16:creationId xmlns:a16="http://schemas.microsoft.com/office/drawing/2014/main" id="{A3F57A16-AE0C-4489-9B44-1DEE2B36364F}"/>
              </a:ext>
            </a:extLst>
          </p:cNvPr>
          <p:cNvSpPr>
            <a:spLocks xmlns:a="http://schemas.openxmlformats.org/drawingml/2006/main" noGrp="1"/>
          </p:cNvSpPr>
          <p:nvPr/>
        </p:nvSpPr>
        <p:spPr>
          <a:xfrm xmlns:a="http://schemas.openxmlformats.org/drawingml/2006/main">
            <a:off x="571500" y="7362825"/>
            <a:ext cx="14097000" cy="647700"/>
          </a:xfrm>
          <a:prstGeom xmlns:a="http://schemas.openxmlformats.org/drawingml/2006/main" prst="rect">
            <a:avLst/>
          </a:prstGeom>
          <a:solidFill xmlns:a="http://schemas.openxmlformats.org/drawingml/2006/main">
            <a:srgbClr val="FFF7DB"/>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336E5BCF-3F77-48BB-AD54-FB59D13F3950}"/>
              </a:ext>
            </a:extLst>
          </p:cNvPr>
          <p:cNvSpPr>
            <a:spLocks xmlns:a="http://schemas.openxmlformats.org/drawingml/2006/main" noGrp="1"/>
          </p:cNvSpPr>
          <p:nvPr/>
        </p:nvSpPr>
        <p:spPr>
          <a:xfrm xmlns:a="http://schemas.openxmlformats.org/drawingml/2006/main">
            <a:off x="742950" y="7477125"/>
            <a:ext cx="2305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82D3B"/>
                </a:solidFill>
                <a:latin typeface="Arial"/>
                <a:ea typeface="Arial"/>
                <a:cs typeface="Arial"/>
              </a:defRPr>
            </a:pPr>
            <a:r>
              <a:rPr sz="1350" b="1">
                <a:solidFill>
                  <a:srgbClr val="182D3B"/>
                </a:solidFill>
                <a:latin typeface="Arial"/>
                <a:ea typeface="Arial"/>
                <a:cs typeface="Arial"/>
              </a:rPr>
              <a:t>CUSTOMER EXAMPLE</a:t>
            </a:r>
          </a:p>
        </p:txBody>
      </p:sp>
      <p:sp>
        <p:nvSpPr>
          <p:cNvPr id="44" name="">
            <a:extLst xmlns:a="http://schemas.openxmlformats.org/drawingml/2006/main">
              <a:ext uri="{FF2B5EF4-FFF2-40B4-BE49-F238E27FC236}">
                <a16:creationId xmlns:a16="http://schemas.microsoft.com/office/drawing/2014/main" id="{84B4218E-96AA-48B1-A03C-A598FC301882}"/>
              </a:ext>
            </a:extLst>
          </p:cNvPr>
          <p:cNvSpPr>
            <a:spLocks xmlns:a="http://schemas.openxmlformats.org/drawingml/2006/main" noGrp="1"/>
          </p:cNvSpPr>
          <p:nvPr/>
        </p:nvSpPr>
        <p:spPr>
          <a:xfrm xmlns:a="http://schemas.openxmlformats.org/drawingml/2006/main">
            <a:off x="3143250" y="7458075"/>
            <a:ext cx="3952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82D3B"/>
                </a:solidFill>
                <a:latin typeface="Arial"/>
                <a:ea typeface="Arial"/>
                <a:cs typeface="Arial"/>
              </a:defRPr>
            </a:pPr>
            <a:r>
              <a:rPr sz="1650" b="1">
                <a:solidFill>
                  <a:srgbClr val="182D3B"/>
                </a:solidFill>
                <a:latin typeface="Arial"/>
                <a:ea typeface="Arial"/>
                <a:cs typeface="Arial"/>
              </a:rPr>
              <a:t>Repeated checkout abandonment</a:t>
            </a:r>
          </a:p>
        </p:txBody>
      </p:sp>
      <p:sp>
        <p:nvSpPr>
          <p:cNvPr id="45" name="">
            <a:extLst xmlns:a="http://schemas.openxmlformats.org/drawingml/2006/main">
              <a:ext uri="{FF2B5EF4-FFF2-40B4-BE49-F238E27FC236}">
                <a16:creationId xmlns:a16="http://schemas.microsoft.com/office/drawing/2014/main" id="{BEA8E4B6-5488-4802-8EF6-56B21F7A4C1B}"/>
              </a:ext>
            </a:extLst>
          </p:cNvPr>
          <p:cNvSpPr>
            <a:spLocks xmlns:a="http://schemas.openxmlformats.org/drawingml/2006/main" noGrp="1"/>
          </p:cNvSpPr>
          <p:nvPr/>
        </p:nvSpPr>
        <p:spPr>
          <a:xfrm xmlns:a="http://schemas.openxmlformats.org/drawingml/2006/main">
            <a:off x="7191375" y="7458075"/>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2D3B"/>
                </a:solidFill>
                <a:latin typeface="Arial"/>
                <a:ea typeface="Arial"/>
                <a:cs typeface="Arial"/>
              </a:defRPr>
            </a:pPr>
            <a:r>
              <a:rPr sz="1650" b="0">
                <a:solidFill>
                  <a:srgbClr val="182D3B"/>
                </a:solidFill>
                <a:latin typeface="Arial"/>
                <a:ea typeface="Arial"/>
                <a:cs typeface="Arial"/>
              </a:rPr>
              <a:t>Investigate friction and test a relevant intervention before adding a coupon.</a:t>
            </a:r>
          </a:p>
        </p:txBody>
      </p:sp>
      <p:sp>
        <p:nvSpPr>
          <p:cNvPr id="46" name="">
            <a:extLst xmlns:a="http://schemas.openxmlformats.org/drawingml/2006/main">
              <a:ext uri="{FF2B5EF4-FFF2-40B4-BE49-F238E27FC236}">
                <a16:creationId xmlns:a16="http://schemas.microsoft.com/office/drawing/2014/main" id="{646D574B-76A7-403C-9B80-AB33A14EDAF7}"/>
              </a:ext>
            </a:extLst>
          </p:cNvPr>
          <p:cNvSpPr>
            <a:spLocks xmlns:a="http://schemas.openxmlformats.org/drawingml/2006/main" noGrp="1"/>
          </p:cNvSpPr>
          <p:nvPr/>
        </p:nvSpPr>
        <p:spPr>
          <a:xfrm xmlns:a="http://schemas.openxmlformats.org/drawingml/2006/main">
            <a:off x="571500" y="8172450"/>
            <a:ext cx="1409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Arial"/>
                <a:ea typeface="Arial"/>
                <a:cs typeface="Arial"/>
              </a:defRPr>
            </a:pPr>
            <a:r>
              <a:rPr sz="1350" b="0">
                <a:solidFill>
                  <a:srgbClr val="526777"/>
                </a:solidFill>
                <a:latin typeface="Arial"/>
                <a:ea typeface="Arial"/>
                <a:cs typeface="Arial"/>
              </a:rPr>
              <a:t>Proposed architecture. Signals suggest friction; testing evaluates impact. Batch decision services support customer-level scale.</a:t>
            </a:r>
          </a:p>
        </p:txBody>
      </p:sp>
    </p:spTree>
    <p:extLst>
      <p:ext uri="{BB962C8B-B14F-4D97-AF65-F5344CB8AC3E}">
        <p14:creationId xmlns:p14="http://schemas.microsoft.com/office/powerpoint/2010/main" val="627759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2026-09-28T13:42:21.5860000Z</dcterms:created>
  <dcterms:modified xsi:type="dcterms:W3CDTF">2026-09-28T13:42:21.5870000Z</dcterms:modified>
</coreProperties>
</file>