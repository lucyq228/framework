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8503920" cy="34747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2200" b="1" i="0">
                <a:solidFill>
                  <a:srgbClr val="0A1C36"/>
                </a:solidFill>
                <a:latin typeface="Calibri"/>
              </a:rPr>
              <a:t>GC Decomposition – Protected Base + Growth Movement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30352"/>
            <a:ext cx="10698480" cy="21945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880" b="0" i="0">
                <a:solidFill>
                  <a:srgbClr val="5D636D"/>
                </a:solidFill>
                <a:latin typeface="Calibri"/>
              </a:rPr>
              <a:t>Counterfactual weak foundation base → protected BAU base → actual foundation movement → external context → commercial actions → gap / residual → actual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61320" y="182880"/>
            <a:ext cx="109728" cy="109728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076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/ BAU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2920" y="182880"/>
            <a:ext cx="109728" cy="10972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92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Movement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04520" y="182880"/>
            <a:ext cx="109728" cy="109728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508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External 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420624"/>
            <a:ext cx="109728" cy="109728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076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Commercial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932920" y="420624"/>
            <a:ext cx="109728" cy="10972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92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Enablement / Bottleneck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420624"/>
            <a:ext cx="109728" cy="109728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508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Gap /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601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1. Counterfactual</a:t>
            </a:r>
            <a:br/>
            <a:r>
              <a:rPr sz="850" b="1" i="0">
                <a:solidFill>
                  <a:srgbClr val="666666"/>
                </a:solidFill>
                <a:latin typeface="Calibri"/>
              </a:rPr>
              <a:t>Weak Foundation Base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" y="1261872"/>
            <a:ext cx="10515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65960" y="960120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228B37"/>
                </a:solidFill>
                <a:latin typeface="Calibri"/>
              </a:rPr>
              <a:t>2. Foundation Protection / BAU Base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65960" y="1261872"/>
            <a:ext cx="2606040" cy="0"/>
          </a:xfrm>
          <a:prstGeom prst="line">
            <a:avLst/>
          </a:prstGeom>
          <a:ln w="15240">
            <a:solidFill>
              <a:srgbClr val="228B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00600" y="96012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008997"/>
                </a:solidFill>
                <a:latin typeface="Calibri"/>
              </a:rPr>
              <a:t>3. Foundation Movement</a:t>
            </a:r>
            <a:br/>
            <a:r>
              <a:rPr sz="850" b="1" i="0">
                <a:solidFill>
                  <a:srgbClr val="008997"/>
                </a:solidFill>
                <a:latin typeface="Calibri"/>
              </a:rPr>
              <a:t>vs BAU / 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0600" y="1261872"/>
            <a:ext cx="2697479" cy="0"/>
          </a:xfrm>
          <a:prstGeom prst="line">
            <a:avLst/>
          </a:prstGeom>
          <a:ln w="15240">
            <a:solidFill>
              <a:srgbClr val="008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35240" y="960120"/>
            <a:ext cx="16916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F16924"/>
                </a:solidFill>
                <a:latin typeface="Calibri"/>
              </a:rPr>
              <a:t>4. External Context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35240" y="1261872"/>
            <a:ext cx="1691640" cy="0"/>
          </a:xfrm>
          <a:prstGeom prst="line">
            <a:avLst/>
          </a:prstGeom>
          <a:ln w="15240">
            <a:solidFill>
              <a:srgbClr val="F16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46920" y="96012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276AD2"/>
                </a:solidFill>
                <a:latin typeface="Calibri"/>
              </a:rPr>
              <a:t>5. Commercial /</a:t>
            </a:r>
            <a:br/>
            <a:r>
              <a:rPr sz="850" b="1" i="0">
                <a:solidFill>
                  <a:srgbClr val="276AD2"/>
                </a:solidFill>
                <a:latin typeface="Calibri"/>
              </a:rPr>
              <a:t>Campaign Actions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46920" y="1261872"/>
            <a:ext cx="1965960" cy="0"/>
          </a:xfrm>
          <a:prstGeom prst="line">
            <a:avLst/>
          </a:prstGeom>
          <a:ln w="15240">
            <a:solidFill>
              <a:srgbClr val="276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932920" y="96012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744DA6"/>
                </a:solidFill>
                <a:latin typeface="Calibri"/>
              </a:rPr>
              <a:t>6. Enablement /</a:t>
            </a:r>
            <a:br/>
            <a:r>
              <a:rPr sz="850" b="1" i="0">
                <a:solidFill>
                  <a:srgbClr val="744DA6"/>
                </a:solidFill>
                <a:latin typeface="Calibri"/>
              </a:rPr>
              <a:t>Bottleneck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932920" y="1261872"/>
            <a:ext cx="1005840" cy="0"/>
          </a:xfrm>
          <a:prstGeom prst="line">
            <a:avLst/>
          </a:prstGeom>
          <a:ln w="15240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3121640" y="9601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7. Gap / Residual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121640" y="1261872"/>
            <a:ext cx="1097279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326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90195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8172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71231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52804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32336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484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15491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8600" y="6172200"/>
            <a:ext cx="14173200" cy="0"/>
          </a:xfrm>
          <a:prstGeom prst="line">
            <a:avLst/>
          </a:prstGeom>
          <a:ln w="889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2880" y="1536192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l"/>
            <a:r>
              <a:rPr sz="620" b="0" i="0">
                <a:solidFill>
                  <a:srgbClr val="5D636D"/>
                </a:solidFill>
                <a:latin typeface="Calibri"/>
              </a:rPr>
              <a:t>GC</a:t>
            </a:r>
            <a:br/>
            <a:r>
              <a:rPr sz="620" b="0" i="0">
                <a:solidFill>
                  <a:srgbClr val="5D636D"/>
                </a:solidFill>
                <a:latin typeface="Calibri"/>
              </a:rPr>
              <a:t>(Millions)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977639"/>
            <a:ext cx="402336" cy="2194560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1" y="3749039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1" y="6263640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50" b="1" i="0">
                <a:solidFill>
                  <a:srgbClr val="1F2937"/>
                </a:solidFill>
                <a:latin typeface="Calibri"/>
              </a:rPr>
              <a:t>2024 Actual GC</a:t>
            </a:r>
            <a:br/>
            <a:r>
              <a:rPr sz="550" b="1" i="0">
                <a:solidFill>
                  <a:srgbClr val="1F2937"/>
                </a:solidFill>
                <a:latin typeface="Calibri"/>
              </a:rPr>
              <a:t>(reference)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22376" y="3977639"/>
            <a:ext cx="301752" cy="1254035"/>
          </a:xfrm>
          <a:prstGeom prst="line">
            <a:avLst/>
          </a:prstGeom>
          <a:ln w="8255">
            <a:solidFill>
              <a:srgbClr val="B9B9B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28600" y="7040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59" b="0" i="0">
                <a:solidFill>
                  <a:srgbClr val="5D636D"/>
                </a:solidFill>
                <a:latin typeface="Calibri"/>
              </a:rPr>
              <a:t>Reference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15568" y="5231674"/>
            <a:ext cx="384048" cy="94052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500307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310M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Weak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" y="6675120"/>
            <a:ext cx="713232" cy="29260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50" b="0" i="0">
                <a:solidFill>
                  <a:srgbClr val="5D636D"/>
                </a:solidFill>
                <a:latin typeface="Calibri"/>
              </a:rPr>
              <a:t>Counterfactual</a:t>
            </a:r>
            <a:br/>
            <a:r>
              <a:rPr sz="450" b="0" i="0">
                <a:solidFill>
                  <a:srgbClr val="5D636D"/>
                </a:solidFill>
                <a:latin typeface="Calibri"/>
              </a:rPr>
              <a:t>scenario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99616" y="5231674"/>
            <a:ext cx="4206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920240" y="4730060"/>
            <a:ext cx="310896" cy="50161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47088" y="452889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05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Ops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231136" y="473006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359152" y="4353850"/>
            <a:ext cx="310896" cy="376210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86000" y="415268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+6M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4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Availability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670048" y="435385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798064" y="4165745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24912" y="39645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883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Technology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Reliability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108960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236976" y="4040341"/>
            <a:ext cx="310896" cy="12540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3824" y="383917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72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 / CX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547872" y="4040341"/>
            <a:ext cx="128015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3675887" y="3977639"/>
            <a:ext cx="310896" cy="62701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02735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59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People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986783" y="3977639"/>
            <a:ext cx="128017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4114800" y="3789534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41648" y="358836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050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Base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425696" y="3789534"/>
            <a:ext cx="1920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4617720" y="3789534"/>
            <a:ext cx="384048" cy="2382665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3712" y="35609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7992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Protected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BAU Base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001768" y="3789534"/>
            <a:ext cx="28346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5285232" y="3476026"/>
            <a:ext cx="310896" cy="31350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0" y="327485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+5M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7550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596128" y="3476026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5724144" y="3476026"/>
            <a:ext cx="310896" cy="188105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50992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1441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035040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6163056" y="3538728"/>
            <a:ext cx="310896" cy="125403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89904" y="3337560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5332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473952" y="353872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6601968" y="3538728"/>
            <a:ext cx="310896" cy="125403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28816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912864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7040880" y="3664131"/>
            <a:ext cx="310896" cy="62701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967728" y="3754265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-1M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11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351776" y="3726833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7479792" y="3664131"/>
            <a:ext cx="310896" cy="62701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406640" y="34629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700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790688" y="3664131"/>
            <a:ext cx="301752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8092440" y="3664131"/>
            <a:ext cx="310896" cy="501613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19288" y="41931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-8M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827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Weather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403336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8531352" y="4165745"/>
            <a:ext cx="310896" cy="250806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58200" y="444398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-4M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216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Macro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8842248" y="441655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8970264" y="4416552"/>
            <a:ext cx="310896" cy="188105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897112" y="46320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05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Competition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9281160" y="4604657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9409176" y="4604657"/>
            <a:ext cx="310896" cy="22860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336024" y="44034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+0M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994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Calendar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Footprint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9720072" y="4604657"/>
            <a:ext cx="292608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0012680" y="3977639"/>
            <a:ext cx="310896" cy="627017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39528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+10M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029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Pricing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323576" y="3977639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451592" y="3413324"/>
            <a:ext cx="310896" cy="56431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378440" y="321215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+9M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418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Promo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Value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0762488" y="341332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10890504" y="2660904"/>
            <a:ext cx="310896" cy="752420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817352" y="245973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+12M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78077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Media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1201400" y="266090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1329416" y="2159290"/>
            <a:ext cx="310896" cy="501613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256264" y="195812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968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LTO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Menu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11640312" y="215929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11768328" y="1971185"/>
            <a:ext cx="310896" cy="18810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695176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65860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Digital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CRM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2079224" y="1971185"/>
            <a:ext cx="26517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12344400" y="1720378"/>
            <a:ext cx="310896" cy="250806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2271248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+4M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346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Foundation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Enablement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2655296" y="172037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tangle 141"/>
          <p:cNvSpPr/>
          <p:nvPr/>
        </p:nvSpPr>
        <p:spPr>
          <a:xfrm>
            <a:off x="12783312" y="1720378"/>
            <a:ext cx="310896" cy="31350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3" name="Connector 142"/>
          <p:cNvCxnSpPr/>
          <p:nvPr/>
        </p:nvCxnSpPr>
        <p:spPr>
          <a:xfrm flipV="1">
            <a:off x="12801600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2879324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2957048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034772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12710160" y="206131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-5M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67358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Bottleneck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Drag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3094208" y="2033886"/>
            <a:ext cx="23774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13331952" y="2033886"/>
            <a:ext cx="310896" cy="56431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13350240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3427964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3505688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3583412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13258800" y="262563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-9M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2222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Known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Data Gap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3642848" y="259820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13770864" y="2598202"/>
            <a:ext cx="310896" cy="125403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3697712" y="275103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6611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Residual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4191488" y="2723605"/>
            <a:ext cx="384048" cy="3448594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4127480" y="249500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350M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408176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2025 Actual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GC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31720" y="6903720"/>
            <a:ext cx="2057400" cy="320040"/>
          </a:xfrm>
          <a:prstGeom prst="rect">
            <a:avLst/>
          </a:prstGeom>
          <a:solidFill>
            <a:srgbClr val="ECF7EF"/>
          </a:solidFill>
          <a:ln w="6350">
            <a:solidFill>
              <a:srgbClr val="B4DCBE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630" b="1" i="0">
                <a:solidFill>
                  <a:srgbClr val="228B37"/>
                </a:solidFill>
                <a:latin typeface="Calibri"/>
              </a:rPr>
              <a:t>+23M protected GC</a:t>
            </a:r>
            <a:br/>
            <a:r>
              <a:rPr sz="630" b="1" i="0">
                <a:solidFill>
                  <a:srgbClr val="228B37"/>
                </a:solidFill>
                <a:latin typeface="Calibri"/>
              </a:rPr>
              <a:t>Maintains base vs degraded foundation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349240" y="6903720"/>
            <a:ext cx="1965960" cy="320040"/>
          </a:xfrm>
          <a:prstGeom prst="rect">
            <a:avLst/>
          </a:prstGeom>
          <a:solidFill>
            <a:srgbClr val="EAF8FA"/>
          </a:solidFill>
          <a:ln w="6350">
            <a:solidFill>
              <a:srgbClr val="AFDCE1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600" b="1" i="0">
                <a:solidFill>
                  <a:srgbClr val="008997"/>
                </a:solidFill>
                <a:latin typeface="Calibri"/>
              </a:rPr>
              <a:t>+2M net foundation movement</a:t>
            </a:r>
            <a:br/>
            <a:r>
              <a:rPr sz="600" b="1" i="0">
                <a:solidFill>
                  <a:srgbClr val="008997"/>
                </a:solidFill>
                <a:latin typeface="Calibri"/>
              </a:rPr>
              <a:t>Actual changes vs BAU / LY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01000" y="6903720"/>
            <a:ext cx="1783080" cy="320040"/>
          </a:xfrm>
          <a:prstGeom prst="rect">
            <a:avLst/>
          </a:prstGeom>
          <a:solidFill>
            <a:srgbClr val="FFF3ED"/>
          </a:solidFill>
          <a:ln w="6350">
            <a:solidFill>
              <a:srgbClr val="F0C8B4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600" b="1" i="0">
                <a:solidFill>
                  <a:srgbClr val="F16924"/>
                </a:solidFill>
                <a:latin typeface="Calibri"/>
              </a:rPr>
              <a:t>-15M external context</a:t>
            </a:r>
            <a:br/>
            <a:r>
              <a:rPr sz="600" b="1" i="0">
                <a:solidFill>
                  <a:srgbClr val="F16924"/>
                </a:solidFill>
                <a:latin typeface="Calibri"/>
              </a:rPr>
              <a:t>Weather, macro, competition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104120" y="6903720"/>
            <a:ext cx="1920240" cy="320040"/>
          </a:xfrm>
          <a:prstGeom prst="rect">
            <a:avLst/>
          </a:prstGeom>
          <a:solidFill>
            <a:srgbClr val="EDF4FF"/>
          </a:solidFill>
          <a:ln w="6350">
            <a:solidFill>
              <a:srgbClr val="B4CDF0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600" b="1" i="0">
                <a:solidFill>
                  <a:srgbClr val="276AD2"/>
                </a:solidFill>
                <a:latin typeface="Calibri"/>
              </a:rPr>
              <a:t>+42M commercial movement</a:t>
            </a:r>
            <a:br/>
            <a:r>
              <a:rPr sz="600" b="1" i="0">
                <a:solidFill>
                  <a:srgbClr val="276AD2"/>
                </a:solidFill>
                <a:latin typeface="Calibri"/>
              </a:rPr>
              <a:t>Pricing, promo, media, LTO, digital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1932920" y="6903720"/>
            <a:ext cx="1143000" cy="320040"/>
          </a:xfrm>
          <a:prstGeom prst="rect">
            <a:avLst/>
          </a:prstGeom>
          <a:solidFill>
            <a:srgbClr val="F6F1FC"/>
          </a:solidFill>
          <a:ln w="6350">
            <a:solidFill>
              <a:srgbClr val="CDB9E6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50" b="1" i="0">
                <a:solidFill>
                  <a:srgbClr val="744DA6"/>
                </a:solidFill>
                <a:latin typeface="Calibri"/>
              </a:rPr>
              <a:t>-1M net enablement</a:t>
            </a:r>
            <a:br/>
            <a:r>
              <a:rPr sz="550" b="1" i="0">
                <a:solidFill>
                  <a:srgbClr val="744DA6"/>
                </a:solidFill>
                <a:latin typeface="Calibri"/>
              </a:rPr>
              <a:t>Readiness lift less bottleneck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194792" y="6903720"/>
            <a:ext cx="105156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C8C8C8"/>
            </a:solidFill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50" b="1" i="0">
                <a:solidFill>
                  <a:srgbClr val="666666"/>
                </a:solidFill>
                <a:latin typeface="Calibri"/>
              </a:rPr>
              <a:t>-11M gap / residual</a:t>
            </a:r>
            <a:br/>
            <a:r>
              <a:rPr sz="550" b="1" i="0">
                <a:solidFill>
                  <a:srgbClr val="666666"/>
                </a:solidFill>
                <a:latin typeface="Calibri"/>
              </a:rPr>
              <a:t>Still not fully measured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4320" y="7635240"/>
            <a:ext cx="140817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620" b="0" i="1">
                <a:solidFill>
                  <a:srgbClr val="5D636D"/>
                </a:solidFill>
                <a:latin typeface="Calibri"/>
              </a:rPr>
              <a:t>Method note: foundation domains appear twice with different meanings — (1) protected base / avoided loss versus degraded counterfactual, and (2) actual movement versus BAU or last year. Values shown are illustrative placeholders.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74320" y="7936992"/>
            <a:ext cx="1408176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rIns="27432" tIns="18288" bIns="18288" anchor="ctr">
            <a:normAutofit/>
          </a:bodyPr>
          <a:lstStyle/>
          <a:p>
            <a:pPr algn="ctr"/>
            <a:r>
              <a:rPr sz="530" b="0" i="0">
                <a:solidFill>
                  <a:srgbClr val="5D636D"/>
                </a:solidFill>
                <a:latin typeface="Calibri"/>
              </a:rPr>
              <a:t>Counterfactual base is a scenario, not last year actual. 2024 actual is shown only as reference.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