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2" d="100"/>
          <a:sy n="62" d="100"/>
        </p:scale>
        <p:origin x="492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8503920" cy="347472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 lnSpcReduction="10000"/>
          </a:bodyPr>
          <a:lstStyle/>
          <a:p>
            <a:pPr algn="l"/>
            <a:r>
              <a:rPr sz="2200" b="1" i="0">
                <a:solidFill>
                  <a:srgbClr val="0A1C36"/>
                </a:solidFill>
                <a:latin typeface="Calibri"/>
              </a:rPr>
              <a:t>GC Decomposition – Protected Base + Growth Movement Waterfall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30352"/>
            <a:ext cx="10698480" cy="21945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l"/>
            <a:r>
              <a:rPr sz="880" b="0" i="0">
                <a:solidFill>
                  <a:srgbClr val="5D636D"/>
                </a:solidFill>
                <a:latin typeface="Calibri"/>
              </a:rPr>
              <a:t>Counterfactual weak foundation base → protected BAU base → actual foundation movement → external context → commercial actions → gap / residual → actual outcome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561320" y="182880"/>
            <a:ext cx="109728" cy="109728"/>
          </a:xfrm>
          <a:prstGeom prst="rect">
            <a:avLst/>
          </a:prstGeom>
          <a:solidFill>
            <a:srgbClr val="228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707624" y="155448"/>
            <a:ext cx="1143000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l"/>
            <a:r>
              <a:rPr sz="580" b="0" i="0">
                <a:solidFill>
                  <a:srgbClr val="1F2937"/>
                </a:solidFill>
                <a:latin typeface="Calibri"/>
              </a:rPr>
              <a:t>Foundation / BAU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2920" y="182880"/>
            <a:ext cx="109728" cy="109728"/>
          </a:xfrm>
          <a:prstGeom prst="rect">
            <a:avLst/>
          </a:prstGeom>
          <a:solidFill>
            <a:srgbClr val="0089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079224" y="155448"/>
            <a:ext cx="1143000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l"/>
            <a:r>
              <a:rPr sz="580" b="0" i="0">
                <a:solidFill>
                  <a:srgbClr val="1F2937"/>
                </a:solidFill>
                <a:latin typeface="Calibri"/>
              </a:rPr>
              <a:t>Foundation Movement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04520" y="182880"/>
            <a:ext cx="109728" cy="109728"/>
          </a:xfrm>
          <a:prstGeom prst="rect">
            <a:avLst/>
          </a:prstGeom>
          <a:solidFill>
            <a:srgbClr val="F16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450824" y="155448"/>
            <a:ext cx="1143000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l"/>
            <a:r>
              <a:rPr sz="580" b="0" i="0">
                <a:solidFill>
                  <a:srgbClr val="1F2937"/>
                </a:solidFill>
                <a:latin typeface="Calibri"/>
              </a:rPr>
              <a:t>External 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61320" y="420624"/>
            <a:ext cx="109728" cy="109728"/>
          </a:xfrm>
          <a:prstGeom prst="rect">
            <a:avLst/>
          </a:prstGeom>
          <a:solidFill>
            <a:srgbClr val="276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07624" y="393192"/>
            <a:ext cx="1143000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l"/>
            <a:r>
              <a:rPr sz="580" b="0" i="0">
                <a:solidFill>
                  <a:srgbClr val="1F2937"/>
                </a:solidFill>
                <a:latin typeface="Calibri"/>
              </a:rPr>
              <a:t>Commercial 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932920" y="420624"/>
            <a:ext cx="109728" cy="109728"/>
          </a:xfrm>
          <a:prstGeom prst="rect">
            <a:avLst/>
          </a:prstGeom>
          <a:solidFill>
            <a:srgbClr val="744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079224" y="393192"/>
            <a:ext cx="1143000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l"/>
            <a:r>
              <a:rPr sz="580" b="0" i="0">
                <a:solidFill>
                  <a:srgbClr val="1F2937"/>
                </a:solidFill>
                <a:latin typeface="Calibri"/>
              </a:rPr>
              <a:t>Enablement / Bottleneck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304520" y="420624"/>
            <a:ext cx="109728" cy="109728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450824" y="393192"/>
            <a:ext cx="1143000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l"/>
            <a:r>
              <a:rPr sz="580" b="0" i="0">
                <a:solidFill>
                  <a:srgbClr val="1F2937"/>
                </a:solidFill>
                <a:latin typeface="Calibri"/>
              </a:rPr>
              <a:t>Gap / Residual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96012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 fontScale="92500" lnSpcReduction="10000"/>
          </a:bodyPr>
          <a:lstStyle/>
          <a:p>
            <a:pPr algn="ctr"/>
            <a:r>
              <a:rPr sz="850" b="1" i="0">
                <a:solidFill>
                  <a:srgbClr val="666666"/>
                </a:solidFill>
                <a:latin typeface="Calibri"/>
              </a:rPr>
              <a:t>1. Counterfactual</a:t>
            </a:r>
            <a:br/>
            <a:r>
              <a:rPr sz="850" b="1" i="0">
                <a:solidFill>
                  <a:srgbClr val="666666"/>
                </a:solidFill>
                <a:latin typeface="Calibri"/>
              </a:rPr>
              <a:t>Weak Foundation Base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60120" y="1261872"/>
            <a:ext cx="1051560" cy="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965960" y="960120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850" b="1" i="0">
                <a:solidFill>
                  <a:srgbClr val="228B37"/>
                </a:solidFill>
                <a:latin typeface="Calibri"/>
              </a:rPr>
              <a:t>2. Foundation Protection / BAU Base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965960" y="1261872"/>
            <a:ext cx="2606040" cy="0"/>
          </a:xfrm>
          <a:prstGeom prst="line">
            <a:avLst/>
          </a:prstGeom>
          <a:ln w="15240">
            <a:solidFill>
              <a:srgbClr val="228B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800600" y="960120"/>
            <a:ext cx="2697480" cy="256032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 fontScale="92500" lnSpcReduction="10000"/>
          </a:bodyPr>
          <a:lstStyle/>
          <a:p>
            <a:pPr algn="ctr"/>
            <a:r>
              <a:rPr sz="850" b="1" i="0">
                <a:solidFill>
                  <a:srgbClr val="008997"/>
                </a:solidFill>
                <a:latin typeface="Calibri"/>
              </a:rPr>
              <a:t>3. Foundation Movement</a:t>
            </a:r>
            <a:br/>
            <a:r>
              <a:rPr sz="850" b="1" i="0">
                <a:solidFill>
                  <a:srgbClr val="008997"/>
                </a:solidFill>
                <a:latin typeface="Calibri"/>
              </a:rPr>
              <a:t>vs BAU / LY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00600" y="1261872"/>
            <a:ext cx="2697479" cy="0"/>
          </a:xfrm>
          <a:prstGeom prst="line">
            <a:avLst/>
          </a:prstGeom>
          <a:ln w="15240">
            <a:solidFill>
              <a:srgbClr val="0089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635240" y="960120"/>
            <a:ext cx="1691640" cy="256032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850" b="1" i="0">
                <a:solidFill>
                  <a:srgbClr val="F16924"/>
                </a:solidFill>
                <a:latin typeface="Calibri"/>
              </a:rPr>
              <a:t>4. External Context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35240" y="1261872"/>
            <a:ext cx="1691640" cy="0"/>
          </a:xfrm>
          <a:prstGeom prst="line">
            <a:avLst/>
          </a:prstGeom>
          <a:ln w="15240">
            <a:solidFill>
              <a:srgbClr val="F16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646920" y="960120"/>
            <a:ext cx="1965960" cy="256032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 fontScale="92500" lnSpcReduction="10000"/>
          </a:bodyPr>
          <a:lstStyle/>
          <a:p>
            <a:pPr algn="ctr"/>
            <a:r>
              <a:rPr sz="850" b="1" i="0">
                <a:solidFill>
                  <a:srgbClr val="276AD2"/>
                </a:solidFill>
                <a:latin typeface="Calibri"/>
              </a:rPr>
              <a:t>5. Commercial /</a:t>
            </a:r>
            <a:br/>
            <a:r>
              <a:rPr sz="850" b="1" i="0">
                <a:solidFill>
                  <a:srgbClr val="276AD2"/>
                </a:solidFill>
                <a:latin typeface="Calibri"/>
              </a:rPr>
              <a:t>Campaign Actions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646920" y="1261872"/>
            <a:ext cx="1965960" cy="0"/>
          </a:xfrm>
          <a:prstGeom prst="line">
            <a:avLst/>
          </a:prstGeom>
          <a:ln w="15240">
            <a:solidFill>
              <a:srgbClr val="276A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1932920" y="96012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 fontScale="92500" lnSpcReduction="10000"/>
          </a:bodyPr>
          <a:lstStyle/>
          <a:p>
            <a:pPr algn="ctr"/>
            <a:r>
              <a:rPr sz="850" b="1" i="0">
                <a:solidFill>
                  <a:srgbClr val="744DA6"/>
                </a:solidFill>
                <a:latin typeface="Calibri"/>
              </a:rPr>
              <a:t>6. Enablement /</a:t>
            </a:r>
            <a:br/>
            <a:r>
              <a:rPr sz="850" b="1" i="0">
                <a:solidFill>
                  <a:srgbClr val="744DA6"/>
                </a:solidFill>
                <a:latin typeface="Calibri"/>
              </a:rPr>
              <a:t>Bottleneck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932920" y="1261872"/>
            <a:ext cx="1005840" cy="0"/>
          </a:xfrm>
          <a:prstGeom prst="line">
            <a:avLst/>
          </a:prstGeom>
          <a:ln w="15240">
            <a:solidFill>
              <a:srgbClr val="744D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3121640" y="96012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850" b="1" i="0">
                <a:solidFill>
                  <a:srgbClr val="666666"/>
                </a:solidFill>
                <a:latin typeface="Calibri"/>
              </a:rPr>
              <a:t>7. Gap / Residual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3121640" y="1261872"/>
            <a:ext cx="1097279" cy="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32688" y="868680"/>
            <a:ext cx="0" cy="5577840"/>
          </a:xfrm>
          <a:prstGeom prst="line">
            <a:avLst/>
          </a:prstGeom>
          <a:ln w="6985">
            <a:solidFill>
              <a:srgbClr val="D7D7D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901952" y="868680"/>
            <a:ext cx="0" cy="5577840"/>
          </a:xfrm>
          <a:prstGeom prst="line">
            <a:avLst/>
          </a:prstGeom>
          <a:ln w="6985">
            <a:solidFill>
              <a:srgbClr val="D7D7D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681728" y="868680"/>
            <a:ext cx="0" cy="5577840"/>
          </a:xfrm>
          <a:prstGeom prst="line">
            <a:avLst/>
          </a:prstGeom>
          <a:ln w="6985">
            <a:solidFill>
              <a:srgbClr val="D7D7D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571231" y="868680"/>
            <a:ext cx="0" cy="5577840"/>
          </a:xfrm>
          <a:prstGeom prst="line">
            <a:avLst/>
          </a:prstGeom>
          <a:ln w="6985">
            <a:solidFill>
              <a:srgbClr val="D7D7D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528048" y="868680"/>
            <a:ext cx="0" cy="5577840"/>
          </a:xfrm>
          <a:prstGeom prst="line">
            <a:avLst/>
          </a:prstGeom>
          <a:ln w="6985">
            <a:solidFill>
              <a:srgbClr val="D7D7D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832336" y="868680"/>
            <a:ext cx="0" cy="5577840"/>
          </a:xfrm>
          <a:prstGeom prst="line">
            <a:avLst/>
          </a:prstGeom>
          <a:ln w="6985">
            <a:solidFill>
              <a:srgbClr val="D7D7D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3048488" y="868680"/>
            <a:ext cx="0" cy="5577840"/>
          </a:xfrm>
          <a:prstGeom prst="line">
            <a:avLst/>
          </a:prstGeom>
          <a:ln w="6985">
            <a:solidFill>
              <a:srgbClr val="D7D7D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4154912" y="868680"/>
            <a:ext cx="0" cy="5577840"/>
          </a:xfrm>
          <a:prstGeom prst="line">
            <a:avLst/>
          </a:prstGeom>
          <a:ln w="6985">
            <a:solidFill>
              <a:srgbClr val="D7D7D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28600" y="6172200"/>
            <a:ext cx="14173200" cy="0"/>
          </a:xfrm>
          <a:prstGeom prst="line">
            <a:avLst/>
          </a:prstGeom>
          <a:ln w="889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82880" y="1536192"/>
            <a:ext cx="594360" cy="32004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l"/>
            <a:r>
              <a:rPr sz="620" b="0" i="0">
                <a:solidFill>
                  <a:srgbClr val="5D636D"/>
                </a:solidFill>
                <a:latin typeface="Calibri"/>
              </a:rPr>
              <a:t>GC</a:t>
            </a:r>
            <a:br/>
            <a:r>
              <a:rPr sz="620" b="0" i="0">
                <a:solidFill>
                  <a:srgbClr val="5D636D"/>
                </a:solidFill>
                <a:latin typeface="Calibri"/>
              </a:rPr>
              <a:t>(Millions)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3977639"/>
            <a:ext cx="402336" cy="2194560"/>
          </a:xfrm>
          <a:prstGeom prst="rect">
            <a:avLst/>
          </a:prstGeom>
          <a:solidFill>
            <a:srgbClr val="0A1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56031" y="3749039"/>
            <a:ext cx="530352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800" b="1" i="0">
                <a:solidFill>
                  <a:srgbClr val="1F2937"/>
                </a:solidFill>
                <a:latin typeface="Calibri"/>
              </a:rPr>
              <a:t>330M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0311" y="6263640"/>
            <a:ext cx="621792" cy="36576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50" b="1" i="0">
                <a:solidFill>
                  <a:srgbClr val="1F2937"/>
                </a:solidFill>
                <a:latin typeface="Calibri"/>
              </a:rPr>
              <a:t>2024 Actual GC</a:t>
            </a:r>
            <a:br/>
            <a:r>
              <a:rPr sz="550" b="1" i="0">
                <a:solidFill>
                  <a:srgbClr val="1F2937"/>
                </a:solidFill>
                <a:latin typeface="Calibri"/>
              </a:rPr>
              <a:t>(reference)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22376" y="3977639"/>
            <a:ext cx="301752" cy="1254035"/>
          </a:xfrm>
          <a:prstGeom prst="line">
            <a:avLst/>
          </a:prstGeom>
          <a:ln w="8255">
            <a:solidFill>
              <a:srgbClr val="B9B9B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28600" y="704088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59" b="0" i="0">
                <a:solidFill>
                  <a:srgbClr val="5D636D"/>
                </a:solidFill>
                <a:latin typeface="Calibri"/>
              </a:rPr>
              <a:t>Reference only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15568" y="5231674"/>
            <a:ext cx="384048" cy="940525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51560" y="500307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800" b="1" i="0">
                <a:solidFill>
                  <a:srgbClr val="1F2937"/>
                </a:solidFill>
                <a:latin typeface="Calibri"/>
              </a:rPr>
              <a:t>310M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6263640"/>
            <a:ext cx="603503" cy="36576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30" b="1" i="0">
                <a:solidFill>
                  <a:srgbClr val="1F2937"/>
                </a:solidFill>
                <a:latin typeface="Calibri"/>
              </a:rPr>
              <a:t>Weak</a:t>
            </a:r>
            <a:br/>
            <a:r>
              <a:rPr sz="530" b="1" i="0">
                <a:solidFill>
                  <a:srgbClr val="1F2937"/>
                </a:solidFill>
                <a:latin typeface="Calibri"/>
              </a:rPr>
              <a:t>Foundation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976" y="6675120"/>
            <a:ext cx="713232" cy="29260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50" b="0" i="0">
                <a:solidFill>
                  <a:srgbClr val="5D636D"/>
                </a:solidFill>
                <a:latin typeface="Calibri"/>
              </a:rPr>
              <a:t>Counterfactual</a:t>
            </a:r>
            <a:br/>
            <a:r>
              <a:rPr sz="450" b="0" i="0">
                <a:solidFill>
                  <a:srgbClr val="5D636D"/>
                </a:solidFill>
                <a:latin typeface="Calibri"/>
              </a:rPr>
              <a:t>scenario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499616" y="5231674"/>
            <a:ext cx="420624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920240" y="4730060"/>
            <a:ext cx="310896" cy="501613"/>
          </a:xfrm>
          <a:prstGeom prst="rect">
            <a:avLst/>
          </a:prstGeom>
          <a:solidFill>
            <a:srgbClr val="228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847088" y="4528892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+8M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10512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Speed /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Ops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2231136" y="4730060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2359152" y="4353850"/>
            <a:ext cx="310896" cy="376210"/>
          </a:xfrm>
          <a:prstGeom prst="rect">
            <a:avLst/>
          </a:prstGeom>
          <a:solidFill>
            <a:srgbClr val="228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286000" y="4152682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+6M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49424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Supply /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Availability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2670048" y="4353850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2798064" y="4165745"/>
            <a:ext cx="310896" cy="188105"/>
          </a:xfrm>
          <a:prstGeom prst="rect">
            <a:avLst/>
          </a:prstGeom>
          <a:solidFill>
            <a:srgbClr val="228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724912" y="3964577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+3M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88336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Technology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Reliability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3108960" y="4165745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3236976" y="4040341"/>
            <a:ext cx="310896" cy="125403"/>
          </a:xfrm>
          <a:prstGeom prst="rect">
            <a:avLst/>
          </a:prstGeom>
          <a:solidFill>
            <a:srgbClr val="228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3163824" y="3839173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+2M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27248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CSAT / CX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3547872" y="4040341"/>
            <a:ext cx="128015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3675887" y="3977639"/>
            <a:ext cx="310896" cy="62701"/>
          </a:xfrm>
          <a:prstGeom prst="rect">
            <a:avLst/>
          </a:prstGeom>
          <a:solidFill>
            <a:srgbClr val="228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3602735" y="3776472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+1M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566159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People /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Hours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3986783" y="3977639"/>
            <a:ext cx="128017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4114800" y="3789534"/>
            <a:ext cx="310896" cy="188105"/>
          </a:xfrm>
          <a:prstGeom prst="rect">
            <a:avLst/>
          </a:prstGeom>
          <a:solidFill>
            <a:srgbClr val="228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041648" y="3588366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+3M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05072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Loyalty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Base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4425696" y="3789534"/>
            <a:ext cx="192024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4617720" y="3789534"/>
            <a:ext cx="384048" cy="2382665"/>
          </a:xfrm>
          <a:prstGeom prst="rect">
            <a:avLst/>
          </a:prstGeom>
          <a:solidFill>
            <a:srgbClr val="0A1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553712" y="356093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800" b="1" i="0">
                <a:solidFill>
                  <a:srgbClr val="1F2937"/>
                </a:solidFill>
                <a:latin typeface="Calibri"/>
              </a:rPr>
              <a:t>333M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07992" y="6263640"/>
            <a:ext cx="603503" cy="36576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30" b="1" i="0">
                <a:solidFill>
                  <a:srgbClr val="1F2937"/>
                </a:solidFill>
                <a:latin typeface="Calibri"/>
              </a:rPr>
              <a:t>Protected</a:t>
            </a:r>
            <a:br/>
            <a:r>
              <a:rPr sz="530" b="1" i="0">
                <a:solidFill>
                  <a:srgbClr val="1F2937"/>
                </a:solidFill>
                <a:latin typeface="Calibri"/>
              </a:rPr>
              <a:t>BAU Base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001768" y="3789534"/>
            <a:ext cx="283464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5285232" y="3476026"/>
            <a:ext cx="310896" cy="313508"/>
          </a:xfrm>
          <a:prstGeom prst="rect">
            <a:avLst/>
          </a:prstGeom>
          <a:solidFill>
            <a:srgbClr val="0089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5212080" y="3274858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+5M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175504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Speed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Change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596128" y="3476026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5724144" y="3476026"/>
            <a:ext cx="310896" cy="188105"/>
          </a:xfrm>
          <a:prstGeom prst="rect">
            <a:avLst/>
          </a:prstGeom>
          <a:solidFill>
            <a:srgbClr val="C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5650992" y="3691563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-3M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14416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Supply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Change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6035040" y="3664131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/>
          <p:cNvSpPr/>
          <p:nvPr/>
        </p:nvSpPr>
        <p:spPr>
          <a:xfrm>
            <a:off x="6163056" y="3538728"/>
            <a:ext cx="310896" cy="125403"/>
          </a:xfrm>
          <a:prstGeom prst="rect">
            <a:avLst/>
          </a:prstGeom>
          <a:solidFill>
            <a:srgbClr val="0089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089904" y="3337560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+2M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053328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Tech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Change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473952" y="3538728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6601968" y="3538728"/>
            <a:ext cx="310896" cy="125403"/>
          </a:xfrm>
          <a:prstGeom prst="rect">
            <a:avLst/>
          </a:prstGeom>
          <a:solidFill>
            <a:srgbClr val="C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528816" y="3691563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-2M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492240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CSAT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Change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6912864" y="3664131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93"/>
          <p:cNvSpPr/>
          <p:nvPr/>
        </p:nvSpPr>
        <p:spPr>
          <a:xfrm>
            <a:off x="7040880" y="3664131"/>
            <a:ext cx="310896" cy="62701"/>
          </a:xfrm>
          <a:prstGeom prst="rect">
            <a:avLst/>
          </a:prstGeom>
          <a:solidFill>
            <a:srgbClr val="C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6967728" y="3754265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-1M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931152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Hours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Change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7351776" y="3726833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7479792" y="3664131"/>
            <a:ext cx="310896" cy="62701"/>
          </a:xfrm>
          <a:prstGeom prst="rect">
            <a:avLst/>
          </a:prstGeom>
          <a:solidFill>
            <a:srgbClr val="0089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7406640" y="3462963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+1M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70064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Loyalty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Change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7790688" y="3664131"/>
            <a:ext cx="301752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/>
          <p:cNvSpPr/>
          <p:nvPr/>
        </p:nvSpPr>
        <p:spPr>
          <a:xfrm>
            <a:off x="8092440" y="3664131"/>
            <a:ext cx="310896" cy="501613"/>
          </a:xfrm>
          <a:prstGeom prst="rect">
            <a:avLst/>
          </a:prstGeom>
          <a:solidFill>
            <a:srgbClr val="F16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019288" y="4193177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-8M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82712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Weather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8403336" y="4165745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105"/>
          <p:cNvSpPr/>
          <p:nvPr/>
        </p:nvSpPr>
        <p:spPr>
          <a:xfrm>
            <a:off x="8531352" y="4165745"/>
            <a:ext cx="310896" cy="250806"/>
          </a:xfrm>
          <a:prstGeom prst="rect">
            <a:avLst/>
          </a:prstGeom>
          <a:solidFill>
            <a:srgbClr val="F16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8458200" y="4443984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-4M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421624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Macro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8842248" y="4416552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Rectangle 109"/>
          <p:cNvSpPr/>
          <p:nvPr/>
        </p:nvSpPr>
        <p:spPr>
          <a:xfrm>
            <a:off x="8970264" y="4416552"/>
            <a:ext cx="310896" cy="188105"/>
          </a:xfrm>
          <a:prstGeom prst="rect">
            <a:avLst/>
          </a:prstGeom>
          <a:solidFill>
            <a:srgbClr val="F16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8897112" y="4632089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-3M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60536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Competition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9281160" y="4604657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ectangle 113"/>
          <p:cNvSpPr/>
          <p:nvPr/>
        </p:nvSpPr>
        <p:spPr>
          <a:xfrm>
            <a:off x="9409176" y="4604657"/>
            <a:ext cx="310896" cy="22860"/>
          </a:xfrm>
          <a:prstGeom prst="rect">
            <a:avLst/>
          </a:prstGeom>
          <a:solidFill>
            <a:srgbClr val="F16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9336024" y="4403489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+0M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299448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Calendar /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Footprint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9720072" y="4604657"/>
            <a:ext cx="292608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ectangle 117"/>
          <p:cNvSpPr/>
          <p:nvPr/>
        </p:nvSpPr>
        <p:spPr>
          <a:xfrm>
            <a:off x="10012680" y="3977639"/>
            <a:ext cx="310896" cy="627017"/>
          </a:xfrm>
          <a:prstGeom prst="rect">
            <a:avLst/>
          </a:prstGeom>
          <a:solidFill>
            <a:srgbClr val="276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9939528" y="3776472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+10M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902952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Pricing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10323576" y="3977639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ectangle 121"/>
          <p:cNvSpPr/>
          <p:nvPr/>
        </p:nvSpPr>
        <p:spPr>
          <a:xfrm>
            <a:off x="10451592" y="3413324"/>
            <a:ext cx="310896" cy="564315"/>
          </a:xfrm>
          <a:prstGeom prst="rect">
            <a:avLst/>
          </a:prstGeom>
          <a:solidFill>
            <a:srgbClr val="276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10378440" y="3212156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+9M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341864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Promo /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Value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10762488" y="3413324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ectangle 125"/>
          <p:cNvSpPr/>
          <p:nvPr/>
        </p:nvSpPr>
        <p:spPr>
          <a:xfrm>
            <a:off x="10890504" y="2660904"/>
            <a:ext cx="310896" cy="752420"/>
          </a:xfrm>
          <a:prstGeom prst="rect">
            <a:avLst/>
          </a:prstGeom>
          <a:solidFill>
            <a:srgbClr val="276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10817352" y="2459736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+12M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780776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Media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11201400" y="2660904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 129"/>
          <p:cNvSpPr/>
          <p:nvPr/>
        </p:nvSpPr>
        <p:spPr>
          <a:xfrm>
            <a:off x="11329416" y="2159290"/>
            <a:ext cx="310896" cy="501613"/>
          </a:xfrm>
          <a:prstGeom prst="rect">
            <a:avLst/>
          </a:prstGeom>
          <a:solidFill>
            <a:srgbClr val="276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11256264" y="1958122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+8M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219688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LTO /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Menu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11640312" y="2159290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ectangle 133"/>
          <p:cNvSpPr/>
          <p:nvPr/>
        </p:nvSpPr>
        <p:spPr>
          <a:xfrm>
            <a:off x="11768328" y="1971185"/>
            <a:ext cx="310896" cy="188105"/>
          </a:xfrm>
          <a:prstGeom prst="rect">
            <a:avLst/>
          </a:prstGeom>
          <a:solidFill>
            <a:srgbClr val="276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11695176" y="1810512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+3M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658600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Digital /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CRM</a:t>
            </a:r>
          </a:p>
        </p:txBody>
      </p:sp>
      <p:cxnSp>
        <p:nvCxnSpPr>
          <p:cNvPr id="137" name="Connector 136"/>
          <p:cNvCxnSpPr/>
          <p:nvPr/>
        </p:nvCxnSpPr>
        <p:spPr>
          <a:xfrm>
            <a:off x="12079224" y="1971185"/>
            <a:ext cx="26517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Rectangle 137"/>
          <p:cNvSpPr/>
          <p:nvPr/>
        </p:nvSpPr>
        <p:spPr>
          <a:xfrm>
            <a:off x="12344400" y="1720378"/>
            <a:ext cx="310896" cy="250806"/>
          </a:xfrm>
          <a:prstGeom prst="rect">
            <a:avLst/>
          </a:prstGeom>
          <a:solidFill>
            <a:srgbClr val="744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12271248" y="1810512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+4M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234672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Foundation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Enablement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12655296" y="1720378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ectangle 141"/>
          <p:cNvSpPr/>
          <p:nvPr/>
        </p:nvSpPr>
        <p:spPr>
          <a:xfrm>
            <a:off x="12783312" y="1720378"/>
            <a:ext cx="310896" cy="313508"/>
          </a:xfrm>
          <a:prstGeom prst="rect">
            <a:avLst/>
          </a:prstGeom>
          <a:solidFill>
            <a:srgbClr val="744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3" name="Connector 142"/>
          <p:cNvCxnSpPr/>
          <p:nvPr/>
        </p:nvCxnSpPr>
        <p:spPr>
          <a:xfrm flipV="1">
            <a:off x="12801600" y="1729522"/>
            <a:ext cx="146304" cy="295220"/>
          </a:xfrm>
          <a:prstGeom prst="line">
            <a:avLst/>
          </a:prstGeom>
          <a:ln w="5715">
            <a:solidFill>
              <a:srgbClr val="744D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12879324" y="1729522"/>
            <a:ext cx="146304" cy="295220"/>
          </a:xfrm>
          <a:prstGeom prst="line">
            <a:avLst/>
          </a:prstGeom>
          <a:ln w="5715">
            <a:solidFill>
              <a:srgbClr val="744D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12957048" y="1729522"/>
            <a:ext cx="146304" cy="295220"/>
          </a:xfrm>
          <a:prstGeom prst="line">
            <a:avLst/>
          </a:prstGeom>
          <a:ln w="5715">
            <a:solidFill>
              <a:srgbClr val="744D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13034772" y="1729522"/>
            <a:ext cx="146304" cy="295220"/>
          </a:xfrm>
          <a:prstGeom prst="line">
            <a:avLst/>
          </a:prstGeom>
          <a:ln w="5715">
            <a:solidFill>
              <a:srgbClr val="744D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/>
          <p:cNvSpPr txBox="1"/>
          <p:nvPr/>
        </p:nvSpPr>
        <p:spPr>
          <a:xfrm>
            <a:off x="12710160" y="2061318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-5M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2673584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Bottleneck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Drag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13094208" y="2033886"/>
            <a:ext cx="237744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 149"/>
          <p:cNvSpPr/>
          <p:nvPr/>
        </p:nvSpPr>
        <p:spPr>
          <a:xfrm>
            <a:off x="13331952" y="2033886"/>
            <a:ext cx="310896" cy="564315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1" name="Connector 150"/>
          <p:cNvCxnSpPr/>
          <p:nvPr/>
        </p:nvCxnSpPr>
        <p:spPr>
          <a:xfrm flipV="1">
            <a:off x="13350240" y="2043030"/>
            <a:ext cx="146304" cy="546028"/>
          </a:xfrm>
          <a:prstGeom prst="line">
            <a:avLst/>
          </a:prstGeom>
          <a:ln w="5715"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13427964" y="2043030"/>
            <a:ext cx="146304" cy="546028"/>
          </a:xfrm>
          <a:prstGeom prst="line">
            <a:avLst/>
          </a:prstGeom>
          <a:ln w="5715"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13505688" y="2043030"/>
            <a:ext cx="146304" cy="546028"/>
          </a:xfrm>
          <a:prstGeom prst="line">
            <a:avLst/>
          </a:prstGeom>
          <a:ln w="5715"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13583412" y="2043030"/>
            <a:ext cx="146304" cy="546028"/>
          </a:xfrm>
          <a:prstGeom prst="line">
            <a:avLst/>
          </a:prstGeom>
          <a:ln w="5715"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/>
          <p:cNvSpPr txBox="1"/>
          <p:nvPr/>
        </p:nvSpPr>
        <p:spPr>
          <a:xfrm>
            <a:off x="13258800" y="2625634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-9M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3222224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Known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Data Gap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13642848" y="2598202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/>
          <p:cNvSpPr/>
          <p:nvPr/>
        </p:nvSpPr>
        <p:spPr>
          <a:xfrm>
            <a:off x="13770864" y="2598202"/>
            <a:ext cx="310896" cy="125403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13697712" y="2751037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-2M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3661136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Residual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4191488" y="2723605"/>
            <a:ext cx="384048" cy="3448594"/>
          </a:xfrm>
          <a:prstGeom prst="rect">
            <a:avLst/>
          </a:prstGeom>
          <a:solidFill>
            <a:srgbClr val="0A1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14127480" y="249500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800" b="1" i="0">
                <a:solidFill>
                  <a:srgbClr val="1F2937"/>
                </a:solidFill>
                <a:latin typeface="Calibri"/>
              </a:rPr>
              <a:t>350M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4081760" y="6263640"/>
            <a:ext cx="603503" cy="36576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30" b="1" i="0">
                <a:solidFill>
                  <a:srgbClr val="1F2937"/>
                </a:solidFill>
                <a:latin typeface="Calibri"/>
              </a:rPr>
              <a:t>2025 Actual</a:t>
            </a:r>
            <a:br/>
            <a:r>
              <a:rPr sz="530" b="1" i="0">
                <a:solidFill>
                  <a:srgbClr val="1F2937"/>
                </a:solidFill>
                <a:latin typeface="Calibri"/>
              </a:rPr>
              <a:t>GC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331720" y="6903720"/>
            <a:ext cx="2057400" cy="320040"/>
          </a:xfrm>
          <a:prstGeom prst="rect">
            <a:avLst/>
          </a:prstGeom>
          <a:solidFill>
            <a:srgbClr val="ECF7EF"/>
          </a:solidFill>
          <a:ln w="6350">
            <a:solidFill>
              <a:srgbClr val="B4DCBE"/>
            </a:solidFill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630" b="1" i="0">
                <a:solidFill>
                  <a:srgbClr val="228B37"/>
                </a:solidFill>
                <a:latin typeface="Calibri"/>
              </a:rPr>
              <a:t>+23M protected GC</a:t>
            </a:r>
            <a:br/>
            <a:r>
              <a:rPr sz="630" b="1" i="0">
                <a:solidFill>
                  <a:srgbClr val="228B37"/>
                </a:solidFill>
                <a:latin typeface="Calibri"/>
              </a:rPr>
              <a:t>Maintains base vs degraded foundation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349240" y="6903720"/>
            <a:ext cx="1965960" cy="320040"/>
          </a:xfrm>
          <a:prstGeom prst="rect">
            <a:avLst/>
          </a:prstGeom>
          <a:solidFill>
            <a:srgbClr val="EAF8FA"/>
          </a:solidFill>
          <a:ln w="6350">
            <a:solidFill>
              <a:srgbClr val="AFDCE1"/>
            </a:solidFill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600" b="1" i="0">
                <a:solidFill>
                  <a:srgbClr val="008997"/>
                </a:solidFill>
                <a:latin typeface="Calibri"/>
              </a:rPr>
              <a:t>+2M net foundation movement</a:t>
            </a:r>
            <a:br/>
            <a:r>
              <a:rPr sz="600" b="1" i="0">
                <a:solidFill>
                  <a:srgbClr val="008997"/>
                </a:solidFill>
                <a:latin typeface="Calibri"/>
              </a:rPr>
              <a:t>Actual changes vs BAU / LY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001000" y="6903720"/>
            <a:ext cx="1783080" cy="320040"/>
          </a:xfrm>
          <a:prstGeom prst="rect">
            <a:avLst/>
          </a:prstGeom>
          <a:solidFill>
            <a:srgbClr val="FFF3ED"/>
          </a:solidFill>
          <a:ln w="6350">
            <a:solidFill>
              <a:srgbClr val="F0C8B4"/>
            </a:solidFill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600" b="1" i="0">
                <a:solidFill>
                  <a:srgbClr val="F16924"/>
                </a:solidFill>
                <a:latin typeface="Calibri"/>
              </a:rPr>
              <a:t>-15M external context</a:t>
            </a:r>
            <a:br/>
            <a:r>
              <a:rPr sz="600" b="1" i="0">
                <a:solidFill>
                  <a:srgbClr val="F16924"/>
                </a:solidFill>
                <a:latin typeface="Calibri"/>
              </a:rPr>
              <a:t>Weather, macro, competition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104120" y="6903720"/>
            <a:ext cx="1920240" cy="320040"/>
          </a:xfrm>
          <a:prstGeom prst="rect">
            <a:avLst/>
          </a:prstGeom>
          <a:solidFill>
            <a:srgbClr val="EDF4FF"/>
          </a:solidFill>
          <a:ln w="6350">
            <a:solidFill>
              <a:srgbClr val="B4CDF0"/>
            </a:solidFill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600" b="1" i="0">
                <a:solidFill>
                  <a:srgbClr val="276AD2"/>
                </a:solidFill>
                <a:latin typeface="Calibri"/>
              </a:rPr>
              <a:t>+42M commercial movement</a:t>
            </a:r>
            <a:br/>
            <a:r>
              <a:rPr sz="600" b="1" i="0">
                <a:solidFill>
                  <a:srgbClr val="276AD2"/>
                </a:solidFill>
                <a:latin typeface="Calibri"/>
              </a:rPr>
              <a:t>Pricing, promo, media, LTO, digital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1932920" y="6903720"/>
            <a:ext cx="1143000" cy="320040"/>
          </a:xfrm>
          <a:prstGeom prst="rect">
            <a:avLst/>
          </a:prstGeom>
          <a:solidFill>
            <a:srgbClr val="F6F1FC"/>
          </a:solidFill>
          <a:ln w="6350">
            <a:solidFill>
              <a:srgbClr val="CDB9E6"/>
            </a:solidFill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50" b="1" i="0">
                <a:solidFill>
                  <a:srgbClr val="744DA6"/>
                </a:solidFill>
                <a:latin typeface="Calibri"/>
              </a:rPr>
              <a:t>-1M net enablement</a:t>
            </a:r>
            <a:br/>
            <a:r>
              <a:rPr sz="550" b="1" i="0">
                <a:solidFill>
                  <a:srgbClr val="744DA6"/>
                </a:solidFill>
                <a:latin typeface="Calibri"/>
              </a:rPr>
              <a:t>Readiness lift less bottleneck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3194792" y="6903720"/>
            <a:ext cx="1051560" cy="320040"/>
          </a:xfrm>
          <a:prstGeom prst="rect">
            <a:avLst/>
          </a:prstGeom>
          <a:solidFill>
            <a:srgbClr val="F5F5F5"/>
          </a:solidFill>
          <a:ln w="6350">
            <a:solidFill>
              <a:srgbClr val="C8C8C8"/>
            </a:solidFill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50" b="1" i="0">
                <a:solidFill>
                  <a:srgbClr val="666666"/>
                </a:solidFill>
                <a:latin typeface="Calibri"/>
              </a:rPr>
              <a:t>-11M gap / residual</a:t>
            </a:r>
            <a:br/>
            <a:r>
              <a:rPr sz="550" b="1" i="0">
                <a:solidFill>
                  <a:srgbClr val="666666"/>
                </a:solidFill>
                <a:latin typeface="Calibri"/>
              </a:rPr>
              <a:t>Still not fully measured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74320" y="7635240"/>
            <a:ext cx="14081760" cy="256032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620" b="0" i="1">
                <a:solidFill>
                  <a:srgbClr val="5D636D"/>
                </a:solidFill>
                <a:latin typeface="Calibri"/>
              </a:rPr>
              <a:t>Method note: foundation domains appear twice with different meanings — (1) protected base / avoided loss versus degraded counterfactual, and (2) actual movement versus BAU or last year. Values shown are illustrative placeholders.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74320" y="7936992"/>
            <a:ext cx="14081760" cy="164592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30" b="0" i="0">
                <a:solidFill>
                  <a:srgbClr val="5D636D"/>
                </a:solidFill>
                <a:latin typeface="Calibri"/>
              </a:rPr>
              <a:t>Counterfactual base is a scenario, not last year actual. 2024 actual is shown only as reference.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c_decomposition_waterfall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4630034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0"/>
            <a:ext cx="14630034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3" name="TextBox 2"/>
          <p:cNvSpPr txBox="1"/>
          <p:nvPr/>
        </p:nvSpPr>
        <p:spPr>
          <a:xfrm>
            <a:off x="274320" y="175566"/>
            <a:ext cx="13716000" cy="487519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2880" b="1">
                <a:solidFill>
                  <a:srgbClr val="081B49"/>
                </a:solidFill>
                <a:latin typeface="Aptos"/>
              </a:rPr>
              <a:t>GC Decomposition: Protected Base + Growth Movement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5293" y="625449"/>
            <a:ext cx="12893040" cy="243734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1296">
                <a:solidFill>
                  <a:srgbClr val="4D5054"/>
                </a:solidFill>
                <a:latin typeface="Aptos"/>
              </a:rPr>
              <a:t>From a counterfactual weak foundation to 2025 actuals through foundation protection, external context, and commercial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07239" y="1130199"/>
            <a:ext cx="307238" cy="307238"/>
          </a:xfrm>
          <a:prstGeom prst="rect">
            <a:avLst/>
          </a:prstGeom>
          <a:solidFill>
            <a:srgbClr val="081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6" name="TextBox 5"/>
          <p:cNvSpPr txBox="1"/>
          <p:nvPr/>
        </p:nvSpPr>
        <p:spPr>
          <a:xfrm>
            <a:off x="312725" y="1157631"/>
            <a:ext cx="296266" cy="203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19226"/>
            <a:ext cx="1854403" cy="38377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1103" b="1">
                <a:solidFill>
                  <a:srgbClr val="000000"/>
                </a:solidFill>
                <a:latin typeface="Aptos"/>
              </a:rPr>
              <a:t>Counterfactual
Weak Foundation Base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7238" y="1547165"/>
            <a:ext cx="2249424" cy="0"/>
          </a:xfrm>
          <a:prstGeom prst="line">
            <a:avLst/>
          </a:prstGeom>
          <a:ln w="13970">
            <a:solidFill>
              <a:srgbClr val="081B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07239" y="1656893"/>
            <a:ext cx="2249423" cy="45424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888">
                <a:solidFill>
                  <a:srgbClr val="4D5054"/>
                </a:solidFill>
                <a:latin typeface="Aptos"/>
              </a:rPr>
              <a:t>Weak GC scenario
if the business foundation
performed at a degraded level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8064" y="1130199"/>
            <a:ext cx="307238" cy="307238"/>
          </a:xfrm>
          <a:prstGeom prst="rect">
            <a:avLst/>
          </a:prstGeom>
          <a:solidFill>
            <a:srgbClr val="1489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11" name="TextBox 10"/>
          <p:cNvSpPr txBox="1"/>
          <p:nvPr/>
        </p:nvSpPr>
        <p:spPr>
          <a:xfrm>
            <a:off x="2803549" y="1157631"/>
            <a:ext cx="296266" cy="203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4057" y="1119226"/>
            <a:ext cx="2545690" cy="38377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1103" b="1">
                <a:solidFill>
                  <a:srgbClr val="000000"/>
                </a:solidFill>
                <a:latin typeface="Aptos"/>
              </a:rPr>
              <a:t>Foundation Protection /
BAU Base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98064" y="1547165"/>
            <a:ext cx="2940710" cy="0"/>
          </a:xfrm>
          <a:prstGeom prst="line">
            <a:avLst/>
          </a:prstGeom>
          <a:ln w="13970">
            <a:solidFill>
              <a:srgbClr val="1489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798064" y="1656893"/>
            <a:ext cx="2940710" cy="45424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888">
                <a:solidFill>
                  <a:srgbClr val="4D5054"/>
                </a:solidFill>
                <a:latin typeface="Aptos"/>
              </a:rPr>
              <a:t>Credit for maintaining the business engine,
protecting the GC base, and capturing
incremental BAU improvements.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44444" y="1097280"/>
            <a:ext cx="0" cy="1119226"/>
          </a:xfrm>
          <a:prstGeom prst="line">
            <a:avLst/>
          </a:prstGeom>
          <a:ln w="762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980176" y="1130199"/>
            <a:ext cx="307238" cy="307238"/>
          </a:xfrm>
          <a:prstGeom prst="rect">
            <a:avLst/>
          </a:prstGeom>
          <a:solidFill>
            <a:srgbClr val="EC5C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17" name="TextBox 16"/>
          <p:cNvSpPr txBox="1"/>
          <p:nvPr/>
        </p:nvSpPr>
        <p:spPr>
          <a:xfrm>
            <a:off x="5985662" y="1157631"/>
            <a:ext cx="296266" cy="203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6169" y="1119226"/>
            <a:ext cx="1777594" cy="214047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1103" b="1">
                <a:solidFill>
                  <a:srgbClr val="000000"/>
                </a:solidFill>
                <a:latin typeface="Aptos"/>
              </a:rPr>
              <a:t>External Context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80176" y="1547165"/>
            <a:ext cx="2172614" cy="0"/>
          </a:xfrm>
          <a:prstGeom prst="line">
            <a:avLst/>
          </a:prstGeom>
          <a:ln w="13970">
            <a:solidFill>
              <a:srgbClr val="EC5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980176" y="1656893"/>
            <a:ext cx="2172614" cy="45424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888">
                <a:solidFill>
                  <a:srgbClr val="4D5054"/>
                </a:solidFill>
                <a:latin typeface="Aptos"/>
              </a:rPr>
              <a:t>External context
not controlled by the business
moves GC above or below base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826557" y="1097280"/>
            <a:ext cx="0" cy="1119226"/>
          </a:xfrm>
          <a:prstGeom prst="line">
            <a:avLst/>
          </a:prstGeom>
          <a:ln w="762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449056" y="1130199"/>
            <a:ext cx="307238" cy="307238"/>
          </a:xfrm>
          <a:prstGeom prst="rect">
            <a:avLst/>
          </a:prstGeom>
          <a:solidFill>
            <a:srgbClr val="1C65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23" name="TextBox 22"/>
          <p:cNvSpPr txBox="1"/>
          <p:nvPr/>
        </p:nvSpPr>
        <p:spPr>
          <a:xfrm>
            <a:off x="8454542" y="1157631"/>
            <a:ext cx="296266" cy="203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55049" y="1119226"/>
            <a:ext cx="1997050" cy="38377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1103" b="1">
                <a:solidFill>
                  <a:srgbClr val="000000"/>
                </a:solidFill>
                <a:latin typeface="Aptos"/>
              </a:rPr>
              <a:t>Growth Movement /
Campaign Actions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49056" y="1547165"/>
            <a:ext cx="2392070" cy="0"/>
          </a:xfrm>
          <a:prstGeom prst="line">
            <a:avLst/>
          </a:prstGeom>
          <a:ln w="13970">
            <a:solidFill>
              <a:srgbClr val="1C65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449056" y="1656893"/>
            <a:ext cx="2392070" cy="45424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888">
                <a:solidFill>
                  <a:srgbClr val="4D5054"/>
                </a:solidFill>
                <a:latin typeface="Aptos"/>
              </a:rPr>
              <a:t>Commercial movement
moves GC above the
protected base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95437" y="1097280"/>
            <a:ext cx="0" cy="1119226"/>
          </a:xfrm>
          <a:prstGeom prst="line">
            <a:avLst/>
          </a:prstGeom>
          <a:ln w="762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11104474" y="1130199"/>
            <a:ext cx="307238" cy="307238"/>
          </a:xfrm>
          <a:prstGeom prst="rect">
            <a:avLst/>
          </a:prstGeom>
          <a:solidFill>
            <a:srgbClr val="4D50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29" name="TextBox 28"/>
          <p:cNvSpPr txBox="1"/>
          <p:nvPr/>
        </p:nvSpPr>
        <p:spPr>
          <a:xfrm>
            <a:off x="11109960" y="1157631"/>
            <a:ext cx="296266" cy="203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10466" y="1119226"/>
            <a:ext cx="1305763" cy="214047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1103" b="1">
                <a:solidFill>
                  <a:srgbClr val="000000"/>
                </a:solidFill>
                <a:latin typeface="Aptos"/>
              </a:rPr>
              <a:t>Gap / Residual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104474" y="1547165"/>
            <a:ext cx="1700784" cy="0"/>
          </a:xfrm>
          <a:prstGeom prst="line">
            <a:avLst/>
          </a:prstGeom>
          <a:ln w="13970">
            <a:solidFill>
              <a:srgbClr val="4D5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1104474" y="1656893"/>
            <a:ext cx="1700784" cy="31760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888">
                <a:solidFill>
                  <a:srgbClr val="4D5054"/>
                </a:solidFill>
                <a:latin typeface="Aptos"/>
              </a:rPr>
              <a:t>Remaining gap
not fully measured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950853" y="1097280"/>
            <a:ext cx="0" cy="1119226"/>
          </a:xfrm>
          <a:prstGeom prst="line">
            <a:avLst/>
          </a:prstGeom>
          <a:ln w="762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274320" y="4800600"/>
            <a:ext cx="373075" cy="1102766"/>
          </a:xfrm>
          <a:prstGeom prst="rect">
            <a:avLst/>
          </a:prstGeom>
          <a:solidFill>
            <a:srgbClr val="081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35" name="TextBox 34"/>
          <p:cNvSpPr txBox="1"/>
          <p:nvPr/>
        </p:nvSpPr>
        <p:spPr>
          <a:xfrm>
            <a:off x="142647" y="4471417"/>
            <a:ext cx="636422" cy="350815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996" b="1">
                <a:solidFill>
                  <a:srgbClr val="000000"/>
                </a:solidFill>
                <a:latin typeface="Aptos"/>
              </a:rPr>
              <a:t>330M
(100.0%)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4592" y="5952745"/>
            <a:ext cx="592531" cy="288105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92" b="1">
                <a:solidFill>
                  <a:srgbClr val="000000"/>
                </a:solidFill>
                <a:latin typeface="Aptos"/>
              </a:rPr>
              <a:t>2024
Actual GC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28954" y="5535778"/>
            <a:ext cx="373075" cy="367589"/>
          </a:xfrm>
          <a:prstGeom prst="rect">
            <a:avLst/>
          </a:prstGeom>
          <a:solidFill>
            <a:srgbClr val="909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38" name="TextBox 37"/>
          <p:cNvSpPr txBox="1"/>
          <p:nvPr/>
        </p:nvSpPr>
        <p:spPr>
          <a:xfrm>
            <a:off x="1097280" y="5206594"/>
            <a:ext cx="636422" cy="350815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996" b="1">
                <a:solidFill>
                  <a:srgbClr val="000000"/>
                </a:solidFill>
                <a:latin typeface="Aptos"/>
              </a:rPr>
              <a:t>310M
(93.9%)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9226" y="5952745"/>
            <a:ext cx="592531" cy="65378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92" b="1">
                <a:solidFill>
                  <a:srgbClr val="000000"/>
                </a:solidFill>
                <a:latin typeface="Aptos"/>
              </a:rPr>
              <a:t>Weak
Foundation
Base
(counterfactual)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7395" y="4800600"/>
            <a:ext cx="581558" cy="735178"/>
          </a:xfrm>
          <a:prstGeom prst="line">
            <a:avLst/>
          </a:prstGeom>
          <a:ln w="10795">
            <a:solidFill>
              <a:srgbClr val="4D505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997050" y="5315224"/>
            <a:ext cx="373075" cy="220553"/>
          </a:xfrm>
          <a:prstGeom prst="rect">
            <a:avLst/>
          </a:prstGeom>
          <a:solidFill>
            <a:srgbClr val="1489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42" name="TextBox 41"/>
          <p:cNvSpPr txBox="1"/>
          <p:nvPr/>
        </p:nvSpPr>
        <p:spPr>
          <a:xfrm>
            <a:off x="1887322" y="5007985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+6M
(+1.8%)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09267" y="5952744"/>
            <a:ext cx="548640" cy="15326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Speed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68880" y="5021153"/>
            <a:ext cx="373075" cy="294071"/>
          </a:xfrm>
          <a:prstGeom prst="rect">
            <a:avLst/>
          </a:prstGeom>
          <a:solidFill>
            <a:srgbClr val="1489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45" name="TextBox 44"/>
          <p:cNvSpPr txBox="1"/>
          <p:nvPr/>
        </p:nvSpPr>
        <p:spPr>
          <a:xfrm>
            <a:off x="2359152" y="4713915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+8M
(+2.4%)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81098" y="5952744"/>
            <a:ext cx="548640" cy="26220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Supply
Chain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40711" y="4910877"/>
            <a:ext cx="373075" cy="110276"/>
          </a:xfrm>
          <a:prstGeom prst="rect">
            <a:avLst/>
          </a:prstGeom>
          <a:solidFill>
            <a:srgbClr val="1489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48" name="TextBox 47"/>
          <p:cNvSpPr txBox="1"/>
          <p:nvPr/>
        </p:nvSpPr>
        <p:spPr>
          <a:xfrm>
            <a:off x="2830983" y="4603638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+3M
(+0.9%)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52928" y="5952744"/>
            <a:ext cx="548640" cy="15326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CSAT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12541" y="4837358"/>
            <a:ext cx="373075" cy="73517"/>
          </a:xfrm>
          <a:prstGeom prst="rect">
            <a:avLst/>
          </a:prstGeom>
          <a:solidFill>
            <a:srgbClr val="1489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51" name="TextBox 50"/>
          <p:cNvSpPr txBox="1"/>
          <p:nvPr/>
        </p:nvSpPr>
        <p:spPr>
          <a:xfrm>
            <a:off x="3302813" y="4530120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+2M
(+0.6%)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24758" y="5952744"/>
            <a:ext cx="548640" cy="15326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Tech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84371" y="4800600"/>
            <a:ext cx="373075" cy="43891"/>
          </a:xfrm>
          <a:prstGeom prst="rect">
            <a:avLst/>
          </a:prstGeom>
          <a:solidFill>
            <a:srgbClr val="1489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54" name="TextBox 53"/>
          <p:cNvSpPr txBox="1"/>
          <p:nvPr/>
        </p:nvSpPr>
        <p:spPr>
          <a:xfrm>
            <a:off x="3774643" y="4493362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+1M
(+0.3%)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96589" y="5952744"/>
            <a:ext cx="548640" cy="26220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People /
Hours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56202" y="4690323"/>
            <a:ext cx="373075" cy="110276"/>
          </a:xfrm>
          <a:prstGeom prst="rect">
            <a:avLst/>
          </a:prstGeom>
          <a:solidFill>
            <a:srgbClr val="1489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57" name="TextBox 56"/>
          <p:cNvSpPr txBox="1"/>
          <p:nvPr/>
        </p:nvSpPr>
        <p:spPr>
          <a:xfrm>
            <a:off x="4246474" y="4383084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+3M
(+0.9%)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68419" y="5952744"/>
            <a:ext cx="548640" cy="15326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Loyalty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28032" y="4690323"/>
            <a:ext cx="373075" cy="1213043"/>
          </a:xfrm>
          <a:prstGeom prst="rect">
            <a:avLst/>
          </a:prstGeom>
          <a:solidFill>
            <a:srgbClr val="081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60" name="TextBox 59"/>
          <p:cNvSpPr txBox="1"/>
          <p:nvPr/>
        </p:nvSpPr>
        <p:spPr>
          <a:xfrm>
            <a:off x="4696359" y="4361139"/>
            <a:ext cx="636422" cy="350815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996" b="1">
                <a:solidFill>
                  <a:srgbClr val="000000"/>
                </a:solidFill>
                <a:latin typeface="Aptos"/>
              </a:rPr>
              <a:t>333M
(100.9%)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18304" y="5952744"/>
            <a:ext cx="592531" cy="288105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92" b="1">
                <a:solidFill>
                  <a:srgbClr val="000000"/>
                </a:solidFill>
                <a:latin typeface="Aptos"/>
              </a:rPr>
              <a:t>Protected
BAU Base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729277" y="4690322"/>
            <a:ext cx="98755" cy="0"/>
          </a:xfrm>
          <a:prstGeom prst="line">
            <a:avLst/>
          </a:prstGeom>
          <a:ln w="10160">
            <a:solidFill>
              <a:srgbClr val="4D505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1821485" y="2721254"/>
            <a:ext cx="3708806" cy="77906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8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7782" rIns="87782" rtlCol="0" anchor="ctr"/>
          <a:lstStyle/>
          <a:p>
            <a:pPr algn="ctr"/>
            <a:r>
              <a:rPr sz="1392" b="1">
                <a:solidFill>
                  <a:srgbClr val="148943"/>
                </a:solidFill>
                <a:latin typeface="Aptos"/>
              </a:rPr>
              <a:t>+23M protected + improved GC
(+7.0%)</a:t>
            </a:r>
          </a:p>
          <a:p>
            <a:pPr algn="ctr">
              <a:spcBef>
                <a:spcPts val="120"/>
              </a:spcBef>
            </a:pPr>
            <a:r>
              <a:rPr sz="864">
                <a:solidFill>
                  <a:srgbClr val="4D5054"/>
                </a:solidFill>
                <a:latin typeface="Aptos"/>
              </a:rPr>
              <a:t>Includes base protection vs. weak foundation
plus incremental BAU improvements
(speed, supply, CSAT, tech, people / hours, loyalty).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700784" y="3621024"/>
            <a:ext cx="0" cy="768096"/>
          </a:xfrm>
          <a:prstGeom prst="line">
            <a:avLst/>
          </a:prstGeom>
          <a:ln w="13335">
            <a:solidFill>
              <a:srgbClr val="14894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700784" y="3621024"/>
            <a:ext cx="3642970" cy="0"/>
          </a:xfrm>
          <a:prstGeom prst="line">
            <a:avLst/>
          </a:prstGeom>
          <a:ln w="13335">
            <a:solidFill>
              <a:srgbClr val="14894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5343754" y="3621024"/>
            <a:ext cx="0" cy="822960"/>
          </a:xfrm>
          <a:prstGeom prst="line">
            <a:avLst/>
          </a:prstGeom>
          <a:ln w="13335">
            <a:solidFill>
              <a:srgbClr val="14894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6089904" y="4690322"/>
            <a:ext cx="373075" cy="220553"/>
          </a:xfrm>
          <a:prstGeom prst="rect">
            <a:avLst/>
          </a:prstGeom>
          <a:solidFill>
            <a:srgbClr val="EC5C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68" name="TextBox 67"/>
          <p:cNvSpPr txBox="1"/>
          <p:nvPr/>
        </p:nvSpPr>
        <p:spPr>
          <a:xfrm>
            <a:off x="5980176" y="4383084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-6M
(-1.8%)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02122" y="5952744"/>
            <a:ext cx="548640" cy="15326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Weather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561735" y="4910877"/>
            <a:ext cx="373075" cy="147035"/>
          </a:xfrm>
          <a:prstGeom prst="rect">
            <a:avLst/>
          </a:prstGeom>
          <a:solidFill>
            <a:srgbClr val="EC5C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71" name="TextBox 70"/>
          <p:cNvSpPr txBox="1"/>
          <p:nvPr/>
        </p:nvSpPr>
        <p:spPr>
          <a:xfrm>
            <a:off x="6452007" y="4603638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-4M
(-1.2%)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73951" y="5952744"/>
            <a:ext cx="548640" cy="15326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Macro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33564" y="5057912"/>
            <a:ext cx="373075" cy="110276"/>
          </a:xfrm>
          <a:prstGeom prst="rect">
            <a:avLst/>
          </a:prstGeom>
          <a:solidFill>
            <a:srgbClr val="EC5C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74" name="TextBox 73"/>
          <p:cNvSpPr txBox="1"/>
          <p:nvPr/>
        </p:nvSpPr>
        <p:spPr>
          <a:xfrm>
            <a:off x="6923837" y="4750673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-3M
(-0.9%)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5781" y="5952744"/>
            <a:ext cx="548640" cy="15326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Competition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505394" y="5168189"/>
            <a:ext cx="373075" cy="43891"/>
          </a:xfrm>
          <a:prstGeom prst="rect">
            <a:avLst/>
          </a:prstGeom>
          <a:solidFill>
            <a:srgbClr val="EC5C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77" name="TextBox 76"/>
          <p:cNvSpPr txBox="1"/>
          <p:nvPr/>
        </p:nvSpPr>
        <p:spPr>
          <a:xfrm>
            <a:off x="7395666" y="4860949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-1M
(-0.3%)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17612" y="5952744"/>
            <a:ext cx="548640" cy="15326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Footprint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760721" y="2874874"/>
            <a:ext cx="2249423" cy="61447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5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7782" rIns="87782" rtlCol="0" anchor="ctr"/>
          <a:lstStyle/>
          <a:p>
            <a:pPr algn="ctr"/>
            <a:r>
              <a:rPr sz="1392" b="1">
                <a:solidFill>
                  <a:srgbClr val="EC5C17"/>
                </a:solidFill>
                <a:latin typeface="Aptos"/>
              </a:rPr>
              <a:t>-14M external
context
(-4.2%)</a:t>
            </a:r>
          </a:p>
          <a:p>
            <a:pPr algn="ctr">
              <a:spcBef>
                <a:spcPts val="120"/>
              </a:spcBef>
            </a:pPr>
            <a:r>
              <a:rPr sz="864">
                <a:solidFill>
                  <a:srgbClr val="4D5054"/>
                </a:solidFill>
                <a:latin typeface="Aptos"/>
              </a:rPr>
              <a:t>(Weather, macro,
competition)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858000" y="3489350"/>
            <a:ext cx="0" cy="899770"/>
          </a:xfrm>
          <a:prstGeom prst="line">
            <a:avLst/>
          </a:prstGeom>
          <a:ln w="13335">
            <a:solidFill>
              <a:srgbClr val="EC5C1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8383219" y="4837358"/>
            <a:ext cx="373075" cy="367589"/>
          </a:xfrm>
          <a:prstGeom prst="rect">
            <a:avLst/>
          </a:prstGeom>
          <a:solidFill>
            <a:srgbClr val="1C65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82" name="TextBox 81"/>
          <p:cNvSpPr txBox="1"/>
          <p:nvPr/>
        </p:nvSpPr>
        <p:spPr>
          <a:xfrm>
            <a:off x="8273491" y="4530120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+10M
(+3.0%)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95437" y="5952744"/>
            <a:ext cx="548640" cy="15326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Pricing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55050" y="4506529"/>
            <a:ext cx="373075" cy="330829"/>
          </a:xfrm>
          <a:prstGeom prst="rect">
            <a:avLst/>
          </a:prstGeom>
          <a:solidFill>
            <a:srgbClr val="1C65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85" name="TextBox 84"/>
          <p:cNvSpPr txBox="1"/>
          <p:nvPr/>
        </p:nvSpPr>
        <p:spPr>
          <a:xfrm>
            <a:off x="8745322" y="4199290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+9M
(+2.7%)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767267" y="5952744"/>
            <a:ext cx="548640" cy="26220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Promo /
Value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326880" y="4249216"/>
            <a:ext cx="373075" cy="257311"/>
          </a:xfrm>
          <a:prstGeom prst="rect">
            <a:avLst/>
          </a:prstGeom>
          <a:solidFill>
            <a:srgbClr val="1C65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88" name="TextBox 87"/>
          <p:cNvSpPr txBox="1"/>
          <p:nvPr/>
        </p:nvSpPr>
        <p:spPr>
          <a:xfrm>
            <a:off x="9217152" y="3941977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+7M
(+2.1%)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239098" y="5952744"/>
            <a:ext cx="548640" cy="15326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Media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798711" y="4028663"/>
            <a:ext cx="373075" cy="220553"/>
          </a:xfrm>
          <a:prstGeom prst="rect">
            <a:avLst/>
          </a:prstGeom>
          <a:solidFill>
            <a:srgbClr val="1C65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91" name="TextBox 90"/>
          <p:cNvSpPr txBox="1"/>
          <p:nvPr/>
        </p:nvSpPr>
        <p:spPr>
          <a:xfrm>
            <a:off x="9688983" y="3721425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+6M
(+1.8%)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710928" y="5952744"/>
            <a:ext cx="548640" cy="26220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LTO /
Innovation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270541" y="3918387"/>
            <a:ext cx="373075" cy="110276"/>
          </a:xfrm>
          <a:prstGeom prst="rect">
            <a:avLst/>
          </a:prstGeom>
          <a:solidFill>
            <a:srgbClr val="1C65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94" name="TextBox 93"/>
          <p:cNvSpPr txBox="1"/>
          <p:nvPr/>
        </p:nvSpPr>
        <p:spPr>
          <a:xfrm>
            <a:off x="10160813" y="3611148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+3M
(+0.9%)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182758" y="5952744"/>
            <a:ext cx="548640" cy="26220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Digital /
CRM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317382" y="2820010"/>
            <a:ext cx="2743200" cy="63642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C65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7782" rIns="87782" rtlCol="0" anchor="ctr"/>
          <a:lstStyle/>
          <a:p>
            <a:pPr algn="ctr"/>
            <a:r>
              <a:rPr sz="1392" b="1">
                <a:solidFill>
                  <a:srgbClr val="1C65D5"/>
                </a:solidFill>
                <a:latin typeface="Aptos"/>
              </a:rPr>
              <a:t>+35M commercial
movement
(+10.6%)</a:t>
            </a:r>
          </a:p>
          <a:p>
            <a:pPr algn="ctr">
              <a:spcBef>
                <a:spcPts val="120"/>
              </a:spcBef>
            </a:pPr>
            <a:r>
              <a:rPr sz="864">
                <a:solidFill>
                  <a:srgbClr val="4D5054"/>
                </a:solidFill>
                <a:latin typeface="Aptos"/>
              </a:rPr>
              <a:t>(Pricing, promo, media, LTO, digital)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9678010" y="3467405"/>
            <a:ext cx="0" cy="921715"/>
          </a:xfrm>
          <a:prstGeom prst="line">
            <a:avLst/>
          </a:prstGeom>
          <a:ln w="13335">
            <a:solidFill>
              <a:srgbClr val="1C65D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11038637" y="3918387"/>
            <a:ext cx="373075" cy="147035"/>
          </a:xfrm>
          <a:prstGeom prst="rect">
            <a:avLst/>
          </a:prstGeom>
          <a:solidFill>
            <a:srgbClr val="909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99" name="TextBox 98"/>
          <p:cNvSpPr txBox="1"/>
          <p:nvPr/>
        </p:nvSpPr>
        <p:spPr>
          <a:xfrm>
            <a:off x="10928909" y="3611148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-4M
(-1.2%)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950854" y="5952744"/>
            <a:ext cx="548640" cy="26220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Gap /
Residual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1982298" y="4065422"/>
            <a:ext cx="373075" cy="1837944"/>
          </a:xfrm>
          <a:prstGeom prst="rect">
            <a:avLst/>
          </a:prstGeom>
          <a:solidFill>
            <a:srgbClr val="081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102" name="TextBox 101"/>
          <p:cNvSpPr txBox="1"/>
          <p:nvPr/>
        </p:nvSpPr>
        <p:spPr>
          <a:xfrm>
            <a:off x="11850624" y="3736239"/>
            <a:ext cx="636422" cy="350815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996" b="1">
                <a:solidFill>
                  <a:srgbClr val="000000"/>
                </a:solidFill>
                <a:latin typeface="Aptos"/>
              </a:rPr>
              <a:t>350M
(106.1%)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872570" y="5952745"/>
            <a:ext cx="592531" cy="288105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92" b="1">
                <a:solidFill>
                  <a:srgbClr val="000000"/>
                </a:solidFill>
                <a:latin typeface="Aptos"/>
              </a:rPr>
              <a:t>2025
Actual GC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11411712" y="4065422"/>
            <a:ext cx="570586" cy="0"/>
          </a:xfrm>
          <a:prstGeom prst="line">
            <a:avLst/>
          </a:prstGeom>
          <a:ln w="10795">
            <a:solidFill>
              <a:srgbClr val="4D505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19456" y="5903366"/>
            <a:ext cx="12322454" cy="0"/>
          </a:xfrm>
          <a:prstGeom prst="line">
            <a:avLst/>
          </a:prstGeom>
          <a:ln w="9525">
            <a:solidFill>
              <a:srgbClr val="4D5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12563856" y="1887322"/>
            <a:ext cx="1645920" cy="4663440"/>
          </a:xfrm>
          <a:prstGeom prst="round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107" name="TextBox 106"/>
          <p:cNvSpPr txBox="1"/>
          <p:nvPr/>
        </p:nvSpPr>
        <p:spPr>
          <a:xfrm>
            <a:off x="12739421" y="2139696"/>
            <a:ext cx="1272845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081B49"/>
                </a:solidFill>
                <a:latin typeface="Aptos"/>
              </a:rPr>
              <a:t>KEY
TAKEAWAYS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12673584" y="2545690"/>
            <a:ext cx="1349654" cy="0"/>
          </a:xfrm>
          <a:prstGeom prst="line">
            <a:avLst/>
          </a:prstGeom>
          <a:ln w="12700">
            <a:solidFill>
              <a:srgbClr val="081B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12706502" y="2798064"/>
            <a:ext cx="219456" cy="2954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920" b="1">
                <a:solidFill>
                  <a:srgbClr val="148943"/>
                </a:solidFill>
                <a:latin typeface="Aptos"/>
              </a:rP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035686" y="2830982"/>
            <a:ext cx="954634" cy="4537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3" b="1">
                <a:solidFill>
                  <a:srgbClr val="148943"/>
                </a:solidFill>
                <a:latin typeface="Aptos"/>
              </a:rPr>
              <a:t>Foundation
protects the base.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3035686" y="3258922"/>
            <a:ext cx="987552" cy="2510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16">
                <a:solidFill>
                  <a:srgbClr val="4D5054"/>
                </a:solidFill>
                <a:latin typeface="Aptos"/>
              </a:rPr>
              <a:t>Adds +23M (+7.0%)
and prevents erosion.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12673584" y="3950207"/>
            <a:ext cx="1349654" cy="0"/>
          </a:xfrm>
          <a:prstGeom prst="line">
            <a:avLst/>
          </a:prstGeom>
          <a:ln w="889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/>
          <p:cNvSpPr txBox="1"/>
          <p:nvPr/>
        </p:nvSpPr>
        <p:spPr>
          <a:xfrm>
            <a:off x="12706502" y="4037989"/>
            <a:ext cx="219456" cy="2954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920" b="1">
                <a:solidFill>
                  <a:srgbClr val="1C65D5"/>
                </a:solidFill>
                <a:latin typeface="Aptos"/>
              </a:rP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3035686" y="4070908"/>
            <a:ext cx="954634" cy="4537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3" b="1">
                <a:solidFill>
                  <a:srgbClr val="1C65D5"/>
                </a:solidFill>
                <a:latin typeface="Aptos"/>
              </a:rPr>
              <a:t>Commercial actions
move growth.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3035686" y="4498847"/>
            <a:ext cx="987552" cy="3766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16">
                <a:solidFill>
                  <a:srgbClr val="4D5054"/>
                </a:solidFill>
                <a:latin typeface="Aptos"/>
              </a:rPr>
              <a:t>Delivers +35M
(+10.6%) above the
protected base.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2673584" y="5190134"/>
            <a:ext cx="1349654" cy="0"/>
          </a:xfrm>
          <a:prstGeom prst="line">
            <a:avLst/>
          </a:prstGeom>
          <a:ln w="889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12706502" y="5277917"/>
            <a:ext cx="219456" cy="2954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920" b="1">
                <a:solidFill>
                  <a:srgbClr val="4D5054"/>
                </a:solidFill>
                <a:latin typeface="Aptos"/>
              </a:rPr>
              <a:t>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3035686" y="5310836"/>
            <a:ext cx="954634" cy="302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3" b="1">
                <a:solidFill>
                  <a:srgbClr val="4D5054"/>
                </a:solidFill>
                <a:latin typeface="Aptos"/>
              </a:rPr>
              <a:t>Data gaps
remain visible.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3035686" y="5738775"/>
            <a:ext cx="987552" cy="5021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16">
                <a:solidFill>
                  <a:srgbClr val="4D5054"/>
                </a:solidFill>
                <a:latin typeface="Aptos"/>
              </a:rPr>
              <a:t>-4M (-1.2%) remains
unmeasured; close with
better data capture.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887322" y="7132320"/>
            <a:ext cx="2249423" cy="68031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121" name="TextBox 120"/>
          <p:cNvSpPr txBox="1"/>
          <p:nvPr/>
        </p:nvSpPr>
        <p:spPr>
          <a:xfrm>
            <a:off x="1920241" y="7231076"/>
            <a:ext cx="2183586" cy="1957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72" b="1">
                <a:solidFill>
                  <a:srgbClr val="148943"/>
                </a:solidFill>
                <a:latin typeface="Aptos"/>
              </a:rPr>
              <a:t>+23M (+7.0%)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920241" y="7472477"/>
            <a:ext cx="2183586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>
                <a:solidFill>
                  <a:srgbClr val="148943"/>
                </a:solidFill>
                <a:latin typeface="Aptos"/>
              </a:rPr>
              <a:t>Foundation / BAU
Protects base / improves BAU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136745" y="7132320"/>
            <a:ext cx="2249423" cy="68031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124" name="TextBox 123"/>
          <p:cNvSpPr txBox="1"/>
          <p:nvPr/>
        </p:nvSpPr>
        <p:spPr>
          <a:xfrm>
            <a:off x="4169663" y="7231076"/>
            <a:ext cx="2183586" cy="1957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72" b="1">
                <a:solidFill>
                  <a:srgbClr val="EC5C17"/>
                </a:solidFill>
                <a:latin typeface="Aptos"/>
              </a:rPr>
              <a:t>-14M (-4.2%)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169663" y="7472477"/>
            <a:ext cx="2183586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>
                <a:solidFill>
                  <a:srgbClr val="EC5C17"/>
                </a:solidFill>
                <a:latin typeface="Aptos"/>
              </a:rPr>
              <a:t>External Context
Headwinds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386168" y="7132320"/>
            <a:ext cx="2468880" cy="68031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127" name="TextBox 126"/>
          <p:cNvSpPr txBox="1"/>
          <p:nvPr/>
        </p:nvSpPr>
        <p:spPr>
          <a:xfrm>
            <a:off x="6419088" y="7231076"/>
            <a:ext cx="2403043" cy="1957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72" b="1">
                <a:solidFill>
                  <a:srgbClr val="1C65D5"/>
                </a:solidFill>
                <a:latin typeface="Aptos"/>
              </a:rPr>
              <a:t>+35M (+10.6%)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419088" y="7472477"/>
            <a:ext cx="2403043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>
                <a:solidFill>
                  <a:srgbClr val="1C65D5"/>
                </a:solidFill>
                <a:latin typeface="Aptos"/>
              </a:rPr>
              <a:t>Commercial Actions
Drive Growth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8855050" y="7132320"/>
            <a:ext cx="1898294" cy="68031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130" name="TextBox 129"/>
          <p:cNvSpPr txBox="1"/>
          <p:nvPr/>
        </p:nvSpPr>
        <p:spPr>
          <a:xfrm>
            <a:off x="8887968" y="7231076"/>
            <a:ext cx="1832458" cy="1957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72" b="1">
                <a:solidFill>
                  <a:srgbClr val="4D5054"/>
                </a:solidFill>
                <a:latin typeface="Aptos"/>
              </a:rPr>
              <a:t>-4M (-1.2%)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887968" y="7472477"/>
            <a:ext cx="183245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>
                <a:solidFill>
                  <a:srgbClr val="4D5054"/>
                </a:solidFill>
                <a:latin typeface="Aptos"/>
              </a:rPr>
              <a:t>Gap / Residual
Unmeasured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10753344" y="7132320"/>
            <a:ext cx="1975104" cy="680314"/>
          </a:xfrm>
          <a:prstGeom prst="roundRect">
            <a:avLst/>
          </a:prstGeom>
          <a:solidFill>
            <a:srgbClr val="081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133" name="TextBox 132"/>
          <p:cNvSpPr txBox="1"/>
          <p:nvPr/>
        </p:nvSpPr>
        <p:spPr>
          <a:xfrm>
            <a:off x="10786263" y="7231076"/>
            <a:ext cx="1909267" cy="1957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72" b="1">
                <a:solidFill>
                  <a:srgbClr val="FFFFFF"/>
                </a:solidFill>
                <a:latin typeface="Aptos"/>
              </a:rPr>
              <a:t>+20M (+6.1%)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786263" y="7472477"/>
            <a:ext cx="190926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Aptos"/>
              </a:rPr>
              <a:t>Net Change
vs. 2024 Actual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4320" y="7878471"/>
            <a:ext cx="8339328" cy="1643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780">
                <a:solidFill>
                  <a:srgbClr val="4D5054"/>
                </a:solidFill>
                <a:latin typeface="Aptos"/>
              </a:rPr>
              <a:t>Note: Percentages shown vs. 2024 Actual GC (330M). Numbers may not sum due to rounding.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874</Words>
  <Application>Microsoft Office PowerPoint</Application>
  <PresentationFormat>Custom</PresentationFormat>
  <Paragraphs>168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Cheng Qian</cp:lastModifiedBy>
  <cp:revision>2</cp:revision>
  <dcterms:created xsi:type="dcterms:W3CDTF">2013-01-27T09:14:16Z</dcterms:created>
  <dcterms:modified xsi:type="dcterms:W3CDTF">2026-08-07T04:11:25Z</dcterms:modified>
  <cp:category/>
</cp:coreProperties>
</file>