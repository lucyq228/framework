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4" r:id="rId9"/>
    <p:sldId id="265" r:id="rId10"/>
    <p:sldId id="266" r:id="rId11"/>
    <p:sldId id="267" r:id="rId12"/>
    <p:sldId id="261" r:id="rId13"/>
  </p:sldIdLst>
  <p:sldSz cx="14630400" cy="82296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8" d="100"/>
          <a:sy n="88" d="100"/>
        </p:scale>
        <p:origin x="762" y="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C308505-95DB-4EC1-A208-44E63DDCA883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45479A9-D7F9-4F02-96EF-4AC8725F53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18920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78354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6032" y="164592"/>
            <a:ext cx="8503920" cy="347472"/>
          </a:xfrm>
          <a:prstGeom prst="rect">
            <a:avLst/>
          </a:prstGeom>
          <a:noFill/>
          <a:ln>
            <a:noFill/>
          </a:ln>
        </p:spPr>
        <p:txBody>
          <a:bodyPr wrap="none" lIns="27432" tIns="18288" rIns="27432" bIns="18288" anchor="ctr">
            <a:normAutofit lnSpcReduction="10000"/>
          </a:bodyPr>
          <a:lstStyle/>
          <a:p>
            <a:pPr algn="l"/>
            <a:r>
              <a:rPr sz="2200" b="1" i="0">
                <a:solidFill>
                  <a:srgbClr val="0A1C36"/>
                </a:solidFill>
                <a:latin typeface="Calibri"/>
              </a:rPr>
              <a:t>GC Decomposition – Protected Base + Growth Movement Waterfall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530352"/>
            <a:ext cx="10698480" cy="219456"/>
          </a:xfrm>
          <a:prstGeom prst="rect">
            <a:avLst/>
          </a:prstGeom>
          <a:noFill/>
          <a:ln>
            <a:noFill/>
          </a:ln>
        </p:spPr>
        <p:txBody>
          <a:bodyPr wrap="none" lIns="27432" tIns="18288" rIns="27432" bIns="18288" anchor="ctr">
            <a:normAutofit/>
          </a:bodyPr>
          <a:lstStyle/>
          <a:p>
            <a:pPr algn="l"/>
            <a:r>
              <a:rPr sz="880" b="0" i="0">
                <a:solidFill>
                  <a:srgbClr val="5D636D"/>
                </a:solidFill>
                <a:latin typeface="Calibri"/>
              </a:rPr>
              <a:t>Counterfactual weak foundation base → protected BAU base → actual foundation movement → external context → commercial actions → gap / residual → actual outcome</a:t>
            </a:r>
          </a:p>
        </p:txBody>
      </p:sp>
      <p:sp>
        <p:nvSpPr>
          <p:cNvPr id="4" name="Rectangle 3"/>
          <p:cNvSpPr/>
          <p:nvPr/>
        </p:nvSpPr>
        <p:spPr>
          <a:xfrm>
            <a:off x="10561320" y="182880"/>
            <a:ext cx="109728" cy="109728"/>
          </a:xfrm>
          <a:prstGeom prst="rect">
            <a:avLst/>
          </a:prstGeom>
          <a:solidFill>
            <a:srgbClr val="228B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707624" y="155448"/>
            <a:ext cx="1143000" cy="182880"/>
          </a:xfrm>
          <a:prstGeom prst="rect">
            <a:avLst/>
          </a:prstGeom>
          <a:noFill/>
          <a:ln>
            <a:noFill/>
          </a:ln>
        </p:spPr>
        <p:txBody>
          <a:bodyPr wrap="none" lIns="27432" tIns="18288" rIns="27432" bIns="18288" anchor="ctr">
            <a:normAutofit/>
          </a:bodyPr>
          <a:lstStyle/>
          <a:p>
            <a:pPr algn="l"/>
            <a:r>
              <a:rPr sz="580" b="0" i="0">
                <a:solidFill>
                  <a:srgbClr val="1F2937"/>
                </a:solidFill>
                <a:latin typeface="Calibri"/>
              </a:rPr>
              <a:t>Foundation / BAU</a:t>
            </a:r>
          </a:p>
        </p:txBody>
      </p:sp>
      <p:sp>
        <p:nvSpPr>
          <p:cNvPr id="6" name="Rectangle 5"/>
          <p:cNvSpPr/>
          <p:nvPr/>
        </p:nvSpPr>
        <p:spPr>
          <a:xfrm>
            <a:off x="11932920" y="182880"/>
            <a:ext cx="109728" cy="109728"/>
          </a:xfrm>
          <a:prstGeom prst="rect">
            <a:avLst/>
          </a:prstGeom>
          <a:solidFill>
            <a:srgbClr val="0089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2079224" y="155448"/>
            <a:ext cx="1143000" cy="182880"/>
          </a:xfrm>
          <a:prstGeom prst="rect">
            <a:avLst/>
          </a:prstGeom>
          <a:noFill/>
          <a:ln>
            <a:noFill/>
          </a:ln>
        </p:spPr>
        <p:txBody>
          <a:bodyPr wrap="none" lIns="27432" tIns="18288" rIns="27432" bIns="18288" anchor="ctr">
            <a:normAutofit/>
          </a:bodyPr>
          <a:lstStyle/>
          <a:p>
            <a:pPr algn="l"/>
            <a:r>
              <a:rPr sz="580" b="0" i="0">
                <a:solidFill>
                  <a:srgbClr val="1F2937"/>
                </a:solidFill>
                <a:latin typeface="Calibri"/>
              </a:rPr>
              <a:t>Foundation Movement</a:t>
            </a:r>
          </a:p>
        </p:txBody>
      </p:sp>
      <p:sp>
        <p:nvSpPr>
          <p:cNvPr id="8" name="Rectangle 7"/>
          <p:cNvSpPr/>
          <p:nvPr/>
        </p:nvSpPr>
        <p:spPr>
          <a:xfrm>
            <a:off x="13304520" y="182880"/>
            <a:ext cx="109728" cy="109728"/>
          </a:xfrm>
          <a:prstGeom prst="rect">
            <a:avLst/>
          </a:prstGeom>
          <a:solidFill>
            <a:srgbClr val="F169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3450824" y="155448"/>
            <a:ext cx="1143000" cy="182880"/>
          </a:xfrm>
          <a:prstGeom prst="rect">
            <a:avLst/>
          </a:prstGeom>
          <a:noFill/>
          <a:ln>
            <a:noFill/>
          </a:ln>
        </p:spPr>
        <p:txBody>
          <a:bodyPr wrap="none" lIns="27432" tIns="18288" rIns="27432" bIns="18288" anchor="ctr">
            <a:normAutofit/>
          </a:bodyPr>
          <a:lstStyle/>
          <a:p>
            <a:pPr algn="l"/>
            <a:r>
              <a:rPr sz="580" b="0" i="0">
                <a:solidFill>
                  <a:srgbClr val="1F2937"/>
                </a:solidFill>
                <a:latin typeface="Calibri"/>
              </a:rPr>
              <a:t>External Context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561320" y="420624"/>
            <a:ext cx="109728" cy="109728"/>
          </a:xfrm>
          <a:prstGeom prst="rect">
            <a:avLst/>
          </a:prstGeom>
          <a:solidFill>
            <a:srgbClr val="276A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707624" y="393192"/>
            <a:ext cx="1143000" cy="182880"/>
          </a:xfrm>
          <a:prstGeom prst="rect">
            <a:avLst/>
          </a:prstGeom>
          <a:noFill/>
          <a:ln>
            <a:noFill/>
          </a:ln>
        </p:spPr>
        <p:txBody>
          <a:bodyPr wrap="none" lIns="27432" tIns="18288" rIns="27432" bIns="18288" anchor="ctr">
            <a:normAutofit/>
          </a:bodyPr>
          <a:lstStyle/>
          <a:p>
            <a:pPr algn="l"/>
            <a:r>
              <a:rPr sz="580" b="0" i="0">
                <a:solidFill>
                  <a:srgbClr val="1F2937"/>
                </a:solidFill>
                <a:latin typeface="Calibri"/>
              </a:rPr>
              <a:t>Commercial Actions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932920" y="420624"/>
            <a:ext cx="109728" cy="109728"/>
          </a:xfrm>
          <a:prstGeom prst="rect">
            <a:avLst/>
          </a:prstGeom>
          <a:solidFill>
            <a:srgbClr val="744D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2079224" y="393192"/>
            <a:ext cx="1143000" cy="182880"/>
          </a:xfrm>
          <a:prstGeom prst="rect">
            <a:avLst/>
          </a:prstGeom>
          <a:noFill/>
          <a:ln>
            <a:noFill/>
          </a:ln>
        </p:spPr>
        <p:txBody>
          <a:bodyPr wrap="none" lIns="27432" tIns="18288" rIns="27432" bIns="18288" anchor="ctr">
            <a:normAutofit/>
          </a:bodyPr>
          <a:lstStyle/>
          <a:p>
            <a:pPr algn="l"/>
            <a:r>
              <a:rPr sz="580" b="0" i="0">
                <a:solidFill>
                  <a:srgbClr val="1F2937"/>
                </a:solidFill>
                <a:latin typeface="Calibri"/>
              </a:rPr>
              <a:t>Enablement / Bottleneck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3304520" y="420624"/>
            <a:ext cx="109728" cy="109728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3450824" y="393192"/>
            <a:ext cx="1143000" cy="182880"/>
          </a:xfrm>
          <a:prstGeom prst="rect">
            <a:avLst/>
          </a:prstGeom>
          <a:noFill/>
          <a:ln>
            <a:noFill/>
          </a:ln>
        </p:spPr>
        <p:txBody>
          <a:bodyPr wrap="none" lIns="27432" tIns="18288" rIns="27432" bIns="18288" anchor="ctr">
            <a:normAutofit/>
          </a:bodyPr>
          <a:lstStyle/>
          <a:p>
            <a:pPr algn="l"/>
            <a:r>
              <a:rPr sz="580" b="0" i="0">
                <a:solidFill>
                  <a:srgbClr val="1F2937"/>
                </a:solidFill>
                <a:latin typeface="Calibri"/>
              </a:rPr>
              <a:t>Gap / Residual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960120"/>
            <a:ext cx="1051560" cy="256032"/>
          </a:xfrm>
          <a:prstGeom prst="rect">
            <a:avLst/>
          </a:prstGeom>
          <a:noFill/>
          <a:ln>
            <a:noFill/>
          </a:ln>
        </p:spPr>
        <p:txBody>
          <a:bodyPr wrap="none" lIns="27432" tIns="18288" rIns="27432" bIns="18288" anchor="ctr">
            <a:normAutofit fontScale="92500" lnSpcReduction="10000"/>
          </a:bodyPr>
          <a:lstStyle/>
          <a:p>
            <a:pPr algn="ctr"/>
            <a:r>
              <a:rPr sz="850" b="1" i="0">
                <a:solidFill>
                  <a:srgbClr val="666666"/>
                </a:solidFill>
                <a:latin typeface="Calibri"/>
              </a:rPr>
              <a:t>1. Counterfactual</a:t>
            </a:r>
            <a:br/>
            <a:r>
              <a:rPr sz="850" b="1" i="0">
                <a:solidFill>
                  <a:srgbClr val="666666"/>
                </a:solidFill>
                <a:latin typeface="Calibri"/>
              </a:rPr>
              <a:t>Weak Foundation Base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960120" y="1261872"/>
            <a:ext cx="1051560" cy="0"/>
          </a:xfrm>
          <a:prstGeom prst="line">
            <a:avLst/>
          </a:prstGeom>
          <a:ln w="15240">
            <a:solidFill>
              <a:srgbClr val="6666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1965960" y="960120"/>
            <a:ext cx="2606040" cy="256032"/>
          </a:xfrm>
          <a:prstGeom prst="rect">
            <a:avLst/>
          </a:prstGeom>
          <a:noFill/>
          <a:ln>
            <a:noFill/>
          </a:ln>
        </p:spPr>
        <p:txBody>
          <a:bodyPr wrap="none" lIns="27432" tIns="18288" rIns="27432" bIns="18288" anchor="ctr">
            <a:normAutofit/>
          </a:bodyPr>
          <a:lstStyle/>
          <a:p>
            <a:pPr algn="ctr"/>
            <a:r>
              <a:rPr sz="850" b="1" i="0">
                <a:solidFill>
                  <a:srgbClr val="228B37"/>
                </a:solidFill>
                <a:latin typeface="Calibri"/>
              </a:rPr>
              <a:t>2. Foundation Protection / BAU Base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965960" y="1261872"/>
            <a:ext cx="2606040" cy="0"/>
          </a:xfrm>
          <a:prstGeom prst="line">
            <a:avLst/>
          </a:prstGeom>
          <a:ln w="15240">
            <a:solidFill>
              <a:srgbClr val="228B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4800600" y="960120"/>
            <a:ext cx="2697480" cy="256032"/>
          </a:xfrm>
          <a:prstGeom prst="rect">
            <a:avLst/>
          </a:prstGeom>
          <a:noFill/>
          <a:ln>
            <a:noFill/>
          </a:ln>
        </p:spPr>
        <p:txBody>
          <a:bodyPr wrap="none" lIns="27432" tIns="18288" rIns="27432" bIns="18288" anchor="ctr">
            <a:normAutofit fontScale="92500" lnSpcReduction="10000"/>
          </a:bodyPr>
          <a:lstStyle/>
          <a:p>
            <a:pPr algn="ctr"/>
            <a:r>
              <a:rPr sz="850" b="1" i="0">
                <a:solidFill>
                  <a:srgbClr val="008997"/>
                </a:solidFill>
                <a:latin typeface="Calibri"/>
              </a:rPr>
              <a:t>3. Foundation Movement</a:t>
            </a:r>
            <a:br/>
            <a:r>
              <a:rPr sz="850" b="1" i="0">
                <a:solidFill>
                  <a:srgbClr val="008997"/>
                </a:solidFill>
                <a:latin typeface="Calibri"/>
              </a:rPr>
              <a:t>vs BAU / LY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800600" y="1261872"/>
            <a:ext cx="2697479" cy="0"/>
          </a:xfrm>
          <a:prstGeom prst="line">
            <a:avLst/>
          </a:prstGeom>
          <a:ln w="15240">
            <a:solidFill>
              <a:srgbClr val="0089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7635240" y="960120"/>
            <a:ext cx="1691640" cy="256032"/>
          </a:xfrm>
          <a:prstGeom prst="rect">
            <a:avLst/>
          </a:prstGeom>
          <a:noFill/>
          <a:ln>
            <a:noFill/>
          </a:ln>
        </p:spPr>
        <p:txBody>
          <a:bodyPr wrap="none" lIns="27432" tIns="18288" rIns="27432" bIns="18288" anchor="ctr">
            <a:normAutofit/>
          </a:bodyPr>
          <a:lstStyle/>
          <a:p>
            <a:pPr algn="ctr"/>
            <a:r>
              <a:rPr sz="850" b="1" i="0">
                <a:solidFill>
                  <a:srgbClr val="F16924"/>
                </a:solidFill>
                <a:latin typeface="Calibri"/>
              </a:rPr>
              <a:t>4. External Context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635240" y="1261872"/>
            <a:ext cx="1691640" cy="0"/>
          </a:xfrm>
          <a:prstGeom prst="line">
            <a:avLst/>
          </a:prstGeom>
          <a:ln w="15240">
            <a:solidFill>
              <a:srgbClr val="F169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9646920" y="960120"/>
            <a:ext cx="1965960" cy="256032"/>
          </a:xfrm>
          <a:prstGeom prst="rect">
            <a:avLst/>
          </a:prstGeom>
          <a:noFill/>
          <a:ln>
            <a:noFill/>
          </a:ln>
        </p:spPr>
        <p:txBody>
          <a:bodyPr wrap="none" lIns="27432" tIns="18288" rIns="27432" bIns="18288" anchor="ctr">
            <a:normAutofit fontScale="92500" lnSpcReduction="10000"/>
          </a:bodyPr>
          <a:lstStyle/>
          <a:p>
            <a:pPr algn="ctr"/>
            <a:r>
              <a:rPr sz="850" b="1" i="0">
                <a:solidFill>
                  <a:srgbClr val="276AD2"/>
                </a:solidFill>
                <a:latin typeface="Calibri"/>
              </a:rPr>
              <a:t>5. Commercial /</a:t>
            </a:r>
            <a:br/>
            <a:r>
              <a:rPr sz="850" b="1" i="0">
                <a:solidFill>
                  <a:srgbClr val="276AD2"/>
                </a:solidFill>
                <a:latin typeface="Calibri"/>
              </a:rPr>
              <a:t>Campaign Actions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646920" y="1261872"/>
            <a:ext cx="1965960" cy="0"/>
          </a:xfrm>
          <a:prstGeom prst="line">
            <a:avLst/>
          </a:prstGeom>
          <a:ln w="15240">
            <a:solidFill>
              <a:srgbClr val="276A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11932920" y="960120"/>
            <a:ext cx="1005840" cy="256032"/>
          </a:xfrm>
          <a:prstGeom prst="rect">
            <a:avLst/>
          </a:prstGeom>
          <a:noFill/>
          <a:ln>
            <a:noFill/>
          </a:ln>
        </p:spPr>
        <p:txBody>
          <a:bodyPr wrap="none" lIns="27432" tIns="18288" rIns="27432" bIns="18288" anchor="ctr">
            <a:normAutofit fontScale="92500" lnSpcReduction="10000"/>
          </a:bodyPr>
          <a:lstStyle/>
          <a:p>
            <a:pPr algn="ctr"/>
            <a:r>
              <a:rPr sz="850" b="1" i="0">
                <a:solidFill>
                  <a:srgbClr val="744DA6"/>
                </a:solidFill>
                <a:latin typeface="Calibri"/>
              </a:rPr>
              <a:t>6. Enablement /</a:t>
            </a:r>
            <a:br/>
            <a:r>
              <a:rPr sz="850" b="1" i="0">
                <a:solidFill>
                  <a:srgbClr val="744DA6"/>
                </a:solidFill>
                <a:latin typeface="Calibri"/>
              </a:rPr>
              <a:t>Bottleneck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11932920" y="1261872"/>
            <a:ext cx="1005840" cy="0"/>
          </a:xfrm>
          <a:prstGeom prst="line">
            <a:avLst/>
          </a:prstGeom>
          <a:ln w="15240">
            <a:solidFill>
              <a:srgbClr val="744D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13121640" y="960120"/>
            <a:ext cx="1097280" cy="256032"/>
          </a:xfrm>
          <a:prstGeom prst="rect">
            <a:avLst/>
          </a:prstGeom>
          <a:noFill/>
          <a:ln>
            <a:noFill/>
          </a:ln>
        </p:spPr>
        <p:txBody>
          <a:bodyPr wrap="none" lIns="27432" tIns="18288" rIns="27432" bIns="18288" anchor="ctr">
            <a:normAutofit/>
          </a:bodyPr>
          <a:lstStyle/>
          <a:p>
            <a:pPr algn="ctr"/>
            <a:r>
              <a:rPr sz="850" b="1" i="0">
                <a:solidFill>
                  <a:srgbClr val="666666"/>
                </a:solidFill>
                <a:latin typeface="Calibri"/>
              </a:rPr>
              <a:t>7. Gap / Residual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13121640" y="1261872"/>
            <a:ext cx="1097279" cy="0"/>
          </a:xfrm>
          <a:prstGeom prst="line">
            <a:avLst/>
          </a:prstGeom>
          <a:ln w="15240">
            <a:solidFill>
              <a:srgbClr val="6666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932688" y="868680"/>
            <a:ext cx="0" cy="5577840"/>
          </a:xfrm>
          <a:prstGeom prst="line">
            <a:avLst/>
          </a:prstGeom>
          <a:ln w="6985">
            <a:solidFill>
              <a:srgbClr val="D7D7D7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1901952" y="868680"/>
            <a:ext cx="0" cy="5577840"/>
          </a:xfrm>
          <a:prstGeom prst="line">
            <a:avLst/>
          </a:prstGeom>
          <a:ln w="6985">
            <a:solidFill>
              <a:srgbClr val="D7D7D7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4681728" y="868680"/>
            <a:ext cx="0" cy="5577840"/>
          </a:xfrm>
          <a:prstGeom prst="line">
            <a:avLst/>
          </a:prstGeom>
          <a:ln w="6985">
            <a:solidFill>
              <a:srgbClr val="D7D7D7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7571231" y="868680"/>
            <a:ext cx="0" cy="5577840"/>
          </a:xfrm>
          <a:prstGeom prst="line">
            <a:avLst/>
          </a:prstGeom>
          <a:ln w="6985">
            <a:solidFill>
              <a:srgbClr val="D7D7D7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9528048" y="868680"/>
            <a:ext cx="0" cy="5577840"/>
          </a:xfrm>
          <a:prstGeom prst="line">
            <a:avLst/>
          </a:prstGeom>
          <a:ln w="6985">
            <a:solidFill>
              <a:srgbClr val="D7D7D7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11832336" y="868680"/>
            <a:ext cx="0" cy="5577840"/>
          </a:xfrm>
          <a:prstGeom prst="line">
            <a:avLst/>
          </a:prstGeom>
          <a:ln w="6985">
            <a:solidFill>
              <a:srgbClr val="D7D7D7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13048488" y="868680"/>
            <a:ext cx="0" cy="5577840"/>
          </a:xfrm>
          <a:prstGeom prst="line">
            <a:avLst/>
          </a:prstGeom>
          <a:ln w="6985">
            <a:solidFill>
              <a:srgbClr val="D7D7D7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14154912" y="868680"/>
            <a:ext cx="0" cy="5577840"/>
          </a:xfrm>
          <a:prstGeom prst="line">
            <a:avLst/>
          </a:prstGeom>
          <a:ln w="6985">
            <a:solidFill>
              <a:srgbClr val="D7D7D7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228600" y="6172200"/>
            <a:ext cx="14173200" cy="0"/>
          </a:xfrm>
          <a:prstGeom prst="line">
            <a:avLst/>
          </a:prstGeom>
          <a:ln w="8890">
            <a:solidFill>
              <a:srgbClr val="DCDC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182880" y="1536192"/>
            <a:ext cx="594360" cy="320040"/>
          </a:xfrm>
          <a:prstGeom prst="rect">
            <a:avLst/>
          </a:prstGeom>
          <a:noFill/>
          <a:ln>
            <a:noFill/>
          </a:ln>
        </p:spPr>
        <p:txBody>
          <a:bodyPr wrap="none" lIns="27432" tIns="18288" rIns="27432" bIns="18288" anchor="ctr">
            <a:normAutofit/>
          </a:bodyPr>
          <a:lstStyle/>
          <a:p>
            <a:pPr algn="l"/>
            <a:r>
              <a:rPr sz="620" b="0" i="0">
                <a:solidFill>
                  <a:srgbClr val="5D636D"/>
                </a:solidFill>
                <a:latin typeface="Calibri"/>
              </a:rPr>
              <a:t>GC</a:t>
            </a:r>
            <a:br/>
            <a:r>
              <a:rPr sz="620" b="0" i="0">
                <a:solidFill>
                  <a:srgbClr val="5D636D"/>
                </a:solidFill>
                <a:latin typeface="Calibri"/>
              </a:rPr>
              <a:t>(Millions)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20040" y="3977639"/>
            <a:ext cx="402336" cy="2194560"/>
          </a:xfrm>
          <a:prstGeom prst="rect">
            <a:avLst/>
          </a:prstGeom>
          <a:solidFill>
            <a:srgbClr val="0A1C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256031" y="3749039"/>
            <a:ext cx="530352" cy="182880"/>
          </a:xfrm>
          <a:prstGeom prst="rect">
            <a:avLst/>
          </a:prstGeom>
          <a:noFill/>
          <a:ln>
            <a:noFill/>
          </a:ln>
        </p:spPr>
        <p:txBody>
          <a:bodyPr wrap="none" lIns="27432" tIns="18288" rIns="27432" bIns="18288" anchor="ctr">
            <a:normAutofit/>
          </a:bodyPr>
          <a:lstStyle/>
          <a:p>
            <a:pPr algn="ctr"/>
            <a:r>
              <a:rPr sz="800" b="1" i="0">
                <a:solidFill>
                  <a:srgbClr val="1F2937"/>
                </a:solidFill>
                <a:latin typeface="Calibri"/>
              </a:rPr>
              <a:t>330M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10311" y="6263640"/>
            <a:ext cx="621792" cy="365760"/>
          </a:xfrm>
          <a:prstGeom prst="rect">
            <a:avLst/>
          </a:prstGeom>
          <a:noFill/>
          <a:ln>
            <a:noFill/>
          </a:ln>
        </p:spPr>
        <p:txBody>
          <a:bodyPr wrap="none" lIns="27432" tIns="18288" rIns="27432" bIns="18288" anchor="ctr">
            <a:normAutofit/>
          </a:bodyPr>
          <a:lstStyle/>
          <a:p>
            <a:pPr algn="ctr"/>
            <a:r>
              <a:rPr sz="550" b="1" i="0">
                <a:solidFill>
                  <a:srgbClr val="1F2937"/>
                </a:solidFill>
                <a:latin typeface="Calibri"/>
              </a:rPr>
              <a:t>2024 Actual GC</a:t>
            </a:r>
            <a:br/>
            <a:r>
              <a:rPr sz="550" b="1" i="0">
                <a:solidFill>
                  <a:srgbClr val="1F2937"/>
                </a:solidFill>
                <a:latin typeface="Calibri"/>
              </a:rPr>
              <a:t>(reference)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722376" y="3977639"/>
            <a:ext cx="301752" cy="1254035"/>
          </a:xfrm>
          <a:prstGeom prst="line">
            <a:avLst/>
          </a:prstGeom>
          <a:ln w="8255">
            <a:solidFill>
              <a:srgbClr val="B9B9B9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228600" y="7040880"/>
            <a:ext cx="731520" cy="164592"/>
          </a:xfrm>
          <a:prstGeom prst="rect">
            <a:avLst/>
          </a:prstGeom>
          <a:noFill/>
          <a:ln>
            <a:noFill/>
          </a:ln>
        </p:spPr>
        <p:txBody>
          <a:bodyPr wrap="none" lIns="27432" tIns="18288" rIns="27432" bIns="18288" anchor="ctr">
            <a:normAutofit/>
          </a:bodyPr>
          <a:lstStyle/>
          <a:p>
            <a:pPr algn="ctr"/>
            <a:r>
              <a:rPr sz="459" b="0" i="0">
                <a:solidFill>
                  <a:srgbClr val="5D636D"/>
                </a:solidFill>
                <a:latin typeface="Calibri"/>
              </a:rPr>
              <a:t>Reference only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115568" y="5231674"/>
            <a:ext cx="384048" cy="940525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1051560" y="5003074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none" lIns="27432" tIns="18288" rIns="27432" bIns="18288" anchor="ctr">
            <a:normAutofit/>
          </a:bodyPr>
          <a:lstStyle/>
          <a:p>
            <a:pPr algn="ctr"/>
            <a:r>
              <a:rPr sz="800" b="1" i="0">
                <a:solidFill>
                  <a:srgbClr val="1F2937"/>
                </a:solidFill>
                <a:latin typeface="Calibri"/>
              </a:rPr>
              <a:t>310M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05840" y="6263640"/>
            <a:ext cx="603503" cy="365760"/>
          </a:xfrm>
          <a:prstGeom prst="rect">
            <a:avLst/>
          </a:prstGeom>
          <a:noFill/>
          <a:ln>
            <a:noFill/>
          </a:ln>
        </p:spPr>
        <p:txBody>
          <a:bodyPr wrap="none" lIns="27432" tIns="18288" rIns="27432" bIns="18288" anchor="ctr">
            <a:normAutofit/>
          </a:bodyPr>
          <a:lstStyle/>
          <a:p>
            <a:pPr algn="ctr"/>
            <a:r>
              <a:rPr sz="530" b="1" i="0">
                <a:solidFill>
                  <a:srgbClr val="1F2937"/>
                </a:solidFill>
                <a:latin typeface="Calibri"/>
              </a:rPr>
              <a:t>Weak</a:t>
            </a:r>
            <a:br/>
            <a:r>
              <a:rPr sz="530" b="1" i="0">
                <a:solidFill>
                  <a:srgbClr val="1F2937"/>
                </a:solidFill>
                <a:latin typeface="Calibri"/>
              </a:rPr>
              <a:t>Foundation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50976" y="6675120"/>
            <a:ext cx="713232" cy="292608"/>
          </a:xfrm>
          <a:prstGeom prst="rect">
            <a:avLst/>
          </a:prstGeom>
          <a:noFill/>
          <a:ln>
            <a:noFill/>
          </a:ln>
        </p:spPr>
        <p:txBody>
          <a:bodyPr wrap="none" lIns="27432" tIns="18288" rIns="27432" bIns="18288" anchor="ctr">
            <a:normAutofit/>
          </a:bodyPr>
          <a:lstStyle/>
          <a:p>
            <a:pPr algn="ctr"/>
            <a:r>
              <a:rPr sz="450" b="0" i="0">
                <a:solidFill>
                  <a:srgbClr val="5D636D"/>
                </a:solidFill>
                <a:latin typeface="Calibri"/>
              </a:rPr>
              <a:t>Counterfactual</a:t>
            </a:r>
            <a:br/>
            <a:r>
              <a:rPr sz="450" b="0" i="0">
                <a:solidFill>
                  <a:srgbClr val="5D636D"/>
                </a:solidFill>
                <a:latin typeface="Calibri"/>
              </a:rPr>
              <a:t>scenario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1499616" y="5231674"/>
            <a:ext cx="420624" cy="0"/>
          </a:xfrm>
          <a:prstGeom prst="line">
            <a:avLst/>
          </a:prstGeom>
          <a:ln w="8255">
            <a:solidFill>
              <a:srgbClr val="66666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Rectangle 49"/>
          <p:cNvSpPr/>
          <p:nvPr/>
        </p:nvSpPr>
        <p:spPr>
          <a:xfrm>
            <a:off x="1920240" y="4730060"/>
            <a:ext cx="310896" cy="501613"/>
          </a:xfrm>
          <a:prstGeom prst="rect">
            <a:avLst/>
          </a:prstGeom>
          <a:solidFill>
            <a:srgbClr val="228B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1847088" y="4528892"/>
            <a:ext cx="457200" cy="155448"/>
          </a:xfrm>
          <a:prstGeom prst="rect">
            <a:avLst/>
          </a:prstGeom>
          <a:noFill/>
          <a:ln>
            <a:noFill/>
          </a:ln>
        </p:spPr>
        <p:txBody>
          <a:bodyPr wrap="none" lIns="27432" tIns="18288" rIns="27432" bIns="18288" anchor="ctr">
            <a:normAutofit/>
          </a:bodyPr>
          <a:lstStyle/>
          <a:p>
            <a:pPr algn="ctr"/>
            <a:r>
              <a:rPr sz="580" b="1" i="0">
                <a:solidFill>
                  <a:srgbClr val="1F2937"/>
                </a:solidFill>
                <a:latin typeface="Calibri"/>
              </a:rPr>
              <a:t>+8M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810512" y="6263640"/>
            <a:ext cx="530352" cy="402336"/>
          </a:xfrm>
          <a:prstGeom prst="rect">
            <a:avLst/>
          </a:prstGeom>
          <a:noFill/>
          <a:ln>
            <a:noFill/>
          </a:ln>
        </p:spPr>
        <p:txBody>
          <a:bodyPr wrap="none" lIns="27432" tIns="18288" rIns="27432" bIns="18288" anchor="ctr">
            <a:normAutofit/>
          </a:bodyPr>
          <a:lstStyle/>
          <a:p>
            <a:pPr algn="ctr"/>
            <a:r>
              <a:rPr sz="480" b="0" i="0">
                <a:solidFill>
                  <a:srgbClr val="1F2937"/>
                </a:solidFill>
                <a:latin typeface="Calibri"/>
              </a:rPr>
              <a:t>Speed /</a:t>
            </a:r>
            <a:br/>
            <a:r>
              <a:rPr sz="480" b="0" i="0">
                <a:solidFill>
                  <a:srgbClr val="1F2937"/>
                </a:solidFill>
                <a:latin typeface="Calibri"/>
              </a:rPr>
              <a:t>Ops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2231136" y="4730060"/>
            <a:ext cx="128016" cy="0"/>
          </a:xfrm>
          <a:prstGeom prst="line">
            <a:avLst/>
          </a:prstGeom>
          <a:ln w="8255">
            <a:solidFill>
              <a:srgbClr val="66666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Rectangle 53"/>
          <p:cNvSpPr/>
          <p:nvPr/>
        </p:nvSpPr>
        <p:spPr>
          <a:xfrm>
            <a:off x="2359152" y="4353850"/>
            <a:ext cx="310896" cy="376210"/>
          </a:xfrm>
          <a:prstGeom prst="rect">
            <a:avLst/>
          </a:prstGeom>
          <a:solidFill>
            <a:srgbClr val="228B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2286000" y="4152682"/>
            <a:ext cx="457200" cy="155448"/>
          </a:xfrm>
          <a:prstGeom prst="rect">
            <a:avLst/>
          </a:prstGeom>
          <a:noFill/>
          <a:ln>
            <a:noFill/>
          </a:ln>
        </p:spPr>
        <p:txBody>
          <a:bodyPr wrap="none" lIns="27432" tIns="18288" rIns="27432" bIns="18288" anchor="ctr">
            <a:normAutofit/>
          </a:bodyPr>
          <a:lstStyle/>
          <a:p>
            <a:pPr algn="ctr"/>
            <a:r>
              <a:rPr sz="580" b="1" i="0">
                <a:solidFill>
                  <a:srgbClr val="1F2937"/>
                </a:solidFill>
                <a:latin typeface="Calibri"/>
              </a:rPr>
              <a:t>+6M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249424" y="6263640"/>
            <a:ext cx="530352" cy="402336"/>
          </a:xfrm>
          <a:prstGeom prst="rect">
            <a:avLst/>
          </a:prstGeom>
          <a:noFill/>
          <a:ln>
            <a:noFill/>
          </a:ln>
        </p:spPr>
        <p:txBody>
          <a:bodyPr wrap="none" lIns="27432" tIns="18288" rIns="27432" bIns="18288" anchor="ctr">
            <a:normAutofit/>
          </a:bodyPr>
          <a:lstStyle/>
          <a:p>
            <a:pPr algn="ctr"/>
            <a:r>
              <a:rPr sz="480" b="0" i="0">
                <a:solidFill>
                  <a:srgbClr val="1F2937"/>
                </a:solidFill>
                <a:latin typeface="Calibri"/>
              </a:rPr>
              <a:t>Supply /</a:t>
            </a:r>
            <a:br/>
            <a:r>
              <a:rPr sz="480" b="0" i="0">
                <a:solidFill>
                  <a:srgbClr val="1F2937"/>
                </a:solidFill>
                <a:latin typeface="Calibri"/>
              </a:rPr>
              <a:t>Availability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2670048" y="4353850"/>
            <a:ext cx="128016" cy="0"/>
          </a:xfrm>
          <a:prstGeom prst="line">
            <a:avLst/>
          </a:prstGeom>
          <a:ln w="8255">
            <a:solidFill>
              <a:srgbClr val="66666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Rectangle 57"/>
          <p:cNvSpPr/>
          <p:nvPr/>
        </p:nvSpPr>
        <p:spPr>
          <a:xfrm>
            <a:off x="2798064" y="4165745"/>
            <a:ext cx="310896" cy="188105"/>
          </a:xfrm>
          <a:prstGeom prst="rect">
            <a:avLst/>
          </a:prstGeom>
          <a:solidFill>
            <a:srgbClr val="228B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2724912" y="3964577"/>
            <a:ext cx="457200" cy="155448"/>
          </a:xfrm>
          <a:prstGeom prst="rect">
            <a:avLst/>
          </a:prstGeom>
          <a:noFill/>
          <a:ln>
            <a:noFill/>
          </a:ln>
        </p:spPr>
        <p:txBody>
          <a:bodyPr wrap="none" lIns="27432" tIns="18288" rIns="27432" bIns="18288" anchor="ctr">
            <a:normAutofit/>
          </a:bodyPr>
          <a:lstStyle/>
          <a:p>
            <a:pPr algn="ctr"/>
            <a:r>
              <a:rPr sz="580" b="1" i="0">
                <a:solidFill>
                  <a:srgbClr val="1F2937"/>
                </a:solidFill>
                <a:latin typeface="Calibri"/>
              </a:rPr>
              <a:t>+3M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688336" y="6263640"/>
            <a:ext cx="530352" cy="402336"/>
          </a:xfrm>
          <a:prstGeom prst="rect">
            <a:avLst/>
          </a:prstGeom>
          <a:noFill/>
          <a:ln>
            <a:noFill/>
          </a:ln>
        </p:spPr>
        <p:txBody>
          <a:bodyPr wrap="none" lIns="27432" tIns="18288" rIns="27432" bIns="18288" anchor="ctr">
            <a:normAutofit/>
          </a:bodyPr>
          <a:lstStyle/>
          <a:p>
            <a:pPr algn="ctr"/>
            <a:r>
              <a:rPr sz="480" b="0" i="0">
                <a:solidFill>
                  <a:srgbClr val="1F2937"/>
                </a:solidFill>
                <a:latin typeface="Calibri"/>
              </a:rPr>
              <a:t>Technology</a:t>
            </a:r>
            <a:br/>
            <a:r>
              <a:rPr sz="480" b="0" i="0">
                <a:solidFill>
                  <a:srgbClr val="1F2937"/>
                </a:solidFill>
                <a:latin typeface="Calibri"/>
              </a:rPr>
              <a:t>Reliability</a:t>
            </a:r>
          </a:p>
        </p:txBody>
      </p:sp>
      <p:cxnSp>
        <p:nvCxnSpPr>
          <p:cNvPr id="61" name="Connector 60"/>
          <p:cNvCxnSpPr/>
          <p:nvPr/>
        </p:nvCxnSpPr>
        <p:spPr>
          <a:xfrm>
            <a:off x="3108960" y="4165745"/>
            <a:ext cx="128016" cy="0"/>
          </a:xfrm>
          <a:prstGeom prst="line">
            <a:avLst/>
          </a:prstGeom>
          <a:ln w="8255">
            <a:solidFill>
              <a:srgbClr val="66666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Rectangle 61"/>
          <p:cNvSpPr/>
          <p:nvPr/>
        </p:nvSpPr>
        <p:spPr>
          <a:xfrm>
            <a:off x="3236976" y="4040341"/>
            <a:ext cx="310896" cy="125403"/>
          </a:xfrm>
          <a:prstGeom prst="rect">
            <a:avLst/>
          </a:prstGeom>
          <a:solidFill>
            <a:srgbClr val="228B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3163824" y="3839173"/>
            <a:ext cx="457200" cy="155448"/>
          </a:xfrm>
          <a:prstGeom prst="rect">
            <a:avLst/>
          </a:prstGeom>
          <a:noFill/>
          <a:ln>
            <a:noFill/>
          </a:ln>
        </p:spPr>
        <p:txBody>
          <a:bodyPr wrap="none" lIns="27432" tIns="18288" rIns="27432" bIns="18288" anchor="ctr">
            <a:normAutofit/>
          </a:bodyPr>
          <a:lstStyle/>
          <a:p>
            <a:pPr algn="ctr"/>
            <a:r>
              <a:rPr sz="580" b="1" i="0">
                <a:solidFill>
                  <a:srgbClr val="1F2937"/>
                </a:solidFill>
                <a:latin typeface="Calibri"/>
              </a:rPr>
              <a:t>+2M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127248" y="6263640"/>
            <a:ext cx="530352" cy="402336"/>
          </a:xfrm>
          <a:prstGeom prst="rect">
            <a:avLst/>
          </a:prstGeom>
          <a:noFill/>
          <a:ln>
            <a:noFill/>
          </a:ln>
        </p:spPr>
        <p:txBody>
          <a:bodyPr wrap="none" lIns="27432" tIns="18288" rIns="27432" bIns="18288" anchor="ctr">
            <a:normAutofit/>
          </a:bodyPr>
          <a:lstStyle/>
          <a:p>
            <a:pPr algn="ctr"/>
            <a:r>
              <a:rPr sz="480" b="0" i="0">
                <a:solidFill>
                  <a:srgbClr val="1F2937"/>
                </a:solidFill>
                <a:latin typeface="Calibri"/>
              </a:rPr>
              <a:t>CSAT / CX</a:t>
            </a:r>
          </a:p>
        </p:txBody>
      </p:sp>
      <p:cxnSp>
        <p:nvCxnSpPr>
          <p:cNvPr id="65" name="Connector 64"/>
          <p:cNvCxnSpPr/>
          <p:nvPr/>
        </p:nvCxnSpPr>
        <p:spPr>
          <a:xfrm>
            <a:off x="3547872" y="4040341"/>
            <a:ext cx="128015" cy="0"/>
          </a:xfrm>
          <a:prstGeom prst="line">
            <a:avLst/>
          </a:prstGeom>
          <a:ln w="8255">
            <a:solidFill>
              <a:srgbClr val="66666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Rectangle 65"/>
          <p:cNvSpPr/>
          <p:nvPr/>
        </p:nvSpPr>
        <p:spPr>
          <a:xfrm>
            <a:off x="3675887" y="3977639"/>
            <a:ext cx="310896" cy="62701"/>
          </a:xfrm>
          <a:prstGeom prst="rect">
            <a:avLst/>
          </a:prstGeom>
          <a:solidFill>
            <a:srgbClr val="228B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3602735" y="3776472"/>
            <a:ext cx="457200" cy="155448"/>
          </a:xfrm>
          <a:prstGeom prst="rect">
            <a:avLst/>
          </a:prstGeom>
          <a:noFill/>
          <a:ln>
            <a:noFill/>
          </a:ln>
        </p:spPr>
        <p:txBody>
          <a:bodyPr wrap="none" lIns="27432" tIns="18288" rIns="27432" bIns="18288" anchor="ctr">
            <a:normAutofit/>
          </a:bodyPr>
          <a:lstStyle/>
          <a:p>
            <a:pPr algn="ctr"/>
            <a:r>
              <a:rPr sz="580" b="1" i="0">
                <a:solidFill>
                  <a:srgbClr val="1F2937"/>
                </a:solidFill>
                <a:latin typeface="Calibri"/>
              </a:rPr>
              <a:t>+1M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566159" y="6263640"/>
            <a:ext cx="530352" cy="402336"/>
          </a:xfrm>
          <a:prstGeom prst="rect">
            <a:avLst/>
          </a:prstGeom>
          <a:noFill/>
          <a:ln>
            <a:noFill/>
          </a:ln>
        </p:spPr>
        <p:txBody>
          <a:bodyPr wrap="none" lIns="27432" tIns="18288" rIns="27432" bIns="18288" anchor="ctr">
            <a:normAutofit/>
          </a:bodyPr>
          <a:lstStyle/>
          <a:p>
            <a:pPr algn="ctr"/>
            <a:r>
              <a:rPr sz="480" b="0" i="0">
                <a:solidFill>
                  <a:srgbClr val="1F2937"/>
                </a:solidFill>
                <a:latin typeface="Calibri"/>
              </a:rPr>
              <a:t>People /</a:t>
            </a:r>
            <a:br/>
            <a:r>
              <a:rPr sz="480" b="0" i="0">
                <a:solidFill>
                  <a:srgbClr val="1F2937"/>
                </a:solidFill>
                <a:latin typeface="Calibri"/>
              </a:rPr>
              <a:t>Hours</a:t>
            </a:r>
          </a:p>
        </p:txBody>
      </p:sp>
      <p:cxnSp>
        <p:nvCxnSpPr>
          <p:cNvPr id="69" name="Connector 68"/>
          <p:cNvCxnSpPr/>
          <p:nvPr/>
        </p:nvCxnSpPr>
        <p:spPr>
          <a:xfrm>
            <a:off x="3986783" y="3977639"/>
            <a:ext cx="128017" cy="0"/>
          </a:xfrm>
          <a:prstGeom prst="line">
            <a:avLst/>
          </a:prstGeom>
          <a:ln w="8255">
            <a:solidFill>
              <a:srgbClr val="66666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Rectangle 69"/>
          <p:cNvSpPr/>
          <p:nvPr/>
        </p:nvSpPr>
        <p:spPr>
          <a:xfrm>
            <a:off x="4114800" y="3789534"/>
            <a:ext cx="310896" cy="188105"/>
          </a:xfrm>
          <a:prstGeom prst="rect">
            <a:avLst/>
          </a:prstGeom>
          <a:solidFill>
            <a:srgbClr val="228B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4041648" y="3588366"/>
            <a:ext cx="457200" cy="155448"/>
          </a:xfrm>
          <a:prstGeom prst="rect">
            <a:avLst/>
          </a:prstGeom>
          <a:noFill/>
          <a:ln>
            <a:noFill/>
          </a:ln>
        </p:spPr>
        <p:txBody>
          <a:bodyPr wrap="none" lIns="27432" tIns="18288" rIns="27432" bIns="18288" anchor="ctr">
            <a:normAutofit/>
          </a:bodyPr>
          <a:lstStyle/>
          <a:p>
            <a:pPr algn="ctr"/>
            <a:r>
              <a:rPr sz="580" b="1" i="0">
                <a:solidFill>
                  <a:srgbClr val="1F2937"/>
                </a:solidFill>
                <a:latin typeface="Calibri"/>
              </a:rPr>
              <a:t>+3M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005072" y="6263640"/>
            <a:ext cx="530352" cy="402336"/>
          </a:xfrm>
          <a:prstGeom prst="rect">
            <a:avLst/>
          </a:prstGeom>
          <a:noFill/>
          <a:ln>
            <a:noFill/>
          </a:ln>
        </p:spPr>
        <p:txBody>
          <a:bodyPr wrap="none" lIns="27432" tIns="18288" rIns="27432" bIns="18288" anchor="ctr">
            <a:normAutofit/>
          </a:bodyPr>
          <a:lstStyle/>
          <a:p>
            <a:pPr algn="ctr"/>
            <a:r>
              <a:rPr sz="480" b="0" i="0">
                <a:solidFill>
                  <a:srgbClr val="1F2937"/>
                </a:solidFill>
                <a:latin typeface="Calibri"/>
              </a:rPr>
              <a:t>Loyalty</a:t>
            </a:r>
            <a:br/>
            <a:r>
              <a:rPr sz="480" b="0" i="0">
                <a:solidFill>
                  <a:srgbClr val="1F2937"/>
                </a:solidFill>
                <a:latin typeface="Calibri"/>
              </a:rPr>
              <a:t>Base</a:t>
            </a:r>
          </a:p>
        </p:txBody>
      </p:sp>
      <p:cxnSp>
        <p:nvCxnSpPr>
          <p:cNvPr id="73" name="Connector 72"/>
          <p:cNvCxnSpPr/>
          <p:nvPr/>
        </p:nvCxnSpPr>
        <p:spPr>
          <a:xfrm>
            <a:off x="4425696" y="3789534"/>
            <a:ext cx="192024" cy="0"/>
          </a:xfrm>
          <a:prstGeom prst="line">
            <a:avLst/>
          </a:prstGeom>
          <a:ln w="8255">
            <a:solidFill>
              <a:srgbClr val="66666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Rectangle 73"/>
          <p:cNvSpPr/>
          <p:nvPr/>
        </p:nvSpPr>
        <p:spPr>
          <a:xfrm>
            <a:off x="4617720" y="3789534"/>
            <a:ext cx="384048" cy="2382665"/>
          </a:xfrm>
          <a:prstGeom prst="rect">
            <a:avLst/>
          </a:prstGeom>
          <a:solidFill>
            <a:srgbClr val="0A1C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4553712" y="3560934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none" lIns="27432" tIns="18288" rIns="27432" bIns="18288" anchor="ctr">
            <a:normAutofit/>
          </a:bodyPr>
          <a:lstStyle/>
          <a:p>
            <a:pPr algn="ctr"/>
            <a:r>
              <a:rPr sz="800" b="1" i="0">
                <a:solidFill>
                  <a:srgbClr val="1F2937"/>
                </a:solidFill>
                <a:latin typeface="Calibri"/>
              </a:rPr>
              <a:t>333M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507992" y="6263640"/>
            <a:ext cx="603503" cy="365760"/>
          </a:xfrm>
          <a:prstGeom prst="rect">
            <a:avLst/>
          </a:prstGeom>
          <a:noFill/>
          <a:ln>
            <a:noFill/>
          </a:ln>
        </p:spPr>
        <p:txBody>
          <a:bodyPr wrap="none" lIns="27432" tIns="18288" rIns="27432" bIns="18288" anchor="ctr">
            <a:normAutofit/>
          </a:bodyPr>
          <a:lstStyle/>
          <a:p>
            <a:pPr algn="ctr"/>
            <a:r>
              <a:rPr sz="530" b="1" i="0">
                <a:solidFill>
                  <a:srgbClr val="1F2937"/>
                </a:solidFill>
                <a:latin typeface="Calibri"/>
              </a:rPr>
              <a:t>Protected</a:t>
            </a:r>
            <a:br/>
            <a:r>
              <a:rPr sz="530" b="1" i="0">
                <a:solidFill>
                  <a:srgbClr val="1F2937"/>
                </a:solidFill>
                <a:latin typeface="Calibri"/>
              </a:rPr>
              <a:t>BAU Base</a:t>
            </a:r>
          </a:p>
        </p:txBody>
      </p:sp>
      <p:cxnSp>
        <p:nvCxnSpPr>
          <p:cNvPr id="77" name="Connector 76"/>
          <p:cNvCxnSpPr/>
          <p:nvPr/>
        </p:nvCxnSpPr>
        <p:spPr>
          <a:xfrm>
            <a:off x="5001768" y="3789534"/>
            <a:ext cx="283464" cy="0"/>
          </a:xfrm>
          <a:prstGeom prst="line">
            <a:avLst/>
          </a:prstGeom>
          <a:ln w="8255">
            <a:solidFill>
              <a:srgbClr val="66666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Rectangle 77"/>
          <p:cNvSpPr/>
          <p:nvPr/>
        </p:nvSpPr>
        <p:spPr>
          <a:xfrm>
            <a:off x="5285232" y="3476026"/>
            <a:ext cx="310896" cy="313508"/>
          </a:xfrm>
          <a:prstGeom prst="rect">
            <a:avLst/>
          </a:prstGeom>
          <a:solidFill>
            <a:srgbClr val="0089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5212080" y="3274858"/>
            <a:ext cx="457200" cy="155448"/>
          </a:xfrm>
          <a:prstGeom prst="rect">
            <a:avLst/>
          </a:prstGeom>
          <a:noFill/>
          <a:ln>
            <a:noFill/>
          </a:ln>
        </p:spPr>
        <p:txBody>
          <a:bodyPr wrap="none" lIns="27432" tIns="18288" rIns="27432" bIns="18288" anchor="ctr">
            <a:normAutofit/>
          </a:bodyPr>
          <a:lstStyle/>
          <a:p>
            <a:pPr algn="ctr"/>
            <a:r>
              <a:rPr sz="580" b="1" i="0">
                <a:solidFill>
                  <a:srgbClr val="1F2937"/>
                </a:solidFill>
                <a:latin typeface="Calibri"/>
              </a:rPr>
              <a:t>+5M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5175504" y="6263640"/>
            <a:ext cx="530352" cy="402336"/>
          </a:xfrm>
          <a:prstGeom prst="rect">
            <a:avLst/>
          </a:prstGeom>
          <a:noFill/>
          <a:ln>
            <a:noFill/>
          </a:ln>
        </p:spPr>
        <p:txBody>
          <a:bodyPr wrap="none" lIns="27432" tIns="18288" rIns="27432" bIns="18288" anchor="ctr">
            <a:normAutofit/>
          </a:bodyPr>
          <a:lstStyle/>
          <a:p>
            <a:pPr algn="ctr"/>
            <a:r>
              <a:rPr sz="480" b="0" i="0">
                <a:solidFill>
                  <a:srgbClr val="1F2937"/>
                </a:solidFill>
                <a:latin typeface="Calibri"/>
              </a:rPr>
              <a:t>Speed</a:t>
            </a:r>
            <a:br/>
            <a:r>
              <a:rPr sz="480" b="0" i="0">
                <a:solidFill>
                  <a:srgbClr val="1F2937"/>
                </a:solidFill>
                <a:latin typeface="Calibri"/>
              </a:rPr>
              <a:t>Change</a:t>
            </a:r>
          </a:p>
        </p:txBody>
      </p:sp>
      <p:cxnSp>
        <p:nvCxnSpPr>
          <p:cNvPr id="81" name="Connector 80"/>
          <p:cNvCxnSpPr/>
          <p:nvPr/>
        </p:nvCxnSpPr>
        <p:spPr>
          <a:xfrm>
            <a:off x="5596128" y="3476026"/>
            <a:ext cx="128016" cy="0"/>
          </a:xfrm>
          <a:prstGeom prst="line">
            <a:avLst/>
          </a:prstGeom>
          <a:ln w="8255">
            <a:solidFill>
              <a:srgbClr val="66666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Rectangle 81"/>
          <p:cNvSpPr/>
          <p:nvPr/>
        </p:nvSpPr>
        <p:spPr>
          <a:xfrm>
            <a:off x="5724144" y="3476026"/>
            <a:ext cx="310896" cy="188105"/>
          </a:xfrm>
          <a:prstGeom prst="rect">
            <a:avLst/>
          </a:prstGeom>
          <a:solidFill>
            <a:srgbClr val="CF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5650992" y="3691563"/>
            <a:ext cx="457200" cy="155448"/>
          </a:xfrm>
          <a:prstGeom prst="rect">
            <a:avLst/>
          </a:prstGeom>
          <a:noFill/>
          <a:ln>
            <a:noFill/>
          </a:ln>
        </p:spPr>
        <p:txBody>
          <a:bodyPr wrap="none" lIns="27432" tIns="18288" rIns="27432" bIns="18288" anchor="ctr">
            <a:normAutofit/>
          </a:bodyPr>
          <a:lstStyle/>
          <a:p>
            <a:pPr algn="ctr"/>
            <a:r>
              <a:rPr sz="580" b="1" i="0">
                <a:solidFill>
                  <a:srgbClr val="1F2937"/>
                </a:solidFill>
                <a:latin typeface="Calibri"/>
              </a:rPr>
              <a:t>-3M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5614416" y="6263640"/>
            <a:ext cx="530352" cy="402336"/>
          </a:xfrm>
          <a:prstGeom prst="rect">
            <a:avLst/>
          </a:prstGeom>
          <a:noFill/>
          <a:ln>
            <a:noFill/>
          </a:ln>
        </p:spPr>
        <p:txBody>
          <a:bodyPr wrap="none" lIns="27432" tIns="18288" rIns="27432" bIns="18288" anchor="ctr">
            <a:normAutofit/>
          </a:bodyPr>
          <a:lstStyle/>
          <a:p>
            <a:pPr algn="ctr"/>
            <a:r>
              <a:rPr sz="480" b="0" i="0">
                <a:solidFill>
                  <a:srgbClr val="1F2937"/>
                </a:solidFill>
                <a:latin typeface="Calibri"/>
              </a:rPr>
              <a:t>Supply</a:t>
            </a:r>
            <a:br/>
            <a:r>
              <a:rPr sz="480" b="0" i="0">
                <a:solidFill>
                  <a:srgbClr val="1F2937"/>
                </a:solidFill>
                <a:latin typeface="Calibri"/>
              </a:rPr>
              <a:t>Change</a:t>
            </a:r>
          </a:p>
        </p:txBody>
      </p:sp>
      <p:cxnSp>
        <p:nvCxnSpPr>
          <p:cNvPr id="85" name="Connector 84"/>
          <p:cNvCxnSpPr/>
          <p:nvPr/>
        </p:nvCxnSpPr>
        <p:spPr>
          <a:xfrm>
            <a:off x="6035040" y="3664131"/>
            <a:ext cx="128016" cy="0"/>
          </a:xfrm>
          <a:prstGeom prst="line">
            <a:avLst/>
          </a:prstGeom>
          <a:ln w="8255">
            <a:solidFill>
              <a:srgbClr val="66666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6" name="Rectangle 85"/>
          <p:cNvSpPr/>
          <p:nvPr/>
        </p:nvSpPr>
        <p:spPr>
          <a:xfrm>
            <a:off x="6163056" y="3538728"/>
            <a:ext cx="310896" cy="125403"/>
          </a:xfrm>
          <a:prstGeom prst="rect">
            <a:avLst/>
          </a:prstGeom>
          <a:solidFill>
            <a:srgbClr val="0089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6089904" y="3337560"/>
            <a:ext cx="457200" cy="155448"/>
          </a:xfrm>
          <a:prstGeom prst="rect">
            <a:avLst/>
          </a:prstGeom>
          <a:noFill/>
          <a:ln>
            <a:noFill/>
          </a:ln>
        </p:spPr>
        <p:txBody>
          <a:bodyPr wrap="none" lIns="27432" tIns="18288" rIns="27432" bIns="18288" anchor="ctr">
            <a:normAutofit/>
          </a:bodyPr>
          <a:lstStyle/>
          <a:p>
            <a:pPr algn="ctr"/>
            <a:r>
              <a:rPr sz="580" b="1" i="0">
                <a:solidFill>
                  <a:srgbClr val="1F2937"/>
                </a:solidFill>
                <a:latin typeface="Calibri"/>
              </a:rPr>
              <a:t>+2M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6053328" y="6263640"/>
            <a:ext cx="530352" cy="402336"/>
          </a:xfrm>
          <a:prstGeom prst="rect">
            <a:avLst/>
          </a:prstGeom>
          <a:noFill/>
          <a:ln>
            <a:noFill/>
          </a:ln>
        </p:spPr>
        <p:txBody>
          <a:bodyPr wrap="none" lIns="27432" tIns="18288" rIns="27432" bIns="18288" anchor="ctr">
            <a:normAutofit/>
          </a:bodyPr>
          <a:lstStyle/>
          <a:p>
            <a:pPr algn="ctr"/>
            <a:r>
              <a:rPr sz="480" b="0" i="0">
                <a:solidFill>
                  <a:srgbClr val="1F2937"/>
                </a:solidFill>
                <a:latin typeface="Calibri"/>
              </a:rPr>
              <a:t>Tech</a:t>
            </a:r>
            <a:br/>
            <a:r>
              <a:rPr sz="480" b="0" i="0">
                <a:solidFill>
                  <a:srgbClr val="1F2937"/>
                </a:solidFill>
                <a:latin typeface="Calibri"/>
              </a:rPr>
              <a:t>Change</a:t>
            </a:r>
          </a:p>
        </p:txBody>
      </p:sp>
      <p:cxnSp>
        <p:nvCxnSpPr>
          <p:cNvPr id="89" name="Connector 88"/>
          <p:cNvCxnSpPr/>
          <p:nvPr/>
        </p:nvCxnSpPr>
        <p:spPr>
          <a:xfrm>
            <a:off x="6473952" y="3538728"/>
            <a:ext cx="128016" cy="0"/>
          </a:xfrm>
          <a:prstGeom prst="line">
            <a:avLst/>
          </a:prstGeom>
          <a:ln w="8255">
            <a:solidFill>
              <a:srgbClr val="66666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Rectangle 89"/>
          <p:cNvSpPr/>
          <p:nvPr/>
        </p:nvSpPr>
        <p:spPr>
          <a:xfrm>
            <a:off x="6601968" y="3538728"/>
            <a:ext cx="310896" cy="125403"/>
          </a:xfrm>
          <a:prstGeom prst="rect">
            <a:avLst/>
          </a:prstGeom>
          <a:solidFill>
            <a:srgbClr val="CF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6528816" y="3691563"/>
            <a:ext cx="457200" cy="155448"/>
          </a:xfrm>
          <a:prstGeom prst="rect">
            <a:avLst/>
          </a:prstGeom>
          <a:noFill/>
          <a:ln>
            <a:noFill/>
          </a:ln>
        </p:spPr>
        <p:txBody>
          <a:bodyPr wrap="none" lIns="27432" tIns="18288" rIns="27432" bIns="18288" anchor="ctr">
            <a:normAutofit/>
          </a:bodyPr>
          <a:lstStyle/>
          <a:p>
            <a:pPr algn="ctr"/>
            <a:r>
              <a:rPr sz="580" b="1" i="0">
                <a:solidFill>
                  <a:srgbClr val="1F2937"/>
                </a:solidFill>
                <a:latin typeface="Calibri"/>
              </a:rPr>
              <a:t>-2M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6492240" y="6263640"/>
            <a:ext cx="530352" cy="402336"/>
          </a:xfrm>
          <a:prstGeom prst="rect">
            <a:avLst/>
          </a:prstGeom>
          <a:noFill/>
          <a:ln>
            <a:noFill/>
          </a:ln>
        </p:spPr>
        <p:txBody>
          <a:bodyPr wrap="none" lIns="27432" tIns="18288" rIns="27432" bIns="18288" anchor="ctr">
            <a:normAutofit/>
          </a:bodyPr>
          <a:lstStyle/>
          <a:p>
            <a:pPr algn="ctr"/>
            <a:r>
              <a:rPr sz="480" b="0" i="0">
                <a:solidFill>
                  <a:srgbClr val="1F2937"/>
                </a:solidFill>
                <a:latin typeface="Calibri"/>
              </a:rPr>
              <a:t>CSAT</a:t>
            </a:r>
            <a:br/>
            <a:r>
              <a:rPr sz="480" b="0" i="0">
                <a:solidFill>
                  <a:srgbClr val="1F2937"/>
                </a:solidFill>
                <a:latin typeface="Calibri"/>
              </a:rPr>
              <a:t>Change</a:t>
            </a:r>
          </a:p>
        </p:txBody>
      </p:sp>
      <p:cxnSp>
        <p:nvCxnSpPr>
          <p:cNvPr id="93" name="Connector 92"/>
          <p:cNvCxnSpPr/>
          <p:nvPr/>
        </p:nvCxnSpPr>
        <p:spPr>
          <a:xfrm>
            <a:off x="6912864" y="3664131"/>
            <a:ext cx="128016" cy="0"/>
          </a:xfrm>
          <a:prstGeom prst="line">
            <a:avLst/>
          </a:prstGeom>
          <a:ln w="8255">
            <a:solidFill>
              <a:srgbClr val="66666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4" name="Rectangle 93"/>
          <p:cNvSpPr/>
          <p:nvPr/>
        </p:nvSpPr>
        <p:spPr>
          <a:xfrm>
            <a:off x="7040880" y="3664131"/>
            <a:ext cx="310896" cy="62701"/>
          </a:xfrm>
          <a:prstGeom prst="rect">
            <a:avLst/>
          </a:prstGeom>
          <a:solidFill>
            <a:srgbClr val="CF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TextBox 94"/>
          <p:cNvSpPr txBox="1"/>
          <p:nvPr/>
        </p:nvSpPr>
        <p:spPr>
          <a:xfrm>
            <a:off x="6967728" y="3754265"/>
            <a:ext cx="457200" cy="155448"/>
          </a:xfrm>
          <a:prstGeom prst="rect">
            <a:avLst/>
          </a:prstGeom>
          <a:noFill/>
          <a:ln>
            <a:noFill/>
          </a:ln>
        </p:spPr>
        <p:txBody>
          <a:bodyPr wrap="none" lIns="27432" tIns="18288" rIns="27432" bIns="18288" anchor="ctr">
            <a:normAutofit/>
          </a:bodyPr>
          <a:lstStyle/>
          <a:p>
            <a:pPr algn="ctr"/>
            <a:r>
              <a:rPr sz="580" b="1" i="0">
                <a:solidFill>
                  <a:srgbClr val="1F2937"/>
                </a:solidFill>
                <a:latin typeface="Calibri"/>
              </a:rPr>
              <a:t>-1M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6931152" y="6263640"/>
            <a:ext cx="530352" cy="402336"/>
          </a:xfrm>
          <a:prstGeom prst="rect">
            <a:avLst/>
          </a:prstGeom>
          <a:noFill/>
          <a:ln>
            <a:noFill/>
          </a:ln>
        </p:spPr>
        <p:txBody>
          <a:bodyPr wrap="none" lIns="27432" tIns="18288" rIns="27432" bIns="18288" anchor="ctr">
            <a:normAutofit/>
          </a:bodyPr>
          <a:lstStyle/>
          <a:p>
            <a:pPr algn="ctr"/>
            <a:r>
              <a:rPr sz="480" b="0" i="0">
                <a:solidFill>
                  <a:srgbClr val="1F2937"/>
                </a:solidFill>
                <a:latin typeface="Calibri"/>
              </a:rPr>
              <a:t>Hours</a:t>
            </a:r>
            <a:br/>
            <a:r>
              <a:rPr sz="480" b="0" i="0">
                <a:solidFill>
                  <a:srgbClr val="1F2937"/>
                </a:solidFill>
                <a:latin typeface="Calibri"/>
              </a:rPr>
              <a:t>Change</a:t>
            </a:r>
          </a:p>
        </p:txBody>
      </p:sp>
      <p:cxnSp>
        <p:nvCxnSpPr>
          <p:cNvPr id="97" name="Connector 96"/>
          <p:cNvCxnSpPr/>
          <p:nvPr/>
        </p:nvCxnSpPr>
        <p:spPr>
          <a:xfrm>
            <a:off x="7351776" y="3726833"/>
            <a:ext cx="128016" cy="0"/>
          </a:xfrm>
          <a:prstGeom prst="line">
            <a:avLst/>
          </a:prstGeom>
          <a:ln w="8255">
            <a:solidFill>
              <a:srgbClr val="66666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Rectangle 97"/>
          <p:cNvSpPr/>
          <p:nvPr/>
        </p:nvSpPr>
        <p:spPr>
          <a:xfrm>
            <a:off x="7479792" y="3664131"/>
            <a:ext cx="310896" cy="62701"/>
          </a:xfrm>
          <a:prstGeom prst="rect">
            <a:avLst/>
          </a:prstGeom>
          <a:solidFill>
            <a:srgbClr val="0089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TextBox 98"/>
          <p:cNvSpPr txBox="1"/>
          <p:nvPr/>
        </p:nvSpPr>
        <p:spPr>
          <a:xfrm>
            <a:off x="7406640" y="3462963"/>
            <a:ext cx="457200" cy="155448"/>
          </a:xfrm>
          <a:prstGeom prst="rect">
            <a:avLst/>
          </a:prstGeom>
          <a:noFill/>
          <a:ln>
            <a:noFill/>
          </a:ln>
        </p:spPr>
        <p:txBody>
          <a:bodyPr wrap="none" lIns="27432" tIns="18288" rIns="27432" bIns="18288" anchor="ctr">
            <a:normAutofit/>
          </a:bodyPr>
          <a:lstStyle/>
          <a:p>
            <a:pPr algn="ctr"/>
            <a:r>
              <a:rPr sz="580" b="1" i="0">
                <a:solidFill>
                  <a:srgbClr val="1F2937"/>
                </a:solidFill>
                <a:latin typeface="Calibri"/>
              </a:rPr>
              <a:t>+1M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7370064" y="6263640"/>
            <a:ext cx="530352" cy="402336"/>
          </a:xfrm>
          <a:prstGeom prst="rect">
            <a:avLst/>
          </a:prstGeom>
          <a:noFill/>
          <a:ln>
            <a:noFill/>
          </a:ln>
        </p:spPr>
        <p:txBody>
          <a:bodyPr wrap="none" lIns="27432" tIns="18288" rIns="27432" bIns="18288" anchor="ctr">
            <a:normAutofit/>
          </a:bodyPr>
          <a:lstStyle/>
          <a:p>
            <a:pPr algn="ctr"/>
            <a:r>
              <a:rPr sz="480" b="0" i="0">
                <a:solidFill>
                  <a:srgbClr val="1F2937"/>
                </a:solidFill>
                <a:latin typeface="Calibri"/>
              </a:rPr>
              <a:t>Loyalty</a:t>
            </a:r>
            <a:br/>
            <a:r>
              <a:rPr sz="480" b="0" i="0">
                <a:solidFill>
                  <a:srgbClr val="1F2937"/>
                </a:solidFill>
                <a:latin typeface="Calibri"/>
              </a:rPr>
              <a:t>Change</a:t>
            </a:r>
          </a:p>
        </p:txBody>
      </p:sp>
      <p:cxnSp>
        <p:nvCxnSpPr>
          <p:cNvPr id="101" name="Connector 100"/>
          <p:cNvCxnSpPr/>
          <p:nvPr/>
        </p:nvCxnSpPr>
        <p:spPr>
          <a:xfrm>
            <a:off x="7790688" y="3664131"/>
            <a:ext cx="301752" cy="0"/>
          </a:xfrm>
          <a:prstGeom prst="line">
            <a:avLst/>
          </a:prstGeom>
          <a:ln w="8255">
            <a:solidFill>
              <a:srgbClr val="66666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" name="Rectangle 101"/>
          <p:cNvSpPr/>
          <p:nvPr/>
        </p:nvSpPr>
        <p:spPr>
          <a:xfrm>
            <a:off x="8092440" y="3664131"/>
            <a:ext cx="310896" cy="501613"/>
          </a:xfrm>
          <a:prstGeom prst="rect">
            <a:avLst/>
          </a:prstGeom>
          <a:solidFill>
            <a:srgbClr val="F169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TextBox 102"/>
          <p:cNvSpPr txBox="1"/>
          <p:nvPr/>
        </p:nvSpPr>
        <p:spPr>
          <a:xfrm>
            <a:off x="8019288" y="4193177"/>
            <a:ext cx="457200" cy="155448"/>
          </a:xfrm>
          <a:prstGeom prst="rect">
            <a:avLst/>
          </a:prstGeom>
          <a:noFill/>
          <a:ln>
            <a:noFill/>
          </a:ln>
        </p:spPr>
        <p:txBody>
          <a:bodyPr wrap="none" lIns="27432" tIns="18288" rIns="27432" bIns="18288" anchor="ctr">
            <a:normAutofit/>
          </a:bodyPr>
          <a:lstStyle/>
          <a:p>
            <a:pPr algn="ctr"/>
            <a:r>
              <a:rPr sz="580" b="1" i="0">
                <a:solidFill>
                  <a:srgbClr val="1F2937"/>
                </a:solidFill>
                <a:latin typeface="Calibri"/>
              </a:rPr>
              <a:t>-8M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7982712" y="6263640"/>
            <a:ext cx="530352" cy="402336"/>
          </a:xfrm>
          <a:prstGeom prst="rect">
            <a:avLst/>
          </a:prstGeom>
          <a:noFill/>
          <a:ln>
            <a:noFill/>
          </a:ln>
        </p:spPr>
        <p:txBody>
          <a:bodyPr wrap="none" lIns="27432" tIns="18288" rIns="27432" bIns="18288" anchor="ctr">
            <a:normAutofit/>
          </a:bodyPr>
          <a:lstStyle/>
          <a:p>
            <a:pPr algn="ctr"/>
            <a:r>
              <a:rPr sz="480" b="0" i="0">
                <a:solidFill>
                  <a:srgbClr val="1F2937"/>
                </a:solidFill>
                <a:latin typeface="Calibri"/>
              </a:rPr>
              <a:t>Weather</a:t>
            </a:r>
          </a:p>
        </p:txBody>
      </p:sp>
      <p:cxnSp>
        <p:nvCxnSpPr>
          <p:cNvPr id="105" name="Connector 104"/>
          <p:cNvCxnSpPr/>
          <p:nvPr/>
        </p:nvCxnSpPr>
        <p:spPr>
          <a:xfrm>
            <a:off x="8403336" y="4165745"/>
            <a:ext cx="128016" cy="0"/>
          </a:xfrm>
          <a:prstGeom prst="line">
            <a:avLst/>
          </a:prstGeom>
          <a:ln w="8255">
            <a:solidFill>
              <a:srgbClr val="66666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6" name="Rectangle 105"/>
          <p:cNvSpPr/>
          <p:nvPr/>
        </p:nvSpPr>
        <p:spPr>
          <a:xfrm>
            <a:off x="8531352" y="4165745"/>
            <a:ext cx="310896" cy="250806"/>
          </a:xfrm>
          <a:prstGeom prst="rect">
            <a:avLst/>
          </a:prstGeom>
          <a:solidFill>
            <a:srgbClr val="F169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TextBox 106"/>
          <p:cNvSpPr txBox="1"/>
          <p:nvPr/>
        </p:nvSpPr>
        <p:spPr>
          <a:xfrm>
            <a:off x="8458200" y="4443984"/>
            <a:ext cx="457200" cy="155448"/>
          </a:xfrm>
          <a:prstGeom prst="rect">
            <a:avLst/>
          </a:prstGeom>
          <a:noFill/>
          <a:ln>
            <a:noFill/>
          </a:ln>
        </p:spPr>
        <p:txBody>
          <a:bodyPr wrap="none" lIns="27432" tIns="18288" rIns="27432" bIns="18288" anchor="ctr">
            <a:normAutofit/>
          </a:bodyPr>
          <a:lstStyle/>
          <a:p>
            <a:pPr algn="ctr"/>
            <a:r>
              <a:rPr sz="580" b="1" i="0">
                <a:solidFill>
                  <a:srgbClr val="1F2937"/>
                </a:solidFill>
                <a:latin typeface="Calibri"/>
              </a:rPr>
              <a:t>-4M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421624" y="6263640"/>
            <a:ext cx="530352" cy="402336"/>
          </a:xfrm>
          <a:prstGeom prst="rect">
            <a:avLst/>
          </a:prstGeom>
          <a:noFill/>
          <a:ln>
            <a:noFill/>
          </a:ln>
        </p:spPr>
        <p:txBody>
          <a:bodyPr wrap="none" lIns="27432" tIns="18288" rIns="27432" bIns="18288" anchor="ctr">
            <a:normAutofit/>
          </a:bodyPr>
          <a:lstStyle/>
          <a:p>
            <a:pPr algn="ctr"/>
            <a:r>
              <a:rPr sz="480" b="0" i="0">
                <a:solidFill>
                  <a:srgbClr val="1F2937"/>
                </a:solidFill>
                <a:latin typeface="Calibri"/>
              </a:rPr>
              <a:t>Macro</a:t>
            </a:r>
          </a:p>
        </p:txBody>
      </p:sp>
      <p:cxnSp>
        <p:nvCxnSpPr>
          <p:cNvPr id="109" name="Connector 108"/>
          <p:cNvCxnSpPr/>
          <p:nvPr/>
        </p:nvCxnSpPr>
        <p:spPr>
          <a:xfrm>
            <a:off x="8842248" y="4416552"/>
            <a:ext cx="128016" cy="0"/>
          </a:xfrm>
          <a:prstGeom prst="line">
            <a:avLst/>
          </a:prstGeom>
          <a:ln w="8255">
            <a:solidFill>
              <a:srgbClr val="66666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0" name="Rectangle 109"/>
          <p:cNvSpPr/>
          <p:nvPr/>
        </p:nvSpPr>
        <p:spPr>
          <a:xfrm>
            <a:off x="8970264" y="4416552"/>
            <a:ext cx="310896" cy="188105"/>
          </a:xfrm>
          <a:prstGeom prst="rect">
            <a:avLst/>
          </a:prstGeom>
          <a:solidFill>
            <a:srgbClr val="F169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TextBox 110"/>
          <p:cNvSpPr txBox="1"/>
          <p:nvPr/>
        </p:nvSpPr>
        <p:spPr>
          <a:xfrm>
            <a:off x="8897112" y="4632089"/>
            <a:ext cx="457200" cy="155448"/>
          </a:xfrm>
          <a:prstGeom prst="rect">
            <a:avLst/>
          </a:prstGeom>
          <a:noFill/>
          <a:ln>
            <a:noFill/>
          </a:ln>
        </p:spPr>
        <p:txBody>
          <a:bodyPr wrap="none" lIns="27432" tIns="18288" rIns="27432" bIns="18288" anchor="ctr">
            <a:normAutofit/>
          </a:bodyPr>
          <a:lstStyle/>
          <a:p>
            <a:pPr algn="ctr"/>
            <a:r>
              <a:rPr sz="580" b="1" i="0">
                <a:solidFill>
                  <a:srgbClr val="1F2937"/>
                </a:solidFill>
                <a:latin typeface="Calibri"/>
              </a:rPr>
              <a:t>-3M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8860536" y="6263640"/>
            <a:ext cx="530352" cy="402336"/>
          </a:xfrm>
          <a:prstGeom prst="rect">
            <a:avLst/>
          </a:prstGeom>
          <a:noFill/>
          <a:ln>
            <a:noFill/>
          </a:ln>
        </p:spPr>
        <p:txBody>
          <a:bodyPr wrap="none" lIns="27432" tIns="18288" rIns="27432" bIns="18288" anchor="ctr">
            <a:normAutofit/>
          </a:bodyPr>
          <a:lstStyle/>
          <a:p>
            <a:pPr algn="ctr"/>
            <a:r>
              <a:rPr sz="480" b="0" i="0">
                <a:solidFill>
                  <a:srgbClr val="1F2937"/>
                </a:solidFill>
                <a:latin typeface="Calibri"/>
              </a:rPr>
              <a:t>Competition</a:t>
            </a:r>
          </a:p>
        </p:txBody>
      </p:sp>
      <p:cxnSp>
        <p:nvCxnSpPr>
          <p:cNvPr id="113" name="Connector 112"/>
          <p:cNvCxnSpPr/>
          <p:nvPr/>
        </p:nvCxnSpPr>
        <p:spPr>
          <a:xfrm>
            <a:off x="9281160" y="4604657"/>
            <a:ext cx="128016" cy="0"/>
          </a:xfrm>
          <a:prstGeom prst="line">
            <a:avLst/>
          </a:prstGeom>
          <a:ln w="8255">
            <a:solidFill>
              <a:srgbClr val="66666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4" name="Rectangle 113"/>
          <p:cNvSpPr/>
          <p:nvPr/>
        </p:nvSpPr>
        <p:spPr>
          <a:xfrm>
            <a:off x="9409176" y="4604657"/>
            <a:ext cx="310896" cy="22860"/>
          </a:xfrm>
          <a:prstGeom prst="rect">
            <a:avLst/>
          </a:prstGeom>
          <a:solidFill>
            <a:srgbClr val="F169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5" name="TextBox 114"/>
          <p:cNvSpPr txBox="1"/>
          <p:nvPr/>
        </p:nvSpPr>
        <p:spPr>
          <a:xfrm>
            <a:off x="9336024" y="4403489"/>
            <a:ext cx="457200" cy="155448"/>
          </a:xfrm>
          <a:prstGeom prst="rect">
            <a:avLst/>
          </a:prstGeom>
          <a:noFill/>
          <a:ln>
            <a:noFill/>
          </a:ln>
        </p:spPr>
        <p:txBody>
          <a:bodyPr wrap="none" lIns="27432" tIns="18288" rIns="27432" bIns="18288" anchor="ctr">
            <a:normAutofit/>
          </a:bodyPr>
          <a:lstStyle/>
          <a:p>
            <a:pPr algn="ctr"/>
            <a:r>
              <a:rPr sz="580" b="1" i="0">
                <a:solidFill>
                  <a:srgbClr val="1F2937"/>
                </a:solidFill>
                <a:latin typeface="Calibri"/>
              </a:rPr>
              <a:t>+0M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299448" y="6263640"/>
            <a:ext cx="530352" cy="402336"/>
          </a:xfrm>
          <a:prstGeom prst="rect">
            <a:avLst/>
          </a:prstGeom>
          <a:noFill/>
          <a:ln>
            <a:noFill/>
          </a:ln>
        </p:spPr>
        <p:txBody>
          <a:bodyPr wrap="none" lIns="27432" tIns="18288" rIns="27432" bIns="18288" anchor="ctr">
            <a:normAutofit/>
          </a:bodyPr>
          <a:lstStyle/>
          <a:p>
            <a:pPr algn="ctr"/>
            <a:r>
              <a:rPr sz="480" b="0" i="0">
                <a:solidFill>
                  <a:srgbClr val="1F2937"/>
                </a:solidFill>
                <a:latin typeface="Calibri"/>
              </a:rPr>
              <a:t>Calendar /</a:t>
            </a:r>
            <a:br/>
            <a:r>
              <a:rPr sz="480" b="0" i="0">
                <a:solidFill>
                  <a:srgbClr val="1F2937"/>
                </a:solidFill>
                <a:latin typeface="Calibri"/>
              </a:rPr>
              <a:t>Footprint</a:t>
            </a:r>
          </a:p>
        </p:txBody>
      </p:sp>
      <p:cxnSp>
        <p:nvCxnSpPr>
          <p:cNvPr id="117" name="Connector 116"/>
          <p:cNvCxnSpPr/>
          <p:nvPr/>
        </p:nvCxnSpPr>
        <p:spPr>
          <a:xfrm>
            <a:off x="9720072" y="4604657"/>
            <a:ext cx="292608" cy="0"/>
          </a:xfrm>
          <a:prstGeom prst="line">
            <a:avLst/>
          </a:prstGeom>
          <a:ln w="8255">
            <a:solidFill>
              <a:srgbClr val="66666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8" name="Rectangle 117"/>
          <p:cNvSpPr/>
          <p:nvPr/>
        </p:nvSpPr>
        <p:spPr>
          <a:xfrm>
            <a:off x="10012680" y="3977639"/>
            <a:ext cx="310896" cy="627017"/>
          </a:xfrm>
          <a:prstGeom prst="rect">
            <a:avLst/>
          </a:prstGeom>
          <a:solidFill>
            <a:srgbClr val="276A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9" name="TextBox 118"/>
          <p:cNvSpPr txBox="1"/>
          <p:nvPr/>
        </p:nvSpPr>
        <p:spPr>
          <a:xfrm>
            <a:off x="9939528" y="3776472"/>
            <a:ext cx="457200" cy="155448"/>
          </a:xfrm>
          <a:prstGeom prst="rect">
            <a:avLst/>
          </a:prstGeom>
          <a:noFill/>
          <a:ln>
            <a:noFill/>
          </a:ln>
        </p:spPr>
        <p:txBody>
          <a:bodyPr wrap="none" lIns="27432" tIns="18288" rIns="27432" bIns="18288" anchor="ctr">
            <a:normAutofit/>
          </a:bodyPr>
          <a:lstStyle/>
          <a:p>
            <a:pPr algn="ctr"/>
            <a:r>
              <a:rPr sz="580" b="1" i="0">
                <a:solidFill>
                  <a:srgbClr val="1F2937"/>
                </a:solidFill>
                <a:latin typeface="Calibri"/>
              </a:rPr>
              <a:t>+10M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9902952" y="6263640"/>
            <a:ext cx="530352" cy="402336"/>
          </a:xfrm>
          <a:prstGeom prst="rect">
            <a:avLst/>
          </a:prstGeom>
          <a:noFill/>
          <a:ln>
            <a:noFill/>
          </a:ln>
        </p:spPr>
        <p:txBody>
          <a:bodyPr wrap="none" lIns="27432" tIns="18288" rIns="27432" bIns="18288" anchor="ctr">
            <a:normAutofit/>
          </a:bodyPr>
          <a:lstStyle/>
          <a:p>
            <a:pPr algn="ctr"/>
            <a:r>
              <a:rPr sz="480" b="0" i="0">
                <a:solidFill>
                  <a:srgbClr val="1F2937"/>
                </a:solidFill>
                <a:latin typeface="Calibri"/>
              </a:rPr>
              <a:t>Pricing</a:t>
            </a:r>
          </a:p>
        </p:txBody>
      </p:sp>
      <p:cxnSp>
        <p:nvCxnSpPr>
          <p:cNvPr id="121" name="Connector 120"/>
          <p:cNvCxnSpPr/>
          <p:nvPr/>
        </p:nvCxnSpPr>
        <p:spPr>
          <a:xfrm>
            <a:off x="10323576" y="3977639"/>
            <a:ext cx="128016" cy="0"/>
          </a:xfrm>
          <a:prstGeom prst="line">
            <a:avLst/>
          </a:prstGeom>
          <a:ln w="8255">
            <a:solidFill>
              <a:srgbClr val="66666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2" name="Rectangle 121"/>
          <p:cNvSpPr/>
          <p:nvPr/>
        </p:nvSpPr>
        <p:spPr>
          <a:xfrm>
            <a:off x="10451592" y="3413324"/>
            <a:ext cx="310896" cy="564315"/>
          </a:xfrm>
          <a:prstGeom prst="rect">
            <a:avLst/>
          </a:prstGeom>
          <a:solidFill>
            <a:srgbClr val="276A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3" name="TextBox 122"/>
          <p:cNvSpPr txBox="1"/>
          <p:nvPr/>
        </p:nvSpPr>
        <p:spPr>
          <a:xfrm>
            <a:off x="10378440" y="3212156"/>
            <a:ext cx="457200" cy="155448"/>
          </a:xfrm>
          <a:prstGeom prst="rect">
            <a:avLst/>
          </a:prstGeom>
          <a:noFill/>
          <a:ln>
            <a:noFill/>
          </a:ln>
        </p:spPr>
        <p:txBody>
          <a:bodyPr wrap="none" lIns="27432" tIns="18288" rIns="27432" bIns="18288" anchor="ctr">
            <a:normAutofit/>
          </a:bodyPr>
          <a:lstStyle/>
          <a:p>
            <a:pPr algn="ctr"/>
            <a:r>
              <a:rPr sz="580" b="1" i="0">
                <a:solidFill>
                  <a:srgbClr val="1F2937"/>
                </a:solidFill>
                <a:latin typeface="Calibri"/>
              </a:rPr>
              <a:t>+9M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10341864" y="6263640"/>
            <a:ext cx="530352" cy="402336"/>
          </a:xfrm>
          <a:prstGeom prst="rect">
            <a:avLst/>
          </a:prstGeom>
          <a:noFill/>
          <a:ln>
            <a:noFill/>
          </a:ln>
        </p:spPr>
        <p:txBody>
          <a:bodyPr wrap="none" lIns="27432" tIns="18288" rIns="27432" bIns="18288" anchor="ctr">
            <a:normAutofit/>
          </a:bodyPr>
          <a:lstStyle/>
          <a:p>
            <a:pPr algn="ctr"/>
            <a:r>
              <a:rPr sz="480" b="0" i="0">
                <a:solidFill>
                  <a:srgbClr val="1F2937"/>
                </a:solidFill>
                <a:latin typeface="Calibri"/>
              </a:rPr>
              <a:t>Promo /</a:t>
            </a:r>
            <a:br/>
            <a:r>
              <a:rPr sz="480" b="0" i="0">
                <a:solidFill>
                  <a:srgbClr val="1F2937"/>
                </a:solidFill>
                <a:latin typeface="Calibri"/>
              </a:rPr>
              <a:t>Value</a:t>
            </a:r>
          </a:p>
        </p:txBody>
      </p:sp>
      <p:cxnSp>
        <p:nvCxnSpPr>
          <p:cNvPr id="125" name="Connector 124"/>
          <p:cNvCxnSpPr/>
          <p:nvPr/>
        </p:nvCxnSpPr>
        <p:spPr>
          <a:xfrm>
            <a:off x="10762488" y="3413324"/>
            <a:ext cx="128016" cy="0"/>
          </a:xfrm>
          <a:prstGeom prst="line">
            <a:avLst/>
          </a:prstGeom>
          <a:ln w="8255">
            <a:solidFill>
              <a:srgbClr val="66666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6" name="Rectangle 125"/>
          <p:cNvSpPr/>
          <p:nvPr/>
        </p:nvSpPr>
        <p:spPr>
          <a:xfrm>
            <a:off x="10890504" y="2660904"/>
            <a:ext cx="310896" cy="752420"/>
          </a:xfrm>
          <a:prstGeom prst="rect">
            <a:avLst/>
          </a:prstGeom>
          <a:solidFill>
            <a:srgbClr val="276A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7" name="TextBox 126"/>
          <p:cNvSpPr txBox="1"/>
          <p:nvPr/>
        </p:nvSpPr>
        <p:spPr>
          <a:xfrm>
            <a:off x="10817352" y="2459736"/>
            <a:ext cx="457200" cy="155448"/>
          </a:xfrm>
          <a:prstGeom prst="rect">
            <a:avLst/>
          </a:prstGeom>
          <a:noFill/>
          <a:ln>
            <a:noFill/>
          </a:ln>
        </p:spPr>
        <p:txBody>
          <a:bodyPr wrap="none" lIns="27432" tIns="18288" rIns="27432" bIns="18288" anchor="ctr">
            <a:normAutofit/>
          </a:bodyPr>
          <a:lstStyle/>
          <a:p>
            <a:pPr algn="ctr"/>
            <a:r>
              <a:rPr sz="580" b="1" i="0">
                <a:solidFill>
                  <a:srgbClr val="1F2937"/>
                </a:solidFill>
                <a:latin typeface="Calibri"/>
              </a:rPr>
              <a:t>+12M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10780776" y="6263640"/>
            <a:ext cx="530352" cy="402336"/>
          </a:xfrm>
          <a:prstGeom prst="rect">
            <a:avLst/>
          </a:prstGeom>
          <a:noFill/>
          <a:ln>
            <a:noFill/>
          </a:ln>
        </p:spPr>
        <p:txBody>
          <a:bodyPr wrap="none" lIns="27432" tIns="18288" rIns="27432" bIns="18288" anchor="ctr">
            <a:normAutofit/>
          </a:bodyPr>
          <a:lstStyle/>
          <a:p>
            <a:pPr algn="ctr"/>
            <a:r>
              <a:rPr sz="480" b="0" i="0">
                <a:solidFill>
                  <a:srgbClr val="1F2937"/>
                </a:solidFill>
                <a:latin typeface="Calibri"/>
              </a:rPr>
              <a:t>Media</a:t>
            </a:r>
          </a:p>
        </p:txBody>
      </p:sp>
      <p:cxnSp>
        <p:nvCxnSpPr>
          <p:cNvPr id="129" name="Connector 128"/>
          <p:cNvCxnSpPr/>
          <p:nvPr/>
        </p:nvCxnSpPr>
        <p:spPr>
          <a:xfrm>
            <a:off x="11201400" y="2660904"/>
            <a:ext cx="128016" cy="0"/>
          </a:xfrm>
          <a:prstGeom prst="line">
            <a:avLst/>
          </a:prstGeom>
          <a:ln w="8255">
            <a:solidFill>
              <a:srgbClr val="66666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0" name="Rectangle 129"/>
          <p:cNvSpPr/>
          <p:nvPr/>
        </p:nvSpPr>
        <p:spPr>
          <a:xfrm>
            <a:off x="11329416" y="2159290"/>
            <a:ext cx="310896" cy="501613"/>
          </a:xfrm>
          <a:prstGeom prst="rect">
            <a:avLst/>
          </a:prstGeom>
          <a:solidFill>
            <a:srgbClr val="276A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1" name="TextBox 130"/>
          <p:cNvSpPr txBox="1"/>
          <p:nvPr/>
        </p:nvSpPr>
        <p:spPr>
          <a:xfrm>
            <a:off x="11256264" y="1958122"/>
            <a:ext cx="457200" cy="155448"/>
          </a:xfrm>
          <a:prstGeom prst="rect">
            <a:avLst/>
          </a:prstGeom>
          <a:noFill/>
          <a:ln>
            <a:noFill/>
          </a:ln>
        </p:spPr>
        <p:txBody>
          <a:bodyPr wrap="none" lIns="27432" tIns="18288" rIns="27432" bIns="18288" anchor="ctr">
            <a:normAutofit/>
          </a:bodyPr>
          <a:lstStyle/>
          <a:p>
            <a:pPr algn="ctr"/>
            <a:r>
              <a:rPr sz="580" b="1" i="0">
                <a:solidFill>
                  <a:srgbClr val="1F2937"/>
                </a:solidFill>
                <a:latin typeface="Calibri"/>
              </a:rPr>
              <a:t>+8M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11219688" y="6263640"/>
            <a:ext cx="530352" cy="402336"/>
          </a:xfrm>
          <a:prstGeom prst="rect">
            <a:avLst/>
          </a:prstGeom>
          <a:noFill/>
          <a:ln>
            <a:noFill/>
          </a:ln>
        </p:spPr>
        <p:txBody>
          <a:bodyPr wrap="none" lIns="27432" tIns="18288" rIns="27432" bIns="18288" anchor="ctr">
            <a:normAutofit/>
          </a:bodyPr>
          <a:lstStyle/>
          <a:p>
            <a:pPr algn="ctr"/>
            <a:r>
              <a:rPr sz="480" b="0" i="0">
                <a:solidFill>
                  <a:srgbClr val="1F2937"/>
                </a:solidFill>
                <a:latin typeface="Calibri"/>
              </a:rPr>
              <a:t>LTO /</a:t>
            </a:r>
            <a:br/>
            <a:r>
              <a:rPr sz="480" b="0" i="0">
                <a:solidFill>
                  <a:srgbClr val="1F2937"/>
                </a:solidFill>
                <a:latin typeface="Calibri"/>
              </a:rPr>
              <a:t>Menu</a:t>
            </a:r>
          </a:p>
        </p:txBody>
      </p:sp>
      <p:cxnSp>
        <p:nvCxnSpPr>
          <p:cNvPr id="133" name="Connector 132"/>
          <p:cNvCxnSpPr/>
          <p:nvPr/>
        </p:nvCxnSpPr>
        <p:spPr>
          <a:xfrm>
            <a:off x="11640312" y="2159290"/>
            <a:ext cx="128016" cy="0"/>
          </a:xfrm>
          <a:prstGeom prst="line">
            <a:avLst/>
          </a:prstGeom>
          <a:ln w="8255">
            <a:solidFill>
              <a:srgbClr val="66666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4" name="Rectangle 133"/>
          <p:cNvSpPr/>
          <p:nvPr/>
        </p:nvSpPr>
        <p:spPr>
          <a:xfrm>
            <a:off x="11768328" y="1971185"/>
            <a:ext cx="310896" cy="188105"/>
          </a:xfrm>
          <a:prstGeom prst="rect">
            <a:avLst/>
          </a:prstGeom>
          <a:solidFill>
            <a:srgbClr val="276A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5" name="TextBox 134"/>
          <p:cNvSpPr txBox="1"/>
          <p:nvPr/>
        </p:nvSpPr>
        <p:spPr>
          <a:xfrm>
            <a:off x="11695176" y="1810512"/>
            <a:ext cx="457200" cy="155448"/>
          </a:xfrm>
          <a:prstGeom prst="rect">
            <a:avLst/>
          </a:prstGeom>
          <a:noFill/>
          <a:ln>
            <a:noFill/>
          </a:ln>
        </p:spPr>
        <p:txBody>
          <a:bodyPr wrap="none" lIns="27432" tIns="18288" rIns="27432" bIns="18288" anchor="ctr">
            <a:normAutofit/>
          </a:bodyPr>
          <a:lstStyle/>
          <a:p>
            <a:pPr algn="ctr"/>
            <a:r>
              <a:rPr sz="580" b="1" i="0">
                <a:solidFill>
                  <a:srgbClr val="1F2937"/>
                </a:solidFill>
                <a:latin typeface="Calibri"/>
              </a:rPr>
              <a:t>+3M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11658600" y="6263640"/>
            <a:ext cx="530352" cy="402336"/>
          </a:xfrm>
          <a:prstGeom prst="rect">
            <a:avLst/>
          </a:prstGeom>
          <a:noFill/>
          <a:ln>
            <a:noFill/>
          </a:ln>
        </p:spPr>
        <p:txBody>
          <a:bodyPr wrap="none" lIns="27432" tIns="18288" rIns="27432" bIns="18288" anchor="ctr">
            <a:normAutofit/>
          </a:bodyPr>
          <a:lstStyle/>
          <a:p>
            <a:pPr algn="ctr"/>
            <a:r>
              <a:rPr sz="480" b="0" i="0">
                <a:solidFill>
                  <a:srgbClr val="1F2937"/>
                </a:solidFill>
                <a:latin typeface="Calibri"/>
              </a:rPr>
              <a:t>Digital /</a:t>
            </a:r>
            <a:br/>
            <a:r>
              <a:rPr sz="480" b="0" i="0">
                <a:solidFill>
                  <a:srgbClr val="1F2937"/>
                </a:solidFill>
                <a:latin typeface="Calibri"/>
              </a:rPr>
              <a:t>CRM</a:t>
            </a:r>
          </a:p>
        </p:txBody>
      </p:sp>
      <p:cxnSp>
        <p:nvCxnSpPr>
          <p:cNvPr id="137" name="Connector 136"/>
          <p:cNvCxnSpPr/>
          <p:nvPr/>
        </p:nvCxnSpPr>
        <p:spPr>
          <a:xfrm>
            <a:off x="12079224" y="1971185"/>
            <a:ext cx="265176" cy="0"/>
          </a:xfrm>
          <a:prstGeom prst="line">
            <a:avLst/>
          </a:prstGeom>
          <a:ln w="8255">
            <a:solidFill>
              <a:srgbClr val="66666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8" name="Rectangle 137"/>
          <p:cNvSpPr/>
          <p:nvPr/>
        </p:nvSpPr>
        <p:spPr>
          <a:xfrm>
            <a:off x="12344400" y="1720378"/>
            <a:ext cx="310896" cy="250806"/>
          </a:xfrm>
          <a:prstGeom prst="rect">
            <a:avLst/>
          </a:prstGeom>
          <a:solidFill>
            <a:srgbClr val="744D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9" name="TextBox 138"/>
          <p:cNvSpPr txBox="1"/>
          <p:nvPr/>
        </p:nvSpPr>
        <p:spPr>
          <a:xfrm>
            <a:off x="12271248" y="1810512"/>
            <a:ext cx="457200" cy="155448"/>
          </a:xfrm>
          <a:prstGeom prst="rect">
            <a:avLst/>
          </a:prstGeom>
          <a:noFill/>
          <a:ln>
            <a:noFill/>
          </a:ln>
        </p:spPr>
        <p:txBody>
          <a:bodyPr wrap="none" lIns="27432" tIns="18288" rIns="27432" bIns="18288" anchor="ctr">
            <a:normAutofit/>
          </a:bodyPr>
          <a:lstStyle/>
          <a:p>
            <a:pPr algn="ctr"/>
            <a:r>
              <a:rPr sz="580" b="1" i="0">
                <a:solidFill>
                  <a:srgbClr val="1F2937"/>
                </a:solidFill>
                <a:latin typeface="Calibri"/>
              </a:rPr>
              <a:t>+4M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12234672" y="6263640"/>
            <a:ext cx="530352" cy="402336"/>
          </a:xfrm>
          <a:prstGeom prst="rect">
            <a:avLst/>
          </a:prstGeom>
          <a:noFill/>
          <a:ln>
            <a:noFill/>
          </a:ln>
        </p:spPr>
        <p:txBody>
          <a:bodyPr wrap="none" lIns="27432" tIns="18288" rIns="27432" bIns="18288" anchor="ctr">
            <a:normAutofit/>
          </a:bodyPr>
          <a:lstStyle/>
          <a:p>
            <a:pPr algn="ctr"/>
            <a:r>
              <a:rPr sz="480" b="0" i="0">
                <a:solidFill>
                  <a:srgbClr val="1F2937"/>
                </a:solidFill>
                <a:latin typeface="Calibri"/>
              </a:rPr>
              <a:t>Foundation</a:t>
            </a:r>
            <a:br/>
            <a:r>
              <a:rPr sz="480" b="0" i="0">
                <a:solidFill>
                  <a:srgbClr val="1F2937"/>
                </a:solidFill>
                <a:latin typeface="Calibri"/>
              </a:rPr>
              <a:t>Enablement</a:t>
            </a:r>
          </a:p>
        </p:txBody>
      </p:sp>
      <p:cxnSp>
        <p:nvCxnSpPr>
          <p:cNvPr id="141" name="Connector 140"/>
          <p:cNvCxnSpPr/>
          <p:nvPr/>
        </p:nvCxnSpPr>
        <p:spPr>
          <a:xfrm>
            <a:off x="12655296" y="1720378"/>
            <a:ext cx="128016" cy="0"/>
          </a:xfrm>
          <a:prstGeom prst="line">
            <a:avLst/>
          </a:prstGeom>
          <a:ln w="8255">
            <a:solidFill>
              <a:srgbClr val="66666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2" name="Rectangle 141"/>
          <p:cNvSpPr/>
          <p:nvPr/>
        </p:nvSpPr>
        <p:spPr>
          <a:xfrm>
            <a:off x="12783312" y="1720378"/>
            <a:ext cx="310896" cy="313508"/>
          </a:xfrm>
          <a:prstGeom prst="rect">
            <a:avLst/>
          </a:prstGeom>
          <a:solidFill>
            <a:srgbClr val="744D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43" name="Connector 142"/>
          <p:cNvCxnSpPr/>
          <p:nvPr/>
        </p:nvCxnSpPr>
        <p:spPr>
          <a:xfrm flipV="1">
            <a:off x="12801600" y="1729522"/>
            <a:ext cx="146304" cy="295220"/>
          </a:xfrm>
          <a:prstGeom prst="line">
            <a:avLst/>
          </a:prstGeom>
          <a:ln w="5715">
            <a:solidFill>
              <a:srgbClr val="744D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Connector 143"/>
          <p:cNvCxnSpPr/>
          <p:nvPr/>
        </p:nvCxnSpPr>
        <p:spPr>
          <a:xfrm flipV="1">
            <a:off x="12879324" y="1729522"/>
            <a:ext cx="146304" cy="295220"/>
          </a:xfrm>
          <a:prstGeom prst="line">
            <a:avLst/>
          </a:prstGeom>
          <a:ln w="5715">
            <a:solidFill>
              <a:srgbClr val="744D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Connector 144"/>
          <p:cNvCxnSpPr/>
          <p:nvPr/>
        </p:nvCxnSpPr>
        <p:spPr>
          <a:xfrm flipV="1">
            <a:off x="12957048" y="1729522"/>
            <a:ext cx="146304" cy="295220"/>
          </a:xfrm>
          <a:prstGeom prst="line">
            <a:avLst/>
          </a:prstGeom>
          <a:ln w="5715">
            <a:solidFill>
              <a:srgbClr val="744D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Connector 145"/>
          <p:cNvCxnSpPr/>
          <p:nvPr/>
        </p:nvCxnSpPr>
        <p:spPr>
          <a:xfrm flipV="1">
            <a:off x="13034772" y="1729522"/>
            <a:ext cx="146304" cy="295220"/>
          </a:xfrm>
          <a:prstGeom prst="line">
            <a:avLst/>
          </a:prstGeom>
          <a:ln w="5715">
            <a:solidFill>
              <a:srgbClr val="744D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7" name="TextBox 146"/>
          <p:cNvSpPr txBox="1"/>
          <p:nvPr/>
        </p:nvSpPr>
        <p:spPr>
          <a:xfrm>
            <a:off x="12710160" y="2061318"/>
            <a:ext cx="457200" cy="155448"/>
          </a:xfrm>
          <a:prstGeom prst="rect">
            <a:avLst/>
          </a:prstGeom>
          <a:noFill/>
          <a:ln>
            <a:noFill/>
          </a:ln>
        </p:spPr>
        <p:txBody>
          <a:bodyPr wrap="none" lIns="27432" tIns="18288" rIns="27432" bIns="18288" anchor="ctr">
            <a:normAutofit/>
          </a:bodyPr>
          <a:lstStyle/>
          <a:p>
            <a:pPr algn="ctr"/>
            <a:r>
              <a:rPr sz="580" b="1" i="0">
                <a:solidFill>
                  <a:srgbClr val="1F2937"/>
                </a:solidFill>
                <a:latin typeface="Calibri"/>
              </a:rPr>
              <a:t>-5M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12673584" y="6263640"/>
            <a:ext cx="530352" cy="402336"/>
          </a:xfrm>
          <a:prstGeom prst="rect">
            <a:avLst/>
          </a:prstGeom>
          <a:noFill/>
          <a:ln>
            <a:noFill/>
          </a:ln>
        </p:spPr>
        <p:txBody>
          <a:bodyPr wrap="none" lIns="27432" tIns="18288" rIns="27432" bIns="18288" anchor="ctr">
            <a:normAutofit/>
          </a:bodyPr>
          <a:lstStyle/>
          <a:p>
            <a:pPr algn="ctr"/>
            <a:r>
              <a:rPr sz="480" b="0" i="0">
                <a:solidFill>
                  <a:srgbClr val="1F2937"/>
                </a:solidFill>
                <a:latin typeface="Calibri"/>
              </a:rPr>
              <a:t>Bottleneck</a:t>
            </a:r>
            <a:br/>
            <a:r>
              <a:rPr sz="480" b="0" i="0">
                <a:solidFill>
                  <a:srgbClr val="1F2937"/>
                </a:solidFill>
                <a:latin typeface="Calibri"/>
              </a:rPr>
              <a:t>Drag</a:t>
            </a:r>
          </a:p>
        </p:txBody>
      </p:sp>
      <p:cxnSp>
        <p:nvCxnSpPr>
          <p:cNvPr id="149" name="Connector 148"/>
          <p:cNvCxnSpPr/>
          <p:nvPr/>
        </p:nvCxnSpPr>
        <p:spPr>
          <a:xfrm>
            <a:off x="13094208" y="2033886"/>
            <a:ext cx="237744" cy="0"/>
          </a:xfrm>
          <a:prstGeom prst="line">
            <a:avLst/>
          </a:prstGeom>
          <a:ln w="8255">
            <a:solidFill>
              <a:srgbClr val="66666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0" name="Rectangle 149"/>
          <p:cNvSpPr/>
          <p:nvPr/>
        </p:nvSpPr>
        <p:spPr>
          <a:xfrm>
            <a:off x="13331952" y="2033886"/>
            <a:ext cx="310896" cy="564315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51" name="Connector 150"/>
          <p:cNvCxnSpPr/>
          <p:nvPr/>
        </p:nvCxnSpPr>
        <p:spPr>
          <a:xfrm flipV="1">
            <a:off x="13350240" y="2043030"/>
            <a:ext cx="146304" cy="546028"/>
          </a:xfrm>
          <a:prstGeom prst="line">
            <a:avLst/>
          </a:prstGeom>
          <a:ln w="5715">
            <a:solidFill>
              <a:srgbClr val="AAAA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Connector 151"/>
          <p:cNvCxnSpPr/>
          <p:nvPr/>
        </p:nvCxnSpPr>
        <p:spPr>
          <a:xfrm flipV="1">
            <a:off x="13427964" y="2043030"/>
            <a:ext cx="146304" cy="546028"/>
          </a:xfrm>
          <a:prstGeom prst="line">
            <a:avLst/>
          </a:prstGeom>
          <a:ln w="5715">
            <a:solidFill>
              <a:srgbClr val="AAAA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Connector 152"/>
          <p:cNvCxnSpPr/>
          <p:nvPr/>
        </p:nvCxnSpPr>
        <p:spPr>
          <a:xfrm flipV="1">
            <a:off x="13505688" y="2043030"/>
            <a:ext cx="146304" cy="546028"/>
          </a:xfrm>
          <a:prstGeom prst="line">
            <a:avLst/>
          </a:prstGeom>
          <a:ln w="5715">
            <a:solidFill>
              <a:srgbClr val="AAAA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Connector 153"/>
          <p:cNvCxnSpPr/>
          <p:nvPr/>
        </p:nvCxnSpPr>
        <p:spPr>
          <a:xfrm flipV="1">
            <a:off x="13583412" y="2043030"/>
            <a:ext cx="146304" cy="546028"/>
          </a:xfrm>
          <a:prstGeom prst="line">
            <a:avLst/>
          </a:prstGeom>
          <a:ln w="5715">
            <a:solidFill>
              <a:srgbClr val="AAAA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5" name="TextBox 154"/>
          <p:cNvSpPr txBox="1"/>
          <p:nvPr/>
        </p:nvSpPr>
        <p:spPr>
          <a:xfrm>
            <a:off x="13258800" y="2625634"/>
            <a:ext cx="457200" cy="155448"/>
          </a:xfrm>
          <a:prstGeom prst="rect">
            <a:avLst/>
          </a:prstGeom>
          <a:noFill/>
          <a:ln>
            <a:noFill/>
          </a:ln>
        </p:spPr>
        <p:txBody>
          <a:bodyPr wrap="none" lIns="27432" tIns="18288" rIns="27432" bIns="18288" anchor="ctr">
            <a:normAutofit/>
          </a:bodyPr>
          <a:lstStyle/>
          <a:p>
            <a:pPr algn="ctr"/>
            <a:r>
              <a:rPr sz="580" b="1" i="0">
                <a:solidFill>
                  <a:srgbClr val="1F2937"/>
                </a:solidFill>
                <a:latin typeface="Calibri"/>
              </a:rPr>
              <a:t>-9M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13222224" y="6263640"/>
            <a:ext cx="530352" cy="402336"/>
          </a:xfrm>
          <a:prstGeom prst="rect">
            <a:avLst/>
          </a:prstGeom>
          <a:noFill/>
          <a:ln>
            <a:noFill/>
          </a:ln>
        </p:spPr>
        <p:txBody>
          <a:bodyPr wrap="none" lIns="27432" tIns="18288" rIns="27432" bIns="18288" anchor="ctr">
            <a:normAutofit/>
          </a:bodyPr>
          <a:lstStyle/>
          <a:p>
            <a:pPr algn="ctr"/>
            <a:r>
              <a:rPr sz="480" b="0" i="0">
                <a:solidFill>
                  <a:srgbClr val="1F2937"/>
                </a:solidFill>
                <a:latin typeface="Calibri"/>
              </a:rPr>
              <a:t>Known</a:t>
            </a:r>
            <a:br/>
            <a:r>
              <a:rPr sz="480" b="0" i="0">
                <a:solidFill>
                  <a:srgbClr val="1F2937"/>
                </a:solidFill>
                <a:latin typeface="Calibri"/>
              </a:rPr>
              <a:t>Data Gap</a:t>
            </a:r>
          </a:p>
        </p:txBody>
      </p:sp>
      <p:cxnSp>
        <p:nvCxnSpPr>
          <p:cNvPr id="157" name="Connector 156"/>
          <p:cNvCxnSpPr/>
          <p:nvPr/>
        </p:nvCxnSpPr>
        <p:spPr>
          <a:xfrm>
            <a:off x="13642848" y="2598202"/>
            <a:ext cx="128016" cy="0"/>
          </a:xfrm>
          <a:prstGeom prst="line">
            <a:avLst/>
          </a:prstGeom>
          <a:ln w="8255">
            <a:solidFill>
              <a:srgbClr val="66666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8" name="Rectangle 157"/>
          <p:cNvSpPr/>
          <p:nvPr/>
        </p:nvSpPr>
        <p:spPr>
          <a:xfrm>
            <a:off x="13770864" y="2598202"/>
            <a:ext cx="310896" cy="125403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9" name="TextBox 158"/>
          <p:cNvSpPr txBox="1"/>
          <p:nvPr/>
        </p:nvSpPr>
        <p:spPr>
          <a:xfrm>
            <a:off x="13697712" y="2751037"/>
            <a:ext cx="457200" cy="155448"/>
          </a:xfrm>
          <a:prstGeom prst="rect">
            <a:avLst/>
          </a:prstGeom>
          <a:noFill/>
          <a:ln>
            <a:noFill/>
          </a:ln>
        </p:spPr>
        <p:txBody>
          <a:bodyPr wrap="none" lIns="27432" tIns="18288" rIns="27432" bIns="18288" anchor="ctr">
            <a:normAutofit/>
          </a:bodyPr>
          <a:lstStyle/>
          <a:p>
            <a:pPr algn="ctr"/>
            <a:r>
              <a:rPr sz="580" b="1" i="0">
                <a:solidFill>
                  <a:srgbClr val="1F2937"/>
                </a:solidFill>
                <a:latin typeface="Calibri"/>
              </a:rPr>
              <a:t>-2M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13661136" y="6263640"/>
            <a:ext cx="530352" cy="402336"/>
          </a:xfrm>
          <a:prstGeom prst="rect">
            <a:avLst/>
          </a:prstGeom>
          <a:noFill/>
          <a:ln>
            <a:noFill/>
          </a:ln>
        </p:spPr>
        <p:txBody>
          <a:bodyPr wrap="none" lIns="27432" tIns="18288" rIns="27432" bIns="18288" anchor="ctr">
            <a:normAutofit/>
          </a:bodyPr>
          <a:lstStyle/>
          <a:p>
            <a:pPr algn="ctr"/>
            <a:r>
              <a:rPr sz="480" b="0" i="0">
                <a:solidFill>
                  <a:srgbClr val="1F2937"/>
                </a:solidFill>
                <a:latin typeface="Calibri"/>
              </a:rPr>
              <a:t>Residual</a:t>
            </a:r>
          </a:p>
        </p:txBody>
      </p:sp>
      <p:sp>
        <p:nvSpPr>
          <p:cNvPr id="161" name="Rectangle 160"/>
          <p:cNvSpPr/>
          <p:nvPr/>
        </p:nvSpPr>
        <p:spPr>
          <a:xfrm>
            <a:off x="14191488" y="2723605"/>
            <a:ext cx="384048" cy="3448594"/>
          </a:xfrm>
          <a:prstGeom prst="rect">
            <a:avLst/>
          </a:prstGeom>
          <a:solidFill>
            <a:srgbClr val="0A1C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2" name="TextBox 161"/>
          <p:cNvSpPr txBox="1"/>
          <p:nvPr/>
        </p:nvSpPr>
        <p:spPr>
          <a:xfrm>
            <a:off x="14127480" y="2495005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none" lIns="27432" tIns="18288" rIns="27432" bIns="18288" anchor="ctr">
            <a:normAutofit/>
          </a:bodyPr>
          <a:lstStyle/>
          <a:p>
            <a:pPr algn="ctr"/>
            <a:r>
              <a:rPr sz="800" b="1" i="0">
                <a:solidFill>
                  <a:srgbClr val="1F2937"/>
                </a:solidFill>
                <a:latin typeface="Calibri"/>
              </a:rPr>
              <a:t>350M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14081760" y="6263640"/>
            <a:ext cx="603503" cy="365760"/>
          </a:xfrm>
          <a:prstGeom prst="rect">
            <a:avLst/>
          </a:prstGeom>
          <a:noFill/>
          <a:ln>
            <a:noFill/>
          </a:ln>
        </p:spPr>
        <p:txBody>
          <a:bodyPr wrap="none" lIns="27432" tIns="18288" rIns="27432" bIns="18288" anchor="ctr">
            <a:normAutofit/>
          </a:bodyPr>
          <a:lstStyle/>
          <a:p>
            <a:pPr algn="ctr"/>
            <a:r>
              <a:rPr sz="530" b="1" i="0">
                <a:solidFill>
                  <a:srgbClr val="1F2937"/>
                </a:solidFill>
                <a:latin typeface="Calibri"/>
              </a:rPr>
              <a:t>2025 Actual</a:t>
            </a:r>
            <a:br/>
            <a:r>
              <a:rPr sz="530" b="1" i="0">
                <a:solidFill>
                  <a:srgbClr val="1F2937"/>
                </a:solidFill>
                <a:latin typeface="Calibri"/>
              </a:rPr>
              <a:t>GC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2331720" y="6903720"/>
            <a:ext cx="2057400" cy="320040"/>
          </a:xfrm>
          <a:prstGeom prst="rect">
            <a:avLst/>
          </a:prstGeom>
          <a:solidFill>
            <a:srgbClr val="ECF7EF"/>
          </a:solidFill>
          <a:ln w="6350">
            <a:solidFill>
              <a:srgbClr val="B4DCBE"/>
            </a:solidFill>
          </a:ln>
        </p:spPr>
        <p:txBody>
          <a:bodyPr wrap="none" lIns="27432" tIns="18288" rIns="27432" bIns="18288" anchor="ctr">
            <a:normAutofit/>
          </a:bodyPr>
          <a:lstStyle/>
          <a:p>
            <a:pPr algn="ctr"/>
            <a:r>
              <a:rPr sz="630" b="1" i="0">
                <a:solidFill>
                  <a:srgbClr val="228B37"/>
                </a:solidFill>
                <a:latin typeface="Calibri"/>
              </a:rPr>
              <a:t>+23M protected GC</a:t>
            </a:r>
            <a:br/>
            <a:r>
              <a:rPr sz="630" b="1" i="0">
                <a:solidFill>
                  <a:srgbClr val="228B37"/>
                </a:solidFill>
                <a:latin typeface="Calibri"/>
              </a:rPr>
              <a:t>Maintains base vs degraded foundation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5349240" y="6903720"/>
            <a:ext cx="1965960" cy="320040"/>
          </a:xfrm>
          <a:prstGeom prst="rect">
            <a:avLst/>
          </a:prstGeom>
          <a:solidFill>
            <a:srgbClr val="EAF8FA"/>
          </a:solidFill>
          <a:ln w="6350">
            <a:solidFill>
              <a:srgbClr val="AFDCE1"/>
            </a:solidFill>
          </a:ln>
        </p:spPr>
        <p:txBody>
          <a:bodyPr wrap="none" lIns="27432" tIns="18288" rIns="27432" bIns="18288" anchor="ctr">
            <a:normAutofit/>
          </a:bodyPr>
          <a:lstStyle/>
          <a:p>
            <a:pPr algn="ctr"/>
            <a:r>
              <a:rPr sz="600" b="1" i="0">
                <a:solidFill>
                  <a:srgbClr val="008997"/>
                </a:solidFill>
                <a:latin typeface="Calibri"/>
              </a:rPr>
              <a:t>+2M net foundation movement</a:t>
            </a:r>
            <a:br/>
            <a:r>
              <a:rPr sz="600" b="1" i="0">
                <a:solidFill>
                  <a:srgbClr val="008997"/>
                </a:solidFill>
                <a:latin typeface="Calibri"/>
              </a:rPr>
              <a:t>Actual changes vs BAU / LY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8001000" y="6903720"/>
            <a:ext cx="1783080" cy="320040"/>
          </a:xfrm>
          <a:prstGeom prst="rect">
            <a:avLst/>
          </a:prstGeom>
          <a:solidFill>
            <a:srgbClr val="FFF3ED"/>
          </a:solidFill>
          <a:ln w="6350">
            <a:solidFill>
              <a:srgbClr val="F0C8B4"/>
            </a:solidFill>
          </a:ln>
        </p:spPr>
        <p:txBody>
          <a:bodyPr wrap="none" lIns="27432" tIns="18288" rIns="27432" bIns="18288" anchor="ctr">
            <a:normAutofit/>
          </a:bodyPr>
          <a:lstStyle/>
          <a:p>
            <a:pPr algn="ctr"/>
            <a:r>
              <a:rPr sz="600" b="1" i="0">
                <a:solidFill>
                  <a:srgbClr val="F16924"/>
                </a:solidFill>
                <a:latin typeface="Calibri"/>
              </a:rPr>
              <a:t>-15M external context</a:t>
            </a:r>
            <a:br/>
            <a:r>
              <a:rPr sz="600" b="1" i="0">
                <a:solidFill>
                  <a:srgbClr val="F16924"/>
                </a:solidFill>
                <a:latin typeface="Calibri"/>
              </a:rPr>
              <a:t>Weather, macro, competition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10104120" y="6903720"/>
            <a:ext cx="1920240" cy="320040"/>
          </a:xfrm>
          <a:prstGeom prst="rect">
            <a:avLst/>
          </a:prstGeom>
          <a:solidFill>
            <a:srgbClr val="EDF4FF"/>
          </a:solidFill>
          <a:ln w="6350">
            <a:solidFill>
              <a:srgbClr val="B4CDF0"/>
            </a:solidFill>
          </a:ln>
        </p:spPr>
        <p:txBody>
          <a:bodyPr wrap="none" lIns="27432" tIns="18288" rIns="27432" bIns="18288" anchor="ctr">
            <a:normAutofit/>
          </a:bodyPr>
          <a:lstStyle/>
          <a:p>
            <a:pPr algn="ctr"/>
            <a:r>
              <a:rPr sz="600" b="1" i="0">
                <a:solidFill>
                  <a:srgbClr val="276AD2"/>
                </a:solidFill>
                <a:latin typeface="Calibri"/>
              </a:rPr>
              <a:t>+42M commercial movement</a:t>
            </a:r>
            <a:br/>
            <a:r>
              <a:rPr sz="600" b="1" i="0">
                <a:solidFill>
                  <a:srgbClr val="276AD2"/>
                </a:solidFill>
                <a:latin typeface="Calibri"/>
              </a:rPr>
              <a:t>Pricing, promo, media, LTO, digital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11932920" y="6903720"/>
            <a:ext cx="1143000" cy="320040"/>
          </a:xfrm>
          <a:prstGeom prst="rect">
            <a:avLst/>
          </a:prstGeom>
          <a:solidFill>
            <a:srgbClr val="F6F1FC"/>
          </a:solidFill>
          <a:ln w="6350">
            <a:solidFill>
              <a:srgbClr val="CDB9E6"/>
            </a:solidFill>
          </a:ln>
        </p:spPr>
        <p:txBody>
          <a:bodyPr wrap="none" lIns="27432" tIns="18288" rIns="27432" bIns="18288" anchor="ctr">
            <a:normAutofit/>
          </a:bodyPr>
          <a:lstStyle/>
          <a:p>
            <a:pPr algn="ctr"/>
            <a:r>
              <a:rPr sz="550" b="1" i="0">
                <a:solidFill>
                  <a:srgbClr val="744DA6"/>
                </a:solidFill>
                <a:latin typeface="Calibri"/>
              </a:rPr>
              <a:t>-1M net enablement</a:t>
            </a:r>
            <a:br/>
            <a:r>
              <a:rPr sz="550" b="1" i="0">
                <a:solidFill>
                  <a:srgbClr val="744DA6"/>
                </a:solidFill>
                <a:latin typeface="Calibri"/>
              </a:rPr>
              <a:t>Readiness lift less bottleneck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13194792" y="6903720"/>
            <a:ext cx="1051560" cy="320040"/>
          </a:xfrm>
          <a:prstGeom prst="rect">
            <a:avLst/>
          </a:prstGeom>
          <a:solidFill>
            <a:srgbClr val="F5F5F5"/>
          </a:solidFill>
          <a:ln w="6350">
            <a:solidFill>
              <a:srgbClr val="C8C8C8"/>
            </a:solidFill>
          </a:ln>
        </p:spPr>
        <p:txBody>
          <a:bodyPr wrap="none" lIns="27432" tIns="18288" rIns="27432" bIns="18288" anchor="ctr">
            <a:normAutofit/>
          </a:bodyPr>
          <a:lstStyle/>
          <a:p>
            <a:pPr algn="ctr"/>
            <a:r>
              <a:rPr sz="550" b="1" i="0">
                <a:solidFill>
                  <a:srgbClr val="666666"/>
                </a:solidFill>
                <a:latin typeface="Calibri"/>
              </a:rPr>
              <a:t>-11M gap / residual</a:t>
            </a:r>
            <a:br/>
            <a:r>
              <a:rPr sz="550" b="1" i="0">
                <a:solidFill>
                  <a:srgbClr val="666666"/>
                </a:solidFill>
                <a:latin typeface="Calibri"/>
              </a:rPr>
              <a:t>Still not fully measured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274320" y="7635240"/>
            <a:ext cx="14081760" cy="256032"/>
          </a:xfrm>
          <a:prstGeom prst="rect">
            <a:avLst/>
          </a:prstGeom>
          <a:noFill/>
          <a:ln>
            <a:noFill/>
          </a:ln>
        </p:spPr>
        <p:txBody>
          <a:bodyPr wrap="none" lIns="27432" tIns="18288" rIns="27432" bIns="18288" anchor="ctr">
            <a:normAutofit/>
          </a:bodyPr>
          <a:lstStyle/>
          <a:p>
            <a:pPr algn="ctr"/>
            <a:r>
              <a:rPr sz="620" b="0" i="1">
                <a:solidFill>
                  <a:srgbClr val="5D636D"/>
                </a:solidFill>
                <a:latin typeface="Calibri"/>
              </a:rPr>
              <a:t>Method note: foundation domains appear twice with different meanings — (1) protected base / avoided loss versus degraded counterfactual, and (2) actual movement versus BAU or last year. Values shown are illustrative placeholders.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274320" y="7936992"/>
            <a:ext cx="14081760" cy="164592"/>
          </a:xfrm>
          <a:prstGeom prst="rect">
            <a:avLst/>
          </a:prstGeom>
          <a:noFill/>
          <a:ln>
            <a:noFill/>
          </a:ln>
        </p:spPr>
        <p:txBody>
          <a:bodyPr wrap="none" lIns="27432" tIns="18288" rIns="27432" bIns="18288" anchor="ctr">
            <a:normAutofit/>
          </a:bodyPr>
          <a:lstStyle/>
          <a:p>
            <a:pPr algn="ctr"/>
            <a:r>
              <a:rPr sz="530" b="0" i="0">
                <a:solidFill>
                  <a:srgbClr val="5D636D"/>
                </a:solidFill>
                <a:latin typeface="Calibri"/>
              </a:rPr>
              <a:t>Counterfactual base is a scenario, not last year actual. 2024 actual is shown only as reference.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gc_decomposition_waterfall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14630034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" y="0"/>
            <a:ext cx="14630034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160"/>
          </a:p>
        </p:txBody>
      </p:sp>
      <p:sp>
        <p:nvSpPr>
          <p:cNvPr id="3" name="TextBox 2"/>
          <p:cNvSpPr txBox="1"/>
          <p:nvPr/>
        </p:nvSpPr>
        <p:spPr>
          <a:xfrm>
            <a:off x="274320" y="175566"/>
            <a:ext cx="13716000" cy="487519"/>
          </a:xfrm>
          <a:prstGeom prst="rect">
            <a:avLst/>
          </a:prstGeom>
          <a:noFill/>
        </p:spPr>
        <p:txBody>
          <a:bodyPr wrap="square" lIns="21946" tIns="21946" rIns="21946" bIns="21946" anchor="t">
            <a:spAutoFit/>
          </a:bodyPr>
          <a:lstStyle/>
          <a:p>
            <a:pPr algn="l"/>
            <a:r>
              <a:rPr sz="2880" b="1">
                <a:solidFill>
                  <a:srgbClr val="081B49"/>
                </a:solidFill>
                <a:latin typeface="Aptos"/>
              </a:rPr>
              <a:t>GC Decomposition: Protected Base + Growth Movement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5293" y="625449"/>
            <a:ext cx="12893040" cy="243734"/>
          </a:xfrm>
          <a:prstGeom prst="rect">
            <a:avLst/>
          </a:prstGeom>
          <a:noFill/>
        </p:spPr>
        <p:txBody>
          <a:bodyPr wrap="square" lIns="21946" tIns="21946" rIns="21946" bIns="21946" anchor="t">
            <a:spAutoFit/>
          </a:bodyPr>
          <a:lstStyle/>
          <a:p>
            <a:pPr algn="l"/>
            <a:r>
              <a:rPr sz="1296">
                <a:solidFill>
                  <a:srgbClr val="4D5054"/>
                </a:solidFill>
                <a:latin typeface="Aptos"/>
              </a:rPr>
              <a:t>From a counterfactual weak foundation to 2025 actuals through foundation protection, external context, and commercial actions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307239" y="1130199"/>
            <a:ext cx="307238" cy="307238"/>
          </a:xfrm>
          <a:prstGeom prst="rect">
            <a:avLst/>
          </a:prstGeom>
          <a:solidFill>
            <a:srgbClr val="081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160"/>
          </a:p>
        </p:txBody>
      </p:sp>
      <p:sp>
        <p:nvSpPr>
          <p:cNvPr id="6" name="TextBox 5"/>
          <p:cNvSpPr txBox="1"/>
          <p:nvPr/>
        </p:nvSpPr>
        <p:spPr>
          <a:xfrm>
            <a:off x="312725" y="1157631"/>
            <a:ext cx="296266" cy="2031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2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1119226"/>
            <a:ext cx="1854403" cy="383773"/>
          </a:xfrm>
          <a:prstGeom prst="rect">
            <a:avLst/>
          </a:prstGeom>
          <a:noFill/>
        </p:spPr>
        <p:txBody>
          <a:bodyPr wrap="square" lIns="21946" tIns="21946" rIns="21946" bIns="21946" anchor="t">
            <a:spAutoFit/>
          </a:bodyPr>
          <a:lstStyle/>
          <a:p>
            <a:pPr algn="l"/>
            <a:r>
              <a:rPr sz="1103" b="1">
                <a:solidFill>
                  <a:srgbClr val="000000"/>
                </a:solidFill>
                <a:latin typeface="Aptos"/>
              </a:rPr>
              <a:t>Counterfactual
Weak Foundation Base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07238" y="1547165"/>
            <a:ext cx="2249424" cy="0"/>
          </a:xfrm>
          <a:prstGeom prst="line">
            <a:avLst/>
          </a:prstGeom>
          <a:ln w="13970">
            <a:solidFill>
              <a:srgbClr val="081B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307239" y="1656893"/>
            <a:ext cx="2249423" cy="454241"/>
          </a:xfrm>
          <a:prstGeom prst="rect">
            <a:avLst/>
          </a:prstGeom>
          <a:noFill/>
        </p:spPr>
        <p:txBody>
          <a:bodyPr wrap="square" lIns="21946" tIns="21946" rIns="21946" bIns="21946" anchor="t">
            <a:spAutoFit/>
          </a:bodyPr>
          <a:lstStyle/>
          <a:p>
            <a:pPr algn="l"/>
            <a:r>
              <a:rPr sz="888">
                <a:solidFill>
                  <a:srgbClr val="4D5054"/>
                </a:solidFill>
                <a:latin typeface="Aptos"/>
              </a:rPr>
              <a:t>Weak GC scenario
if the business foundation
performed at a degraded level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98064" y="1130199"/>
            <a:ext cx="307238" cy="307238"/>
          </a:xfrm>
          <a:prstGeom prst="rect">
            <a:avLst/>
          </a:prstGeom>
          <a:solidFill>
            <a:srgbClr val="1489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160"/>
          </a:p>
        </p:txBody>
      </p:sp>
      <p:sp>
        <p:nvSpPr>
          <p:cNvPr id="11" name="TextBox 10"/>
          <p:cNvSpPr txBox="1"/>
          <p:nvPr/>
        </p:nvSpPr>
        <p:spPr>
          <a:xfrm>
            <a:off x="2803549" y="1157631"/>
            <a:ext cx="296266" cy="2031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2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4057" y="1119226"/>
            <a:ext cx="2545690" cy="383773"/>
          </a:xfrm>
          <a:prstGeom prst="rect">
            <a:avLst/>
          </a:prstGeom>
          <a:noFill/>
        </p:spPr>
        <p:txBody>
          <a:bodyPr wrap="square" lIns="21946" tIns="21946" rIns="21946" bIns="21946" anchor="t">
            <a:spAutoFit/>
          </a:bodyPr>
          <a:lstStyle/>
          <a:p>
            <a:pPr algn="l"/>
            <a:r>
              <a:rPr sz="1103" b="1">
                <a:solidFill>
                  <a:srgbClr val="000000"/>
                </a:solidFill>
                <a:latin typeface="Aptos"/>
              </a:rPr>
              <a:t>Foundation Protection /
BAU Base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798064" y="1547165"/>
            <a:ext cx="2940710" cy="0"/>
          </a:xfrm>
          <a:prstGeom prst="line">
            <a:avLst/>
          </a:prstGeom>
          <a:ln w="13970">
            <a:solidFill>
              <a:srgbClr val="1489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2798064" y="1656893"/>
            <a:ext cx="2940710" cy="454241"/>
          </a:xfrm>
          <a:prstGeom prst="rect">
            <a:avLst/>
          </a:prstGeom>
          <a:noFill/>
        </p:spPr>
        <p:txBody>
          <a:bodyPr wrap="square" lIns="21946" tIns="21946" rIns="21946" bIns="21946" anchor="t">
            <a:spAutoFit/>
          </a:bodyPr>
          <a:lstStyle/>
          <a:p>
            <a:pPr algn="l"/>
            <a:r>
              <a:rPr sz="888">
                <a:solidFill>
                  <a:srgbClr val="4D5054"/>
                </a:solidFill>
                <a:latin typeface="Aptos"/>
              </a:rPr>
              <a:t>Credit for maintaining the business engine,
protecting the GC base, and capturing
incremental BAU improvements.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644444" y="1097280"/>
            <a:ext cx="0" cy="1119226"/>
          </a:xfrm>
          <a:prstGeom prst="line">
            <a:avLst/>
          </a:prstGeom>
          <a:ln w="7620">
            <a:solidFill>
              <a:srgbClr val="D9DD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5980176" y="1130199"/>
            <a:ext cx="307238" cy="307238"/>
          </a:xfrm>
          <a:prstGeom prst="rect">
            <a:avLst/>
          </a:prstGeom>
          <a:solidFill>
            <a:srgbClr val="EC5C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160"/>
          </a:p>
        </p:txBody>
      </p:sp>
      <p:sp>
        <p:nvSpPr>
          <p:cNvPr id="17" name="TextBox 16"/>
          <p:cNvSpPr txBox="1"/>
          <p:nvPr/>
        </p:nvSpPr>
        <p:spPr>
          <a:xfrm>
            <a:off x="5985662" y="1157631"/>
            <a:ext cx="296266" cy="2031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2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86169" y="1119226"/>
            <a:ext cx="1777594" cy="214047"/>
          </a:xfrm>
          <a:prstGeom prst="rect">
            <a:avLst/>
          </a:prstGeom>
          <a:noFill/>
        </p:spPr>
        <p:txBody>
          <a:bodyPr wrap="square" lIns="21946" tIns="21946" rIns="21946" bIns="21946" anchor="t">
            <a:spAutoFit/>
          </a:bodyPr>
          <a:lstStyle/>
          <a:p>
            <a:pPr algn="l"/>
            <a:r>
              <a:rPr sz="1103" b="1">
                <a:solidFill>
                  <a:srgbClr val="000000"/>
                </a:solidFill>
                <a:latin typeface="Aptos"/>
              </a:rPr>
              <a:t>External Context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980176" y="1547165"/>
            <a:ext cx="2172614" cy="0"/>
          </a:xfrm>
          <a:prstGeom prst="line">
            <a:avLst/>
          </a:prstGeom>
          <a:ln w="13970">
            <a:solidFill>
              <a:srgbClr val="EC5C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980176" y="1656893"/>
            <a:ext cx="2172614" cy="454241"/>
          </a:xfrm>
          <a:prstGeom prst="rect">
            <a:avLst/>
          </a:prstGeom>
          <a:noFill/>
        </p:spPr>
        <p:txBody>
          <a:bodyPr wrap="square" lIns="21946" tIns="21946" rIns="21946" bIns="21946" anchor="t">
            <a:spAutoFit/>
          </a:bodyPr>
          <a:lstStyle/>
          <a:p>
            <a:pPr algn="l"/>
            <a:r>
              <a:rPr sz="888">
                <a:solidFill>
                  <a:srgbClr val="4D5054"/>
                </a:solidFill>
                <a:latin typeface="Aptos"/>
              </a:rPr>
              <a:t>External context
not controlled by the business
moves GC above or below base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826557" y="1097280"/>
            <a:ext cx="0" cy="1119226"/>
          </a:xfrm>
          <a:prstGeom prst="line">
            <a:avLst/>
          </a:prstGeom>
          <a:ln w="7620">
            <a:solidFill>
              <a:srgbClr val="D9DD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8449056" y="1130199"/>
            <a:ext cx="307238" cy="307238"/>
          </a:xfrm>
          <a:prstGeom prst="rect">
            <a:avLst/>
          </a:prstGeom>
          <a:solidFill>
            <a:srgbClr val="1C65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160"/>
          </a:p>
        </p:txBody>
      </p:sp>
      <p:sp>
        <p:nvSpPr>
          <p:cNvPr id="23" name="TextBox 22"/>
          <p:cNvSpPr txBox="1"/>
          <p:nvPr/>
        </p:nvSpPr>
        <p:spPr>
          <a:xfrm>
            <a:off x="8454542" y="1157631"/>
            <a:ext cx="296266" cy="2031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2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55049" y="1119226"/>
            <a:ext cx="1997050" cy="383773"/>
          </a:xfrm>
          <a:prstGeom prst="rect">
            <a:avLst/>
          </a:prstGeom>
          <a:noFill/>
        </p:spPr>
        <p:txBody>
          <a:bodyPr wrap="square" lIns="21946" tIns="21946" rIns="21946" bIns="21946" anchor="t">
            <a:spAutoFit/>
          </a:bodyPr>
          <a:lstStyle/>
          <a:p>
            <a:pPr algn="l"/>
            <a:r>
              <a:rPr sz="1103" b="1">
                <a:solidFill>
                  <a:srgbClr val="000000"/>
                </a:solidFill>
                <a:latin typeface="Aptos"/>
              </a:rPr>
              <a:t>Growth Movement /
Campaign Actions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8449056" y="1547165"/>
            <a:ext cx="2392070" cy="0"/>
          </a:xfrm>
          <a:prstGeom prst="line">
            <a:avLst/>
          </a:prstGeom>
          <a:ln w="13970">
            <a:solidFill>
              <a:srgbClr val="1C65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8449056" y="1656893"/>
            <a:ext cx="2392070" cy="454241"/>
          </a:xfrm>
          <a:prstGeom prst="rect">
            <a:avLst/>
          </a:prstGeom>
          <a:noFill/>
        </p:spPr>
        <p:txBody>
          <a:bodyPr wrap="square" lIns="21946" tIns="21946" rIns="21946" bIns="21946" anchor="t">
            <a:spAutoFit/>
          </a:bodyPr>
          <a:lstStyle/>
          <a:p>
            <a:pPr algn="l"/>
            <a:r>
              <a:rPr sz="888">
                <a:solidFill>
                  <a:srgbClr val="4D5054"/>
                </a:solidFill>
                <a:latin typeface="Aptos"/>
              </a:rPr>
              <a:t>Commercial movement
moves GC above the
protected base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295437" y="1097280"/>
            <a:ext cx="0" cy="1119226"/>
          </a:xfrm>
          <a:prstGeom prst="line">
            <a:avLst/>
          </a:prstGeom>
          <a:ln w="7620">
            <a:solidFill>
              <a:srgbClr val="D9DD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11104474" y="1130199"/>
            <a:ext cx="307238" cy="307238"/>
          </a:xfrm>
          <a:prstGeom prst="rect">
            <a:avLst/>
          </a:prstGeom>
          <a:solidFill>
            <a:srgbClr val="4D50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160"/>
          </a:p>
        </p:txBody>
      </p:sp>
      <p:sp>
        <p:nvSpPr>
          <p:cNvPr id="29" name="TextBox 28"/>
          <p:cNvSpPr txBox="1"/>
          <p:nvPr/>
        </p:nvSpPr>
        <p:spPr>
          <a:xfrm>
            <a:off x="11109960" y="1157631"/>
            <a:ext cx="296266" cy="2031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2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510466" y="1119226"/>
            <a:ext cx="1305763" cy="214047"/>
          </a:xfrm>
          <a:prstGeom prst="rect">
            <a:avLst/>
          </a:prstGeom>
          <a:noFill/>
        </p:spPr>
        <p:txBody>
          <a:bodyPr wrap="square" lIns="21946" tIns="21946" rIns="21946" bIns="21946" anchor="t">
            <a:spAutoFit/>
          </a:bodyPr>
          <a:lstStyle/>
          <a:p>
            <a:pPr algn="l"/>
            <a:r>
              <a:rPr sz="1103" b="1">
                <a:solidFill>
                  <a:srgbClr val="000000"/>
                </a:solidFill>
                <a:latin typeface="Aptos"/>
              </a:rPr>
              <a:t>Gap / Residual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11104474" y="1547165"/>
            <a:ext cx="1700784" cy="0"/>
          </a:xfrm>
          <a:prstGeom prst="line">
            <a:avLst/>
          </a:prstGeom>
          <a:ln w="13970">
            <a:solidFill>
              <a:srgbClr val="4D50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11104474" y="1656893"/>
            <a:ext cx="1700784" cy="317601"/>
          </a:xfrm>
          <a:prstGeom prst="rect">
            <a:avLst/>
          </a:prstGeom>
          <a:noFill/>
        </p:spPr>
        <p:txBody>
          <a:bodyPr wrap="square" lIns="21946" tIns="21946" rIns="21946" bIns="21946" anchor="t">
            <a:spAutoFit/>
          </a:bodyPr>
          <a:lstStyle/>
          <a:p>
            <a:pPr algn="l"/>
            <a:r>
              <a:rPr sz="888">
                <a:solidFill>
                  <a:srgbClr val="4D5054"/>
                </a:solidFill>
                <a:latin typeface="Aptos"/>
              </a:rPr>
              <a:t>Remaining gap
not fully measured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10950853" y="1097280"/>
            <a:ext cx="0" cy="1119226"/>
          </a:xfrm>
          <a:prstGeom prst="line">
            <a:avLst/>
          </a:prstGeom>
          <a:ln w="7620">
            <a:solidFill>
              <a:srgbClr val="D9DD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ectangle 33"/>
          <p:cNvSpPr/>
          <p:nvPr/>
        </p:nvSpPr>
        <p:spPr>
          <a:xfrm>
            <a:off x="274320" y="4800600"/>
            <a:ext cx="373075" cy="1102766"/>
          </a:xfrm>
          <a:prstGeom prst="rect">
            <a:avLst/>
          </a:prstGeom>
          <a:solidFill>
            <a:srgbClr val="081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160"/>
          </a:p>
        </p:txBody>
      </p:sp>
      <p:sp>
        <p:nvSpPr>
          <p:cNvPr id="35" name="TextBox 34"/>
          <p:cNvSpPr txBox="1"/>
          <p:nvPr/>
        </p:nvSpPr>
        <p:spPr>
          <a:xfrm>
            <a:off x="142647" y="4471417"/>
            <a:ext cx="636422" cy="350815"/>
          </a:xfrm>
          <a:prstGeom prst="rect">
            <a:avLst/>
          </a:prstGeom>
          <a:noFill/>
        </p:spPr>
        <p:txBody>
          <a:bodyPr wrap="square" lIns="21946" tIns="21946" rIns="21946" bIns="21946" anchor="t">
            <a:spAutoFit/>
          </a:bodyPr>
          <a:lstStyle/>
          <a:p>
            <a:pPr algn="ctr"/>
            <a:r>
              <a:rPr sz="996" b="1">
                <a:solidFill>
                  <a:srgbClr val="000000"/>
                </a:solidFill>
                <a:latin typeface="Aptos"/>
              </a:rPr>
              <a:t>330M
(100.0%)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64592" y="5952745"/>
            <a:ext cx="592531" cy="288105"/>
          </a:xfrm>
          <a:prstGeom prst="rect">
            <a:avLst/>
          </a:prstGeom>
          <a:noFill/>
        </p:spPr>
        <p:txBody>
          <a:bodyPr wrap="square" lIns="21946" tIns="21946" rIns="21946" bIns="21946" anchor="t">
            <a:spAutoFit/>
          </a:bodyPr>
          <a:lstStyle/>
          <a:p>
            <a:pPr algn="ctr"/>
            <a:r>
              <a:rPr sz="792" b="1">
                <a:solidFill>
                  <a:srgbClr val="000000"/>
                </a:solidFill>
                <a:latin typeface="Aptos"/>
              </a:rPr>
              <a:t>2024
Actual GC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228954" y="5535778"/>
            <a:ext cx="373075" cy="367589"/>
          </a:xfrm>
          <a:prstGeom prst="rect">
            <a:avLst/>
          </a:prstGeom>
          <a:solidFill>
            <a:srgbClr val="9094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160"/>
          </a:p>
        </p:txBody>
      </p:sp>
      <p:sp>
        <p:nvSpPr>
          <p:cNvPr id="38" name="TextBox 37"/>
          <p:cNvSpPr txBox="1"/>
          <p:nvPr/>
        </p:nvSpPr>
        <p:spPr>
          <a:xfrm>
            <a:off x="1097280" y="5206594"/>
            <a:ext cx="636422" cy="350815"/>
          </a:xfrm>
          <a:prstGeom prst="rect">
            <a:avLst/>
          </a:prstGeom>
          <a:noFill/>
        </p:spPr>
        <p:txBody>
          <a:bodyPr wrap="square" lIns="21946" tIns="21946" rIns="21946" bIns="21946" anchor="t">
            <a:spAutoFit/>
          </a:bodyPr>
          <a:lstStyle/>
          <a:p>
            <a:pPr algn="ctr"/>
            <a:r>
              <a:rPr sz="996" b="1">
                <a:solidFill>
                  <a:srgbClr val="000000"/>
                </a:solidFill>
                <a:latin typeface="Aptos"/>
              </a:rPr>
              <a:t>310M
(93.9%)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19226" y="5952745"/>
            <a:ext cx="592531" cy="653783"/>
          </a:xfrm>
          <a:prstGeom prst="rect">
            <a:avLst/>
          </a:prstGeom>
          <a:noFill/>
        </p:spPr>
        <p:txBody>
          <a:bodyPr wrap="square" lIns="21946" tIns="21946" rIns="21946" bIns="21946" anchor="t">
            <a:spAutoFit/>
          </a:bodyPr>
          <a:lstStyle/>
          <a:p>
            <a:pPr algn="ctr"/>
            <a:r>
              <a:rPr sz="792" b="1">
                <a:solidFill>
                  <a:srgbClr val="000000"/>
                </a:solidFill>
                <a:latin typeface="Aptos"/>
              </a:rPr>
              <a:t>Weak
Foundation
Base
(counterfactual)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647395" y="4800600"/>
            <a:ext cx="581558" cy="735178"/>
          </a:xfrm>
          <a:prstGeom prst="line">
            <a:avLst/>
          </a:prstGeom>
          <a:ln w="10795">
            <a:solidFill>
              <a:srgbClr val="4D505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ectangle 40"/>
          <p:cNvSpPr/>
          <p:nvPr/>
        </p:nvSpPr>
        <p:spPr>
          <a:xfrm>
            <a:off x="1997050" y="5315224"/>
            <a:ext cx="373075" cy="220553"/>
          </a:xfrm>
          <a:prstGeom prst="rect">
            <a:avLst/>
          </a:prstGeom>
          <a:solidFill>
            <a:srgbClr val="1489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160"/>
          </a:p>
        </p:txBody>
      </p:sp>
      <p:sp>
        <p:nvSpPr>
          <p:cNvPr id="42" name="TextBox 41"/>
          <p:cNvSpPr txBox="1"/>
          <p:nvPr/>
        </p:nvSpPr>
        <p:spPr>
          <a:xfrm>
            <a:off x="1887322" y="5007985"/>
            <a:ext cx="592531" cy="302853"/>
          </a:xfrm>
          <a:prstGeom prst="rect">
            <a:avLst/>
          </a:prstGeom>
          <a:noFill/>
        </p:spPr>
        <p:txBody>
          <a:bodyPr wrap="square" lIns="21946" tIns="21946" rIns="21946" bIns="21946" anchor="t">
            <a:spAutoFit/>
          </a:bodyPr>
          <a:lstStyle/>
          <a:p>
            <a:pPr algn="ctr"/>
            <a:r>
              <a:rPr sz="840" b="1">
                <a:solidFill>
                  <a:srgbClr val="000000"/>
                </a:solidFill>
                <a:latin typeface="Aptos"/>
              </a:rPr>
              <a:t>+6M
(+1.8%)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909267" y="5952744"/>
            <a:ext cx="548640" cy="153261"/>
          </a:xfrm>
          <a:prstGeom prst="rect">
            <a:avLst/>
          </a:prstGeom>
          <a:noFill/>
        </p:spPr>
        <p:txBody>
          <a:bodyPr wrap="square" lIns="21946" tIns="21946" rIns="21946" bIns="21946" anchor="t">
            <a:spAutoFit/>
          </a:bodyPr>
          <a:lstStyle/>
          <a:p>
            <a:pPr algn="ctr"/>
            <a:r>
              <a:rPr sz="708">
                <a:solidFill>
                  <a:srgbClr val="000000"/>
                </a:solidFill>
                <a:latin typeface="Aptos"/>
              </a:rPr>
              <a:t>Speed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468880" y="5021153"/>
            <a:ext cx="373075" cy="294071"/>
          </a:xfrm>
          <a:prstGeom prst="rect">
            <a:avLst/>
          </a:prstGeom>
          <a:solidFill>
            <a:srgbClr val="1489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160"/>
          </a:p>
        </p:txBody>
      </p:sp>
      <p:sp>
        <p:nvSpPr>
          <p:cNvPr id="45" name="TextBox 44"/>
          <p:cNvSpPr txBox="1"/>
          <p:nvPr/>
        </p:nvSpPr>
        <p:spPr>
          <a:xfrm>
            <a:off x="2359152" y="4713915"/>
            <a:ext cx="592531" cy="302853"/>
          </a:xfrm>
          <a:prstGeom prst="rect">
            <a:avLst/>
          </a:prstGeom>
          <a:noFill/>
        </p:spPr>
        <p:txBody>
          <a:bodyPr wrap="square" lIns="21946" tIns="21946" rIns="21946" bIns="21946" anchor="t">
            <a:spAutoFit/>
          </a:bodyPr>
          <a:lstStyle/>
          <a:p>
            <a:pPr algn="ctr"/>
            <a:r>
              <a:rPr sz="840" b="1">
                <a:solidFill>
                  <a:srgbClr val="000000"/>
                </a:solidFill>
                <a:latin typeface="Aptos"/>
              </a:rPr>
              <a:t>+8M
(+2.4%)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381098" y="5952744"/>
            <a:ext cx="548640" cy="262201"/>
          </a:xfrm>
          <a:prstGeom prst="rect">
            <a:avLst/>
          </a:prstGeom>
          <a:noFill/>
        </p:spPr>
        <p:txBody>
          <a:bodyPr wrap="square" lIns="21946" tIns="21946" rIns="21946" bIns="21946" anchor="t">
            <a:spAutoFit/>
          </a:bodyPr>
          <a:lstStyle/>
          <a:p>
            <a:pPr algn="ctr"/>
            <a:r>
              <a:rPr sz="708">
                <a:solidFill>
                  <a:srgbClr val="000000"/>
                </a:solidFill>
                <a:latin typeface="Aptos"/>
              </a:rPr>
              <a:t>Supply
Chain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940711" y="4910877"/>
            <a:ext cx="373075" cy="110276"/>
          </a:xfrm>
          <a:prstGeom prst="rect">
            <a:avLst/>
          </a:prstGeom>
          <a:solidFill>
            <a:srgbClr val="1489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160"/>
          </a:p>
        </p:txBody>
      </p:sp>
      <p:sp>
        <p:nvSpPr>
          <p:cNvPr id="48" name="TextBox 47"/>
          <p:cNvSpPr txBox="1"/>
          <p:nvPr/>
        </p:nvSpPr>
        <p:spPr>
          <a:xfrm>
            <a:off x="2830983" y="4603638"/>
            <a:ext cx="592531" cy="302853"/>
          </a:xfrm>
          <a:prstGeom prst="rect">
            <a:avLst/>
          </a:prstGeom>
          <a:noFill/>
        </p:spPr>
        <p:txBody>
          <a:bodyPr wrap="square" lIns="21946" tIns="21946" rIns="21946" bIns="21946" anchor="t">
            <a:spAutoFit/>
          </a:bodyPr>
          <a:lstStyle/>
          <a:p>
            <a:pPr algn="ctr"/>
            <a:r>
              <a:rPr sz="840" b="1">
                <a:solidFill>
                  <a:srgbClr val="000000"/>
                </a:solidFill>
                <a:latin typeface="Aptos"/>
              </a:rPr>
              <a:t>+3M
(+0.9%)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852928" y="5952744"/>
            <a:ext cx="548640" cy="153261"/>
          </a:xfrm>
          <a:prstGeom prst="rect">
            <a:avLst/>
          </a:prstGeom>
          <a:noFill/>
        </p:spPr>
        <p:txBody>
          <a:bodyPr wrap="square" lIns="21946" tIns="21946" rIns="21946" bIns="21946" anchor="t">
            <a:spAutoFit/>
          </a:bodyPr>
          <a:lstStyle/>
          <a:p>
            <a:pPr algn="ctr"/>
            <a:r>
              <a:rPr sz="708">
                <a:solidFill>
                  <a:srgbClr val="000000"/>
                </a:solidFill>
                <a:latin typeface="Aptos"/>
              </a:rPr>
              <a:t>CSAT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412541" y="4837358"/>
            <a:ext cx="373075" cy="73517"/>
          </a:xfrm>
          <a:prstGeom prst="rect">
            <a:avLst/>
          </a:prstGeom>
          <a:solidFill>
            <a:srgbClr val="1489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160"/>
          </a:p>
        </p:txBody>
      </p:sp>
      <p:sp>
        <p:nvSpPr>
          <p:cNvPr id="51" name="TextBox 50"/>
          <p:cNvSpPr txBox="1"/>
          <p:nvPr/>
        </p:nvSpPr>
        <p:spPr>
          <a:xfrm>
            <a:off x="3302813" y="4530120"/>
            <a:ext cx="592531" cy="302853"/>
          </a:xfrm>
          <a:prstGeom prst="rect">
            <a:avLst/>
          </a:prstGeom>
          <a:noFill/>
        </p:spPr>
        <p:txBody>
          <a:bodyPr wrap="square" lIns="21946" tIns="21946" rIns="21946" bIns="21946" anchor="t">
            <a:spAutoFit/>
          </a:bodyPr>
          <a:lstStyle/>
          <a:p>
            <a:pPr algn="ctr"/>
            <a:r>
              <a:rPr sz="840" b="1">
                <a:solidFill>
                  <a:srgbClr val="000000"/>
                </a:solidFill>
                <a:latin typeface="Aptos"/>
              </a:rPr>
              <a:t>+2M
(+0.6%)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324758" y="5952744"/>
            <a:ext cx="548640" cy="153261"/>
          </a:xfrm>
          <a:prstGeom prst="rect">
            <a:avLst/>
          </a:prstGeom>
          <a:noFill/>
        </p:spPr>
        <p:txBody>
          <a:bodyPr wrap="square" lIns="21946" tIns="21946" rIns="21946" bIns="21946" anchor="t">
            <a:spAutoFit/>
          </a:bodyPr>
          <a:lstStyle/>
          <a:p>
            <a:pPr algn="ctr"/>
            <a:r>
              <a:rPr sz="708">
                <a:solidFill>
                  <a:srgbClr val="000000"/>
                </a:solidFill>
                <a:latin typeface="Aptos"/>
              </a:rPr>
              <a:t>Tech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884371" y="4800600"/>
            <a:ext cx="373075" cy="43891"/>
          </a:xfrm>
          <a:prstGeom prst="rect">
            <a:avLst/>
          </a:prstGeom>
          <a:solidFill>
            <a:srgbClr val="1489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160"/>
          </a:p>
        </p:txBody>
      </p:sp>
      <p:sp>
        <p:nvSpPr>
          <p:cNvPr id="54" name="TextBox 53"/>
          <p:cNvSpPr txBox="1"/>
          <p:nvPr/>
        </p:nvSpPr>
        <p:spPr>
          <a:xfrm>
            <a:off x="3774643" y="4493362"/>
            <a:ext cx="592531" cy="302853"/>
          </a:xfrm>
          <a:prstGeom prst="rect">
            <a:avLst/>
          </a:prstGeom>
          <a:noFill/>
        </p:spPr>
        <p:txBody>
          <a:bodyPr wrap="square" lIns="21946" tIns="21946" rIns="21946" bIns="21946" anchor="t">
            <a:spAutoFit/>
          </a:bodyPr>
          <a:lstStyle/>
          <a:p>
            <a:pPr algn="ctr"/>
            <a:r>
              <a:rPr sz="840" b="1">
                <a:solidFill>
                  <a:srgbClr val="000000"/>
                </a:solidFill>
                <a:latin typeface="Aptos"/>
              </a:rPr>
              <a:t>+1M
(+0.3%)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796589" y="5952744"/>
            <a:ext cx="548640" cy="262201"/>
          </a:xfrm>
          <a:prstGeom prst="rect">
            <a:avLst/>
          </a:prstGeom>
          <a:noFill/>
        </p:spPr>
        <p:txBody>
          <a:bodyPr wrap="square" lIns="21946" tIns="21946" rIns="21946" bIns="21946" anchor="t">
            <a:spAutoFit/>
          </a:bodyPr>
          <a:lstStyle/>
          <a:p>
            <a:pPr algn="ctr"/>
            <a:r>
              <a:rPr sz="708">
                <a:solidFill>
                  <a:srgbClr val="000000"/>
                </a:solidFill>
                <a:latin typeface="Aptos"/>
              </a:rPr>
              <a:t>People /
Hours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356202" y="4690323"/>
            <a:ext cx="373075" cy="110276"/>
          </a:xfrm>
          <a:prstGeom prst="rect">
            <a:avLst/>
          </a:prstGeom>
          <a:solidFill>
            <a:srgbClr val="1489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160"/>
          </a:p>
        </p:txBody>
      </p:sp>
      <p:sp>
        <p:nvSpPr>
          <p:cNvPr id="57" name="TextBox 56"/>
          <p:cNvSpPr txBox="1"/>
          <p:nvPr/>
        </p:nvSpPr>
        <p:spPr>
          <a:xfrm>
            <a:off x="4246474" y="4383084"/>
            <a:ext cx="592531" cy="302853"/>
          </a:xfrm>
          <a:prstGeom prst="rect">
            <a:avLst/>
          </a:prstGeom>
          <a:noFill/>
        </p:spPr>
        <p:txBody>
          <a:bodyPr wrap="square" lIns="21946" tIns="21946" rIns="21946" bIns="21946" anchor="t">
            <a:spAutoFit/>
          </a:bodyPr>
          <a:lstStyle/>
          <a:p>
            <a:pPr algn="ctr"/>
            <a:r>
              <a:rPr sz="840" b="1">
                <a:solidFill>
                  <a:srgbClr val="000000"/>
                </a:solidFill>
                <a:latin typeface="Aptos"/>
              </a:rPr>
              <a:t>+3M
(+0.9%)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268419" y="5952744"/>
            <a:ext cx="548640" cy="153261"/>
          </a:xfrm>
          <a:prstGeom prst="rect">
            <a:avLst/>
          </a:prstGeom>
          <a:noFill/>
        </p:spPr>
        <p:txBody>
          <a:bodyPr wrap="square" lIns="21946" tIns="21946" rIns="21946" bIns="21946" anchor="t">
            <a:spAutoFit/>
          </a:bodyPr>
          <a:lstStyle/>
          <a:p>
            <a:pPr algn="ctr"/>
            <a:r>
              <a:rPr sz="708">
                <a:solidFill>
                  <a:srgbClr val="000000"/>
                </a:solidFill>
                <a:latin typeface="Aptos"/>
              </a:rPr>
              <a:t>Loyalty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828032" y="4690323"/>
            <a:ext cx="373075" cy="1213043"/>
          </a:xfrm>
          <a:prstGeom prst="rect">
            <a:avLst/>
          </a:prstGeom>
          <a:solidFill>
            <a:srgbClr val="081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160"/>
          </a:p>
        </p:txBody>
      </p:sp>
      <p:sp>
        <p:nvSpPr>
          <p:cNvPr id="60" name="TextBox 59"/>
          <p:cNvSpPr txBox="1"/>
          <p:nvPr/>
        </p:nvSpPr>
        <p:spPr>
          <a:xfrm>
            <a:off x="4696359" y="4361139"/>
            <a:ext cx="636422" cy="350815"/>
          </a:xfrm>
          <a:prstGeom prst="rect">
            <a:avLst/>
          </a:prstGeom>
          <a:noFill/>
        </p:spPr>
        <p:txBody>
          <a:bodyPr wrap="square" lIns="21946" tIns="21946" rIns="21946" bIns="21946" anchor="t">
            <a:spAutoFit/>
          </a:bodyPr>
          <a:lstStyle/>
          <a:p>
            <a:pPr algn="ctr"/>
            <a:r>
              <a:rPr sz="996" b="1">
                <a:solidFill>
                  <a:srgbClr val="000000"/>
                </a:solidFill>
                <a:latin typeface="Aptos"/>
              </a:rPr>
              <a:t>333M
(100.9%)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718304" y="5952744"/>
            <a:ext cx="592531" cy="288105"/>
          </a:xfrm>
          <a:prstGeom prst="rect">
            <a:avLst/>
          </a:prstGeom>
          <a:noFill/>
        </p:spPr>
        <p:txBody>
          <a:bodyPr wrap="square" lIns="21946" tIns="21946" rIns="21946" bIns="21946" anchor="t">
            <a:spAutoFit/>
          </a:bodyPr>
          <a:lstStyle/>
          <a:p>
            <a:pPr algn="ctr"/>
            <a:r>
              <a:rPr sz="792" b="1">
                <a:solidFill>
                  <a:srgbClr val="000000"/>
                </a:solidFill>
                <a:latin typeface="Aptos"/>
              </a:rPr>
              <a:t>Protected
BAU Base</a:t>
            </a:r>
          </a:p>
        </p:txBody>
      </p:sp>
      <p:cxnSp>
        <p:nvCxnSpPr>
          <p:cNvPr id="62" name="Connector 61"/>
          <p:cNvCxnSpPr/>
          <p:nvPr/>
        </p:nvCxnSpPr>
        <p:spPr>
          <a:xfrm>
            <a:off x="4729277" y="4690322"/>
            <a:ext cx="98755" cy="0"/>
          </a:xfrm>
          <a:prstGeom prst="line">
            <a:avLst/>
          </a:prstGeom>
          <a:ln w="10160">
            <a:solidFill>
              <a:srgbClr val="4D505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Rounded Rectangle 62"/>
          <p:cNvSpPr/>
          <p:nvPr/>
        </p:nvSpPr>
        <p:spPr>
          <a:xfrm>
            <a:off x="1821485" y="2721254"/>
            <a:ext cx="3708806" cy="77906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489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7782" rIns="87782" rtlCol="0" anchor="ctr"/>
          <a:lstStyle/>
          <a:p>
            <a:pPr algn="ctr"/>
            <a:r>
              <a:rPr sz="1392" b="1">
                <a:solidFill>
                  <a:srgbClr val="148943"/>
                </a:solidFill>
                <a:latin typeface="Aptos"/>
              </a:rPr>
              <a:t>+23M protected + improved GC
(+7.0%)</a:t>
            </a:r>
          </a:p>
          <a:p>
            <a:pPr algn="ctr">
              <a:spcBef>
                <a:spcPts val="120"/>
              </a:spcBef>
            </a:pPr>
            <a:r>
              <a:rPr sz="864">
                <a:solidFill>
                  <a:srgbClr val="4D5054"/>
                </a:solidFill>
                <a:latin typeface="Aptos"/>
              </a:rPr>
              <a:t>Includes base protection vs. weak foundation
plus incremental BAU improvements
(speed, supply, CSAT, tech, people / hours, loyalty).</a:t>
            </a:r>
          </a:p>
        </p:txBody>
      </p:sp>
      <p:cxnSp>
        <p:nvCxnSpPr>
          <p:cNvPr id="64" name="Connector 63"/>
          <p:cNvCxnSpPr/>
          <p:nvPr/>
        </p:nvCxnSpPr>
        <p:spPr>
          <a:xfrm>
            <a:off x="1700784" y="3621024"/>
            <a:ext cx="0" cy="768096"/>
          </a:xfrm>
          <a:prstGeom prst="line">
            <a:avLst/>
          </a:prstGeom>
          <a:ln w="13335">
            <a:solidFill>
              <a:srgbClr val="148943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1700784" y="3621024"/>
            <a:ext cx="3642970" cy="0"/>
          </a:xfrm>
          <a:prstGeom prst="line">
            <a:avLst/>
          </a:prstGeom>
          <a:ln w="13335">
            <a:solidFill>
              <a:srgbClr val="148943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5343754" y="3621024"/>
            <a:ext cx="0" cy="822960"/>
          </a:xfrm>
          <a:prstGeom prst="line">
            <a:avLst/>
          </a:prstGeom>
          <a:ln w="13335">
            <a:solidFill>
              <a:srgbClr val="148943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Rectangle 66"/>
          <p:cNvSpPr/>
          <p:nvPr/>
        </p:nvSpPr>
        <p:spPr>
          <a:xfrm>
            <a:off x="6089904" y="4690322"/>
            <a:ext cx="373075" cy="220553"/>
          </a:xfrm>
          <a:prstGeom prst="rect">
            <a:avLst/>
          </a:prstGeom>
          <a:solidFill>
            <a:srgbClr val="EC5C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160"/>
          </a:p>
        </p:txBody>
      </p:sp>
      <p:sp>
        <p:nvSpPr>
          <p:cNvPr id="68" name="TextBox 67"/>
          <p:cNvSpPr txBox="1"/>
          <p:nvPr/>
        </p:nvSpPr>
        <p:spPr>
          <a:xfrm>
            <a:off x="5980176" y="4383084"/>
            <a:ext cx="592531" cy="302853"/>
          </a:xfrm>
          <a:prstGeom prst="rect">
            <a:avLst/>
          </a:prstGeom>
          <a:noFill/>
        </p:spPr>
        <p:txBody>
          <a:bodyPr wrap="square" lIns="21946" tIns="21946" rIns="21946" bIns="21946" anchor="t">
            <a:spAutoFit/>
          </a:bodyPr>
          <a:lstStyle/>
          <a:p>
            <a:pPr algn="ctr"/>
            <a:r>
              <a:rPr sz="840" b="1">
                <a:solidFill>
                  <a:srgbClr val="000000"/>
                </a:solidFill>
                <a:latin typeface="Aptos"/>
              </a:rPr>
              <a:t>-6M
(-1.8%)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002122" y="5952744"/>
            <a:ext cx="548640" cy="153261"/>
          </a:xfrm>
          <a:prstGeom prst="rect">
            <a:avLst/>
          </a:prstGeom>
          <a:noFill/>
        </p:spPr>
        <p:txBody>
          <a:bodyPr wrap="square" lIns="21946" tIns="21946" rIns="21946" bIns="21946" anchor="t">
            <a:spAutoFit/>
          </a:bodyPr>
          <a:lstStyle/>
          <a:p>
            <a:pPr algn="ctr"/>
            <a:r>
              <a:rPr sz="708">
                <a:solidFill>
                  <a:srgbClr val="000000"/>
                </a:solidFill>
                <a:latin typeface="Aptos"/>
              </a:rPr>
              <a:t>Weather</a:t>
            </a:r>
          </a:p>
        </p:txBody>
      </p:sp>
      <p:sp>
        <p:nvSpPr>
          <p:cNvPr id="70" name="Rectangle 69"/>
          <p:cNvSpPr/>
          <p:nvPr/>
        </p:nvSpPr>
        <p:spPr>
          <a:xfrm>
            <a:off x="6561735" y="4910877"/>
            <a:ext cx="373075" cy="147035"/>
          </a:xfrm>
          <a:prstGeom prst="rect">
            <a:avLst/>
          </a:prstGeom>
          <a:solidFill>
            <a:srgbClr val="EC5C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160"/>
          </a:p>
        </p:txBody>
      </p:sp>
      <p:sp>
        <p:nvSpPr>
          <p:cNvPr id="71" name="TextBox 70"/>
          <p:cNvSpPr txBox="1"/>
          <p:nvPr/>
        </p:nvSpPr>
        <p:spPr>
          <a:xfrm>
            <a:off x="6452007" y="4603638"/>
            <a:ext cx="592531" cy="302853"/>
          </a:xfrm>
          <a:prstGeom prst="rect">
            <a:avLst/>
          </a:prstGeom>
          <a:noFill/>
        </p:spPr>
        <p:txBody>
          <a:bodyPr wrap="square" lIns="21946" tIns="21946" rIns="21946" bIns="21946" anchor="t">
            <a:spAutoFit/>
          </a:bodyPr>
          <a:lstStyle/>
          <a:p>
            <a:pPr algn="ctr"/>
            <a:r>
              <a:rPr sz="840" b="1">
                <a:solidFill>
                  <a:srgbClr val="000000"/>
                </a:solidFill>
                <a:latin typeface="Aptos"/>
              </a:rPr>
              <a:t>-4M
(-1.2%)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473951" y="5952744"/>
            <a:ext cx="548640" cy="153261"/>
          </a:xfrm>
          <a:prstGeom prst="rect">
            <a:avLst/>
          </a:prstGeom>
          <a:noFill/>
        </p:spPr>
        <p:txBody>
          <a:bodyPr wrap="square" lIns="21946" tIns="21946" rIns="21946" bIns="21946" anchor="t">
            <a:spAutoFit/>
          </a:bodyPr>
          <a:lstStyle/>
          <a:p>
            <a:pPr algn="ctr"/>
            <a:r>
              <a:rPr sz="708">
                <a:solidFill>
                  <a:srgbClr val="000000"/>
                </a:solidFill>
                <a:latin typeface="Aptos"/>
              </a:rPr>
              <a:t>Macro</a:t>
            </a:r>
          </a:p>
        </p:txBody>
      </p:sp>
      <p:sp>
        <p:nvSpPr>
          <p:cNvPr id="73" name="Rectangle 72"/>
          <p:cNvSpPr/>
          <p:nvPr/>
        </p:nvSpPr>
        <p:spPr>
          <a:xfrm>
            <a:off x="7033564" y="5057912"/>
            <a:ext cx="373075" cy="110276"/>
          </a:xfrm>
          <a:prstGeom prst="rect">
            <a:avLst/>
          </a:prstGeom>
          <a:solidFill>
            <a:srgbClr val="EC5C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160"/>
          </a:p>
        </p:txBody>
      </p:sp>
      <p:sp>
        <p:nvSpPr>
          <p:cNvPr id="74" name="TextBox 73"/>
          <p:cNvSpPr txBox="1"/>
          <p:nvPr/>
        </p:nvSpPr>
        <p:spPr>
          <a:xfrm>
            <a:off x="6923837" y="4750673"/>
            <a:ext cx="592531" cy="302853"/>
          </a:xfrm>
          <a:prstGeom prst="rect">
            <a:avLst/>
          </a:prstGeom>
          <a:noFill/>
        </p:spPr>
        <p:txBody>
          <a:bodyPr wrap="square" lIns="21946" tIns="21946" rIns="21946" bIns="21946" anchor="t">
            <a:spAutoFit/>
          </a:bodyPr>
          <a:lstStyle/>
          <a:p>
            <a:pPr algn="ctr"/>
            <a:r>
              <a:rPr sz="840" b="1">
                <a:solidFill>
                  <a:srgbClr val="000000"/>
                </a:solidFill>
                <a:latin typeface="Aptos"/>
              </a:rPr>
              <a:t>-3M
(-0.9%)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945781" y="5952744"/>
            <a:ext cx="548640" cy="153261"/>
          </a:xfrm>
          <a:prstGeom prst="rect">
            <a:avLst/>
          </a:prstGeom>
          <a:noFill/>
        </p:spPr>
        <p:txBody>
          <a:bodyPr wrap="square" lIns="21946" tIns="21946" rIns="21946" bIns="21946" anchor="t">
            <a:spAutoFit/>
          </a:bodyPr>
          <a:lstStyle/>
          <a:p>
            <a:pPr algn="ctr"/>
            <a:r>
              <a:rPr sz="708">
                <a:solidFill>
                  <a:srgbClr val="000000"/>
                </a:solidFill>
                <a:latin typeface="Aptos"/>
              </a:rPr>
              <a:t>Competition</a:t>
            </a:r>
          </a:p>
        </p:txBody>
      </p:sp>
      <p:sp>
        <p:nvSpPr>
          <p:cNvPr id="76" name="Rectangle 75"/>
          <p:cNvSpPr/>
          <p:nvPr/>
        </p:nvSpPr>
        <p:spPr>
          <a:xfrm>
            <a:off x="7505394" y="5168189"/>
            <a:ext cx="373075" cy="43891"/>
          </a:xfrm>
          <a:prstGeom prst="rect">
            <a:avLst/>
          </a:prstGeom>
          <a:solidFill>
            <a:srgbClr val="EC5C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160"/>
          </a:p>
        </p:txBody>
      </p:sp>
      <p:sp>
        <p:nvSpPr>
          <p:cNvPr id="77" name="TextBox 76"/>
          <p:cNvSpPr txBox="1"/>
          <p:nvPr/>
        </p:nvSpPr>
        <p:spPr>
          <a:xfrm>
            <a:off x="7395666" y="4860949"/>
            <a:ext cx="592531" cy="302853"/>
          </a:xfrm>
          <a:prstGeom prst="rect">
            <a:avLst/>
          </a:prstGeom>
          <a:noFill/>
        </p:spPr>
        <p:txBody>
          <a:bodyPr wrap="square" lIns="21946" tIns="21946" rIns="21946" bIns="21946" anchor="t">
            <a:spAutoFit/>
          </a:bodyPr>
          <a:lstStyle/>
          <a:p>
            <a:pPr algn="ctr"/>
            <a:r>
              <a:rPr sz="840" b="1">
                <a:solidFill>
                  <a:srgbClr val="000000"/>
                </a:solidFill>
                <a:latin typeface="Aptos"/>
              </a:rPr>
              <a:t>-1M
(-0.3%)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417612" y="5952744"/>
            <a:ext cx="548640" cy="153261"/>
          </a:xfrm>
          <a:prstGeom prst="rect">
            <a:avLst/>
          </a:prstGeom>
          <a:noFill/>
        </p:spPr>
        <p:txBody>
          <a:bodyPr wrap="square" lIns="21946" tIns="21946" rIns="21946" bIns="21946" anchor="t">
            <a:spAutoFit/>
          </a:bodyPr>
          <a:lstStyle/>
          <a:p>
            <a:pPr algn="ctr"/>
            <a:r>
              <a:rPr sz="708">
                <a:solidFill>
                  <a:srgbClr val="000000"/>
                </a:solidFill>
                <a:latin typeface="Aptos"/>
              </a:rPr>
              <a:t>Footprint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5760721" y="2874874"/>
            <a:ext cx="2249423" cy="614477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C5C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7782" rIns="87782" rtlCol="0" anchor="ctr"/>
          <a:lstStyle/>
          <a:p>
            <a:pPr algn="ctr"/>
            <a:r>
              <a:rPr sz="1392" b="1">
                <a:solidFill>
                  <a:srgbClr val="EC5C17"/>
                </a:solidFill>
                <a:latin typeface="Aptos"/>
              </a:rPr>
              <a:t>-14M external
context
(-4.2%)</a:t>
            </a:r>
          </a:p>
          <a:p>
            <a:pPr algn="ctr">
              <a:spcBef>
                <a:spcPts val="120"/>
              </a:spcBef>
            </a:pPr>
            <a:r>
              <a:rPr sz="864">
                <a:solidFill>
                  <a:srgbClr val="4D5054"/>
                </a:solidFill>
                <a:latin typeface="Aptos"/>
              </a:rPr>
              <a:t>(Weather, macro,
competition)</a:t>
            </a:r>
          </a:p>
        </p:txBody>
      </p:sp>
      <p:cxnSp>
        <p:nvCxnSpPr>
          <p:cNvPr id="80" name="Connector 79"/>
          <p:cNvCxnSpPr/>
          <p:nvPr/>
        </p:nvCxnSpPr>
        <p:spPr>
          <a:xfrm>
            <a:off x="6858000" y="3489350"/>
            <a:ext cx="0" cy="899770"/>
          </a:xfrm>
          <a:prstGeom prst="line">
            <a:avLst/>
          </a:prstGeom>
          <a:ln w="13335">
            <a:solidFill>
              <a:srgbClr val="EC5C17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Rectangle 80"/>
          <p:cNvSpPr/>
          <p:nvPr/>
        </p:nvSpPr>
        <p:spPr>
          <a:xfrm>
            <a:off x="8383219" y="4837358"/>
            <a:ext cx="373075" cy="367589"/>
          </a:xfrm>
          <a:prstGeom prst="rect">
            <a:avLst/>
          </a:prstGeom>
          <a:solidFill>
            <a:srgbClr val="1C65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160"/>
          </a:p>
        </p:txBody>
      </p:sp>
      <p:sp>
        <p:nvSpPr>
          <p:cNvPr id="82" name="TextBox 81"/>
          <p:cNvSpPr txBox="1"/>
          <p:nvPr/>
        </p:nvSpPr>
        <p:spPr>
          <a:xfrm>
            <a:off x="8273491" y="4530120"/>
            <a:ext cx="592531" cy="302853"/>
          </a:xfrm>
          <a:prstGeom prst="rect">
            <a:avLst/>
          </a:prstGeom>
          <a:noFill/>
        </p:spPr>
        <p:txBody>
          <a:bodyPr wrap="square" lIns="21946" tIns="21946" rIns="21946" bIns="21946" anchor="t">
            <a:spAutoFit/>
          </a:bodyPr>
          <a:lstStyle/>
          <a:p>
            <a:pPr algn="ctr"/>
            <a:r>
              <a:rPr sz="840" b="1">
                <a:solidFill>
                  <a:srgbClr val="000000"/>
                </a:solidFill>
                <a:latin typeface="Aptos"/>
              </a:rPr>
              <a:t>+10M
(+3.0%)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8295437" y="5952744"/>
            <a:ext cx="548640" cy="153261"/>
          </a:xfrm>
          <a:prstGeom prst="rect">
            <a:avLst/>
          </a:prstGeom>
          <a:noFill/>
        </p:spPr>
        <p:txBody>
          <a:bodyPr wrap="square" lIns="21946" tIns="21946" rIns="21946" bIns="21946" anchor="t">
            <a:spAutoFit/>
          </a:bodyPr>
          <a:lstStyle/>
          <a:p>
            <a:pPr algn="ctr"/>
            <a:r>
              <a:rPr sz="708">
                <a:solidFill>
                  <a:srgbClr val="000000"/>
                </a:solidFill>
                <a:latin typeface="Aptos"/>
              </a:rPr>
              <a:t>Pricing</a:t>
            </a:r>
          </a:p>
        </p:txBody>
      </p:sp>
      <p:sp>
        <p:nvSpPr>
          <p:cNvPr id="84" name="Rectangle 83"/>
          <p:cNvSpPr/>
          <p:nvPr/>
        </p:nvSpPr>
        <p:spPr>
          <a:xfrm>
            <a:off x="8855050" y="4506529"/>
            <a:ext cx="373075" cy="330829"/>
          </a:xfrm>
          <a:prstGeom prst="rect">
            <a:avLst/>
          </a:prstGeom>
          <a:solidFill>
            <a:srgbClr val="1C65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160"/>
          </a:p>
        </p:txBody>
      </p:sp>
      <p:sp>
        <p:nvSpPr>
          <p:cNvPr id="85" name="TextBox 84"/>
          <p:cNvSpPr txBox="1"/>
          <p:nvPr/>
        </p:nvSpPr>
        <p:spPr>
          <a:xfrm>
            <a:off x="8745322" y="4199290"/>
            <a:ext cx="592531" cy="302853"/>
          </a:xfrm>
          <a:prstGeom prst="rect">
            <a:avLst/>
          </a:prstGeom>
          <a:noFill/>
        </p:spPr>
        <p:txBody>
          <a:bodyPr wrap="square" lIns="21946" tIns="21946" rIns="21946" bIns="21946" anchor="t">
            <a:spAutoFit/>
          </a:bodyPr>
          <a:lstStyle/>
          <a:p>
            <a:pPr algn="ctr"/>
            <a:r>
              <a:rPr sz="840" b="1">
                <a:solidFill>
                  <a:srgbClr val="000000"/>
                </a:solidFill>
                <a:latin typeface="Aptos"/>
              </a:rPr>
              <a:t>+9M
(+2.7%)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767267" y="5952744"/>
            <a:ext cx="548640" cy="262201"/>
          </a:xfrm>
          <a:prstGeom prst="rect">
            <a:avLst/>
          </a:prstGeom>
          <a:noFill/>
        </p:spPr>
        <p:txBody>
          <a:bodyPr wrap="square" lIns="21946" tIns="21946" rIns="21946" bIns="21946" anchor="t">
            <a:spAutoFit/>
          </a:bodyPr>
          <a:lstStyle/>
          <a:p>
            <a:pPr algn="ctr"/>
            <a:r>
              <a:rPr sz="708">
                <a:solidFill>
                  <a:srgbClr val="000000"/>
                </a:solidFill>
                <a:latin typeface="Aptos"/>
              </a:rPr>
              <a:t>Promo /
Value</a:t>
            </a:r>
          </a:p>
        </p:txBody>
      </p:sp>
      <p:sp>
        <p:nvSpPr>
          <p:cNvPr id="87" name="Rectangle 86"/>
          <p:cNvSpPr/>
          <p:nvPr/>
        </p:nvSpPr>
        <p:spPr>
          <a:xfrm>
            <a:off x="9326880" y="4249216"/>
            <a:ext cx="373075" cy="257311"/>
          </a:xfrm>
          <a:prstGeom prst="rect">
            <a:avLst/>
          </a:prstGeom>
          <a:solidFill>
            <a:srgbClr val="1C65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160"/>
          </a:p>
        </p:txBody>
      </p:sp>
      <p:sp>
        <p:nvSpPr>
          <p:cNvPr id="88" name="TextBox 87"/>
          <p:cNvSpPr txBox="1"/>
          <p:nvPr/>
        </p:nvSpPr>
        <p:spPr>
          <a:xfrm>
            <a:off x="9217152" y="3941977"/>
            <a:ext cx="592531" cy="302853"/>
          </a:xfrm>
          <a:prstGeom prst="rect">
            <a:avLst/>
          </a:prstGeom>
          <a:noFill/>
        </p:spPr>
        <p:txBody>
          <a:bodyPr wrap="square" lIns="21946" tIns="21946" rIns="21946" bIns="21946" anchor="t">
            <a:spAutoFit/>
          </a:bodyPr>
          <a:lstStyle/>
          <a:p>
            <a:pPr algn="ctr"/>
            <a:r>
              <a:rPr sz="840" b="1">
                <a:solidFill>
                  <a:srgbClr val="000000"/>
                </a:solidFill>
                <a:latin typeface="Aptos"/>
              </a:rPr>
              <a:t>+7M
(+2.1%)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9239098" y="5952744"/>
            <a:ext cx="548640" cy="153261"/>
          </a:xfrm>
          <a:prstGeom prst="rect">
            <a:avLst/>
          </a:prstGeom>
          <a:noFill/>
        </p:spPr>
        <p:txBody>
          <a:bodyPr wrap="square" lIns="21946" tIns="21946" rIns="21946" bIns="21946" anchor="t">
            <a:spAutoFit/>
          </a:bodyPr>
          <a:lstStyle/>
          <a:p>
            <a:pPr algn="ctr"/>
            <a:r>
              <a:rPr sz="708">
                <a:solidFill>
                  <a:srgbClr val="000000"/>
                </a:solidFill>
                <a:latin typeface="Aptos"/>
              </a:rPr>
              <a:t>Media</a:t>
            </a:r>
          </a:p>
        </p:txBody>
      </p:sp>
      <p:sp>
        <p:nvSpPr>
          <p:cNvPr id="90" name="Rectangle 89"/>
          <p:cNvSpPr/>
          <p:nvPr/>
        </p:nvSpPr>
        <p:spPr>
          <a:xfrm>
            <a:off x="9798711" y="4028663"/>
            <a:ext cx="373075" cy="220553"/>
          </a:xfrm>
          <a:prstGeom prst="rect">
            <a:avLst/>
          </a:prstGeom>
          <a:solidFill>
            <a:srgbClr val="1C65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160"/>
          </a:p>
        </p:txBody>
      </p:sp>
      <p:sp>
        <p:nvSpPr>
          <p:cNvPr id="91" name="TextBox 90"/>
          <p:cNvSpPr txBox="1"/>
          <p:nvPr/>
        </p:nvSpPr>
        <p:spPr>
          <a:xfrm>
            <a:off x="9688983" y="3721425"/>
            <a:ext cx="592531" cy="302853"/>
          </a:xfrm>
          <a:prstGeom prst="rect">
            <a:avLst/>
          </a:prstGeom>
          <a:noFill/>
        </p:spPr>
        <p:txBody>
          <a:bodyPr wrap="square" lIns="21946" tIns="21946" rIns="21946" bIns="21946" anchor="t">
            <a:spAutoFit/>
          </a:bodyPr>
          <a:lstStyle/>
          <a:p>
            <a:pPr algn="ctr"/>
            <a:r>
              <a:rPr sz="840" b="1">
                <a:solidFill>
                  <a:srgbClr val="000000"/>
                </a:solidFill>
                <a:latin typeface="Aptos"/>
              </a:rPr>
              <a:t>+6M
(+1.8%)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9710928" y="5952744"/>
            <a:ext cx="548640" cy="262201"/>
          </a:xfrm>
          <a:prstGeom prst="rect">
            <a:avLst/>
          </a:prstGeom>
          <a:noFill/>
        </p:spPr>
        <p:txBody>
          <a:bodyPr wrap="square" lIns="21946" tIns="21946" rIns="21946" bIns="21946" anchor="t">
            <a:spAutoFit/>
          </a:bodyPr>
          <a:lstStyle/>
          <a:p>
            <a:pPr algn="ctr"/>
            <a:r>
              <a:rPr sz="708">
                <a:solidFill>
                  <a:srgbClr val="000000"/>
                </a:solidFill>
                <a:latin typeface="Aptos"/>
              </a:rPr>
              <a:t>LTO /
Innovation</a:t>
            </a:r>
          </a:p>
        </p:txBody>
      </p:sp>
      <p:sp>
        <p:nvSpPr>
          <p:cNvPr id="93" name="Rectangle 92"/>
          <p:cNvSpPr/>
          <p:nvPr/>
        </p:nvSpPr>
        <p:spPr>
          <a:xfrm>
            <a:off x="10270541" y="3918387"/>
            <a:ext cx="373075" cy="110276"/>
          </a:xfrm>
          <a:prstGeom prst="rect">
            <a:avLst/>
          </a:prstGeom>
          <a:solidFill>
            <a:srgbClr val="1C65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160"/>
          </a:p>
        </p:txBody>
      </p:sp>
      <p:sp>
        <p:nvSpPr>
          <p:cNvPr id="94" name="TextBox 93"/>
          <p:cNvSpPr txBox="1"/>
          <p:nvPr/>
        </p:nvSpPr>
        <p:spPr>
          <a:xfrm>
            <a:off x="10160813" y="3611148"/>
            <a:ext cx="592531" cy="302853"/>
          </a:xfrm>
          <a:prstGeom prst="rect">
            <a:avLst/>
          </a:prstGeom>
          <a:noFill/>
        </p:spPr>
        <p:txBody>
          <a:bodyPr wrap="square" lIns="21946" tIns="21946" rIns="21946" bIns="21946" anchor="t">
            <a:spAutoFit/>
          </a:bodyPr>
          <a:lstStyle/>
          <a:p>
            <a:pPr algn="ctr"/>
            <a:r>
              <a:rPr sz="840" b="1">
                <a:solidFill>
                  <a:srgbClr val="000000"/>
                </a:solidFill>
                <a:latin typeface="Aptos"/>
              </a:rPr>
              <a:t>+3M
(+0.9%)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10182758" y="5952744"/>
            <a:ext cx="548640" cy="262201"/>
          </a:xfrm>
          <a:prstGeom prst="rect">
            <a:avLst/>
          </a:prstGeom>
          <a:noFill/>
        </p:spPr>
        <p:txBody>
          <a:bodyPr wrap="square" lIns="21946" tIns="21946" rIns="21946" bIns="21946" anchor="t">
            <a:spAutoFit/>
          </a:bodyPr>
          <a:lstStyle/>
          <a:p>
            <a:pPr algn="ctr"/>
            <a:r>
              <a:rPr sz="708">
                <a:solidFill>
                  <a:srgbClr val="000000"/>
                </a:solidFill>
                <a:latin typeface="Aptos"/>
              </a:rPr>
              <a:t>Digital /
CRM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8317382" y="2820010"/>
            <a:ext cx="2743200" cy="63642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C6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7782" rIns="87782" rtlCol="0" anchor="ctr"/>
          <a:lstStyle/>
          <a:p>
            <a:pPr algn="ctr"/>
            <a:r>
              <a:rPr sz="1392" b="1">
                <a:solidFill>
                  <a:srgbClr val="1C65D5"/>
                </a:solidFill>
                <a:latin typeface="Aptos"/>
              </a:rPr>
              <a:t>+35M commercial
movement
(+10.6%)</a:t>
            </a:r>
          </a:p>
          <a:p>
            <a:pPr algn="ctr">
              <a:spcBef>
                <a:spcPts val="120"/>
              </a:spcBef>
            </a:pPr>
            <a:r>
              <a:rPr sz="864">
                <a:solidFill>
                  <a:srgbClr val="4D5054"/>
                </a:solidFill>
                <a:latin typeface="Aptos"/>
              </a:rPr>
              <a:t>(Pricing, promo, media, LTO, digital)</a:t>
            </a:r>
          </a:p>
        </p:txBody>
      </p:sp>
      <p:cxnSp>
        <p:nvCxnSpPr>
          <p:cNvPr id="97" name="Connector 96"/>
          <p:cNvCxnSpPr/>
          <p:nvPr/>
        </p:nvCxnSpPr>
        <p:spPr>
          <a:xfrm>
            <a:off x="9678010" y="3467405"/>
            <a:ext cx="0" cy="921715"/>
          </a:xfrm>
          <a:prstGeom prst="line">
            <a:avLst/>
          </a:prstGeom>
          <a:ln w="13335">
            <a:solidFill>
              <a:srgbClr val="1C65D5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Rectangle 97"/>
          <p:cNvSpPr/>
          <p:nvPr/>
        </p:nvSpPr>
        <p:spPr>
          <a:xfrm>
            <a:off x="11038637" y="3918387"/>
            <a:ext cx="373075" cy="147035"/>
          </a:xfrm>
          <a:prstGeom prst="rect">
            <a:avLst/>
          </a:prstGeom>
          <a:solidFill>
            <a:srgbClr val="9094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160"/>
          </a:p>
        </p:txBody>
      </p:sp>
      <p:sp>
        <p:nvSpPr>
          <p:cNvPr id="99" name="TextBox 98"/>
          <p:cNvSpPr txBox="1"/>
          <p:nvPr/>
        </p:nvSpPr>
        <p:spPr>
          <a:xfrm>
            <a:off x="10928909" y="3611148"/>
            <a:ext cx="592531" cy="302853"/>
          </a:xfrm>
          <a:prstGeom prst="rect">
            <a:avLst/>
          </a:prstGeom>
          <a:noFill/>
        </p:spPr>
        <p:txBody>
          <a:bodyPr wrap="square" lIns="21946" tIns="21946" rIns="21946" bIns="21946" anchor="t">
            <a:spAutoFit/>
          </a:bodyPr>
          <a:lstStyle/>
          <a:p>
            <a:pPr algn="ctr"/>
            <a:r>
              <a:rPr sz="840" b="1">
                <a:solidFill>
                  <a:srgbClr val="000000"/>
                </a:solidFill>
                <a:latin typeface="Aptos"/>
              </a:rPr>
              <a:t>-4M
(-1.2%)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10950854" y="5952744"/>
            <a:ext cx="548640" cy="262201"/>
          </a:xfrm>
          <a:prstGeom prst="rect">
            <a:avLst/>
          </a:prstGeom>
          <a:noFill/>
        </p:spPr>
        <p:txBody>
          <a:bodyPr wrap="square" lIns="21946" tIns="21946" rIns="21946" bIns="21946" anchor="t">
            <a:spAutoFit/>
          </a:bodyPr>
          <a:lstStyle/>
          <a:p>
            <a:pPr algn="ctr"/>
            <a:r>
              <a:rPr sz="708">
                <a:solidFill>
                  <a:srgbClr val="000000"/>
                </a:solidFill>
                <a:latin typeface="Aptos"/>
              </a:rPr>
              <a:t>Gap /
Residual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11982298" y="4065422"/>
            <a:ext cx="373075" cy="1837944"/>
          </a:xfrm>
          <a:prstGeom prst="rect">
            <a:avLst/>
          </a:prstGeom>
          <a:solidFill>
            <a:srgbClr val="081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160"/>
          </a:p>
        </p:txBody>
      </p:sp>
      <p:sp>
        <p:nvSpPr>
          <p:cNvPr id="102" name="TextBox 101"/>
          <p:cNvSpPr txBox="1"/>
          <p:nvPr/>
        </p:nvSpPr>
        <p:spPr>
          <a:xfrm>
            <a:off x="11850624" y="3736239"/>
            <a:ext cx="636422" cy="350815"/>
          </a:xfrm>
          <a:prstGeom prst="rect">
            <a:avLst/>
          </a:prstGeom>
          <a:noFill/>
        </p:spPr>
        <p:txBody>
          <a:bodyPr wrap="square" lIns="21946" tIns="21946" rIns="21946" bIns="21946" anchor="t">
            <a:spAutoFit/>
          </a:bodyPr>
          <a:lstStyle/>
          <a:p>
            <a:pPr algn="ctr"/>
            <a:r>
              <a:rPr sz="996" b="1">
                <a:solidFill>
                  <a:srgbClr val="000000"/>
                </a:solidFill>
                <a:latin typeface="Aptos"/>
              </a:rPr>
              <a:t>350M
(106.1%)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1872570" y="5952745"/>
            <a:ext cx="592531" cy="288105"/>
          </a:xfrm>
          <a:prstGeom prst="rect">
            <a:avLst/>
          </a:prstGeom>
          <a:noFill/>
        </p:spPr>
        <p:txBody>
          <a:bodyPr wrap="square" lIns="21946" tIns="21946" rIns="21946" bIns="21946" anchor="t">
            <a:spAutoFit/>
          </a:bodyPr>
          <a:lstStyle/>
          <a:p>
            <a:pPr algn="ctr"/>
            <a:r>
              <a:rPr sz="792" b="1">
                <a:solidFill>
                  <a:srgbClr val="000000"/>
                </a:solidFill>
                <a:latin typeface="Aptos"/>
              </a:rPr>
              <a:t>2025
Actual GC</a:t>
            </a:r>
          </a:p>
        </p:txBody>
      </p:sp>
      <p:cxnSp>
        <p:nvCxnSpPr>
          <p:cNvPr id="104" name="Connector 103"/>
          <p:cNvCxnSpPr/>
          <p:nvPr/>
        </p:nvCxnSpPr>
        <p:spPr>
          <a:xfrm>
            <a:off x="11411712" y="4065422"/>
            <a:ext cx="570586" cy="0"/>
          </a:xfrm>
          <a:prstGeom prst="line">
            <a:avLst/>
          </a:prstGeom>
          <a:ln w="10795">
            <a:solidFill>
              <a:srgbClr val="4D505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>
            <a:off x="219456" y="5903366"/>
            <a:ext cx="12322454" cy="0"/>
          </a:xfrm>
          <a:prstGeom prst="line">
            <a:avLst/>
          </a:prstGeom>
          <a:ln w="9525">
            <a:solidFill>
              <a:srgbClr val="4D50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6" name="Rounded Rectangle 105"/>
          <p:cNvSpPr/>
          <p:nvPr/>
        </p:nvSpPr>
        <p:spPr>
          <a:xfrm>
            <a:off x="12563856" y="1887322"/>
            <a:ext cx="1645920" cy="4663440"/>
          </a:xfrm>
          <a:prstGeom prst="roundRect">
            <a:avLst/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160"/>
          </a:p>
        </p:txBody>
      </p:sp>
      <p:sp>
        <p:nvSpPr>
          <p:cNvPr id="107" name="TextBox 106"/>
          <p:cNvSpPr txBox="1"/>
          <p:nvPr/>
        </p:nvSpPr>
        <p:spPr>
          <a:xfrm>
            <a:off x="12739421" y="2139696"/>
            <a:ext cx="1272845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>
                <a:solidFill>
                  <a:srgbClr val="081B49"/>
                </a:solidFill>
                <a:latin typeface="Aptos"/>
              </a:rPr>
              <a:t>KEY
TAKEAWAYS</a:t>
            </a:r>
          </a:p>
        </p:txBody>
      </p:sp>
      <p:cxnSp>
        <p:nvCxnSpPr>
          <p:cNvPr id="108" name="Connector 107"/>
          <p:cNvCxnSpPr/>
          <p:nvPr/>
        </p:nvCxnSpPr>
        <p:spPr>
          <a:xfrm>
            <a:off x="12673584" y="2545690"/>
            <a:ext cx="1349654" cy="0"/>
          </a:xfrm>
          <a:prstGeom prst="line">
            <a:avLst/>
          </a:prstGeom>
          <a:ln w="12700">
            <a:solidFill>
              <a:srgbClr val="081B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9" name="TextBox 108"/>
          <p:cNvSpPr txBox="1"/>
          <p:nvPr/>
        </p:nvSpPr>
        <p:spPr>
          <a:xfrm>
            <a:off x="12706502" y="2798064"/>
            <a:ext cx="219456" cy="2954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920" b="1">
                <a:solidFill>
                  <a:srgbClr val="148943"/>
                </a:solidFill>
                <a:latin typeface="Aptos"/>
              </a:rPr>
              <a:t>1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3035686" y="2830982"/>
            <a:ext cx="954634" cy="45377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83" b="1">
                <a:solidFill>
                  <a:srgbClr val="148943"/>
                </a:solidFill>
                <a:latin typeface="Aptos"/>
              </a:rPr>
              <a:t>Foundation
protects the base.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13035686" y="3258922"/>
            <a:ext cx="987552" cy="25109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16">
                <a:solidFill>
                  <a:srgbClr val="4D5054"/>
                </a:solidFill>
                <a:latin typeface="Aptos"/>
              </a:rPr>
              <a:t>Adds +23M (+7.0%)
and prevents erosion.</a:t>
            </a:r>
          </a:p>
        </p:txBody>
      </p:sp>
      <p:cxnSp>
        <p:nvCxnSpPr>
          <p:cNvPr id="112" name="Connector 111"/>
          <p:cNvCxnSpPr/>
          <p:nvPr/>
        </p:nvCxnSpPr>
        <p:spPr>
          <a:xfrm>
            <a:off x="12673584" y="3950207"/>
            <a:ext cx="1349654" cy="0"/>
          </a:xfrm>
          <a:prstGeom prst="line">
            <a:avLst/>
          </a:prstGeom>
          <a:ln w="8890">
            <a:solidFill>
              <a:srgbClr val="D9DD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3" name="TextBox 112"/>
          <p:cNvSpPr txBox="1"/>
          <p:nvPr/>
        </p:nvSpPr>
        <p:spPr>
          <a:xfrm>
            <a:off x="12706502" y="4037989"/>
            <a:ext cx="219456" cy="2954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920" b="1">
                <a:solidFill>
                  <a:srgbClr val="1C65D5"/>
                </a:solidFill>
                <a:latin typeface="Aptos"/>
              </a:rPr>
              <a:t>2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13035686" y="4070908"/>
            <a:ext cx="954634" cy="45377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83" b="1">
                <a:solidFill>
                  <a:srgbClr val="1C65D5"/>
                </a:solidFill>
                <a:latin typeface="Aptos"/>
              </a:rPr>
              <a:t>Commercial actions
move growth.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13035686" y="4498847"/>
            <a:ext cx="987552" cy="37664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16">
                <a:solidFill>
                  <a:srgbClr val="4D5054"/>
                </a:solidFill>
                <a:latin typeface="Aptos"/>
              </a:rPr>
              <a:t>Delivers +35M
(+10.6%) above the
protected base.</a:t>
            </a:r>
          </a:p>
        </p:txBody>
      </p:sp>
      <p:cxnSp>
        <p:nvCxnSpPr>
          <p:cNvPr id="116" name="Connector 115"/>
          <p:cNvCxnSpPr/>
          <p:nvPr/>
        </p:nvCxnSpPr>
        <p:spPr>
          <a:xfrm>
            <a:off x="12673584" y="5190134"/>
            <a:ext cx="1349654" cy="0"/>
          </a:xfrm>
          <a:prstGeom prst="line">
            <a:avLst/>
          </a:prstGeom>
          <a:ln w="8890">
            <a:solidFill>
              <a:srgbClr val="D9DD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7" name="TextBox 116"/>
          <p:cNvSpPr txBox="1"/>
          <p:nvPr/>
        </p:nvSpPr>
        <p:spPr>
          <a:xfrm>
            <a:off x="12706502" y="5277917"/>
            <a:ext cx="219456" cy="2954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920" b="1">
                <a:solidFill>
                  <a:srgbClr val="4D5054"/>
                </a:solidFill>
                <a:latin typeface="Aptos"/>
              </a:rPr>
              <a:t>3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13035686" y="5310836"/>
            <a:ext cx="954634" cy="30251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83" b="1">
                <a:solidFill>
                  <a:srgbClr val="4D5054"/>
                </a:solidFill>
                <a:latin typeface="Aptos"/>
              </a:rPr>
              <a:t>Data gaps
remain visible.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13035686" y="5738775"/>
            <a:ext cx="987552" cy="50218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16">
                <a:solidFill>
                  <a:srgbClr val="4D5054"/>
                </a:solidFill>
                <a:latin typeface="Aptos"/>
              </a:rPr>
              <a:t>-4M (-1.2%) remains
unmeasured; close with
better data capture.</a:t>
            </a:r>
          </a:p>
        </p:txBody>
      </p:sp>
      <p:sp>
        <p:nvSpPr>
          <p:cNvPr id="120" name="Rounded Rectangle 119"/>
          <p:cNvSpPr/>
          <p:nvPr/>
        </p:nvSpPr>
        <p:spPr>
          <a:xfrm>
            <a:off x="1887322" y="7132320"/>
            <a:ext cx="2249423" cy="68031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160"/>
          </a:p>
        </p:txBody>
      </p:sp>
      <p:sp>
        <p:nvSpPr>
          <p:cNvPr id="121" name="TextBox 120"/>
          <p:cNvSpPr txBox="1"/>
          <p:nvPr/>
        </p:nvSpPr>
        <p:spPr>
          <a:xfrm>
            <a:off x="1920241" y="7231076"/>
            <a:ext cx="2183586" cy="19575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72" b="1">
                <a:solidFill>
                  <a:srgbClr val="148943"/>
                </a:solidFill>
                <a:latin typeface="Aptos"/>
              </a:rPr>
              <a:t>+23M (+7.0%)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1920241" y="7472477"/>
            <a:ext cx="2183586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>
                <a:solidFill>
                  <a:srgbClr val="148943"/>
                </a:solidFill>
                <a:latin typeface="Aptos"/>
              </a:rPr>
              <a:t>Foundation / BAU
Protects base / improves BAU</a:t>
            </a:r>
          </a:p>
        </p:txBody>
      </p:sp>
      <p:sp>
        <p:nvSpPr>
          <p:cNvPr id="123" name="Rounded Rectangle 122"/>
          <p:cNvSpPr/>
          <p:nvPr/>
        </p:nvSpPr>
        <p:spPr>
          <a:xfrm>
            <a:off x="4136745" y="7132320"/>
            <a:ext cx="2249423" cy="68031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160"/>
          </a:p>
        </p:txBody>
      </p:sp>
      <p:sp>
        <p:nvSpPr>
          <p:cNvPr id="124" name="TextBox 123"/>
          <p:cNvSpPr txBox="1"/>
          <p:nvPr/>
        </p:nvSpPr>
        <p:spPr>
          <a:xfrm>
            <a:off x="4169663" y="7231076"/>
            <a:ext cx="2183586" cy="19575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72" b="1">
                <a:solidFill>
                  <a:srgbClr val="EC5C17"/>
                </a:solidFill>
                <a:latin typeface="Aptos"/>
              </a:rPr>
              <a:t>-14M (-4.2%)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169663" y="7472477"/>
            <a:ext cx="2183586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>
                <a:solidFill>
                  <a:srgbClr val="EC5C17"/>
                </a:solidFill>
                <a:latin typeface="Aptos"/>
              </a:rPr>
              <a:t>External Context
Headwinds</a:t>
            </a:r>
          </a:p>
        </p:txBody>
      </p:sp>
      <p:sp>
        <p:nvSpPr>
          <p:cNvPr id="126" name="Rounded Rectangle 125"/>
          <p:cNvSpPr/>
          <p:nvPr/>
        </p:nvSpPr>
        <p:spPr>
          <a:xfrm>
            <a:off x="6386168" y="7132320"/>
            <a:ext cx="2468880" cy="68031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160"/>
          </a:p>
        </p:txBody>
      </p:sp>
      <p:sp>
        <p:nvSpPr>
          <p:cNvPr id="127" name="TextBox 126"/>
          <p:cNvSpPr txBox="1"/>
          <p:nvPr/>
        </p:nvSpPr>
        <p:spPr>
          <a:xfrm>
            <a:off x="6419088" y="7231076"/>
            <a:ext cx="2403043" cy="19575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72" b="1">
                <a:solidFill>
                  <a:srgbClr val="1C65D5"/>
                </a:solidFill>
                <a:latin typeface="Aptos"/>
              </a:rPr>
              <a:t>+35M (+10.6%)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419088" y="7472477"/>
            <a:ext cx="2403043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>
                <a:solidFill>
                  <a:srgbClr val="1C65D5"/>
                </a:solidFill>
                <a:latin typeface="Aptos"/>
              </a:rPr>
              <a:t>Commercial Actions
Drive Growth</a:t>
            </a:r>
          </a:p>
        </p:txBody>
      </p:sp>
      <p:sp>
        <p:nvSpPr>
          <p:cNvPr id="129" name="Rounded Rectangle 128"/>
          <p:cNvSpPr/>
          <p:nvPr/>
        </p:nvSpPr>
        <p:spPr>
          <a:xfrm>
            <a:off x="8855050" y="7132320"/>
            <a:ext cx="1898294" cy="68031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160"/>
          </a:p>
        </p:txBody>
      </p:sp>
      <p:sp>
        <p:nvSpPr>
          <p:cNvPr id="130" name="TextBox 129"/>
          <p:cNvSpPr txBox="1"/>
          <p:nvPr/>
        </p:nvSpPr>
        <p:spPr>
          <a:xfrm>
            <a:off x="8887968" y="7231076"/>
            <a:ext cx="1832458" cy="19575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72" b="1">
                <a:solidFill>
                  <a:srgbClr val="4D5054"/>
                </a:solidFill>
                <a:latin typeface="Aptos"/>
              </a:rPr>
              <a:t>-4M (-1.2%)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887968" y="7472477"/>
            <a:ext cx="1832458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>
                <a:solidFill>
                  <a:srgbClr val="4D5054"/>
                </a:solidFill>
                <a:latin typeface="Aptos"/>
              </a:rPr>
              <a:t>Gap / Residual
Unmeasured</a:t>
            </a:r>
          </a:p>
        </p:txBody>
      </p:sp>
      <p:sp>
        <p:nvSpPr>
          <p:cNvPr id="132" name="Rounded Rectangle 131"/>
          <p:cNvSpPr/>
          <p:nvPr/>
        </p:nvSpPr>
        <p:spPr>
          <a:xfrm>
            <a:off x="10753344" y="7132320"/>
            <a:ext cx="1975104" cy="680314"/>
          </a:xfrm>
          <a:prstGeom prst="roundRect">
            <a:avLst/>
          </a:prstGeom>
          <a:solidFill>
            <a:srgbClr val="081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160"/>
          </a:p>
        </p:txBody>
      </p:sp>
      <p:sp>
        <p:nvSpPr>
          <p:cNvPr id="133" name="TextBox 132"/>
          <p:cNvSpPr txBox="1"/>
          <p:nvPr/>
        </p:nvSpPr>
        <p:spPr>
          <a:xfrm>
            <a:off x="10786263" y="7231076"/>
            <a:ext cx="1909267" cy="19575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72" b="1">
                <a:solidFill>
                  <a:srgbClr val="FFFFFF"/>
                </a:solidFill>
                <a:latin typeface="Aptos"/>
              </a:rPr>
              <a:t>+20M (+6.1%)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0786263" y="7472477"/>
            <a:ext cx="1909267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>
                <a:solidFill>
                  <a:srgbClr val="FFFFFF"/>
                </a:solidFill>
                <a:latin typeface="Aptos"/>
              </a:rPr>
              <a:t>Net Change
vs. 2024 Actual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74320" y="7878471"/>
            <a:ext cx="8339328" cy="164353"/>
          </a:xfrm>
          <a:prstGeom prst="rect">
            <a:avLst/>
          </a:prstGeom>
          <a:noFill/>
        </p:spPr>
        <p:txBody>
          <a:bodyPr wrap="square" lIns="21946" tIns="21946" rIns="21946" bIns="21946" anchor="t">
            <a:spAutoFit/>
          </a:bodyPr>
          <a:lstStyle/>
          <a:p>
            <a:pPr algn="l"/>
            <a:r>
              <a:rPr sz="780">
                <a:solidFill>
                  <a:srgbClr val="4D5054"/>
                </a:solidFill>
                <a:latin typeface="Aptos"/>
              </a:rPr>
              <a:t>Note: Percentages shown vs. 2024 Actual GC (330M). Numbers may not sum due to rounding.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2B06B05-3721-4679-3164-8B90CF4AA3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7" y="0"/>
            <a:ext cx="14622626" cy="822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70382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A63D3E4-AEAF-C55B-68A3-A432A29719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7" y="0"/>
            <a:ext cx="14622626" cy="822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84433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19456" y="131674"/>
            <a:ext cx="12563856" cy="39502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r>
              <a:rPr lang="en-US" sz="2700" b="1" dirty="0">
                <a:solidFill>
                  <a:srgbClr val="06164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GC Performance Overview: Protected Base + Growth Momentum + External Context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241402" y="636422"/>
            <a:ext cx="12673584" cy="24140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272" dirty="0">
                <a:solidFill>
                  <a:srgbClr val="525A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leadership view of whether the business base was protected, how external context shaped the starting point, and what created incremental growth.</a:t>
            </a:r>
            <a:endParaRPr lang="en-US" sz="1272" dirty="0"/>
          </a:p>
        </p:txBody>
      </p:sp>
      <p:sp>
        <p:nvSpPr>
          <p:cNvPr id="4" name="Shape 2"/>
          <p:cNvSpPr/>
          <p:nvPr/>
        </p:nvSpPr>
        <p:spPr>
          <a:xfrm>
            <a:off x="13573354" y="142646"/>
            <a:ext cx="801014" cy="340157"/>
          </a:xfrm>
          <a:prstGeom prst="roundRect">
            <a:avLst>
              <a:gd name="adj" fmla="val 32258"/>
            </a:avLst>
          </a:prstGeom>
          <a:solidFill>
            <a:srgbClr val="061641"/>
          </a:solidFill>
          <a:ln w="12700">
            <a:solidFill>
              <a:srgbClr val="061641">
                <a:alpha val="0"/>
              </a:srgbClr>
            </a:solidFill>
            <a:prstDash val="solid"/>
          </a:ln>
          <a:effectLst>
            <a:outerShdw blurRad="19050" dist="50800" dir="2700000" algn="bl" rotWithShape="0">
              <a:srgbClr val="B5B5B5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3628217" y="197510"/>
            <a:ext cx="680314" cy="1865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algn="ctr"/>
            <a:r>
              <a:rPr lang="en-US" sz="13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OF 4</a:t>
            </a:r>
            <a:endParaRPr lang="en-US" sz="1320" dirty="0"/>
          </a:p>
        </p:txBody>
      </p:sp>
      <p:sp>
        <p:nvSpPr>
          <p:cNvPr id="6" name="Shape 4"/>
          <p:cNvSpPr/>
          <p:nvPr/>
        </p:nvSpPr>
        <p:spPr>
          <a:xfrm>
            <a:off x="153619" y="1042416"/>
            <a:ext cx="14319504" cy="4334256"/>
          </a:xfrm>
          <a:prstGeom prst="roundRect">
            <a:avLst>
              <a:gd name="adj" fmla="val 2785"/>
            </a:avLst>
          </a:prstGeom>
          <a:solidFill>
            <a:srgbClr val="FFFFFF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392070" y="1349655"/>
            <a:ext cx="3950208" cy="197510"/>
          </a:xfrm>
          <a:prstGeom prst="rect">
            <a:avLst/>
          </a:prstGeom>
          <a:noFill/>
          <a:ln/>
        </p:spPr>
        <p:txBody>
          <a:bodyPr wrap="square" lIns="305" tIns="305" rIns="305" bIns="305" rtlCol="0" anchor="ctr">
            <a:normAutofit lnSpcReduction="10000"/>
          </a:bodyPr>
          <a:lstStyle/>
          <a:p>
            <a:pPr algn="ctr"/>
            <a:r>
              <a:rPr lang="en-US" sz="1356" b="1" dirty="0">
                <a:solidFill>
                  <a:srgbClr val="0B7F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Protected Base</a:t>
            </a:r>
            <a:endParaRPr lang="en-US" sz="1356" dirty="0"/>
          </a:p>
        </p:txBody>
      </p:sp>
      <p:sp>
        <p:nvSpPr>
          <p:cNvPr id="8" name="Shape 6"/>
          <p:cNvSpPr/>
          <p:nvPr/>
        </p:nvSpPr>
        <p:spPr>
          <a:xfrm>
            <a:off x="2392070" y="1591056"/>
            <a:ext cx="3950208" cy="0"/>
          </a:xfrm>
          <a:prstGeom prst="line">
            <a:avLst/>
          </a:prstGeom>
          <a:noFill/>
          <a:ln w="13970">
            <a:solidFill>
              <a:srgbClr val="0B7F2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392070" y="1591056"/>
            <a:ext cx="0" cy="76810"/>
          </a:xfrm>
          <a:prstGeom prst="line">
            <a:avLst/>
          </a:prstGeom>
          <a:noFill/>
          <a:ln w="13970">
            <a:solidFill>
              <a:srgbClr val="0B7F2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342278" y="1591056"/>
            <a:ext cx="0" cy="76810"/>
          </a:xfrm>
          <a:prstGeom prst="line">
            <a:avLst/>
          </a:prstGeom>
          <a:noFill/>
          <a:ln w="13970">
            <a:solidFill>
              <a:srgbClr val="0B7F2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67174" y="1569111"/>
            <a:ext cx="0" cy="43891"/>
          </a:xfrm>
          <a:prstGeom prst="line">
            <a:avLst/>
          </a:prstGeom>
          <a:noFill/>
          <a:ln w="13970">
            <a:solidFill>
              <a:srgbClr val="0B7F2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06640" y="1349655"/>
            <a:ext cx="1700784" cy="197510"/>
          </a:xfrm>
          <a:prstGeom prst="rect">
            <a:avLst/>
          </a:prstGeom>
          <a:noFill/>
          <a:ln/>
        </p:spPr>
        <p:txBody>
          <a:bodyPr wrap="square" lIns="305" tIns="305" rIns="305" bIns="305" rtlCol="0" anchor="ctr">
            <a:normAutofit lnSpcReduction="10000"/>
          </a:bodyPr>
          <a:lstStyle/>
          <a:p>
            <a:pPr algn="ctr"/>
            <a:r>
              <a:rPr lang="en-US" sz="1356" b="1" dirty="0">
                <a:solidFill>
                  <a:srgbClr val="F254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External Context</a:t>
            </a:r>
            <a:endParaRPr lang="en-US" sz="1356" dirty="0"/>
          </a:p>
        </p:txBody>
      </p:sp>
      <p:sp>
        <p:nvSpPr>
          <p:cNvPr id="13" name="Shape 11"/>
          <p:cNvSpPr/>
          <p:nvPr/>
        </p:nvSpPr>
        <p:spPr>
          <a:xfrm>
            <a:off x="7406640" y="1591056"/>
            <a:ext cx="1700784" cy="0"/>
          </a:xfrm>
          <a:prstGeom prst="line">
            <a:avLst/>
          </a:prstGeom>
          <a:noFill/>
          <a:ln w="13970">
            <a:solidFill>
              <a:srgbClr val="F2541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406640" y="1591056"/>
            <a:ext cx="0" cy="76810"/>
          </a:xfrm>
          <a:prstGeom prst="line">
            <a:avLst/>
          </a:prstGeom>
          <a:noFill/>
          <a:ln w="13970">
            <a:solidFill>
              <a:srgbClr val="F2541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107424" y="1591056"/>
            <a:ext cx="0" cy="76810"/>
          </a:xfrm>
          <a:prstGeom prst="line">
            <a:avLst/>
          </a:prstGeom>
          <a:noFill/>
          <a:ln w="13970">
            <a:solidFill>
              <a:srgbClr val="F2541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57032" y="1569111"/>
            <a:ext cx="0" cy="43891"/>
          </a:xfrm>
          <a:prstGeom prst="line">
            <a:avLst/>
          </a:prstGeom>
          <a:noFill/>
          <a:ln w="13970">
            <a:solidFill>
              <a:srgbClr val="F2541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259568" y="1349655"/>
            <a:ext cx="2249424" cy="197510"/>
          </a:xfrm>
          <a:prstGeom prst="rect">
            <a:avLst/>
          </a:prstGeom>
          <a:noFill/>
          <a:ln/>
        </p:spPr>
        <p:txBody>
          <a:bodyPr wrap="square" lIns="305" tIns="305" rIns="305" bIns="305" rtlCol="0" anchor="ctr">
            <a:normAutofit lnSpcReduction="10000"/>
          </a:bodyPr>
          <a:lstStyle/>
          <a:p>
            <a:pPr algn="ctr"/>
            <a:r>
              <a:rPr lang="en-US" sz="1356" b="1" dirty="0">
                <a:solidFill>
                  <a:srgbClr val="0759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Growth Momentum</a:t>
            </a:r>
            <a:endParaRPr lang="en-US" sz="1356" dirty="0"/>
          </a:p>
        </p:txBody>
      </p:sp>
      <p:sp>
        <p:nvSpPr>
          <p:cNvPr id="18" name="Shape 16"/>
          <p:cNvSpPr/>
          <p:nvPr/>
        </p:nvSpPr>
        <p:spPr>
          <a:xfrm>
            <a:off x="10259568" y="1591056"/>
            <a:ext cx="2249424" cy="0"/>
          </a:xfrm>
          <a:prstGeom prst="line">
            <a:avLst/>
          </a:prstGeom>
          <a:noFill/>
          <a:ln w="13970">
            <a:solidFill>
              <a:srgbClr val="0759D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259568" y="1591056"/>
            <a:ext cx="0" cy="76810"/>
          </a:xfrm>
          <a:prstGeom prst="line">
            <a:avLst/>
          </a:prstGeom>
          <a:noFill/>
          <a:ln w="13970">
            <a:solidFill>
              <a:srgbClr val="0759D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2508992" y="1591056"/>
            <a:ext cx="0" cy="76810"/>
          </a:xfrm>
          <a:prstGeom prst="line">
            <a:avLst/>
          </a:prstGeom>
          <a:noFill/>
          <a:ln w="13970">
            <a:solidFill>
              <a:srgbClr val="0759D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1384280" y="1569111"/>
            <a:ext cx="0" cy="43891"/>
          </a:xfrm>
          <a:prstGeom prst="line">
            <a:avLst/>
          </a:prstGeom>
          <a:noFill/>
          <a:ln w="13970">
            <a:solidFill>
              <a:srgbClr val="0759D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93776" y="2249424"/>
            <a:ext cx="658368" cy="2249424"/>
          </a:xfrm>
          <a:prstGeom prst="rect">
            <a:avLst/>
          </a:prstGeom>
          <a:solidFill>
            <a:srgbClr val="061641"/>
          </a:solidFill>
          <a:ln w="12700">
            <a:solidFill>
              <a:srgbClr val="061641">
                <a:alpha val="0"/>
              </a:srgbClr>
            </a:solidFill>
            <a:prstDash val="solid"/>
          </a:ln>
          <a:effectLst>
            <a:outerShdw blurRad="17780" dist="50800" dir="2700000" algn="bl" rotWithShape="0">
              <a:srgbClr val="B5B5B5">
                <a:alpha val="16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05994" y="1931213"/>
            <a:ext cx="822960" cy="219456"/>
          </a:xfrm>
          <a:prstGeom prst="rect">
            <a:avLst/>
          </a:prstGeom>
          <a:noFill/>
          <a:ln/>
        </p:spPr>
        <p:txBody>
          <a:bodyPr wrap="square" lIns="305" tIns="305" rIns="305" bIns="305" rtlCol="0" anchor="ctr">
            <a:normAutofit lnSpcReduction="10000"/>
          </a:bodyPr>
          <a:lstStyle/>
          <a:p>
            <a:pPr algn="ctr"/>
            <a:r>
              <a:rPr lang="en-US" sz="1464" b="1" dirty="0">
                <a:solidFill>
                  <a:srgbClr val="0616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330M</a:t>
            </a:r>
            <a:endParaRPr lang="en-US" sz="1464" dirty="0"/>
          </a:p>
        </p:txBody>
      </p:sp>
      <p:sp>
        <p:nvSpPr>
          <p:cNvPr id="24" name="Text 22"/>
          <p:cNvSpPr/>
          <p:nvPr/>
        </p:nvSpPr>
        <p:spPr>
          <a:xfrm>
            <a:off x="471830" y="4718304"/>
            <a:ext cx="713232" cy="438912"/>
          </a:xfrm>
          <a:prstGeom prst="rect">
            <a:avLst/>
          </a:prstGeom>
          <a:noFill/>
          <a:ln/>
        </p:spPr>
        <p:txBody>
          <a:bodyPr wrap="square" lIns="305" tIns="305" rIns="305" bIns="305" rtlCol="0" anchor="ctr">
            <a:normAutofit/>
          </a:bodyPr>
          <a:lstStyle/>
          <a:p>
            <a:pPr algn="ctr"/>
            <a:r>
              <a:rPr lang="en-US" sz="960" b="1" dirty="0">
                <a:solidFill>
                  <a:srgbClr val="0616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2024</a:t>
            </a:r>
            <a:endParaRPr lang="en-US" sz="960" dirty="0"/>
          </a:p>
          <a:p>
            <a:pPr algn="ctr"/>
            <a:r>
              <a:rPr lang="en-US" sz="960" b="1" dirty="0">
                <a:solidFill>
                  <a:srgbClr val="0616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Actual GC</a:t>
            </a:r>
            <a:endParaRPr lang="en-US" sz="960" dirty="0"/>
          </a:p>
        </p:txBody>
      </p:sp>
      <p:sp>
        <p:nvSpPr>
          <p:cNvPr id="25" name="Shape 23"/>
          <p:cNvSpPr/>
          <p:nvPr/>
        </p:nvSpPr>
        <p:spPr>
          <a:xfrm>
            <a:off x="2029968" y="3313786"/>
            <a:ext cx="658368" cy="1185062"/>
          </a:xfrm>
          <a:prstGeom prst="rect">
            <a:avLst/>
          </a:prstGeom>
          <a:solidFill>
            <a:srgbClr val="9C9C9C"/>
          </a:solidFill>
          <a:ln w="12700">
            <a:solidFill>
              <a:srgbClr val="9C9C9C">
                <a:alpha val="0"/>
              </a:srgbClr>
            </a:solidFill>
            <a:prstDash val="solid"/>
          </a:ln>
          <a:effectLst>
            <a:outerShdw blurRad="17780" dist="50800" dir="2700000" algn="bl" rotWithShape="0">
              <a:srgbClr val="B5B5B5">
                <a:alpha val="16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1920240" y="2995574"/>
            <a:ext cx="877824" cy="219456"/>
          </a:xfrm>
          <a:prstGeom prst="rect">
            <a:avLst/>
          </a:prstGeom>
          <a:noFill/>
          <a:ln/>
        </p:spPr>
        <p:txBody>
          <a:bodyPr wrap="square" lIns="305" tIns="305" rIns="305" bIns="305" rtlCol="0" anchor="ctr">
            <a:normAutofit lnSpcReduction="10000"/>
          </a:bodyPr>
          <a:lstStyle/>
          <a:p>
            <a:pPr algn="ctr"/>
            <a:r>
              <a:rPr lang="en-US" sz="1440" b="1" dirty="0">
                <a:solidFill>
                  <a:srgbClr val="4A4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310M</a:t>
            </a:r>
            <a:endParaRPr lang="en-US" sz="1440" dirty="0"/>
          </a:p>
        </p:txBody>
      </p:sp>
      <p:sp>
        <p:nvSpPr>
          <p:cNvPr id="27" name="Text 25"/>
          <p:cNvSpPr/>
          <p:nvPr/>
        </p:nvSpPr>
        <p:spPr>
          <a:xfrm>
            <a:off x="1777594" y="4718304"/>
            <a:ext cx="1152144" cy="460858"/>
          </a:xfrm>
          <a:prstGeom prst="rect">
            <a:avLst/>
          </a:prstGeom>
          <a:noFill/>
          <a:ln/>
        </p:spPr>
        <p:txBody>
          <a:bodyPr wrap="square" lIns="305" tIns="305" rIns="305" bIns="305" rtlCol="0" anchor="ctr">
            <a:normAutofit/>
          </a:bodyPr>
          <a:lstStyle/>
          <a:p>
            <a:pPr algn="ctr"/>
            <a:r>
              <a:rPr lang="en-US" sz="912" b="1" dirty="0">
                <a:solidFill>
                  <a:srgbClr val="4A4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Weak Foundation Base</a:t>
            </a:r>
            <a:endParaRPr lang="en-US" sz="912" dirty="0"/>
          </a:p>
          <a:p>
            <a:pPr algn="ctr"/>
            <a:r>
              <a:rPr lang="en-US" sz="912" b="1" dirty="0">
                <a:solidFill>
                  <a:srgbClr val="4A4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(counterfactual)</a:t>
            </a:r>
            <a:endParaRPr lang="en-US" sz="912" dirty="0"/>
          </a:p>
        </p:txBody>
      </p:sp>
      <p:sp>
        <p:nvSpPr>
          <p:cNvPr id="28" name="Shape 26"/>
          <p:cNvSpPr/>
          <p:nvPr/>
        </p:nvSpPr>
        <p:spPr>
          <a:xfrm>
            <a:off x="1152144" y="2249424"/>
            <a:ext cx="548640" cy="1064362"/>
          </a:xfrm>
          <a:prstGeom prst="line">
            <a:avLst/>
          </a:prstGeom>
          <a:noFill/>
          <a:ln w="11430">
            <a:solidFill>
              <a:srgbClr val="06164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700784" y="3313786"/>
            <a:ext cx="329184" cy="0"/>
          </a:xfrm>
          <a:prstGeom prst="line">
            <a:avLst/>
          </a:prstGeom>
          <a:noFill/>
          <a:ln w="11430">
            <a:solidFill>
              <a:srgbClr val="06164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642969" y="2688336"/>
            <a:ext cx="899770" cy="416966"/>
          </a:xfrm>
          <a:prstGeom prst="rect">
            <a:avLst/>
          </a:prstGeom>
          <a:solidFill>
            <a:srgbClr val="0B7F2A"/>
          </a:solidFill>
          <a:ln w="12700">
            <a:solidFill>
              <a:srgbClr val="0B7F2A">
                <a:alpha val="0"/>
              </a:srgbClr>
            </a:solidFill>
            <a:prstDash val="solid"/>
          </a:ln>
          <a:effectLst>
            <a:outerShdw blurRad="17780" dist="50800" dir="2700000" algn="bl" rotWithShape="0">
              <a:srgbClr val="B5B5B5">
                <a:alpha val="16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3664915" y="2249424"/>
            <a:ext cx="855878" cy="384048"/>
          </a:xfrm>
          <a:prstGeom prst="rect">
            <a:avLst/>
          </a:prstGeom>
          <a:noFill/>
          <a:ln/>
        </p:spPr>
        <p:txBody>
          <a:bodyPr wrap="square" lIns="305" tIns="305" rIns="305" bIns="305" rtlCol="0" anchor="ctr">
            <a:normAutofit lnSpcReduction="10000"/>
          </a:bodyPr>
          <a:lstStyle/>
          <a:p>
            <a:pPr algn="ctr"/>
            <a:r>
              <a:rPr lang="en-US" sz="1380" b="1" dirty="0">
                <a:solidFill>
                  <a:srgbClr val="0B7F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+14M</a:t>
            </a:r>
            <a:endParaRPr lang="en-US" sz="1380" dirty="0"/>
          </a:p>
          <a:p>
            <a:pPr algn="ctr"/>
            <a:r>
              <a:rPr lang="en-US" sz="1380" b="1" dirty="0">
                <a:solidFill>
                  <a:srgbClr val="0B7F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(+4.2%)</a:t>
            </a:r>
            <a:endParaRPr lang="en-US" sz="1380" dirty="0"/>
          </a:p>
        </p:txBody>
      </p:sp>
      <p:sp>
        <p:nvSpPr>
          <p:cNvPr id="32" name="Text 30"/>
          <p:cNvSpPr/>
          <p:nvPr/>
        </p:nvSpPr>
        <p:spPr>
          <a:xfrm>
            <a:off x="3599078" y="4729277"/>
            <a:ext cx="1009498" cy="405994"/>
          </a:xfrm>
          <a:prstGeom prst="rect">
            <a:avLst/>
          </a:prstGeom>
          <a:noFill/>
          <a:ln/>
        </p:spPr>
        <p:txBody>
          <a:bodyPr wrap="square" lIns="305" tIns="305" rIns="305" bIns="305" rtlCol="0" anchor="ctr">
            <a:normAutofit/>
          </a:bodyPr>
          <a:lstStyle/>
          <a:p>
            <a:pPr algn="ctr"/>
            <a:r>
              <a:rPr lang="en-US" sz="948" b="1" dirty="0">
                <a:solidFill>
                  <a:srgbClr val="0616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Restaurant</a:t>
            </a:r>
            <a:endParaRPr lang="en-US" sz="948" dirty="0"/>
          </a:p>
          <a:p>
            <a:pPr algn="ctr"/>
            <a:r>
              <a:rPr lang="en-US" sz="948" b="1" dirty="0">
                <a:solidFill>
                  <a:srgbClr val="0616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Foundation</a:t>
            </a:r>
            <a:endParaRPr lang="en-US" sz="948" dirty="0"/>
          </a:p>
        </p:txBody>
      </p:sp>
      <p:sp>
        <p:nvSpPr>
          <p:cNvPr id="33" name="Shape 31"/>
          <p:cNvSpPr/>
          <p:nvPr/>
        </p:nvSpPr>
        <p:spPr>
          <a:xfrm>
            <a:off x="2688336" y="3313786"/>
            <a:ext cx="954634" cy="0"/>
          </a:xfrm>
          <a:prstGeom prst="line">
            <a:avLst/>
          </a:prstGeom>
          <a:noFill/>
          <a:ln w="11430">
            <a:solidFill>
              <a:srgbClr val="06164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542739" y="2688336"/>
            <a:ext cx="592531" cy="0"/>
          </a:xfrm>
          <a:prstGeom prst="line">
            <a:avLst/>
          </a:prstGeom>
          <a:noFill/>
          <a:ln w="11430">
            <a:solidFill>
              <a:srgbClr val="06164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135270" y="2501798"/>
            <a:ext cx="899770" cy="296266"/>
          </a:xfrm>
          <a:prstGeom prst="rect">
            <a:avLst/>
          </a:prstGeom>
          <a:solidFill>
            <a:srgbClr val="0E9A36"/>
          </a:solidFill>
          <a:ln w="12700">
            <a:solidFill>
              <a:srgbClr val="0E9A36">
                <a:alpha val="0"/>
              </a:srgbClr>
            </a:solidFill>
            <a:prstDash val="solid"/>
          </a:ln>
          <a:effectLst>
            <a:outerShdw blurRad="17780" dist="50800" dir="2700000" algn="bl" rotWithShape="0">
              <a:srgbClr val="B5B5B5">
                <a:alpha val="16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5146243" y="2106778"/>
            <a:ext cx="855878" cy="384048"/>
          </a:xfrm>
          <a:prstGeom prst="rect">
            <a:avLst/>
          </a:prstGeom>
          <a:noFill/>
          <a:ln/>
        </p:spPr>
        <p:txBody>
          <a:bodyPr wrap="square" lIns="305" tIns="305" rIns="305" bIns="305" rtlCol="0" anchor="ctr">
            <a:normAutofit lnSpcReduction="10000"/>
          </a:bodyPr>
          <a:lstStyle/>
          <a:p>
            <a:pPr algn="ctr"/>
            <a:r>
              <a:rPr lang="en-US" sz="1380" b="1" dirty="0">
                <a:solidFill>
                  <a:srgbClr val="0B7F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+9M</a:t>
            </a:r>
            <a:endParaRPr lang="en-US" sz="1380" dirty="0"/>
          </a:p>
          <a:p>
            <a:pPr algn="ctr"/>
            <a:r>
              <a:rPr lang="en-US" sz="1380" b="1" dirty="0">
                <a:solidFill>
                  <a:srgbClr val="0B7F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(+2.7%)</a:t>
            </a:r>
            <a:endParaRPr lang="en-US" sz="1380" dirty="0"/>
          </a:p>
        </p:txBody>
      </p:sp>
      <p:sp>
        <p:nvSpPr>
          <p:cNvPr id="37" name="Text 35"/>
          <p:cNvSpPr/>
          <p:nvPr/>
        </p:nvSpPr>
        <p:spPr>
          <a:xfrm>
            <a:off x="5080406" y="4729277"/>
            <a:ext cx="1042416" cy="405994"/>
          </a:xfrm>
          <a:prstGeom prst="rect">
            <a:avLst/>
          </a:prstGeom>
          <a:noFill/>
          <a:ln/>
        </p:spPr>
        <p:txBody>
          <a:bodyPr wrap="square" lIns="305" tIns="305" rIns="305" bIns="305" rtlCol="0" anchor="ctr">
            <a:normAutofit/>
          </a:bodyPr>
          <a:lstStyle/>
          <a:p>
            <a:pPr algn="ctr"/>
            <a:r>
              <a:rPr lang="en-US" sz="948" b="1" dirty="0">
                <a:solidFill>
                  <a:srgbClr val="0616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Commercial</a:t>
            </a:r>
            <a:endParaRPr lang="en-US" sz="948" dirty="0"/>
          </a:p>
          <a:p>
            <a:pPr algn="ctr"/>
            <a:r>
              <a:rPr lang="en-US" sz="948" b="1" dirty="0">
                <a:solidFill>
                  <a:srgbClr val="0616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BAU</a:t>
            </a:r>
            <a:endParaRPr lang="en-US" sz="948" dirty="0"/>
          </a:p>
        </p:txBody>
      </p:sp>
      <p:sp>
        <p:nvSpPr>
          <p:cNvPr id="38" name="Shape 36"/>
          <p:cNvSpPr/>
          <p:nvPr/>
        </p:nvSpPr>
        <p:spPr>
          <a:xfrm>
            <a:off x="6035040" y="2501798"/>
            <a:ext cx="680314" cy="0"/>
          </a:xfrm>
          <a:prstGeom prst="line">
            <a:avLst/>
          </a:prstGeom>
          <a:noFill/>
          <a:ln w="11430">
            <a:solidFill>
              <a:srgbClr val="061641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715354" y="2040941"/>
            <a:ext cx="746150" cy="2457907"/>
          </a:xfrm>
          <a:prstGeom prst="rect">
            <a:avLst/>
          </a:prstGeom>
          <a:solidFill>
            <a:srgbClr val="061641"/>
          </a:solidFill>
          <a:ln w="12700">
            <a:solidFill>
              <a:srgbClr val="061641">
                <a:alpha val="0"/>
              </a:srgbClr>
            </a:solidFill>
            <a:prstDash val="solid"/>
          </a:ln>
          <a:effectLst>
            <a:outerShdw blurRad="17780" dist="50800" dir="2700000" algn="bl" rotWithShape="0">
              <a:srgbClr val="B5B5B5">
                <a:alpha val="16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6671462" y="1722730"/>
            <a:ext cx="844906" cy="219456"/>
          </a:xfrm>
          <a:prstGeom prst="rect">
            <a:avLst/>
          </a:prstGeom>
          <a:noFill/>
          <a:ln/>
        </p:spPr>
        <p:txBody>
          <a:bodyPr wrap="square" lIns="305" tIns="305" rIns="305" bIns="305" rtlCol="0" anchor="ctr">
            <a:normAutofit lnSpcReduction="10000"/>
          </a:bodyPr>
          <a:lstStyle/>
          <a:p>
            <a:pPr algn="ctr"/>
            <a:r>
              <a:rPr lang="en-US" sz="1440" b="1" dirty="0">
                <a:solidFill>
                  <a:srgbClr val="0616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333M</a:t>
            </a:r>
            <a:endParaRPr lang="en-US" sz="1440" dirty="0"/>
          </a:p>
        </p:txBody>
      </p:sp>
      <p:sp>
        <p:nvSpPr>
          <p:cNvPr id="41" name="Text 39"/>
          <p:cNvSpPr/>
          <p:nvPr/>
        </p:nvSpPr>
        <p:spPr>
          <a:xfrm>
            <a:off x="6627571" y="4718304"/>
            <a:ext cx="932688" cy="460858"/>
          </a:xfrm>
          <a:prstGeom prst="rect">
            <a:avLst/>
          </a:prstGeom>
          <a:noFill/>
          <a:ln/>
        </p:spPr>
        <p:txBody>
          <a:bodyPr wrap="square" lIns="305" tIns="305" rIns="305" bIns="305" rtlCol="0" anchor="ctr">
            <a:normAutofit/>
          </a:bodyPr>
          <a:lstStyle/>
          <a:p>
            <a:pPr algn="ctr"/>
            <a:r>
              <a:rPr lang="en-US" sz="960" b="1" dirty="0">
                <a:solidFill>
                  <a:srgbClr val="0616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Protected</a:t>
            </a:r>
            <a:endParaRPr lang="en-US" sz="960" dirty="0"/>
          </a:p>
          <a:p>
            <a:pPr algn="ctr"/>
            <a:r>
              <a:rPr lang="en-US" sz="960" b="1" dirty="0">
                <a:solidFill>
                  <a:srgbClr val="0616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BAU Base</a:t>
            </a:r>
            <a:endParaRPr lang="en-US" sz="960" dirty="0"/>
          </a:p>
        </p:txBody>
      </p:sp>
      <p:sp>
        <p:nvSpPr>
          <p:cNvPr id="42" name="Shape 40"/>
          <p:cNvSpPr/>
          <p:nvPr/>
        </p:nvSpPr>
        <p:spPr>
          <a:xfrm>
            <a:off x="7922361" y="2392071"/>
            <a:ext cx="899770" cy="373075"/>
          </a:xfrm>
          <a:prstGeom prst="rect">
            <a:avLst/>
          </a:prstGeom>
          <a:solidFill>
            <a:srgbClr val="F25416"/>
          </a:solidFill>
          <a:ln w="12700">
            <a:solidFill>
              <a:srgbClr val="F25416">
                <a:alpha val="0"/>
              </a:srgbClr>
            </a:solidFill>
            <a:prstDash val="solid"/>
          </a:ln>
          <a:effectLst>
            <a:outerShdw blurRad="17780" dist="50800" dir="2700000" algn="bl" rotWithShape="0">
              <a:srgbClr val="B5B5B5">
                <a:alpha val="16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7955280" y="3017520"/>
            <a:ext cx="833933" cy="395021"/>
          </a:xfrm>
          <a:prstGeom prst="rect">
            <a:avLst/>
          </a:prstGeom>
          <a:noFill/>
          <a:ln/>
        </p:spPr>
        <p:txBody>
          <a:bodyPr wrap="square" lIns="305" tIns="305" rIns="305" bIns="305" rtlCol="0" anchor="ctr">
            <a:normAutofit lnSpcReduction="10000"/>
          </a:bodyPr>
          <a:lstStyle/>
          <a:p>
            <a:pPr algn="ctr"/>
            <a:r>
              <a:rPr lang="en-US" sz="1380" b="1" dirty="0">
                <a:solidFill>
                  <a:srgbClr val="F254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-14M</a:t>
            </a:r>
            <a:endParaRPr lang="en-US" sz="1380" dirty="0"/>
          </a:p>
          <a:p>
            <a:pPr algn="ctr"/>
            <a:r>
              <a:rPr lang="en-US" sz="1380" b="1" dirty="0">
                <a:solidFill>
                  <a:srgbClr val="F254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(-4.2%)</a:t>
            </a:r>
            <a:endParaRPr lang="en-US" sz="1380" dirty="0"/>
          </a:p>
        </p:txBody>
      </p:sp>
      <p:sp>
        <p:nvSpPr>
          <p:cNvPr id="44" name="Text 42"/>
          <p:cNvSpPr/>
          <p:nvPr/>
        </p:nvSpPr>
        <p:spPr>
          <a:xfrm>
            <a:off x="7878470" y="4718304"/>
            <a:ext cx="987552" cy="416966"/>
          </a:xfrm>
          <a:prstGeom prst="rect">
            <a:avLst/>
          </a:prstGeom>
          <a:noFill/>
          <a:ln/>
        </p:spPr>
        <p:txBody>
          <a:bodyPr wrap="square" lIns="305" tIns="305" rIns="305" bIns="305" rtlCol="0" anchor="ctr">
            <a:normAutofit/>
          </a:bodyPr>
          <a:lstStyle/>
          <a:p>
            <a:pPr algn="ctr"/>
            <a:r>
              <a:rPr lang="en-US" sz="948" b="1" dirty="0">
                <a:solidFill>
                  <a:srgbClr val="0616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External</a:t>
            </a:r>
            <a:endParaRPr lang="en-US" sz="948" dirty="0"/>
          </a:p>
          <a:p>
            <a:pPr algn="ctr"/>
            <a:r>
              <a:rPr lang="en-US" sz="948" b="1" dirty="0">
                <a:solidFill>
                  <a:srgbClr val="0616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Context</a:t>
            </a:r>
            <a:endParaRPr lang="en-US" sz="948" dirty="0"/>
          </a:p>
        </p:txBody>
      </p:sp>
      <p:sp>
        <p:nvSpPr>
          <p:cNvPr id="45" name="Shape 43"/>
          <p:cNvSpPr/>
          <p:nvPr/>
        </p:nvSpPr>
        <p:spPr>
          <a:xfrm>
            <a:off x="7461504" y="2040941"/>
            <a:ext cx="460858" cy="351130"/>
          </a:xfrm>
          <a:prstGeom prst="line">
            <a:avLst/>
          </a:prstGeom>
          <a:noFill/>
          <a:ln w="11430">
            <a:solidFill>
              <a:srgbClr val="061641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822131" y="2765146"/>
            <a:ext cx="592531" cy="0"/>
          </a:xfrm>
          <a:prstGeom prst="line">
            <a:avLst/>
          </a:prstGeom>
          <a:noFill/>
          <a:ln w="11430">
            <a:solidFill>
              <a:srgbClr val="061641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9414663" y="2765146"/>
            <a:ext cx="746150" cy="1733702"/>
          </a:xfrm>
          <a:prstGeom prst="rect">
            <a:avLst/>
          </a:prstGeom>
          <a:solidFill>
            <a:srgbClr val="061641"/>
          </a:solidFill>
          <a:ln w="12700">
            <a:solidFill>
              <a:srgbClr val="061641">
                <a:alpha val="0"/>
              </a:srgbClr>
            </a:solidFill>
            <a:prstDash val="solid"/>
          </a:ln>
          <a:effectLst>
            <a:outerShdw blurRad="17780" dist="50800" dir="2700000" algn="bl" rotWithShape="0">
              <a:srgbClr val="B5B5B5">
                <a:alpha val="16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9381744" y="2457907"/>
            <a:ext cx="822960" cy="219456"/>
          </a:xfrm>
          <a:prstGeom prst="rect">
            <a:avLst/>
          </a:prstGeom>
          <a:noFill/>
          <a:ln/>
        </p:spPr>
        <p:txBody>
          <a:bodyPr wrap="square" lIns="305" tIns="305" rIns="305" bIns="305" rtlCol="0" anchor="ctr">
            <a:normAutofit lnSpcReduction="10000"/>
          </a:bodyPr>
          <a:lstStyle/>
          <a:p>
            <a:pPr algn="ctr"/>
            <a:r>
              <a:rPr lang="en-US" sz="1440" b="1" dirty="0">
                <a:solidFill>
                  <a:srgbClr val="0616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319M</a:t>
            </a:r>
            <a:endParaRPr lang="en-US" sz="1440" dirty="0"/>
          </a:p>
        </p:txBody>
      </p:sp>
      <p:sp>
        <p:nvSpPr>
          <p:cNvPr id="49" name="Text 47"/>
          <p:cNvSpPr/>
          <p:nvPr/>
        </p:nvSpPr>
        <p:spPr>
          <a:xfrm>
            <a:off x="9326880" y="4718304"/>
            <a:ext cx="987552" cy="460858"/>
          </a:xfrm>
          <a:prstGeom prst="rect">
            <a:avLst/>
          </a:prstGeom>
          <a:noFill/>
          <a:ln/>
        </p:spPr>
        <p:txBody>
          <a:bodyPr wrap="square" lIns="305" tIns="305" rIns="305" bIns="305" rtlCol="0" anchor="ctr">
            <a:normAutofit/>
          </a:bodyPr>
          <a:lstStyle/>
          <a:p>
            <a:pPr algn="ctr"/>
            <a:r>
              <a:rPr lang="en-US" sz="960" b="1" dirty="0">
                <a:solidFill>
                  <a:srgbClr val="0616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Context-Adjusted</a:t>
            </a:r>
            <a:endParaRPr lang="en-US" sz="960" dirty="0"/>
          </a:p>
          <a:p>
            <a:pPr algn="ctr"/>
            <a:r>
              <a:rPr lang="en-US" sz="960" b="1" dirty="0">
                <a:solidFill>
                  <a:srgbClr val="0616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Base</a:t>
            </a:r>
            <a:endParaRPr lang="en-US" sz="960" dirty="0"/>
          </a:p>
        </p:txBody>
      </p:sp>
      <p:sp>
        <p:nvSpPr>
          <p:cNvPr id="50" name="Shape 48"/>
          <p:cNvSpPr/>
          <p:nvPr/>
        </p:nvSpPr>
        <p:spPr>
          <a:xfrm>
            <a:off x="10588752" y="2139696"/>
            <a:ext cx="965606" cy="460858"/>
          </a:xfrm>
          <a:prstGeom prst="rect">
            <a:avLst/>
          </a:prstGeom>
          <a:solidFill>
            <a:srgbClr val="0759D9"/>
          </a:solidFill>
          <a:ln w="12700">
            <a:solidFill>
              <a:srgbClr val="0759D9">
                <a:alpha val="0"/>
              </a:srgbClr>
            </a:solidFill>
            <a:prstDash val="solid"/>
          </a:ln>
          <a:effectLst>
            <a:outerShdw blurRad="17780" dist="50800" dir="2700000" algn="bl" rotWithShape="0">
              <a:srgbClr val="B5B5B5">
                <a:alpha val="16000"/>
              </a:srgbClr>
            </a:outerShdw>
          </a:effectLst>
        </p:spPr>
      </p:sp>
      <p:sp>
        <p:nvSpPr>
          <p:cNvPr id="51" name="Text 49"/>
          <p:cNvSpPr/>
          <p:nvPr/>
        </p:nvSpPr>
        <p:spPr>
          <a:xfrm>
            <a:off x="10621670" y="1591056"/>
            <a:ext cx="899770" cy="395021"/>
          </a:xfrm>
          <a:prstGeom prst="rect">
            <a:avLst/>
          </a:prstGeom>
          <a:noFill/>
          <a:ln/>
        </p:spPr>
        <p:txBody>
          <a:bodyPr wrap="square" lIns="305" tIns="305" rIns="305" bIns="305" rtlCol="0" anchor="ctr">
            <a:normAutofit fontScale="92500" lnSpcReduction="10000"/>
          </a:bodyPr>
          <a:lstStyle/>
          <a:p>
            <a:pPr algn="ctr"/>
            <a:r>
              <a:rPr lang="en-US" sz="1440" b="1" dirty="0">
                <a:solidFill>
                  <a:srgbClr val="0759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+33M</a:t>
            </a:r>
            <a:endParaRPr lang="en-US" sz="1440" dirty="0"/>
          </a:p>
          <a:p>
            <a:pPr algn="ctr"/>
            <a:r>
              <a:rPr lang="en-US" sz="1440" b="1" dirty="0">
                <a:solidFill>
                  <a:srgbClr val="0759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(+10.0%)</a:t>
            </a:r>
            <a:endParaRPr lang="en-US" sz="1440" dirty="0"/>
          </a:p>
        </p:txBody>
      </p:sp>
      <p:sp>
        <p:nvSpPr>
          <p:cNvPr id="52" name="Text 50"/>
          <p:cNvSpPr/>
          <p:nvPr/>
        </p:nvSpPr>
        <p:spPr>
          <a:xfrm>
            <a:off x="10533888" y="4718304"/>
            <a:ext cx="1075334" cy="416966"/>
          </a:xfrm>
          <a:prstGeom prst="rect">
            <a:avLst/>
          </a:prstGeom>
          <a:noFill/>
          <a:ln/>
        </p:spPr>
        <p:txBody>
          <a:bodyPr wrap="square" lIns="305" tIns="305" rIns="305" bIns="305" rtlCol="0" anchor="ctr">
            <a:normAutofit/>
          </a:bodyPr>
          <a:lstStyle/>
          <a:p>
            <a:pPr algn="ctr"/>
            <a:r>
              <a:rPr lang="en-US" sz="948" b="1" dirty="0">
                <a:solidFill>
                  <a:srgbClr val="0616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Growth</a:t>
            </a:r>
            <a:endParaRPr lang="en-US" sz="948" dirty="0"/>
          </a:p>
          <a:p>
            <a:pPr algn="ctr"/>
            <a:r>
              <a:rPr lang="en-US" sz="948" b="1" dirty="0">
                <a:solidFill>
                  <a:srgbClr val="0616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Momentum</a:t>
            </a:r>
            <a:endParaRPr lang="en-US" sz="948" dirty="0"/>
          </a:p>
        </p:txBody>
      </p:sp>
      <p:sp>
        <p:nvSpPr>
          <p:cNvPr id="53" name="Shape 51"/>
          <p:cNvSpPr/>
          <p:nvPr/>
        </p:nvSpPr>
        <p:spPr>
          <a:xfrm>
            <a:off x="10160813" y="2765146"/>
            <a:ext cx="427939" cy="0"/>
          </a:xfrm>
          <a:prstGeom prst="line">
            <a:avLst/>
          </a:prstGeom>
          <a:noFill/>
          <a:ln w="11430">
            <a:solidFill>
              <a:srgbClr val="061641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11554359" y="2139696"/>
            <a:ext cx="581558" cy="252374"/>
          </a:xfrm>
          <a:prstGeom prst="line">
            <a:avLst/>
          </a:prstGeom>
          <a:noFill/>
          <a:ln w="11430">
            <a:solidFill>
              <a:srgbClr val="061641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12135917" y="2392070"/>
            <a:ext cx="636422" cy="186538"/>
          </a:xfrm>
          <a:prstGeom prst="rect">
            <a:avLst/>
          </a:prstGeom>
          <a:solidFill>
            <a:srgbClr val="9C9C9C"/>
          </a:solidFill>
          <a:ln w="12700">
            <a:solidFill>
              <a:srgbClr val="9C9C9C">
                <a:alpha val="0"/>
              </a:srgbClr>
            </a:solidFill>
            <a:prstDash val="solid"/>
          </a:ln>
          <a:effectLst>
            <a:outerShdw blurRad="17780" dist="50800" dir="2700000" algn="bl" rotWithShape="0">
              <a:srgbClr val="B5B5B5">
                <a:alpha val="16000"/>
              </a:srgbClr>
            </a:outerShdw>
          </a:effectLst>
        </p:spPr>
      </p:sp>
      <p:sp>
        <p:nvSpPr>
          <p:cNvPr id="56" name="Text 54"/>
          <p:cNvSpPr/>
          <p:nvPr/>
        </p:nvSpPr>
        <p:spPr>
          <a:xfrm>
            <a:off x="12070080" y="2798064"/>
            <a:ext cx="768096" cy="384048"/>
          </a:xfrm>
          <a:prstGeom prst="rect">
            <a:avLst/>
          </a:prstGeom>
          <a:noFill/>
          <a:ln/>
        </p:spPr>
        <p:txBody>
          <a:bodyPr wrap="square" lIns="305" tIns="305" rIns="305" bIns="305" rtlCol="0" anchor="ctr">
            <a:normAutofit lnSpcReduction="10000"/>
          </a:bodyPr>
          <a:lstStyle/>
          <a:p>
            <a:pPr algn="ctr"/>
            <a:r>
              <a:rPr lang="en-US" sz="1296" b="1" dirty="0">
                <a:solidFill>
                  <a:srgbClr val="4A4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-4M</a:t>
            </a:r>
            <a:endParaRPr lang="en-US" sz="1296" dirty="0"/>
          </a:p>
          <a:p>
            <a:pPr algn="ctr"/>
            <a:r>
              <a:rPr lang="en-US" sz="1296" b="1" dirty="0">
                <a:solidFill>
                  <a:srgbClr val="4A4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(-1.2%)</a:t>
            </a:r>
            <a:endParaRPr lang="en-US" sz="1296" dirty="0"/>
          </a:p>
        </p:txBody>
      </p:sp>
      <p:sp>
        <p:nvSpPr>
          <p:cNvPr id="57" name="Text 55"/>
          <p:cNvSpPr/>
          <p:nvPr/>
        </p:nvSpPr>
        <p:spPr>
          <a:xfrm>
            <a:off x="12037162" y="4718304"/>
            <a:ext cx="811987" cy="416966"/>
          </a:xfrm>
          <a:prstGeom prst="rect">
            <a:avLst/>
          </a:prstGeom>
          <a:noFill/>
          <a:ln/>
        </p:spPr>
        <p:txBody>
          <a:bodyPr wrap="square" lIns="305" tIns="305" rIns="305" bIns="305" rtlCol="0" anchor="ctr">
            <a:normAutofit/>
          </a:bodyPr>
          <a:lstStyle/>
          <a:p>
            <a:pPr algn="ctr"/>
            <a:r>
              <a:rPr lang="en-US" sz="948" b="1" dirty="0">
                <a:solidFill>
                  <a:srgbClr val="0616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Gap /</a:t>
            </a:r>
            <a:endParaRPr lang="en-US" sz="948" dirty="0"/>
          </a:p>
          <a:p>
            <a:pPr algn="ctr"/>
            <a:r>
              <a:rPr lang="en-US" sz="948" b="1" dirty="0">
                <a:solidFill>
                  <a:srgbClr val="0616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Residual</a:t>
            </a:r>
            <a:endParaRPr lang="en-US" sz="948" dirty="0"/>
          </a:p>
        </p:txBody>
      </p:sp>
      <p:sp>
        <p:nvSpPr>
          <p:cNvPr id="58" name="Shape 56"/>
          <p:cNvSpPr/>
          <p:nvPr/>
        </p:nvSpPr>
        <p:spPr>
          <a:xfrm>
            <a:off x="12772339" y="2578608"/>
            <a:ext cx="592531" cy="0"/>
          </a:xfrm>
          <a:prstGeom prst="line">
            <a:avLst/>
          </a:prstGeom>
          <a:noFill/>
          <a:ln w="11430">
            <a:solidFill>
              <a:srgbClr val="061641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13364871" y="2117750"/>
            <a:ext cx="702259" cy="2381098"/>
          </a:xfrm>
          <a:prstGeom prst="rect">
            <a:avLst/>
          </a:prstGeom>
          <a:solidFill>
            <a:srgbClr val="061641"/>
          </a:solidFill>
          <a:ln w="12700">
            <a:solidFill>
              <a:srgbClr val="061641">
                <a:alpha val="0"/>
              </a:srgbClr>
            </a:solidFill>
            <a:prstDash val="solid"/>
          </a:ln>
          <a:effectLst>
            <a:outerShdw blurRad="17780" dist="50800" dir="2700000" algn="bl" rotWithShape="0">
              <a:srgbClr val="B5B5B5">
                <a:alpha val="16000"/>
              </a:srgbClr>
            </a:outerShdw>
          </a:effectLst>
        </p:spPr>
      </p:sp>
      <p:sp>
        <p:nvSpPr>
          <p:cNvPr id="60" name="Text 58"/>
          <p:cNvSpPr/>
          <p:nvPr/>
        </p:nvSpPr>
        <p:spPr>
          <a:xfrm>
            <a:off x="13299033" y="1788566"/>
            <a:ext cx="844906" cy="219456"/>
          </a:xfrm>
          <a:prstGeom prst="rect">
            <a:avLst/>
          </a:prstGeom>
          <a:noFill/>
          <a:ln/>
        </p:spPr>
        <p:txBody>
          <a:bodyPr wrap="square" lIns="305" tIns="305" rIns="305" bIns="305" rtlCol="0" anchor="ctr">
            <a:normAutofit lnSpcReduction="10000"/>
          </a:bodyPr>
          <a:lstStyle/>
          <a:p>
            <a:pPr algn="ctr"/>
            <a:r>
              <a:rPr lang="en-US" sz="1440" b="1" dirty="0">
                <a:solidFill>
                  <a:srgbClr val="0616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350M</a:t>
            </a:r>
            <a:endParaRPr lang="en-US" sz="1440" dirty="0"/>
          </a:p>
        </p:txBody>
      </p:sp>
      <p:sp>
        <p:nvSpPr>
          <p:cNvPr id="61" name="Text 59"/>
          <p:cNvSpPr/>
          <p:nvPr/>
        </p:nvSpPr>
        <p:spPr>
          <a:xfrm>
            <a:off x="13156387" y="4685386"/>
            <a:ext cx="1152144" cy="603504"/>
          </a:xfrm>
          <a:prstGeom prst="rect">
            <a:avLst/>
          </a:prstGeom>
          <a:noFill/>
          <a:ln/>
        </p:spPr>
        <p:txBody>
          <a:bodyPr wrap="square" lIns="305" tIns="305" rIns="305" bIns="305" rtlCol="0" anchor="ctr">
            <a:normAutofit/>
          </a:bodyPr>
          <a:lstStyle/>
          <a:p>
            <a:pPr algn="ctr"/>
            <a:r>
              <a:rPr lang="en-US" sz="900" b="1" dirty="0">
                <a:solidFill>
                  <a:srgbClr val="0616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2025</a:t>
            </a:r>
            <a:endParaRPr lang="en-US" sz="900" dirty="0"/>
          </a:p>
          <a:p>
            <a:pPr algn="ctr"/>
            <a:r>
              <a:rPr lang="en-US" sz="900" b="1" dirty="0">
                <a:solidFill>
                  <a:srgbClr val="0616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Actual GC</a:t>
            </a:r>
            <a:endParaRPr lang="en-US" sz="900" dirty="0"/>
          </a:p>
          <a:p>
            <a:pPr algn="ctr"/>
            <a:r>
              <a:rPr lang="en-US" sz="900" b="1" dirty="0">
                <a:solidFill>
                  <a:srgbClr val="0616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+6.1% vs 2024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329184" y="4498848"/>
            <a:ext cx="13880592" cy="0"/>
          </a:xfrm>
          <a:prstGeom prst="line">
            <a:avLst/>
          </a:prstGeom>
          <a:noFill/>
          <a:ln w="13970">
            <a:solidFill>
              <a:srgbClr val="061641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175565" y="5574182"/>
            <a:ext cx="3434486" cy="2326234"/>
          </a:xfrm>
          <a:prstGeom prst="roundRect">
            <a:avLst>
              <a:gd name="adj" fmla="val 5189"/>
            </a:avLst>
          </a:prstGeom>
          <a:solidFill>
            <a:srgbClr val="FFFFFF"/>
          </a:solidFill>
          <a:ln w="12700">
            <a:solidFill>
              <a:srgbClr val="0B7F2A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351130" y="5683911"/>
            <a:ext cx="3083357" cy="263347"/>
          </a:xfrm>
          <a:prstGeom prst="rect">
            <a:avLst/>
          </a:prstGeom>
          <a:noFill/>
          <a:ln/>
        </p:spPr>
        <p:txBody>
          <a:bodyPr wrap="square" lIns="305" tIns="305" rIns="305" bIns="305" rtlCol="0" anchor="ctr">
            <a:normAutofit/>
          </a:bodyPr>
          <a:lstStyle/>
          <a:p>
            <a:pPr algn="ctr"/>
            <a:r>
              <a:rPr lang="en-US" sz="1620" b="1" dirty="0">
                <a:solidFill>
                  <a:srgbClr val="0B7F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Restaurant Foundation</a:t>
            </a:r>
            <a:endParaRPr lang="en-US" sz="1620" dirty="0"/>
          </a:p>
        </p:txBody>
      </p:sp>
      <p:sp>
        <p:nvSpPr>
          <p:cNvPr id="65" name="Shape 63"/>
          <p:cNvSpPr/>
          <p:nvPr/>
        </p:nvSpPr>
        <p:spPr>
          <a:xfrm>
            <a:off x="395021" y="6067958"/>
            <a:ext cx="2995574" cy="0"/>
          </a:xfrm>
          <a:prstGeom prst="line">
            <a:avLst/>
          </a:prstGeom>
          <a:noFill/>
          <a:ln w="15240">
            <a:solidFill>
              <a:srgbClr val="0B7F2A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416967" y="6155741"/>
            <a:ext cx="2951683" cy="329184"/>
          </a:xfrm>
          <a:prstGeom prst="rect">
            <a:avLst/>
          </a:prstGeom>
          <a:noFill/>
          <a:ln/>
        </p:spPr>
        <p:txBody>
          <a:bodyPr wrap="square" lIns="305" tIns="305" rIns="305" bIns="305" rtlCol="0" anchor="ctr">
            <a:normAutofit/>
          </a:bodyPr>
          <a:lstStyle/>
          <a:p>
            <a:pPr algn="ctr"/>
            <a:r>
              <a:rPr lang="en-US" sz="1008" dirty="0">
                <a:solidFill>
                  <a:srgbClr val="0616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operating signals that must</a:t>
            </a:r>
            <a:endParaRPr lang="en-US" sz="1008" dirty="0"/>
          </a:p>
          <a:p>
            <a:pPr algn="ctr"/>
            <a:r>
              <a:rPr lang="en-US" sz="1008" dirty="0">
                <a:solidFill>
                  <a:srgbClr val="0616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remain healthy to protect the base.</a:t>
            </a:r>
            <a:endParaRPr lang="en-US" sz="1008" dirty="0"/>
          </a:p>
        </p:txBody>
      </p:sp>
      <p:sp>
        <p:nvSpPr>
          <p:cNvPr id="67" name="Text 65"/>
          <p:cNvSpPr/>
          <p:nvPr/>
        </p:nvSpPr>
        <p:spPr>
          <a:xfrm>
            <a:off x="416967" y="6550762"/>
            <a:ext cx="2951683" cy="362102"/>
          </a:xfrm>
          <a:prstGeom prst="rect">
            <a:avLst/>
          </a:prstGeom>
          <a:noFill/>
          <a:ln/>
        </p:spPr>
        <p:txBody>
          <a:bodyPr wrap="square" lIns="305" tIns="305" rIns="305" bIns="305" rtlCol="0" anchor="ctr">
            <a:normAutofit/>
          </a:bodyPr>
          <a:lstStyle/>
          <a:p>
            <a:r>
              <a:rPr lang="en-US" sz="984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Expectation: should remain stable;</a:t>
            </a:r>
            <a:endParaRPr lang="en-US" sz="984" dirty="0"/>
          </a:p>
          <a:p>
            <a:r>
              <a:rPr lang="en-US" sz="984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deterioration is a red signal.</a:t>
            </a:r>
            <a:endParaRPr lang="en-US" sz="984" dirty="0"/>
          </a:p>
        </p:txBody>
      </p:sp>
      <p:sp>
        <p:nvSpPr>
          <p:cNvPr id="68" name="Text 66"/>
          <p:cNvSpPr/>
          <p:nvPr/>
        </p:nvSpPr>
        <p:spPr>
          <a:xfrm>
            <a:off x="351130" y="7077456"/>
            <a:ext cx="1270760" cy="197510"/>
          </a:xfrm>
          <a:prstGeom prst="rect">
            <a:avLst/>
          </a:prstGeom>
          <a:noFill/>
          <a:ln/>
        </p:spPr>
        <p:txBody>
          <a:bodyPr wrap="square" lIns="305" tIns="305" rIns="305" bIns="305" rtlCol="0" anchor="ctr">
            <a:normAutofit/>
          </a:bodyPr>
          <a:lstStyle/>
          <a:p>
            <a:r>
              <a:rPr lang="en-US" sz="876" dirty="0">
                <a:solidFill>
                  <a:srgbClr val="0616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Speed of service</a:t>
            </a:r>
            <a:endParaRPr lang="en-US" sz="876" dirty="0"/>
          </a:p>
        </p:txBody>
      </p:sp>
      <p:sp>
        <p:nvSpPr>
          <p:cNvPr id="69" name="Text 67"/>
          <p:cNvSpPr/>
          <p:nvPr/>
        </p:nvSpPr>
        <p:spPr>
          <a:xfrm>
            <a:off x="2030188" y="7077456"/>
            <a:ext cx="824276" cy="197510"/>
          </a:xfrm>
          <a:prstGeom prst="rect">
            <a:avLst/>
          </a:prstGeom>
          <a:noFill/>
          <a:ln/>
        </p:spPr>
        <p:txBody>
          <a:bodyPr wrap="square" lIns="305" tIns="305" rIns="305" bIns="305" rtlCol="0" anchor="ctr">
            <a:normAutofit fontScale="85000" lnSpcReduction="10000"/>
          </a:bodyPr>
          <a:lstStyle/>
          <a:p>
            <a:pPr algn="ctr"/>
            <a:r>
              <a:rPr lang="en-US" sz="948" b="1" dirty="0">
                <a:solidFill>
                  <a:srgbClr val="E80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+18 sec vs target</a:t>
            </a:r>
            <a:endParaRPr lang="en-US" sz="948" dirty="0"/>
          </a:p>
        </p:txBody>
      </p:sp>
      <p:sp>
        <p:nvSpPr>
          <p:cNvPr id="70" name="Shape 68"/>
          <p:cNvSpPr/>
          <p:nvPr/>
        </p:nvSpPr>
        <p:spPr>
          <a:xfrm>
            <a:off x="2951683" y="7060997"/>
            <a:ext cx="526694" cy="208483"/>
          </a:xfrm>
          <a:prstGeom prst="roundRect">
            <a:avLst>
              <a:gd name="adj" fmla="val 36842"/>
            </a:avLst>
          </a:prstGeom>
          <a:solidFill>
            <a:srgbClr val="FFFFFF"/>
          </a:solidFill>
          <a:ln w="12700">
            <a:solidFill>
              <a:srgbClr val="E8002A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2984601" y="7077456"/>
            <a:ext cx="460858" cy="175565"/>
          </a:xfrm>
          <a:prstGeom prst="rect">
            <a:avLst/>
          </a:prstGeom>
          <a:noFill/>
          <a:ln/>
        </p:spPr>
        <p:txBody>
          <a:bodyPr wrap="square" lIns="305" tIns="305" rIns="305" bIns="305" rtlCol="0" anchor="ctr">
            <a:normAutofit/>
          </a:bodyPr>
          <a:lstStyle/>
          <a:p>
            <a:pPr algn="ctr"/>
            <a:r>
              <a:rPr lang="en-US" sz="888" b="1" dirty="0">
                <a:solidFill>
                  <a:srgbClr val="E80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</a:t>
            </a:r>
            <a:endParaRPr lang="en-US" sz="888" dirty="0"/>
          </a:p>
        </p:txBody>
      </p:sp>
      <p:sp>
        <p:nvSpPr>
          <p:cNvPr id="72" name="Text 70"/>
          <p:cNvSpPr/>
          <p:nvPr/>
        </p:nvSpPr>
        <p:spPr>
          <a:xfrm>
            <a:off x="351130" y="7384695"/>
            <a:ext cx="1270760" cy="197510"/>
          </a:xfrm>
          <a:prstGeom prst="rect">
            <a:avLst/>
          </a:prstGeom>
          <a:noFill/>
          <a:ln/>
        </p:spPr>
        <p:txBody>
          <a:bodyPr wrap="square" lIns="305" tIns="305" rIns="305" bIns="305" rtlCol="0" anchor="ctr">
            <a:normAutofit/>
          </a:bodyPr>
          <a:lstStyle/>
          <a:p>
            <a:r>
              <a:rPr lang="en-US" sz="876" dirty="0">
                <a:solidFill>
                  <a:srgbClr val="0616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Supply availability / OOS</a:t>
            </a:r>
            <a:endParaRPr lang="en-US" sz="876" dirty="0"/>
          </a:p>
        </p:txBody>
      </p:sp>
      <p:sp>
        <p:nvSpPr>
          <p:cNvPr id="73" name="Text 71"/>
          <p:cNvSpPr/>
          <p:nvPr/>
        </p:nvSpPr>
        <p:spPr>
          <a:xfrm>
            <a:off x="2030188" y="7384695"/>
            <a:ext cx="824276" cy="197510"/>
          </a:xfrm>
          <a:prstGeom prst="rect">
            <a:avLst/>
          </a:prstGeom>
          <a:noFill/>
          <a:ln/>
        </p:spPr>
        <p:txBody>
          <a:bodyPr wrap="square" lIns="305" tIns="305" rIns="305" bIns="305" rtlCol="0" anchor="ctr">
            <a:normAutofit/>
          </a:bodyPr>
          <a:lstStyle/>
          <a:p>
            <a:pPr algn="ctr"/>
            <a:r>
              <a:rPr lang="en-US" sz="948" b="1" dirty="0">
                <a:solidFill>
                  <a:srgbClr val="E80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+2.1pp</a:t>
            </a:r>
            <a:endParaRPr lang="en-US" sz="948" dirty="0"/>
          </a:p>
        </p:txBody>
      </p:sp>
      <p:sp>
        <p:nvSpPr>
          <p:cNvPr id="74" name="Shape 72"/>
          <p:cNvSpPr/>
          <p:nvPr/>
        </p:nvSpPr>
        <p:spPr>
          <a:xfrm>
            <a:off x="2951683" y="7368235"/>
            <a:ext cx="526694" cy="208483"/>
          </a:xfrm>
          <a:prstGeom prst="roundRect">
            <a:avLst>
              <a:gd name="adj" fmla="val 36842"/>
            </a:avLst>
          </a:prstGeom>
          <a:solidFill>
            <a:srgbClr val="FFFFFF"/>
          </a:solidFill>
          <a:ln w="12700">
            <a:solidFill>
              <a:srgbClr val="E8002A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2984601" y="7384694"/>
            <a:ext cx="460858" cy="175565"/>
          </a:xfrm>
          <a:prstGeom prst="rect">
            <a:avLst/>
          </a:prstGeom>
          <a:noFill/>
          <a:ln/>
        </p:spPr>
        <p:txBody>
          <a:bodyPr wrap="square" lIns="305" tIns="305" rIns="305" bIns="305" rtlCol="0" anchor="ctr">
            <a:normAutofit/>
          </a:bodyPr>
          <a:lstStyle/>
          <a:p>
            <a:pPr algn="ctr"/>
            <a:r>
              <a:rPr lang="en-US" sz="888" b="1" dirty="0">
                <a:solidFill>
                  <a:srgbClr val="E80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</a:t>
            </a:r>
            <a:endParaRPr lang="en-US" sz="888" dirty="0"/>
          </a:p>
        </p:txBody>
      </p:sp>
      <p:sp>
        <p:nvSpPr>
          <p:cNvPr id="76" name="Text 74"/>
          <p:cNvSpPr/>
          <p:nvPr/>
        </p:nvSpPr>
        <p:spPr>
          <a:xfrm>
            <a:off x="351130" y="7691933"/>
            <a:ext cx="1270760" cy="197510"/>
          </a:xfrm>
          <a:prstGeom prst="rect">
            <a:avLst/>
          </a:prstGeom>
          <a:noFill/>
          <a:ln/>
        </p:spPr>
        <p:txBody>
          <a:bodyPr wrap="square" lIns="305" tIns="305" rIns="305" bIns="305" rtlCol="0" anchor="ctr">
            <a:normAutofit/>
          </a:bodyPr>
          <a:lstStyle/>
          <a:p>
            <a:r>
              <a:rPr lang="en-US" sz="876" dirty="0">
                <a:solidFill>
                  <a:srgbClr val="0616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Technology uptime</a:t>
            </a:r>
            <a:endParaRPr lang="en-US" sz="876" dirty="0"/>
          </a:p>
        </p:txBody>
      </p:sp>
      <p:sp>
        <p:nvSpPr>
          <p:cNvPr id="77" name="Text 75"/>
          <p:cNvSpPr/>
          <p:nvPr/>
        </p:nvSpPr>
        <p:spPr>
          <a:xfrm>
            <a:off x="2030188" y="7691933"/>
            <a:ext cx="824276" cy="197510"/>
          </a:xfrm>
          <a:prstGeom prst="rect">
            <a:avLst/>
          </a:prstGeom>
          <a:noFill/>
          <a:ln/>
        </p:spPr>
        <p:txBody>
          <a:bodyPr wrap="square" lIns="305" tIns="305" rIns="305" bIns="305" rtlCol="0" anchor="ctr">
            <a:normAutofit/>
          </a:bodyPr>
          <a:lstStyle/>
          <a:p>
            <a:pPr algn="ctr"/>
            <a:r>
              <a:rPr lang="en-US" sz="948" b="1" dirty="0">
                <a:solidFill>
                  <a:srgbClr val="0B7F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99.6% stable</a:t>
            </a:r>
            <a:endParaRPr lang="en-US" sz="948" dirty="0"/>
          </a:p>
        </p:txBody>
      </p:sp>
      <p:sp>
        <p:nvSpPr>
          <p:cNvPr id="78" name="Shape 76"/>
          <p:cNvSpPr/>
          <p:nvPr/>
        </p:nvSpPr>
        <p:spPr>
          <a:xfrm>
            <a:off x="2951683" y="7675474"/>
            <a:ext cx="526694" cy="208483"/>
          </a:xfrm>
          <a:prstGeom prst="roundRect">
            <a:avLst>
              <a:gd name="adj" fmla="val 36842"/>
            </a:avLst>
          </a:prstGeom>
          <a:solidFill>
            <a:srgbClr val="FFFFFF"/>
          </a:solidFill>
          <a:ln w="12700">
            <a:solidFill>
              <a:srgbClr val="0B7F2A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2984601" y="7691933"/>
            <a:ext cx="460858" cy="175565"/>
          </a:xfrm>
          <a:prstGeom prst="rect">
            <a:avLst/>
          </a:prstGeom>
          <a:noFill/>
          <a:ln/>
        </p:spPr>
        <p:txBody>
          <a:bodyPr wrap="square" lIns="305" tIns="305" rIns="305" bIns="305" rtlCol="0" anchor="ctr">
            <a:normAutofit/>
          </a:bodyPr>
          <a:lstStyle/>
          <a:p>
            <a:pPr algn="ctr"/>
            <a:r>
              <a:rPr lang="en-US" sz="888" b="1" dirty="0">
                <a:solidFill>
                  <a:srgbClr val="0B7F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GOOD</a:t>
            </a:r>
            <a:endParaRPr lang="en-US" sz="888" dirty="0"/>
          </a:p>
        </p:txBody>
      </p:sp>
      <p:sp>
        <p:nvSpPr>
          <p:cNvPr id="80" name="Shape 78"/>
          <p:cNvSpPr/>
          <p:nvPr/>
        </p:nvSpPr>
        <p:spPr>
          <a:xfrm>
            <a:off x="3785616" y="5574182"/>
            <a:ext cx="3434486" cy="2326234"/>
          </a:xfrm>
          <a:prstGeom prst="roundRect">
            <a:avLst>
              <a:gd name="adj" fmla="val 5189"/>
            </a:avLst>
          </a:prstGeom>
          <a:solidFill>
            <a:srgbClr val="FFFFFF"/>
          </a:solidFill>
          <a:ln w="12700">
            <a:solidFill>
              <a:srgbClr val="0B7F2A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3961181" y="5683911"/>
            <a:ext cx="3083357" cy="263347"/>
          </a:xfrm>
          <a:prstGeom prst="rect">
            <a:avLst/>
          </a:prstGeom>
          <a:noFill/>
          <a:ln/>
        </p:spPr>
        <p:txBody>
          <a:bodyPr wrap="square" lIns="305" tIns="305" rIns="305" bIns="305" rtlCol="0" anchor="ctr">
            <a:normAutofit/>
          </a:bodyPr>
          <a:lstStyle/>
          <a:p>
            <a:pPr algn="ctr"/>
            <a:r>
              <a:rPr lang="en-US" sz="1620" b="1" dirty="0">
                <a:solidFill>
                  <a:srgbClr val="0B7F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Commercial BAU</a:t>
            </a:r>
            <a:endParaRPr lang="en-US" sz="1620" dirty="0"/>
          </a:p>
        </p:txBody>
      </p:sp>
      <p:sp>
        <p:nvSpPr>
          <p:cNvPr id="82" name="Shape 80"/>
          <p:cNvSpPr/>
          <p:nvPr/>
        </p:nvSpPr>
        <p:spPr>
          <a:xfrm>
            <a:off x="4005072" y="6067958"/>
            <a:ext cx="2995574" cy="0"/>
          </a:xfrm>
          <a:prstGeom prst="line">
            <a:avLst/>
          </a:prstGeom>
          <a:noFill/>
          <a:ln w="15240">
            <a:solidFill>
              <a:srgbClr val="0B7F2A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4027018" y="6155741"/>
            <a:ext cx="2951683" cy="329184"/>
          </a:xfrm>
          <a:prstGeom prst="rect">
            <a:avLst/>
          </a:prstGeom>
          <a:noFill/>
          <a:ln/>
        </p:spPr>
        <p:txBody>
          <a:bodyPr wrap="square" lIns="305" tIns="305" rIns="305" bIns="305" rtlCol="0" anchor="ctr">
            <a:normAutofit/>
          </a:bodyPr>
          <a:lstStyle/>
          <a:p>
            <a:pPr algn="ctr"/>
            <a:r>
              <a:rPr lang="en-US" sz="1008" dirty="0">
                <a:solidFill>
                  <a:srgbClr val="0616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Always-on commercial platforms that</a:t>
            </a:r>
            <a:endParaRPr lang="en-US" sz="1008" dirty="0"/>
          </a:p>
          <a:p>
            <a:pPr algn="ctr"/>
            <a:r>
              <a:rPr lang="en-US" sz="1008" dirty="0">
                <a:solidFill>
                  <a:srgbClr val="0616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protect baseline demand.</a:t>
            </a:r>
            <a:endParaRPr lang="en-US" sz="1008" dirty="0"/>
          </a:p>
        </p:txBody>
      </p:sp>
      <p:sp>
        <p:nvSpPr>
          <p:cNvPr id="84" name="Text 82"/>
          <p:cNvSpPr/>
          <p:nvPr/>
        </p:nvSpPr>
        <p:spPr>
          <a:xfrm>
            <a:off x="4027018" y="6550762"/>
            <a:ext cx="2951683" cy="362102"/>
          </a:xfrm>
          <a:prstGeom prst="rect">
            <a:avLst/>
          </a:prstGeom>
          <a:noFill/>
          <a:ln/>
        </p:spPr>
        <p:txBody>
          <a:bodyPr wrap="square" lIns="305" tIns="305" rIns="305" bIns="305" rtlCol="0" anchor="ctr">
            <a:normAutofit/>
          </a:bodyPr>
          <a:lstStyle/>
          <a:p>
            <a:r>
              <a:rPr lang="en-US" sz="984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Expectation: broad adoption and stable</a:t>
            </a:r>
            <a:endParaRPr lang="en-US" sz="984" dirty="0"/>
          </a:p>
          <a:p>
            <a:r>
              <a:rPr lang="en-US" sz="984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coverage; weak execution is a warning sign.</a:t>
            </a:r>
            <a:endParaRPr lang="en-US" sz="984" dirty="0"/>
          </a:p>
        </p:txBody>
      </p:sp>
      <p:sp>
        <p:nvSpPr>
          <p:cNvPr id="85" name="Text 83"/>
          <p:cNvSpPr/>
          <p:nvPr/>
        </p:nvSpPr>
        <p:spPr>
          <a:xfrm>
            <a:off x="3961182" y="7077456"/>
            <a:ext cx="1270760" cy="197510"/>
          </a:xfrm>
          <a:prstGeom prst="rect">
            <a:avLst/>
          </a:prstGeom>
          <a:noFill/>
          <a:ln/>
        </p:spPr>
        <p:txBody>
          <a:bodyPr wrap="square" lIns="305" tIns="305" rIns="305" bIns="305" rtlCol="0" anchor="ctr">
            <a:normAutofit/>
          </a:bodyPr>
          <a:lstStyle/>
          <a:p>
            <a:r>
              <a:rPr lang="en-US" sz="876" dirty="0">
                <a:solidFill>
                  <a:srgbClr val="0616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Pricing adoption</a:t>
            </a:r>
            <a:endParaRPr lang="en-US" sz="876" dirty="0"/>
          </a:p>
        </p:txBody>
      </p:sp>
      <p:sp>
        <p:nvSpPr>
          <p:cNvPr id="86" name="Text 84"/>
          <p:cNvSpPr/>
          <p:nvPr/>
        </p:nvSpPr>
        <p:spPr>
          <a:xfrm>
            <a:off x="5640240" y="7077456"/>
            <a:ext cx="824276" cy="197510"/>
          </a:xfrm>
          <a:prstGeom prst="rect">
            <a:avLst/>
          </a:prstGeom>
          <a:noFill/>
          <a:ln/>
        </p:spPr>
        <p:txBody>
          <a:bodyPr wrap="square" lIns="305" tIns="305" rIns="305" bIns="305" rtlCol="0" anchor="ctr">
            <a:normAutofit fontScale="77500" lnSpcReduction="20000"/>
          </a:bodyPr>
          <a:lstStyle/>
          <a:p>
            <a:pPr algn="ctr"/>
            <a:r>
              <a:rPr lang="en-US" sz="948" b="1" dirty="0">
                <a:solidFill>
                  <a:srgbClr val="F254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72% vs 85% target</a:t>
            </a:r>
            <a:endParaRPr lang="en-US" sz="948" dirty="0"/>
          </a:p>
        </p:txBody>
      </p:sp>
      <p:sp>
        <p:nvSpPr>
          <p:cNvPr id="87" name="Shape 85"/>
          <p:cNvSpPr/>
          <p:nvPr/>
        </p:nvSpPr>
        <p:spPr>
          <a:xfrm>
            <a:off x="6561735" y="7060997"/>
            <a:ext cx="526694" cy="208483"/>
          </a:xfrm>
          <a:prstGeom prst="roundRect">
            <a:avLst>
              <a:gd name="adj" fmla="val 36842"/>
            </a:avLst>
          </a:prstGeom>
          <a:solidFill>
            <a:srgbClr val="FFFFFF"/>
          </a:solidFill>
          <a:ln w="12700">
            <a:solidFill>
              <a:srgbClr val="F25416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6594653" y="7077456"/>
            <a:ext cx="460858" cy="175565"/>
          </a:xfrm>
          <a:prstGeom prst="rect">
            <a:avLst/>
          </a:prstGeom>
          <a:noFill/>
          <a:ln/>
        </p:spPr>
        <p:txBody>
          <a:bodyPr wrap="square" lIns="305" tIns="305" rIns="305" bIns="305" rtlCol="0" anchor="ctr">
            <a:normAutofit/>
          </a:bodyPr>
          <a:lstStyle/>
          <a:p>
            <a:pPr algn="ctr"/>
            <a:r>
              <a:rPr lang="en-US" sz="888" b="1" dirty="0">
                <a:solidFill>
                  <a:srgbClr val="F254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WATCH</a:t>
            </a:r>
            <a:endParaRPr lang="en-US" sz="888" dirty="0"/>
          </a:p>
        </p:txBody>
      </p:sp>
      <p:sp>
        <p:nvSpPr>
          <p:cNvPr id="89" name="Text 87"/>
          <p:cNvSpPr/>
          <p:nvPr/>
        </p:nvSpPr>
        <p:spPr>
          <a:xfrm>
            <a:off x="3961182" y="7384695"/>
            <a:ext cx="1270760" cy="197510"/>
          </a:xfrm>
          <a:prstGeom prst="rect">
            <a:avLst/>
          </a:prstGeom>
          <a:noFill/>
          <a:ln/>
        </p:spPr>
        <p:txBody>
          <a:bodyPr wrap="square" lIns="305" tIns="305" rIns="305" bIns="305" rtlCol="0" anchor="ctr">
            <a:normAutofit fontScale="92500"/>
          </a:bodyPr>
          <a:lstStyle/>
          <a:p>
            <a:r>
              <a:rPr lang="en-US" sz="876" dirty="0">
                <a:solidFill>
                  <a:srgbClr val="0616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/ value menu coverage</a:t>
            </a:r>
            <a:endParaRPr lang="en-US" sz="876" dirty="0"/>
          </a:p>
        </p:txBody>
      </p:sp>
      <p:sp>
        <p:nvSpPr>
          <p:cNvPr id="90" name="Text 88"/>
          <p:cNvSpPr/>
          <p:nvPr/>
        </p:nvSpPr>
        <p:spPr>
          <a:xfrm>
            <a:off x="5640240" y="7384695"/>
            <a:ext cx="824276" cy="197510"/>
          </a:xfrm>
          <a:prstGeom prst="rect">
            <a:avLst/>
          </a:prstGeom>
          <a:noFill/>
          <a:ln/>
        </p:spPr>
        <p:txBody>
          <a:bodyPr wrap="square" lIns="305" tIns="305" rIns="305" bIns="305" rtlCol="0" anchor="ctr">
            <a:normAutofit/>
          </a:bodyPr>
          <a:lstStyle/>
          <a:p>
            <a:pPr algn="ctr"/>
            <a:r>
              <a:rPr lang="en-US" sz="948" b="1" dirty="0">
                <a:solidFill>
                  <a:srgbClr val="0B7F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98%</a:t>
            </a:r>
            <a:endParaRPr lang="en-US" sz="948" dirty="0"/>
          </a:p>
        </p:txBody>
      </p:sp>
      <p:sp>
        <p:nvSpPr>
          <p:cNvPr id="91" name="Shape 89"/>
          <p:cNvSpPr/>
          <p:nvPr/>
        </p:nvSpPr>
        <p:spPr>
          <a:xfrm>
            <a:off x="6561735" y="7368235"/>
            <a:ext cx="526694" cy="208483"/>
          </a:xfrm>
          <a:prstGeom prst="roundRect">
            <a:avLst>
              <a:gd name="adj" fmla="val 36842"/>
            </a:avLst>
          </a:prstGeom>
          <a:solidFill>
            <a:srgbClr val="FFFFFF"/>
          </a:solidFill>
          <a:ln w="12700">
            <a:solidFill>
              <a:srgbClr val="0B7F2A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6594653" y="7384694"/>
            <a:ext cx="460858" cy="175565"/>
          </a:xfrm>
          <a:prstGeom prst="rect">
            <a:avLst/>
          </a:prstGeom>
          <a:noFill/>
          <a:ln/>
        </p:spPr>
        <p:txBody>
          <a:bodyPr wrap="square" lIns="305" tIns="305" rIns="305" bIns="305" rtlCol="0" anchor="ctr">
            <a:normAutofit/>
          </a:bodyPr>
          <a:lstStyle/>
          <a:p>
            <a:pPr algn="ctr"/>
            <a:r>
              <a:rPr lang="en-US" sz="888" b="1" dirty="0">
                <a:solidFill>
                  <a:srgbClr val="0B7F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GOOD</a:t>
            </a:r>
            <a:endParaRPr lang="en-US" sz="888" dirty="0"/>
          </a:p>
        </p:txBody>
      </p:sp>
      <p:sp>
        <p:nvSpPr>
          <p:cNvPr id="93" name="Text 91"/>
          <p:cNvSpPr/>
          <p:nvPr/>
        </p:nvSpPr>
        <p:spPr>
          <a:xfrm>
            <a:off x="3961182" y="7691933"/>
            <a:ext cx="1270760" cy="197510"/>
          </a:xfrm>
          <a:prstGeom prst="rect">
            <a:avLst/>
          </a:prstGeom>
          <a:noFill/>
          <a:ln/>
        </p:spPr>
        <p:txBody>
          <a:bodyPr wrap="square" lIns="305" tIns="305" rIns="305" bIns="305" rtlCol="0" anchor="ctr">
            <a:normAutofit/>
          </a:bodyPr>
          <a:lstStyle/>
          <a:p>
            <a:r>
              <a:rPr lang="en-US" sz="876" dirty="0">
                <a:solidFill>
                  <a:srgbClr val="0616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Base media spend</a:t>
            </a:r>
            <a:endParaRPr lang="en-US" sz="876" dirty="0"/>
          </a:p>
        </p:txBody>
      </p:sp>
      <p:sp>
        <p:nvSpPr>
          <p:cNvPr id="94" name="Text 92"/>
          <p:cNvSpPr/>
          <p:nvPr/>
        </p:nvSpPr>
        <p:spPr>
          <a:xfrm>
            <a:off x="5640240" y="7691933"/>
            <a:ext cx="824276" cy="197510"/>
          </a:xfrm>
          <a:prstGeom prst="rect">
            <a:avLst/>
          </a:prstGeom>
          <a:noFill/>
          <a:ln/>
        </p:spPr>
        <p:txBody>
          <a:bodyPr wrap="square" lIns="305" tIns="305" rIns="305" bIns="305" rtlCol="0" anchor="ctr">
            <a:normAutofit/>
          </a:bodyPr>
          <a:lstStyle/>
          <a:p>
            <a:pPr algn="ctr"/>
            <a:r>
              <a:rPr lang="en-US" sz="948" b="1" dirty="0">
                <a:solidFill>
                  <a:srgbClr val="0B7F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 plan</a:t>
            </a:r>
            <a:endParaRPr lang="en-US" sz="948" dirty="0"/>
          </a:p>
        </p:txBody>
      </p:sp>
      <p:sp>
        <p:nvSpPr>
          <p:cNvPr id="95" name="Shape 93"/>
          <p:cNvSpPr/>
          <p:nvPr/>
        </p:nvSpPr>
        <p:spPr>
          <a:xfrm>
            <a:off x="6561735" y="7675474"/>
            <a:ext cx="526694" cy="208483"/>
          </a:xfrm>
          <a:prstGeom prst="roundRect">
            <a:avLst>
              <a:gd name="adj" fmla="val 36842"/>
            </a:avLst>
          </a:prstGeom>
          <a:solidFill>
            <a:srgbClr val="FFFFFF"/>
          </a:solidFill>
          <a:ln w="12700">
            <a:solidFill>
              <a:srgbClr val="0B7F2A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6594653" y="7691933"/>
            <a:ext cx="460858" cy="175565"/>
          </a:xfrm>
          <a:prstGeom prst="rect">
            <a:avLst/>
          </a:prstGeom>
          <a:noFill/>
          <a:ln/>
        </p:spPr>
        <p:txBody>
          <a:bodyPr wrap="square" lIns="305" tIns="305" rIns="305" bIns="305" rtlCol="0" anchor="ctr">
            <a:normAutofit/>
          </a:bodyPr>
          <a:lstStyle/>
          <a:p>
            <a:pPr algn="ctr"/>
            <a:r>
              <a:rPr lang="en-US" sz="888" b="1" dirty="0">
                <a:solidFill>
                  <a:srgbClr val="0B7F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GOOD</a:t>
            </a:r>
            <a:endParaRPr lang="en-US" sz="888" dirty="0"/>
          </a:p>
        </p:txBody>
      </p:sp>
      <p:sp>
        <p:nvSpPr>
          <p:cNvPr id="97" name="Shape 95"/>
          <p:cNvSpPr/>
          <p:nvPr/>
        </p:nvSpPr>
        <p:spPr>
          <a:xfrm>
            <a:off x="7395667" y="5574182"/>
            <a:ext cx="3434486" cy="2326234"/>
          </a:xfrm>
          <a:prstGeom prst="roundRect">
            <a:avLst>
              <a:gd name="adj" fmla="val 5189"/>
            </a:avLst>
          </a:prstGeom>
          <a:solidFill>
            <a:srgbClr val="FFFFFF"/>
          </a:solidFill>
          <a:ln w="12700">
            <a:solidFill>
              <a:srgbClr val="F25416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7571232" y="5683911"/>
            <a:ext cx="3083357" cy="263347"/>
          </a:xfrm>
          <a:prstGeom prst="rect">
            <a:avLst/>
          </a:prstGeom>
          <a:noFill/>
          <a:ln/>
        </p:spPr>
        <p:txBody>
          <a:bodyPr wrap="square" lIns="305" tIns="305" rIns="305" bIns="305" rtlCol="0" anchor="ctr">
            <a:normAutofit/>
          </a:bodyPr>
          <a:lstStyle/>
          <a:p>
            <a:pPr algn="ctr"/>
            <a:r>
              <a:rPr lang="en-US" sz="1620" b="1" dirty="0">
                <a:solidFill>
                  <a:srgbClr val="F254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External Context</a:t>
            </a:r>
            <a:endParaRPr lang="en-US" sz="1620" dirty="0"/>
          </a:p>
        </p:txBody>
      </p:sp>
      <p:sp>
        <p:nvSpPr>
          <p:cNvPr id="99" name="Shape 97"/>
          <p:cNvSpPr/>
          <p:nvPr/>
        </p:nvSpPr>
        <p:spPr>
          <a:xfrm>
            <a:off x="7615123" y="6067958"/>
            <a:ext cx="2995574" cy="0"/>
          </a:xfrm>
          <a:prstGeom prst="line">
            <a:avLst/>
          </a:prstGeom>
          <a:noFill/>
          <a:ln w="15240">
            <a:solidFill>
              <a:srgbClr val="F25416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7637069" y="6155741"/>
            <a:ext cx="2951683" cy="329184"/>
          </a:xfrm>
          <a:prstGeom prst="rect">
            <a:avLst/>
          </a:prstGeom>
          <a:noFill/>
          <a:ln/>
        </p:spPr>
        <p:txBody>
          <a:bodyPr wrap="square" lIns="305" tIns="305" rIns="305" bIns="305" rtlCol="0" anchor="ctr">
            <a:normAutofit/>
          </a:bodyPr>
          <a:lstStyle/>
          <a:p>
            <a:pPr algn="ctr"/>
            <a:r>
              <a:rPr lang="en-US" sz="1008" dirty="0">
                <a:solidFill>
                  <a:srgbClr val="0616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Forces outside direct control that shaped</a:t>
            </a:r>
            <a:endParaRPr lang="en-US" sz="1008" dirty="0"/>
          </a:p>
          <a:p>
            <a:pPr algn="ctr"/>
            <a:r>
              <a:rPr lang="en-US" sz="1008" dirty="0">
                <a:solidFill>
                  <a:srgbClr val="0616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starting point.</a:t>
            </a:r>
            <a:endParaRPr lang="en-US" sz="1008" dirty="0"/>
          </a:p>
        </p:txBody>
      </p:sp>
      <p:sp>
        <p:nvSpPr>
          <p:cNvPr id="101" name="Text 99"/>
          <p:cNvSpPr/>
          <p:nvPr/>
        </p:nvSpPr>
        <p:spPr>
          <a:xfrm>
            <a:off x="7637069" y="6550762"/>
            <a:ext cx="2951683" cy="362102"/>
          </a:xfrm>
          <a:prstGeom prst="rect">
            <a:avLst/>
          </a:prstGeom>
          <a:noFill/>
          <a:ln/>
        </p:spPr>
        <p:txBody>
          <a:bodyPr wrap="square" lIns="305" tIns="305" rIns="305" bIns="305" rtlCol="0" anchor="ctr">
            <a:normAutofit/>
          </a:bodyPr>
          <a:lstStyle/>
          <a:p>
            <a:r>
              <a:rPr lang="en-US" sz="984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Expectation: not controllable; used to</a:t>
            </a:r>
            <a:endParaRPr lang="en-US" sz="984" dirty="0"/>
          </a:p>
          <a:p>
            <a:r>
              <a:rPr lang="en-US" sz="984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explain pressure or support.</a:t>
            </a:r>
            <a:endParaRPr lang="en-US" sz="984" dirty="0"/>
          </a:p>
        </p:txBody>
      </p:sp>
      <p:sp>
        <p:nvSpPr>
          <p:cNvPr id="102" name="Text 100"/>
          <p:cNvSpPr/>
          <p:nvPr/>
        </p:nvSpPr>
        <p:spPr>
          <a:xfrm>
            <a:off x="7571233" y="7077456"/>
            <a:ext cx="1270760" cy="197510"/>
          </a:xfrm>
          <a:prstGeom prst="rect">
            <a:avLst/>
          </a:prstGeom>
          <a:noFill/>
          <a:ln/>
        </p:spPr>
        <p:txBody>
          <a:bodyPr wrap="square" lIns="305" tIns="305" rIns="305" bIns="305" rtlCol="0" anchor="ctr">
            <a:normAutofit/>
          </a:bodyPr>
          <a:lstStyle/>
          <a:p>
            <a:r>
              <a:rPr lang="en-US" sz="876" dirty="0">
                <a:solidFill>
                  <a:srgbClr val="0616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Weather disruption</a:t>
            </a:r>
            <a:endParaRPr lang="en-US" sz="876" dirty="0"/>
          </a:p>
        </p:txBody>
      </p:sp>
      <p:sp>
        <p:nvSpPr>
          <p:cNvPr id="103" name="Text 101"/>
          <p:cNvSpPr/>
          <p:nvPr/>
        </p:nvSpPr>
        <p:spPr>
          <a:xfrm>
            <a:off x="9250291" y="7077456"/>
            <a:ext cx="824276" cy="197510"/>
          </a:xfrm>
          <a:prstGeom prst="rect">
            <a:avLst/>
          </a:prstGeom>
          <a:noFill/>
          <a:ln/>
        </p:spPr>
        <p:txBody>
          <a:bodyPr wrap="square" lIns="305" tIns="305" rIns="305" bIns="305" rtlCol="0" anchor="ctr">
            <a:normAutofit/>
          </a:bodyPr>
          <a:lstStyle/>
          <a:p>
            <a:pPr algn="ctr"/>
            <a:r>
              <a:rPr lang="en-US" sz="948" b="1" dirty="0">
                <a:solidFill>
                  <a:srgbClr val="E80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elevated</a:t>
            </a:r>
            <a:endParaRPr lang="en-US" sz="948" dirty="0"/>
          </a:p>
        </p:txBody>
      </p:sp>
      <p:sp>
        <p:nvSpPr>
          <p:cNvPr id="104" name="Shape 102"/>
          <p:cNvSpPr/>
          <p:nvPr/>
        </p:nvSpPr>
        <p:spPr>
          <a:xfrm>
            <a:off x="10171786" y="7060997"/>
            <a:ext cx="526694" cy="208483"/>
          </a:xfrm>
          <a:prstGeom prst="roundRect">
            <a:avLst>
              <a:gd name="adj" fmla="val 36842"/>
            </a:avLst>
          </a:prstGeom>
          <a:solidFill>
            <a:srgbClr val="FFFFFF"/>
          </a:solidFill>
          <a:ln w="12700">
            <a:solidFill>
              <a:srgbClr val="E8002A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10204704" y="7077456"/>
            <a:ext cx="460858" cy="175565"/>
          </a:xfrm>
          <a:prstGeom prst="rect">
            <a:avLst/>
          </a:prstGeom>
          <a:noFill/>
          <a:ln/>
        </p:spPr>
        <p:txBody>
          <a:bodyPr wrap="square" lIns="305" tIns="305" rIns="305" bIns="305" rtlCol="0" anchor="ctr">
            <a:normAutofit fontScale="77500" lnSpcReduction="20000"/>
          </a:bodyPr>
          <a:lstStyle/>
          <a:p>
            <a:pPr algn="ctr"/>
            <a:r>
              <a:rPr lang="en-US" sz="888" b="1" dirty="0">
                <a:solidFill>
                  <a:srgbClr val="E80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NEGATIVE</a:t>
            </a:r>
            <a:endParaRPr lang="en-US" sz="888" dirty="0"/>
          </a:p>
        </p:txBody>
      </p:sp>
      <p:sp>
        <p:nvSpPr>
          <p:cNvPr id="106" name="Text 104"/>
          <p:cNvSpPr/>
          <p:nvPr/>
        </p:nvSpPr>
        <p:spPr>
          <a:xfrm>
            <a:off x="7571233" y="7384695"/>
            <a:ext cx="1270760" cy="197510"/>
          </a:xfrm>
          <a:prstGeom prst="rect">
            <a:avLst/>
          </a:prstGeom>
          <a:noFill/>
          <a:ln/>
        </p:spPr>
        <p:txBody>
          <a:bodyPr wrap="square" lIns="305" tIns="305" rIns="305" bIns="305" rtlCol="0" anchor="ctr">
            <a:normAutofit fontScale="92500"/>
          </a:bodyPr>
          <a:lstStyle/>
          <a:p>
            <a:r>
              <a:rPr lang="en-US" sz="876" dirty="0">
                <a:solidFill>
                  <a:srgbClr val="0616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Macro / consumer pressure</a:t>
            </a:r>
            <a:endParaRPr lang="en-US" sz="876" dirty="0"/>
          </a:p>
        </p:txBody>
      </p:sp>
      <p:sp>
        <p:nvSpPr>
          <p:cNvPr id="107" name="Text 105"/>
          <p:cNvSpPr/>
          <p:nvPr/>
        </p:nvSpPr>
        <p:spPr>
          <a:xfrm>
            <a:off x="9250291" y="7384695"/>
            <a:ext cx="824276" cy="197510"/>
          </a:xfrm>
          <a:prstGeom prst="rect">
            <a:avLst/>
          </a:prstGeom>
          <a:noFill/>
          <a:ln/>
        </p:spPr>
        <p:txBody>
          <a:bodyPr wrap="square" lIns="305" tIns="305" rIns="305" bIns="305" rtlCol="0" anchor="ctr">
            <a:normAutofit/>
          </a:bodyPr>
          <a:lstStyle/>
          <a:p>
            <a:pPr algn="ctr"/>
            <a:r>
              <a:rPr lang="en-US" sz="948" b="1" dirty="0">
                <a:solidFill>
                  <a:srgbClr val="E80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soft</a:t>
            </a:r>
            <a:endParaRPr lang="en-US" sz="948" dirty="0"/>
          </a:p>
        </p:txBody>
      </p:sp>
      <p:sp>
        <p:nvSpPr>
          <p:cNvPr id="108" name="Shape 106"/>
          <p:cNvSpPr/>
          <p:nvPr/>
        </p:nvSpPr>
        <p:spPr>
          <a:xfrm>
            <a:off x="10171786" y="7368235"/>
            <a:ext cx="526694" cy="208483"/>
          </a:xfrm>
          <a:prstGeom prst="roundRect">
            <a:avLst>
              <a:gd name="adj" fmla="val 36842"/>
            </a:avLst>
          </a:prstGeom>
          <a:solidFill>
            <a:srgbClr val="FFFFFF"/>
          </a:solidFill>
          <a:ln w="12700">
            <a:solidFill>
              <a:srgbClr val="E8002A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10204704" y="7384694"/>
            <a:ext cx="460858" cy="175565"/>
          </a:xfrm>
          <a:prstGeom prst="rect">
            <a:avLst/>
          </a:prstGeom>
          <a:noFill/>
          <a:ln/>
        </p:spPr>
        <p:txBody>
          <a:bodyPr wrap="square" lIns="305" tIns="305" rIns="305" bIns="305" rtlCol="0" anchor="ctr">
            <a:normAutofit fontScale="77500" lnSpcReduction="20000"/>
          </a:bodyPr>
          <a:lstStyle/>
          <a:p>
            <a:pPr algn="ctr"/>
            <a:r>
              <a:rPr lang="en-US" sz="888" b="1" dirty="0">
                <a:solidFill>
                  <a:srgbClr val="E80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NEGATIVE</a:t>
            </a:r>
            <a:endParaRPr lang="en-US" sz="888" dirty="0"/>
          </a:p>
        </p:txBody>
      </p:sp>
      <p:sp>
        <p:nvSpPr>
          <p:cNvPr id="110" name="Text 108"/>
          <p:cNvSpPr/>
          <p:nvPr/>
        </p:nvSpPr>
        <p:spPr>
          <a:xfrm>
            <a:off x="7571233" y="7691933"/>
            <a:ext cx="1270760" cy="197510"/>
          </a:xfrm>
          <a:prstGeom prst="rect">
            <a:avLst/>
          </a:prstGeom>
          <a:noFill/>
          <a:ln/>
        </p:spPr>
        <p:txBody>
          <a:bodyPr wrap="square" lIns="305" tIns="305" rIns="305" bIns="305" rtlCol="0" anchor="ctr">
            <a:normAutofit fontScale="92500"/>
          </a:bodyPr>
          <a:lstStyle/>
          <a:p>
            <a:r>
              <a:rPr lang="en-US" sz="876" dirty="0">
                <a:solidFill>
                  <a:srgbClr val="0616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Competition promo intensity</a:t>
            </a:r>
            <a:endParaRPr lang="en-US" sz="876" dirty="0"/>
          </a:p>
        </p:txBody>
      </p:sp>
      <p:sp>
        <p:nvSpPr>
          <p:cNvPr id="111" name="Text 109"/>
          <p:cNvSpPr/>
          <p:nvPr/>
        </p:nvSpPr>
        <p:spPr>
          <a:xfrm>
            <a:off x="9250291" y="7691933"/>
            <a:ext cx="824276" cy="197510"/>
          </a:xfrm>
          <a:prstGeom prst="rect">
            <a:avLst/>
          </a:prstGeom>
          <a:noFill/>
          <a:ln/>
        </p:spPr>
        <p:txBody>
          <a:bodyPr wrap="square" lIns="305" tIns="305" rIns="305" bIns="305" rtlCol="0" anchor="ctr">
            <a:normAutofit/>
          </a:bodyPr>
          <a:lstStyle/>
          <a:p>
            <a:pPr algn="ctr"/>
            <a:r>
              <a:rPr lang="en-US" sz="948" b="1" dirty="0">
                <a:solidFill>
                  <a:srgbClr val="E80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</a:t>
            </a:r>
            <a:endParaRPr lang="en-US" sz="948" dirty="0"/>
          </a:p>
        </p:txBody>
      </p:sp>
      <p:sp>
        <p:nvSpPr>
          <p:cNvPr id="112" name="Shape 110"/>
          <p:cNvSpPr/>
          <p:nvPr/>
        </p:nvSpPr>
        <p:spPr>
          <a:xfrm>
            <a:off x="10171786" y="7675474"/>
            <a:ext cx="526694" cy="208483"/>
          </a:xfrm>
          <a:prstGeom prst="roundRect">
            <a:avLst>
              <a:gd name="adj" fmla="val 36842"/>
            </a:avLst>
          </a:prstGeom>
          <a:solidFill>
            <a:srgbClr val="FFFFFF"/>
          </a:solidFill>
          <a:ln w="12700">
            <a:solidFill>
              <a:srgbClr val="E8002A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10204704" y="7691933"/>
            <a:ext cx="460858" cy="175565"/>
          </a:xfrm>
          <a:prstGeom prst="rect">
            <a:avLst/>
          </a:prstGeom>
          <a:noFill/>
          <a:ln/>
        </p:spPr>
        <p:txBody>
          <a:bodyPr wrap="square" lIns="305" tIns="305" rIns="305" bIns="305" rtlCol="0" anchor="ctr">
            <a:normAutofit fontScale="77500" lnSpcReduction="20000"/>
          </a:bodyPr>
          <a:lstStyle/>
          <a:p>
            <a:pPr algn="ctr"/>
            <a:r>
              <a:rPr lang="en-US" sz="888" b="1" dirty="0">
                <a:solidFill>
                  <a:srgbClr val="E80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NEGATIVE</a:t>
            </a:r>
            <a:endParaRPr lang="en-US" sz="888" dirty="0"/>
          </a:p>
        </p:txBody>
      </p:sp>
      <p:sp>
        <p:nvSpPr>
          <p:cNvPr id="114" name="Shape 112"/>
          <p:cNvSpPr/>
          <p:nvPr/>
        </p:nvSpPr>
        <p:spPr>
          <a:xfrm>
            <a:off x="11005718" y="5574182"/>
            <a:ext cx="3456432" cy="2326234"/>
          </a:xfrm>
          <a:prstGeom prst="roundRect">
            <a:avLst>
              <a:gd name="adj" fmla="val 5189"/>
            </a:avLst>
          </a:prstGeom>
          <a:solidFill>
            <a:srgbClr val="FFFFFF"/>
          </a:solidFill>
          <a:ln w="12700">
            <a:solidFill>
              <a:srgbClr val="0759D9"/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>
            <a:off x="11181283" y="5683911"/>
            <a:ext cx="3105302" cy="263347"/>
          </a:xfrm>
          <a:prstGeom prst="rect">
            <a:avLst/>
          </a:prstGeom>
          <a:noFill/>
          <a:ln/>
        </p:spPr>
        <p:txBody>
          <a:bodyPr wrap="square" lIns="305" tIns="305" rIns="305" bIns="305" rtlCol="0" anchor="ctr">
            <a:normAutofit/>
          </a:bodyPr>
          <a:lstStyle/>
          <a:p>
            <a:pPr algn="ctr"/>
            <a:r>
              <a:rPr lang="en-US" sz="1620" b="1" dirty="0">
                <a:solidFill>
                  <a:srgbClr val="0759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Growth Momentum</a:t>
            </a:r>
            <a:endParaRPr lang="en-US" sz="1620" dirty="0"/>
          </a:p>
        </p:txBody>
      </p:sp>
      <p:sp>
        <p:nvSpPr>
          <p:cNvPr id="116" name="Shape 114"/>
          <p:cNvSpPr/>
          <p:nvPr/>
        </p:nvSpPr>
        <p:spPr>
          <a:xfrm>
            <a:off x="11225174" y="6067958"/>
            <a:ext cx="3017520" cy="0"/>
          </a:xfrm>
          <a:prstGeom prst="line">
            <a:avLst/>
          </a:prstGeom>
          <a:noFill/>
          <a:ln w="15240">
            <a:solidFill>
              <a:srgbClr val="0759D9"/>
            </a:solidFill>
            <a:prstDash val="solid"/>
          </a:ln>
        </p:spPr>
      </p:sp>
      <p:sp>
        <p:nvSpPr>
          <p:cNvPr id="117" name="Text 115"/>
          <p:cNvSpPr/>
          <p:nvPr/>
        </p:nvSpPr>
        <p:spPr>
          <a:xfrm>
            <a:off x="11247120" y="6155741"/>
            <a:ext cx="2973629" cy="329184"/>
          </a:xfrm>
          <a:prstGeom prst="rect">
            <a:avLst/>
          </a:prstGeom>
          <a:noFill/>
          <a:ln/>
        </p:spPr>
        <p:txBody>
          <a:bodyPr wrap="square" lIns="305" tIns="305" rIns="305" bIns="305" rtlCol="0" anchor="ctr">
            <a:normAutofit/>
          </a:bodyPr>
          <a:lstStyle/>
          <a:p>
            <a:pPr algn="ctr"/>
            <a:r>
              <a:rPr lang="en-US" sz="1008" dirty="0">
                <a:solidFill>
                  <a:srgbClr val="0616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Incremental levers that lifted GC above</a:t>
            </a:r>
            <a:endParaRPr lang="en-US" sz="1008" dirty="0"/>
          </a:p>
          <a:p>
            <a:pPr algn="ctr"/>
            <a:r>
              <a:rPr lang="en-US" sz="1008" dirty="0">
                <a:solidFill>
                  <a:srgbClr val="0616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context-adjusted base.</a:t>
            </a:r>
            <a:endParaRPr lang="en-US" sz="1008" dirty="0"/>
          </a:p>
        </p:txBody>
      </p:sp>
      <p:sp>
        <p:nvSpPr>
          <p:cNvPr id="118" name="Text 116"/>
          <p:cNvSpPr/>
          <p:nvPr/>
        </p:nvSpPr>
        <p:spPr>
          <a:xfrm>
            <a:off x="11247120" y="6550762"/>
            <a:ext cx="2973629" cy="362102"/>
          </a:xfrm>
          <a:prstGeom prst="rect">
            <a:avLst/>
          </a:prstGeom>
          <a:noFill/>
          <a:ln/>
        </p:spPr>
        <p:txBody>
          <a:bodyPr wrap="square" lIns="305" tIns="305" rIns="305" bIns="305" rtlCol="0" anchor="ctr">
            <a:normAutofit/>
          </a:bodyPr>
          <a:lstStyle/>
          <a:p>
            <a:r>
              <a:rPr lang="en-US" sz="984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Expectation: should create flat-to-positive</a:t>
            </a:r>
            <a:endParaRPr lang="en-US" sz="984" dirty="0"/>
          </a:p>
          <a:p>
            <a:r>
              <a:rPr lang="en-US" sz="984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change, with stronger actions driving lift.</a:t>
            </a:r>
            <a:endParaRPr lang="en-US" sz="984" dirty="0"/>
          </a:p>
        </p:txBody>
      </p:sp>
      <p:sp>
        <p:nvSpPr>
          <p:cNvPr id="119" name="Text 117"/>
          <p:cNvSpPr/>
          <p:nvPr/>
        </p:nvSpPr>
        <p:spPr>
          <a:xfrm>
            <a:off x="11181284" y="7077456"/>
            <a:ext cx="1278880" cy="197510"/>
          </a:xfrm>
          <a:prstGeom prst="rect">
            <a:avLst/>
          </a:prstGeom>
          <a:noFill/>
          <a:ln/>
        </p:spPr>
        <p:txBody>
          <a:bodyPr wrap="square" lIns="305" tIns="305" rIns="305" bIns="305" rtlCol="0" anchor="ctr">
            <a:normAutofit/>
          </a:bodyPr>
          <a:lstStyle/>
          <a:p>
            <a:r>
              <a:rPr lang="en-US" sz="876" dirty="0">
                <a:solidFill>
                  <a:srgbClr val="0616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Realized price change</a:t>
            </a:r>
            <a:endParaRPr lang="en-US" sz="876" dirty="0"/>
          </a:p>
        </p:txBody>
      </p:sp>
      <p:sp>
        <p:nvSpPr>
          <p:cNvPr id="120" name="Text 118"/>
          <p:cNvSpPr/>
          <p:nvPr/>
        </p:nvSpPr>
        <p:spPr>
          <a:xfrm>
            <a:off x="12872191" y="7077456"/>
            <a:ext cx="829543" cy="197510"/>
          </a:xfrm>
          <a:prstGeom prst="rect">
            <a:avLst/>
          </a:prstGeom>
          <a:noFill/>
          <a:ln/>
        </p:spPr>
        <p:txBody>
          <a:bodyPr wrap="square" lIns="305" tIns="305" rIns="305" bIns="305" rtlCol="0" anchor="ctr">
            <a:normAutofit/>
          </a:bodyPr>
          <a:lstStyle/>
          <a:p>
            <a:pPr algn="ctr"/>
            <a:r>
              <a:rPr lang="en-US" sz="948" b="1" dirty="0">
                <a:solidFill>
                  <a:srgbClr val="0759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+4.0%</a:t>
            </a:r>
            <a:endParaRPr lang="en-US" sz="948" dirty="0"/>
          </a:p>
        </p:txBody>
      </p:sp>
      <p:sp>
        <p:nvSpPr>
          <p:cNvPr id="121" name="Shape 119"/>
          <p:cNvSpPr/>
          <p:nvPr/>
        </p:nvSpPr>
        <p:spPr>
          <a:xfrm>
            <a:off x="13803783" y="7060997"/>
            <a:ext cx="526694" cy="208483"/>
          </a:xfrm>
          <a:prstGeom prst="roundRect">
            <a:avLst>
              <a:gd name="adj" fmla="val 36842"/>
            </a:avLst>
          </a:prstGeom>
          <a:solidFill>
            <a:srgbClr val="FFFFFF"/>
          </a:solidFill>
          <a:ln w="12700">
            <a:solidFill>
              <a:srgbClr val="0759D9"/>
            </a:solidFill>
            <a:prstDash val="solid"/>
          </a:ln>
        </p:spPr>
      </p:sp>
      <p:sp>
        <p:nvSpPr>
          <p:cNvPr id="122" name="Text 120"/>
          <p:cNvSpPr/>
          <p:nvPr/>
        </p:nvSpPr>
        <p:spPr>
          <a:xfrm>
            <a:off x="13836701" y="7077456"/>
            <a:ext cx="460858" cy="175565"/>
          </a:xfrm>
          <a:prstGeom prst="rect">
            <a:avLst/>
          </a:prstGeom>
          <a:noFill/>
          <a:ln/>
        </p:spPr>
        <p:txBody>
          <a:bodyPr wrap="square" lIns="305" tIns="305" rIns="305" bIns="305" rtlCol="0" anchor="ctr">
            <a:normAutofit fontScale="92500"/>
          </a:bodyPr>
          <a:lstStyle/>
          <a:p>
            <a:pPr algn="ctr"/>
            <a:r>
              <a:rPr lang="en-US" sz="888" b="1" dirty="0">
                <a:solidFill>
                  <a:srgbClr val="0759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POSITIVE</a:t>
            </a:r>
            <a:endParaRPr lang="en-US" sz="888" dirty="0"/>
          </a:p>
        </p:txBody>
      </p:sp>
      <p:sp>
        <p:nvSpPr>
          <p:cNvPr id="123" name="Text 121"/>
          <p:cNvSpPr/>
          <p:nvPr/>
        </p:nvSpPr>
        <p:spPr>
          <a:xfrm>
            <a:off x="11181284" y="7384695"/>
            <a:ext cx="1278880" cy="197510"/>
          </a:xfrm>
          <a:prstGeom prst="rect">
            <a:avLst/>
          </a:prstGeom>
          <a:noFill/>
          <a:ln/>
        </p:spPr>
        <p:txBody>
          <a:bodyPr wrap="square" lIns="305" tIns="305" rIns="305" bIns="305" rtlCol="0" anchor="ctr">
            <a:normAutofit/>
          </a:bodyPr>
          <a:lstStyle/>
          <a:p>
            <a:r>
              <a:rPr lang="en-US" sz="876" dirty="0">
                <a:solidFill>
                  <a:srgbClr val="0616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Promo / value intensity</a:t>
            </a:r>
            <a:endParaRPr lang="en-US" sz="876" dirty="0"/>
          </a:p>
        </p:txBody>
      </p:sp>
      <p:sp>
        <p:nvSpPr>
          <p:cNvPr id="124" name="Text 122"/>
          <p:cNvSpPr/>
          <p:nvPr/>
        </p:nvSpPr>
        <p:spPr>
          <a:xfrm>
            <a:off x="12872191" y="7384695"/>
            <a:ext cx="829543" cy="197510"/>
          </a:xfrm>
          <a:prstGeom prst="rect">
            <a:avLst/>
          </a:prstGeom>
          <a:noFill/>
          <a:ln/>
        </p:spPr>
        <p:txBody>
          <a:bodyPr wrap="square" lIns="305" tIns="305" rIns="305" bIns="305" rtlCol="0" anchor="ctr">
            <a:normAutofit/>
          </a:bodyPr>
          <a:lstStyle/>
          <a:p>
            <a:pPr algn="ctr"/>
            <a:r>
              <a:rPr lang="en-US" sz="948" b="1" dirty="0">
                <a:solidFill>
                  <a:srgbClr val="0759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+2.0pp</a:t>
            </a:r>
            <a:endParaRPr lang="en-US" sz="948" dirty="0"/>
          </a:p>
        </p:txBody>
      </p:sp>
      <p:sp>
        <p:nvSpPr>
          <p:cNvPr id="125" name="Shape 123"/>
          <p:cNvSpPr/>
          <p:nvPr/>
        </p:nvSpPr>
        <p:spPr>
          <a:xfrm>
            <a:off x="13803783" y="7368235"/>
            <a:ext cx="526694" cy="208483"/>
          </a:xfrm>
          <a:prstGeom prst="roundRect">
            <a:avLst>
              <a:gd name="adj" fmla="val 36842"/>
            </a:avLst>
          </a:prstGeom>
          <a:solidFill>
            <a:srgbClr val="FFFFFF"/>
          </a:solidFill>
          <a:ln w="12700">
            <a:solidFill>
              <a:srgbClr val="0759D9"/>
            </a:solidFill>
            <a:prstDash val="solid"/>
          </a:ln>
        </p:spPr>
      </p:sp>
      <p:sp>
        <p:nvSpPr>
          <p:cNvPr id="126" name="Text 124"/>
          <p:cNvSpPr/>
          <p:nvPr/>
        </p:nvSpPr>
        <p:spPr>
          <a:xfrm>
            <a:off x="13836701" y="7384694"/>
            <a:ext cx="460858" cy="175565"/>
          </a:xfrm>
          <a:prstGeom prst="rect">
            <a:avLst/>
          </a:prstGeom>
          <a:noFill/>
          <a:ln/>
        </p:spPr>
        <p:txBody>
          <a:bodyPr wrap="square" lIns="305" tIns="305" rIns="305" bIns="305" rtlCol="0" anchor="ctr">
            <a:normAutofit fontScale="92500"/>
          </a:bodyPr>
          <a:lstStyle/>
          <a:p>
            <a:pPr algn="ctr"/>
            <a:r>
              <a:rPr lang="en-US" sz="888" b="1" dirty="0">
                <a:solidFill>
                  <a:srgbClr val="0759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POSITIVE</a:t>
            </a:r>
            <a:endParaRPr lang="en-US" sz="888" dirty="0"/>
          </a:p>
        </p:txBody>
      </p:sp>
      <p:sp>
        <p:nvSpPr>
          <p:cNvPr id="127" name="Text 125"/>
          <p:cNvSpPr/>
          <p:nvPr/>
        </p:nvSpPr>
        <p:spPr>
          <a:xfrm>
            <a:off x="11181284" y="7691933"/>
            <a:ext cx="1278880" cy="197510"/>
          </a:xfrm>
          <a:prstGeom prst="rect">
            <a:avLst/>
          </a:prstGeom>
          <a:noFill/>
          <a:ln/>
        </p:spPr>
        <p:txBody>
          <a:bodyPr wrap="square" lIns="305" tIns="305" rIns="305" bIns="305" rtlCol="0" anchor="ctr">
            <a:normAutofit/>
          </a:bodyPr>
          <a:lstStyle/>
          <a:p>
            <a:r>
              <a:rPr lang="en-US" sz="876" dirty="0">
                <a:solidFill>
                  <a:srgbClr val="0616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LTO / menu innovation</a:t>
            </a:r>
            <a:endParaRPr lang="en-US" sz="876" dirty="0"/>
          </a:p>
        </p:txBody>
      </p:sp>
      <p:sp>
        <p:nvSpPr>
          <p:cNvPr id="128" name="Text 126"/>
          <p:cNvSpPr/>
          <p:nvPr/>
        </p:nvSpPr>
        <p:spPr>
          <a:xfrm>
            <a:off x="12872191" y="7691933"/>
            <a:ext cx="829543" cy="197510"/>
          </a:xfrm>
          <a:prstGeom prst="rect">
            <a:avLst/>
          </a:prstGeom>
          <a:noFill/>
          <a:ln/>
        </p:spPr>
        <p:txBody>
          <a:bodyPr wrap="square" lIns="305" tIns="305" rIns="305" bIns="305" rtlCol="0" anchor="ctr">
            <a:normAutofit/>
          </a:bodyPr>
          <a:lstStyle/>
          <a:p>
            <a:pPr algn="ctr"/>
            <a:r>
              <a:rPr lang="en-US" sz="948" b="1" dirty="0">
                <a:solidFill>
                  <a:srgbClr val="0759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+15% support</a:t>
            </a:r>
            <a:endParaRPr lang="en-US" sz="948" dirty="0"/>
          </a:p>
        </p:txBody>
      </p:sp>
      <p:sp>
        <p:nvSpPr>
          <p:cNvPr id="129" name="Shape 127"/>
          <p:cNvSpPr/>
          <p:nvPr/>
        </p:nvSpPr>
        <p:spPr>
          <a:xfrm>
            <a:off x="13803783" y="7675474"/>
            <a:ext cx="526694" cy="208483"/>
          </a:xfrm>
          <a:prstGeom prst="roundRect">
            <a:avLst>
              <a:gd name="adj" fmla="val 36842"/>
            </a:avLst>
          </a:prstGeom>
          <a:solidFill>
            <a:srgbClr val="FFFFFF"/>
          </a:solidFill>
          <a:ln w="12700">
            <a:solidFill>
              <a:srgbClr val="0759D9"/>
            </a:solidFill>
            <a:prstDash val="solid"/>
          </a:ln>
        </p:spPr>
      </p:sp>
      <p:sp>
        <p:nvSpPr>
          <p:cNvPr id="130" name="Text 128"/>
          <p:cNvSpPr/>
          <p:nvPr/>
        </p:nvSpPr>
        <p:spPr>
          <a:xfrm>
            <a:off x="13836701" y="7691933"/>
            <a:ext cx="460858" cy="175565"/>
          </a:xfrm>
          <a:prstGeom prst="rect">
            <a:avLst/>
          </a:prstGeom>
          <a:noFill/>
          <a:ln/>
        </p:spPr>
        <p:txBody>
          <a:bodyPr wrap="square" lIns="305" tIns="305" rIns="305" bIns="305" rtlCol="0" anchor="ctr">
            <a:normAutofit fontScale="92500"/>
          </a:bodyPr>
          <a:lstStyle/>
          <a:p>
            <a:pPr algn="ctr"/>
            <a:r>
              <a:rPr lang="en-US" sz="888" b="1" dirty="0">
                <a:solidFill>
                  <a:srgbClr val="0759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POSITIVE</a:t>
            </a:r>
            <a:endParaRPr lang="en-US" sz="888" dirty="0"/>
          </a:p>
        </p:txBody>
      </p:sp>
      <p:sp>
        <p:nvSpPr>
          <p:cNvPr id="131" name="Text 129"/>
          <p:cNvSpPr/>
          <p:nvPr/>
        </p:nvSpPr>
        <p:spPr>
          <a:xfrm>
            <a:off x="230429" y="7977226"/>
            <a:ext cx="6144768" cy="14264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900" i="1" dirty="0">
                <a:solidFill>
                  <a:srgbClr val="525A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Note: Illustrative values; percentages shown vs. 2024 Actual GC.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97510" y="87783"/>
            <a:ext cx="12728448" cy="4169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r>
              <a:rPr lang="en-US" sz="2880" b="1" dirty="0">
                <a:solidFill>
                  <a:srgbClr val="0719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Protected Foundation Overview: Restaurant Foundation + Commercial BAU</a:t>
            </a:r>
            <a:endParaRPr lang="en-US" sz="2880" dirty="0"/>
          </a:p>
        </p:txBody>
      </p:sp>
      <p:sp>
        <p:nvSpPr>
          <p:cNvPr id="3" name="Text 1"/>
          <p:cNvSpPr/>
          <p:nvPr/>
        </p:nvSpPr>
        <p:spPr>
          <a:xfrm>
            <a:off x="208483" y="570585"/>
            <a:ext cx="11740896" cy="2414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lang="en-US" sz="1380" dirty="0">
                <a:solidFill>
                  <a:srgbClr val="52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core operating systems and always-on commercial platforms protect the GC base versus a degraded-foundation scenario.</a:t>
            </a:r>
            <a:endParaRPr lang="en-US" sz="1380" dirty="0"/>
          </a:p>
        </p:txBody>
      </p:sp>
      <p:sp>
        <p:nvSpPr>
          <p:cNvPr id="4" name="Shape 2"/>
          <p:cNvSpPr/>
          <p:nvPr/>
        </p:nvSpPr>
        <p:spPr>
          <a:xfrm>
            <a:off x="13562381" y="252375"/>
            <a:ext cx="680314" cy="307238"/>
          </a:xfrm>
          <a:prstGeom prst="roundRect">
            <a:avLst/>
          </a:prstGeom>
          <a:solidFill>
            <a:srgbClr val="071943"/>
          </a:solidFill>
          <a:ln w="10160">
            <a:solidFill>
              <a:srgbClr val="07194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562381" y="312725"/>
            <a:ext cx="680314" cy="1207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77500" lnSpcReduction="20000"/>
          </a:bodyPr>
          <a:lstStyle/>
          <a:p>
            <a:pPr algn="ctr"/>
            <a:r>
              <a:rPr lang="en-US" sz="112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OF 4</a:t>
            </a:r>
            <a:endParaRPr lang="en-US" sz="1128" dirty="0"/>
          </a:p>
        </p:txBody>
      </p:sp>
      <p:sp>
        <p:nvSpPr>
          <p:cNvPr id="6" name="Shape 4"/>
          <p:cNvSpPr/>
          <p:nvPr/>
        </p:nvSpPr>
        <p:spPr>
          <a:xfrm>
            <a:off x="197511" y="1009498"/>
            <a:ext cx="14242694" cy="296265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DE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73075" y="3313786"/>
            <a:ext cx="13836701" cy="0"/>
          </a:xfrm>
          <a:prstGeom prst="line">
            <a:avLst/>
          </a:prstGeom>
          <a:noFill/>
          <a:ln w="13970">
            <a:solidFill>
              <a:srgbClr val="07194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70586" y="1700784"/>
            <a:ext cx="658368" cy="1613002"/>
          </a:xfrm>
          <a:prstGeom prst="rect">
            <a:avLst/>
          </a:prstGeom>
          <a:solidFill>
            <a:srgbClr val="071943"/>
          </a:solidFill>
          <a:ln w="12700">
            <a:solidFill>
              <a:srgbClr val="071943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15722" y="1459382"/>
            <a:ext cx="768096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 algn="ctr"/>
            <a:r>
              <a:rPr lang="en-US" sz="1380" b="1" dirty="0">
                <a:solidFill>
                  <a:srgbClr val="0719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330M</a:t>
            </a:r>
            <a:endParaRPr lang="en-US" sz="1380" dirty="0"/>
          </a:p>
        </p:txBody>
      </p:sp>
      <p:sp>
        <p:nvSpPr>
          <p:cNvPr id="10" name="Text 8"/>
          <p:cNvSpPr/>
          <p:nvPr/>
        </p:nvSpPr>
        <p:spPr>
          <a:xfrm>
            <a:off x="460858" y="3368649"/>
            <a:ext cx="877824" cy="4608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/>
            <a:r>
              <a:rPr lang="en-US" sz="960" b="1" dirty="0">
                <a:solidFill>
                  <a:srgbClr val="0719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</a:t>
            </a:r>
            <a:endParaRPr lang="en-US" sz="960" dirty="0"/>
          </a:p>
          <a:p>
            <a:pPr algn="ctr"/>
            <a:r>
              <a:rPr lang="en-US" sz="960" b="1" dirty="0">
                <a:solidFill>
                  <a:srgbClr val="0719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Actual GC</a:t>
            </a:r>
            <a:endParaRPr lang="en-US" sz="960" dirty="0"/>
          </a:p>
        </p:txBody>
      </p:sp>
      <p:sp>
        <p:nvSpPr>
          <p:cNvPr id="11" name="Shape 9"/>
          <p:cNvSpPr/>
          <p:nvPr/>
        </p:nvSpPr>
        <p:spPr>
          <a:xfrm>
            <a:off x="1821485" y="2249424"/>
            <a:ext cx="658368" cy="1064362"/>
          </a:xfrm>
          <a:prstGeom prst="rect">
            <a:avLst/>
          </a:prstGeom>
          <a:solidFill>
            <a:srgbClr val="9D9D9D"/>
          </a:solidFill>
          <a:ln w="12700">
            <a:solidFill>
              <a:srgbClr val="9D9D9D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766621" y="2008022"/>
            <a:ext cx="768096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 algn="ctr"/>
            <a:r>
              <a:rPr lang="en-US" sz="1380" b="1" dirty="0">
                <a:solidFill>
                  <a:srgbClr val="0719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310M</a:t>
            </a:r>
            <a:endParaRPr lang="en-US" sz="1380" dirty="0"/>
          </a:p>
        </p:txBody>
      </p:sp>
      <p:sp>
        <p:nvSpPr>
          <p:cNvPr id="13" name="Text 11"/>
          <p:cNvSpPr/>
          <p:nvPr/>
        </p:nvSpPr>
        <p:spPr>
          <a:xfrm>
            <a:off x="1711757" y="3368649"/>
            <a:ext cx="877824" cy="4608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 algn="ctr"/>
            <a:r>
              <a:rPr lang="en-US" sz="960" b="1" dirty="0">
                <a:solidFill>
                  <a:srgbClr val="0719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Weak</a:t>
            </a:r>
            <a:endParaRPr lang="en-US" sz="960" dirty="0"/>
          </a:p>
          <a:p>
            <a:pPr algn="ctr"/>
            <a:r>
              <a:rPr lang="en-US" sz="960" b="1" dirty="0">
                <a:solidFill>
                  <a:srgbClr val="0719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Foundation Base</a:t>
            </a:r>
            <a:endParaRPr lang="en-US" sz="960" dirty="0"/>
          </a:p>
          <a:p>
            <a:pPr algn="ctr"/>
            <a:r>
              <a:rPr lang="en-US" sz="960" b="1" dirty="0">
                <a:solidFill>
                  <a:srgbClr val="0719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(counterfactual)</a:t>
            </a:r>
            <a:endParaRPr lang="en-US" sz="960" dirty="0"/>
          </a:p>
        </p:txBody>
      </p:sp>
      <p:sp>
        <p:nvSpPr>
          <p:cNvPr id="14" name="Shape 12"/>
          <p:cNvSpPr/>
          <p:nvPr/>
        </p:nvSpPr>
        <p:spPr>
          <a:xfrm>
            <a:off x="2479853" y="2249424"/>
            <a:ext cx="395021" cy="0"/>
          </a:xfrm>
          <a:prstGeom prst="line">
            <a:avLst/>
          </a:prstGeom>
          <a:noFill/>
          <a:ln w="10160">
            <a:solidFill>
              <a:srgbClr val="07194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874874" y="2128723"/>
            <a:ext cx="658368" cy="120701"/>
          </a:xfrm>
          <a:prstGeom prst="rect">
            <a:avLst/>
          </a:prstGeom>
          <a:solidFill>
            <a:srgbClr val="12913D"/>
          </a:solidFill>
          <a:ln w="12700">
            <a:solidFill>
              <a:srgbClr val="12913D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820010" y="1942185"/>
            <a:ext cx="768096" cy="1316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 algn="ctr"/>
            <a:r>
              <a:rPr lang="en-US" sz="1116" b="1" dirty="0">
                <a:solidFill>
                  <a:srgbClr val="0B7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+3M</a:t>
            </a:r>
            <a:endParaRPr lang="en-US" sz="1116" dirty="0"/>
          </a:p>
        </p:txBody>
      </p:sp>
      <p:sp>
        <p:nvSpPr>
          <p:cNvPr id="17" name="Text 15"/>
          <p:cNvSpPr/>
          <p:nvPr/>
        </p:nvSpPr>
        <p:spPr>
          <a:xfrm>
            <a:off x="2743200" y="3368650"/>
            <a:ext cx="921715" cy="4169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/>
            <a:r>
              <a:rPr lang="en-US" sz="948" dirty="0">
                <a:solidFill>
                  <a:srgbClr val="0719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Speed /</a:t>
            </a:r>
            <a:endParaRPr lang="en-US" sz="948" dirty="0"/>
          </a:p>
          <a:p>
            <a:pPr algn="ctr"/>
            <a:r>
              <a:rPr lang="en-US" sz="948" dirty="0">
                <a:solidFill>
                  <a:srgbClr val="0719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</a:t>
            </a:r>
            <a:endParaRPr lang="en-US" sz="948" dirty="0"/>
          </a:p>
        </p:txBody>
      </p:sp>
      <p:sp>
        <p:nvSpPr>
          <p:cNvPr id="18" name="Shape 16"/>
          <p:cNvSpPr/>
          <p:nvPr/>
        </p:nvSpPr>
        <p:spPr>
          <a:xfrm>
            <a:off x="3533242" y="2128723"/>
            <a:ext cx="230429" cy="0"/>
          </a:xfrm>
          <a:prstGeom prst="line">
            <a:avLst/>
          </a:prstGeom>
          <a:noFill/>
          <a:ln w="10160">
            <a:solidFill>
              <a:srgbClr val="07194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763670" y="2008022"/>
            <a:ext cx="658368" cy="120701"/>
          </a:xfrm>
          <a:prstGeom prst="rect">
            <a:avLst/>
          </a:prstGeom>
          <a:solidFill>
            <a:srgbClr val="12913D"/>
          </a:solidFill>
          <a:ln w="12700">
            <a:solidFill>
              <a:srgbClr val="12913D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708806" y="1821485"/>
            <a:ext cx="768096" cy="1316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 algn="ctr"/>
            <a:r>
              <a:rPr lang="en-US" sz="1116" b="1" dirty="0">
                <a:solidFill>
                  <a:srgbClr val="0B7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+3M</a:t>
            </a:r>
            <a:endParaRPr lang="en-US" sz="1116" dirty="0"/>
          </a:p>
        </p:txBody>
      </p:sp>
      <p:sp>
        <p:nvSpPr>
          <p:cNvPr id="21" name="Text 19"/>
          <p:cNvSpPr/>
          <p:nvPr/>
        </p:nvSpPr>
        <p:spPr>
          <a:xfrm>
            <a:off x="3631997" y="3368650"/>
            <a:ext cx="921715" cy="4169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/>
            <a:r>
              <a:rPr lang="en-US" sz="948" dirty="0">
                <a:solidFill>
                  <a:srgbClr val="0719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Supply /</a:t>
            </a:r>
            <a:endParaRPr lang="en-US" sz="948" dirty="0"/>
          </a:p>
          <a:p>
            <a:pPr algn="ctr"/>
            <a:r>
              <a:rPr lang="en-US" sz="948" dirty="0">
                <a:solidFill>
                  <a:srgbClr val="0719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OOS</a:t>
            </a:r>
            <a:endParaRPr lang="en-US" sz="948" dirty="0"/>
          </a:p>
        </p:txBody>
      </p:sp>
      <p:sp>
        <p:nvSpPr>
          <p:cNvPr id="22" name="Shape 20"/>
          <p:cNvSpPr/>
          <p:nvPr/>
        </p:nvSpPr>
        <p:spPr>
          <a:xfrm>
            <a:off x="4422038" y="2008022"/>
            <a:ext cx="241402" cy="0"/>
          </a:xfrm>
          <a:prstGeom prst="line">
            <a:avLst/>
          </a:prstGeom>
          <a:noFill/>
          <a:ln w="10160">
            <a:solidFill>
              <a:srgbClr val="07194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663440" y="1920240"/>
            <a:ext cx="658368" cy="87782"/>
          </a:xfrm>
          <a:prstGeom prst="rect">
            <a:avLst/>
          </a:prstGeom>
          <a:solidFill>
            <a:srgbClr val="12913D"/>
          </a:solidFill>
          <a:ln w="12700">
            <a:solidFill>
              <a:srgbClr val="12913D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08576" y="1733702"/>
            <a:ext cx="768096" cy="1316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 algn="ctr"/>
            <a:r>
              <a:rPr lang="en-US" sz="1116" b="1" dirty="0">
                <a:solidFill>
                  <a:srgbClr val="0B7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+2M</a:t>
            </a:r>
            <a:endParaRPr lang="en-US" sz="1116" dirty="0"/>
          </a:p>
        </p:txBody>
      </p:sp>
      <p:sp>
        <p:nvSpPr>
          <p:cNvPr id="25" name="Text 23"/>
          <p:cNvSpPr/>
          <p:nvPr/>
        </p:nvSpPr>
        <p:spPr>
          <a:xfrm>
            <a:off x="4531767" y="3368650"/>
            <a:ext cx="921715" cy="4169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/>
            <a:r>
              <a:rPr lang="en-US" sz="948" dirty="0">
                <a:solidFill>
                  <a:srgbClr val="0719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Technology</a:t>
            </a:r>
            <a:endParaRPr lang="en-US" sz="948" dirty="0"/>
          </a:p>
        </p:txBody>
      </p:sp>
      <p:sp>
        <p:nvSpPr>
          <p:cNvPr id="26" name="Shape 24"/>
          <p:cNvSpPr/>
          <p:nvPr/>
        </p:nvSpPr>
        <p:spPr>
          <a:xfrm>
            <a:off x="5321808" y="1920240"/>
            <a:ext cx="241402" cy="0"/>
          </a:xfrm>
          <a:prstGeom prst="line">
            <a:avLst/>
          </a:prstGeom>
          <a:noFill/>
          <a:ln w="10160">
            <a:solidFill>
              <a:srgbClr val="07194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563210" y="1788566"/>
            <a:ext cx="658368" cy="131674"/>
          </a:xfrm>
          <a:prstGeom prst="rect">
            <a:avLst/>
          </a:prstGeom>
          <a:solidFill>
            <a:srgbClr val="12913D"/>
          </a:solidFill>
          <a:ln w="12700">
            <a:solidFill>
              <a:srgbClr val="12913D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508346" y="1602029"/>
            <a:ext cx="768096" cy="1316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 algn="ctr"/>
            <a:r>
              <a:rPr lang="en-US" sz="1116" b="1" dirty="0">
                <a:solidFill>
                  <a:srgbClr val="0B7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+3M</a:t>
            </a:r>
            <a:endParaRPr lang="en-US" sz="1116" dirty="0"/>
          </a:p>
        </p:txBody>
      </p:sp>
      <p:sp>
        <p:nvSpPr>
          <p:cNvPr id="29" name="Text 27"/>
          <p:cNvSpPr/>
          <p:nvPr/>
        </p:nvSpPr>
        <p:spPr>
          <a:xfrm>
            <a:off x="5431536" y="3368650"/>
            <a:ext cx="921715" cy="4169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/>
            <a:r>
              <a:rPr lang="en-US" sz="948" dirty="0">
                <a:solidFill>
                  <a:srgbClr val="0719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CSAT /</a:t>
            </a:r>
            <a:endParaRPr lang="en-US" sz="948" dirty="0"/>
          </a:p>
          <a:p>
            <a:pPr algn="ctr"/>
            <a:r>
              <a:rPr lang="en-US" sz="948" dirty="0">
                <a:solidFill>
                  <a:srgbClr val="0719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CX</a:t>
            </a:r>
            <a:endParaRPr lang="en-US" sz="948" dirty="0"/>
          </a:p>
        </p:txBody>
      </p:sp>
      <p:sp>
        <p:nvSpPr>
          <p:cNvPr id="30" name="Shape 28"/>
          <p:cNvSpPr/>
          <p:nvPr/>
        </p:nvSpPr>
        <p:spPr>
          <a:xfrm>
            <a:off x="6221577" y="1788566"/>
            <a:ext cx="241402" cy="0"/>
          </a:xfrm>
          <a:prstGeom prst="line">
            <a:avLst/>
          </a:prstGeom>
          <a:noFill/>
          <a:ln w="10160">
            <a:solidFill>
              <a:srgbClr val="07194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462979" y="1645920"/>
            <a:ext cx="658368" cy="142646"/>
          </a:xfrm>
          <a:prstGeom prst="rect">
            <a:avLst/>
          </a:prstGeom>
          <a:solidFill>
            <a:srgbClr val="12913D"/>
          </a:solidFill>
          <a:ln w="12700">
            <a:solidFill>
              <a:srgbClr val="12913D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08115" y="1459382"/>
            <a:ext cx="768096" cy="1316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 algn="ctr"/>
            <a:r>
              <a:rPr lang="en-US" sz="1116" b="1" dirty="0">
                <a:solidFill>
                  <a:srgbClr val="0B7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+3M</a:t>
            </a:r>
            <a:endParaRPr lang="en-US" sz="1116" dirty="0"/>
          </a:p>
        </p:txBody>
      </p:sp>
      <p:sp>
        <p:nvSpPr>
          <p:cNvPr id="33" name="Text 31"/>
          <p:cNvSpPr/>
          <p:nvPr/>
        </p:nvSpPr>
        <p:spPr>
          <a:xfrm>
            <a:off x="6331306" y="3368650"/>
            <a:ext cx="921715" cy="4169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/>
            <a:r>
              <a:rPr lang="en-US" sz="948" dirty="0">
                <a:solidFill>
                  <a:srgbClr val="0719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Staffing /</a:t>
            </a:r>
            <a:endParaRPr lang="en-US" sz="948" dirty="0"/>
          </a:p>
          <a:p>
            <a:pPr algn="ctr"/>
            <a:r>
              <a:rPr lang="en-US" sz="948" dirty="0">
                <a:solidFill>
                  <a:srgbClr val="0719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Hours</a:t>
            </a:r>
            <a:endParaRPr lang="en-US" sz="948" dirty="0"/>
          </a:p>
        </p:txBody>
      </p:sp>
      <p:sp>
        <p:nvSpPr>
          <p:cNvPr id="34" name="Shape 32"/>
          <p:cNvSpPr/>
          <p:nvPr/>
        </p:nvSpPr>
        <p:spPr>
          <a:xfrm>
            <a:off x="7121347" y="1645920"/>
            <a:ext cx="252374" cy="0"/>
          </a:xfrm>
          <a:prstGeom prst="line">
            <a:avLst/>
          </a:prstGeom>
          <a:noFill/>
          <a:ln w="10160">
            <a:solidFill>
              <a:srgbClr val="071943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373722" y="1645920"/>
            <a:ext cx="658368" cy="1667866"/>
          </a:xfrm>
          <a:prstGeom prst="rect">
            <a:avLst/>
          </a:prstGeom>
          <a:solidFill>
            <a:srgbClr val="071943"/>
          </a:solidFill>
          <a:ln w="12700">
            <a:solidFill>
              <a:srgbClr val="071943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318858" y="1404518"/>
            <a:ext cx="768096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 algn="ctr"/>
            <a:r>
              <a:rPr lang="en-US" sz="1380" b="1" dirty="0">
                <a:solidFill>
                  <a:srgbClr val="0719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324M</a:t>
            </a:r>
            <a:endParaRPr lang="en-US" sz="1380" dirty="0"/>
          </a:p>
        </p:txBody>
      </p:sp>
      <p:sp>
        <p:nvSpPr>
          <p:cNvPr id="37" name="Text 35"/>
          <p:cNvSpPr/>
          <p:nvPr/>
        </p:nvSpPr>
        <p:spPr>
          <a:xfrm>
            <a:off x="7263994" y="3368649"/>
            <a:ext cx="877824" cy="4608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/>
            <a:r>
              <a:rPr lang="en-US" sz="960" b="1" dirty="0">
                <a:solidFill>
                  <a:srgbClr val="0719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Restaurant</a:t>
            </a:r>
            <a:endParaRPr lang="en-US" sz="960" dirty="0"/>
          </a:p>
          <a:p>
            <a:pPr algn="ctr"/>
            <a:r>
              <a:rPr lang="en-US" sz="960" b="1" dirty="0">
                <a:solidFill>
                  <a:srgbClr val="0719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Foundation</a:t>
            </a:r>
            <a:endParaRPr lang="en-US" sz="960" dirty="0"/>
          </a:p>
          <a:p>
            <a:pPr algn="ctr"/>
            <a:r>
              <a:rPr lang="en-US" sz="960" b="1" dirty="0">
                <a:solidFill>
                  <a:srgbClr val="0719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</a:t>
            </a:r>
            <a:endParaRPr lang="en-US" sz="960" dirty="0"/>
          </a:p>
        </p:txBody>
      </p:sp>
      <p:sp>
        <p:nvSpPr>
          <p:cNvPr id="38" name="Shape 36"/>
          <p:cNvSpPr/>
          <p:nvPr/>
        </p:nvSpPr>
        <p:spPr>
          <a:xfrm>
            <a:off x="8032090" y="1645920"/>
            <a:ext cx="416966" cy="0"/>
          </a:xfrm>
          <a:prstGeom prst="line">
            <a:avLst/>
          </a:prstGeom>
          <a:noFill/>
          <a:ln w="10160">
            <a:solidFill>
              <a:srgbClr val="071943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449056" y="1569110"/>
            <a:ext cx="658368" cy="76810"/>
          </a:xfrm>
          <a:prstGeom prst="rect">
            <a:avLst/>
          </a:prstGeom>
          <a:solidFill>
            <a:srgbClr val="12913D"/>
          </a:solidFill>
          <a:ln w="12700">
            <a:solidFill>
              <a:srgbClr val="12913D">
                <a:alpha val="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394192" y="1382573"/>
            <a:ext cx="768096" cy="1316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 algn="ctr"/>
            <a:r>
              <a:rPr lang="en-US" sz="1116" b="1" dirty="0">
                <a:solidFill>
                  <a:srgbClr val="0B7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+2M</a:t>
            </a:r>
            <a:endParaRPr lang="en-US" sz="1116" dirty="0"/>
          </a:p>
        </p:txBody>
      </p:sp>
      <p:sp>
        <p:nvSpPr>
          <p:cNvPr id="41" name="Text 39"/>
          <p:cNvSpPr/>
          <p:nvPr/>
        </p:nvSpPr>
        <p:spPr>
          <a:xfrm>
            <a:off x="8317383" y="3368650"/>
            <a:ext cx="921715" cy="4169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/>
            <a:r>
              <a:rPr lang="en-US" sz="948" dirty="0">
                <a:solidFill>
                  <a:srgbClr val="0719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Pricing</a:t>
            </a:r>
            <a:endParaRPr lang="en-US" sz="948" dirty="0"/>
          </a:p>
          <a:p>
            <a:pPr algn="ctr"/>
            <a:r>
              <a:rPr lang="en-US" sz="948" dirty="0">
                <a:solidFill>
                  <a:srgbClr val="0719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Adoption</a:t>
            </a:r>
            <a:endParaRPr lang="en-US" sz="948" dirty="0"/>
          </a:p>
        </p:txBody>
      </p:sp>
      <p:sp>
        <p:nvSpPr>
          <p:cNvPr id="42" name="Shape 40"/>
          <p:cNvSpPr/>
          <p:nvPr/>
        </p:nvSpPr>
        <p:spPr>
          <a:xfrm>
            <a:off x="9107424" y="1569110"/>
            <a:ext cx="219456" cy="0"/>
          </a:xfrm>
          <a:prstGeom prst="line">
            <a:avLst/>
          </a:prstGeom>
          <a:noFill/>
          <a:ln w="10160">
            <a:solidFill>
              <a:srgbClr val="071943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9326880" y="1492301"/>
            <a:ext cx="658368" cy="76810"/>
          </a:xfrm>
          <a:prstGeom prst="rect">
            <a:avLst/>
          </a:prstGeom>
          <a:solidFill>
            <a:srgbClr val="12913D"/>
          </a:solidFill>
          <a:ln w="12700">
            <a:solidFill>
              <a:srgbClr val="12913D">
                <a:alpha val="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9272016" y="1305763"/>
            <a:ext cx="768096" cy="1316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 algn="ctr"/>
            <a:r>
              <a:rPr lang="en-US" sz="1116" b="1" dirty="0">
                <a:solidFill>
                  <a:srgbClr val="0B7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+2M</a:t>
            </a:r>
            <a:endParaRPr lang="en-US" sz="1116" dirty="0"/>
          </a:p>
        </p:txBody>
      </p:sp>
      <p:sp>
        <p:nvSpPr>
          <p:cNvPr id="45" name="Text 43"/>
          <p:cNvSpPr/>
          <p:nvPr/>
        </p:nvSpPr>
        <p:spPr>
          <a:xfrm>
            <a:off x="9195207" y="3368650"/>
            <a:ext cx="921715" cy="4169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/>
            <a:r>
              <a:rPr lang="en-US" sz="948" dirty="0">
                <a:solidFill>
                  <a:srgbClr val="0719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/</a:t>
            </a:r>
            <a:endParaRPr lang="en-US" sz="948" dirty="0"/>
          </a:p>
          <a:p>
            <a:pPr algn="ctr"/>
            <a:r>
              <a:rPr lang="en-US" sz="948" dirty="0">
                <a:solidFill>
                  <a:srgbClr val="0719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 Menu</a:t>
            </a:r>
            <a:endParaRPr lang="en-US" sz="948" dirty="0"/>
          </a:p>
        </p:txBody>
      </p:sp>
      <p:sp>
        <p:nvSpPr>
          <p:cNvPr id="46" name="Shape 44"/>
          <p:cNvSpPr/>
          <p:nvPr/>
        </p:nvSpPr>
        <p:spPr>
          <a:xfrm>
            <a:off x="9985248" y="1492301"/>
            <a:ext cx="208483" cy="0"/>
          </a:xfrm>
          <a:prstGeom prst="line">
            <a:avLst/>
          </a:prstGeom>
          <a:noFill/>
          <a:ln w="10160">
            <a:solidFill>
              <a:srgbClr val="071943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0193731" y="1448410"/>
            <a:ext cx="658368" cy="43891"/>
          </a:xfrm>
          <a:prstGeom prst="rect">
            <a:avLst/>
          </a:prstGeom>
          <a:solidFill>
            <a:srgbClr val="12913D"/>
          </a:solidFill>
          <a:ln w="12700">
            <a:solidFill>
              <a:srgbClr val="12913D">
                <a:alpha val="0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0138867" y="1261872"/>
            <a:ext cx="768096" cy="1316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 algn="ctr"/>
            <a:r>
              <a:rPr lang="en-US" sz="1116" b="1" dirty="0">
                <a:solidFill>
                  <a:srgbClr val="0B7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+1M</a:t>
            </a:r>
            <a:endParaRPr lang="en-US" sz="1116" dirty="0"/>
          </a:p>
        </p:txBody>
      </p:sp>
      <p:sp>
        <p:nvSpPr>
          <p:cNvPr id="49" name="Text 47"/>
          <p:cNvSpPr/>
          <p:nvPr/>
        </p:nvSpPr>
        <p:spPr>
          <a:xfrm>
            <a:off x="10062058" y="3368650"/>
            <a:ext cx="921715" cy="4169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/>
            <a:r>
              <a:rPr lang="en-US" sz="948" dirty="0">
                <a:solidFill>
                  <a:srgbClr val="0719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</a:t>
            </a:r>
            <a:endParaRPr lang="en-US" sz="948" dirty="0"/>
          </a:p>
          <a:p>
            <a:pPr algn="ctr"/>
            <a:r>
              <a:rPr lang="en-US" sz="948" dirty="0">
                <a:solidFill>
                  <a:srgbClr val="0719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</a:t>
            </a:r>
            <a:endParaRPr lang="en-US" sz="948" dirty="0"/>
          </a:p>
        </p:txBody>
      </p:sp>
      <p:sp>
        <p:nvSpPr>
          <p:cNvPr id="50" name="Shape 48"/>
          <p:cNvSpPr/>
          <p:nvPr/>
        </p:nvSpPr>
        <p:spPr>
          <a:xfrm>
            <a:off x="10852099" y="1448410"/>
            <a:ext cx="208483" cy="0"/>
          </a:xfrm>
          <a:prstGeom prst="line">
            <a:avLst/>
          </a:prstGeom>
          <a:noFill/>
          <a:ln w="10160">
            <a:solidFill>
              <a:srgbClr val="071943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1060582" y="1360627"/>
            <a:ext cx="658368" cy="87782"/>
          </a:xfrm>
          <a:prstGeom prst="rect">
            <a:avLst/>
          </a:prstGeom>
          <a:solidFill>
            <a:srgbClr val="12913D"/>
          </a:solidFill>
          <a:ln w="12700">
            <a:solidFill>
              <a:srgbClr val="12913D">
                <a:alpha val="0"/>
              </a:srgbClr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1005718" y="1174089"/>
            <a:ext cx="768096" cy="1316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 algn="ctr"/>
            <a:r>
              <a:rPr lang="en-US" sz="1116" b="1" dirty="0">
                <a:solidFill>
                  <a:srgbClr val="0B7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+2M</a:t>
            </a:r>
            <a:endParaRPr lang="en-US" sz="1116" dirty="0"/>
          </a:p>
        </p:txBody>
      </p:sp>
      <p:sp>
        <p:nvSpPr>
          <p:cNvPr id="53" name="Text 51"/>
          <p:cNvSpPr/>
          <p:nvPr/>
        </p:nvSpPr>
        <p:spPr>
          <a:xfrm>
            <a:off x="10928909" y="3368650"/>
            <a:ext cx="921715" cy="4169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/>
            <a:r>
              <a:rPr lang="en-US" sz="948" dirty="0">
                <a:solidFill>
                  <a:srgbClr val="0719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Promo</a:t>
            </a:r>
            <a:endParaRPr lang="en-US" sz="948" dirty="0"/>
          </a:p>
          <a:p>
            <a:pPr algn="ctr"/>
            <a:r>
              <a:rPr lang="en-US" sz="948" dirty="0">
                <a:solidFill>
                  <a:srgbClr val="0719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</a:t>
            </a:r>
            <a:endParaRPr lang="en-US" sz="948" dirty="0"/>
          </a:p>
        </p:txBody>
      </p:sp>
      <p:sp>
        <p:nvSpPr>
          <p:cNvPr id="54" name="Shape 52"/>
          <p:cNvSpPr/>
          <p:nvPr/>
        </p:nvSpPr>
        <p:spPr>
          <a:xfrm>
            <a:off x="11718950" y="1360627"/>
            <a:ext cx="219456" cy="0"/>
          </a:xfrm>
          <a:prstGeom prst="line">
            <a:avLst/>
          </a:prstGeom>
          <a:noFill/>
          <a:ln w="10160">
            <a:solidFill>
              <a:srgbClr val="071943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11938406" y="1316736"/>
            <a:ext cx="658368" cy="43891"/>
          </a:xfrm>
          <a:prstGeom prst="rect">
            <a:avLst/>
          </a:prstGeom>
          <a:solidFill>
            <a:srgbClr val="12913D"/>
          </a:solidFill>
          <a:ln w="12700">
            <a:solidFill>
              <a:srgbClr val="12913D">
                <a:alpha val="0"/>
              </a:srgbClr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11883542" y="1130198"/>
            <a:ext cx="768096" cy="1316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 algn="ctr"/>
            <a:r>
              <a:rPr lang="en-US" sz="1116" b="1" dirty="0">
                <a:solidFill>
                  <a:srgbClr val="0B7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+1M</a:t>
            </a:r>
            <a:endParaRPr lang="en-US" sz="1116" dirty="0"/>
          </a:p>
        </p:txBody>
      </p:sp>
      <p:sp>
        <p:nvSpPr>
          <p:cNvPr id="57" name="Text 55"/>
          <p:cNvSpPr/>
          <p:nvPr/>
        </p:nvSpPr>
        <p:spPr>
          <a:xfrm>
            <a:off x="11806733" y="3368650"/>
            <a:ext cx="921715" cy="4169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/>
            <a:r>
              <a:rPr lang="en-US" sz="948" dirty="0">
                <a:solidFill>
                  <a:srgbClr val="0719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Loyalty /</a:t>
            </a:r>
            <a:endParaRPr lang="en-US" sz="948" dirty="0"/>
          </a:p>
          <a:p>
            <a:pPr algn="ctr"/>
            <a:r>
              <a:rPr lang="en-US" sz="948" dirty="0">
                <a:solidFill>
                  <a:srgbClr val="0719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CRM</a:t>
            </a:r>
            <a:endParaRPr lang="en-US" sz="948" dirty="0"/>
          </a:p>
        </p:txBody>
      </p:sp>
      <p:sp>
        <p:nvSpPr>
          <p:cNvPr id="58" name="Shape 56"/>
          <p:cNvSpPr/>
          <p:nvPr/>
        </p:nvSpPr>
        <p:spPr>
          <a:xfrm>
            <a:off x="12596775" y="1316736"/>
            <a:ext cx="208483" cy="0"/>
          </a:xfrm>
          <a:prstGeom prst="line">
            <a:avLst/>
          </a:prstGeom>
          <a:noFill/>
          <a:ln w="10160">
            <a:solidFill>
              <a:srgbClr val="071943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12805258" y="1316736"/>
            <a:ext cx="658368" cy="208483"/>
          </a:xfrm>
          <a:prstGeom prst="rect">
            <a:avLst/>
          </a:prstGeom>
          <a:solidFill>
            <a:srgbClr val="12913D"/>
          </a:solidFill>
          <a:ln w="12700">
            <a:solidFill>
              <a:srgbClr val="12913D">
                <a:alpha val="0"/>
              </a:srgbClr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12750394" y="1130198"/>
            <a:ext cx="768096" cy="1316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 algn="ctr"/>
            <a:r>
              <a:rPr lang="en-US" sz="1116" b="1" dirty="0">
                <a:solidFill>
                  <a:srgbClr val="0B7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+1M</a:t>
            </a:r>
            <a:endParaRPr lang="en-US" sz="1116" dirty="0"/>
          </a:p>
        </p:txBody>
      </p:sp>
      <p:sp>
        <p:nvSpPr>
          <p:cNvPr id="61" name="Text 59"/>
          <p:cNvSpPr/>
          <p:nvPr/>
        </p:nvSpPr>
        <p:spPr>
          <a:xfrm>
            <a:off x="12673584" y="3368650"/>
            <a:ext cx="921715" cy="4169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/>
            <a:r>
              <a:rPr lang="en-US" sz="948" dirty="0">
                <a:solidFill>
                  <a:srgbClr val="0719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Delivery</a:t>
            </a:r>
            <a:endParaRPr lang="en-US" sz="948" dirty="0"/>
          </a:p>
          <a:p>
            <a:pPr algn="ctr"/>
            <a:r>
              <a:rPr lang="en-US" sz="948" dirty="0">
                <a:solidFill>
                  <a:srgbClr val="0719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Availability</a:t>
            </a:r>
            <a:endParaRPr lang="en-US" sz="948" dirty="0"/>
          </a:p>
        </p:txBody>
      </p:sp>
      <p:sp>
        <p:nvSpPr>
          <p:cNvPr id="62" name="Shape 60"/>
          <p:cNvSpPr/>
          <p:nvPr/>
        </p:nvSpPr>
        <p:spPr>
          <a:xfrm>
            <a:off x="13463626" y="1525219"/>
            <a:ext cx="120701" cy="0"/>
          </a:xfrm>
          <a:prstGeom prst="line">
            <a:avLst/>
          </a:prstGeom>
          <a:noFill/>
          <a:ln w="10160">
            <a:solidFill>
              <a:srgbClr val="071943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13584326" y="1525219"/>
            <a:ext cx="658368" cy="1788566"/>
          </a:xfrm>
          <a:prstGeom prst="rect">
            <a:avLst/>
          </a:prstGeom>
          <a:solidFill>
            <a:srgbClr val="071943"/>
          </a:solidFill>
          <a:ln w="12700">
            <a:solidFill>
              <a:srgbClr val="071943">
                <a:alpha val="0"/>
              </a:srgbClr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13529462" y="1283818"/>
            <a:ext cx="768096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 algn="ctr"/>
            <a:r>
              <a:rPr lang="en-US" sz="1380" b="1" dirty="0">
                <a:solidFill>
                  <a:srgbClr val="0719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333M</a:t>
            </a:r>
            <a:endParaRPr lang="en-US" sz="1380" dirty="0"/>
          </a:p>
        </p:txBody>
      </p:sp>
      <p:sp>
        <p:nvSpPr>
          <p:cNvPr id="65" name="Text 63"/>
          <p:cNvSpPr/>
          <p:nvPr/>
        </p:nvSpPr>
        <p:spPr>
          <a:xfrm>
            <a:off x="13474598" y="3368649"/>
            <a:ext cx="877824" cy="4608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/>
            <a:r>
              <a:rPr lang="en-US" sz="960" b="1" dirty="0">
                <a:solidFill>
                  <a:srgbClr val="0719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Protected</a:t>
            </a:r>
            <a:endParaRPr lang="en-US" sz="960" dirty="0"/>
          </a:p>
          <a:p>
            <a:pPr algn="ctr"/>
            <a:r>
              <a:rPr lang="en-US" sz="960" b="1" dirty="0">
                <a:solidFill>
                  <a:srgbClr val="0719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BAU Base</a:t>
            </a:r>
            <a:endParaRPr lang="en-US" sz="960" dirty="0"/>
          </a:p>
        </p:txBody>
      </p:sp>
      <p:sp>
        <p:nvSpPr>
          <p:cNvPr id="66" name="Shape 64"/>
          <p:cNvSpPr/>
          <p:nvPr/>
        </p:nvSpPr>
        <p:spPr>
          <a:xfrm>
            <a:off x="2874873" y="1294790"/>
            <a:ext cx="4246474" cy="0"/>
          </a:xfrm>
          <a:prstGeom prst="line">
            <a:avLst/>
          </a:prstGeom>
          <a:noFill/>
          <a:ln w="15240">
            <a:solidFill>
              <a:srgbClr val="0B7A2A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2874874" y="1294791"/>
            <a:ext cx="0" cy="87782"/>
          </a:xfrm>
          <a:prstGeom prst="line">
            <a:avLst/>
          </a:prstGeom>
          <a:noFill/>
          <a:ln w="15240">
            <a:solidFill>
              <a:srgbClr val="0B7A2A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7121347" y="1294791"/>
            <a:ext cx="0" cy="87782"/>
          </a:xfrm>
          <a:prstGeom prst="line">
            <a:avLst/>
          </a:prstGeom>
          <a:noFill/>
          <a:ln w="15240">
            <a:solidFill>
              <a:srgbClr val="0B7A2A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3791102" y="1042416"/>
            <a:ext cx="2414016" cy="1975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algn="ctr"/>
            <a:r>
              <a:rPr lang="en-US" sz="1320" b="1" dirty="0">
                <a:solidFill>
                  <a:srgbClr val="0B7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Restaurant Foundation</a:t>
            </a:r>
            <a:endParaRPr lang="en-US" sz="1320" dirty="0"/>
          </a:p>
        </p:txBody>
      </p:sp>
      <p:sp>
        <p:nvSpPr>
          <p:cNvPr id="70" name="Shape 68"/>
          <p:cNvSpPr/>
          <p:nvPr/>
        </p:nvSpPr>
        <p:spPr>
          <a:xfrm>
            <a:off x="8449056" y="1294790"/>
            <a:ext cx="5014570" cy="0"/>
          </a:xfrm>
          <a:prstGeom prst="line">
            <a:avLst/>
          </a:prstGeom>
          <a:noFill/>
          <a:ln w="15240">
            <a:solidFill>
              <a:srgbClr val="0B7A2A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8449056" y="1294791"/>
            <a:ext cx="0" cy="87782"/>
          </a:xfrm>
          <a:prstGeom prst="line">
            <a:avLst/>
          </a:prstGeom>
          <a:noFill/>
          <a:ln w="15240">
            <a:solidFill>
              <a:srgbClr val="0B7A2A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13463626" y="1294791"/>
            <a:ext cx="0" cy="87782"/>
          </a:xfrm>
          <a:prstGeom prst="line">
            <a:avLst/>
          </a:prstGeom>
          <a:noFill/>
          <a:ln w="15240">
            <a:solidFill>
              <a:srgbClr val="0B7A2A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9749333" y="1042416"/>
            <a:ext cx="2414016" cy="1975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algn="ctr"/>
            <a:r>
              <a:rPr lang="en-US" sz="1320" b="1" dirty="0">
                <a:solidFill>
                  <a:srgbClr val="0B7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Commercial BAU</a:t>
            </a:r>
            <a:endParaRPr lang="en-US" sz="1320" dirty="0"/>
          </a:p>
        </p:txBody>
      </p:sp>
      <p:sp>
        <p:nvSpPr>
          <p:cNvPr id="74" name="Text 72"/>
          <p:cNvSpPr/>
          <p:nvPr/>
        </p:nvSpPr>
        <p:spPr>
          <a:xfrm>
            <a:off x="7395667" y="1119226"/>
            <a:ext cx="7680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 algn="ctr"/>
            <a:r>
              <a:rPr lang="en-US" sz="1440" b="1" dirty="0">
                <a:solidFill>
                  <a:srgbClr val="0B7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+14M</a:t>
            </a:r>
            <a:endParaRPr lang="en-US" sz="1440" dirty="0"/>
          </a:p>
          <a:p>
            <a:pPr algn="ctr"/>
            <a:r>
              <a:rPr lang="en-US" sz="1440" b="1" dirty="0">
                <a:solidFill>
                  <a:srgbClr val="0B7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(+4.2%)</a:t>
            </a:r>
            <a:endParaRPr lang="en-US" sz="1440" dirty="0"/>
          </a:p>
        </p:txBody>
      </p:sp>
      <p:sp>
        <p:nvSpPr>
          <p:cNvPr id="75" name="Text 73"/>
          <p:cNvSpPr/>
          <p:nvPr/>
        </p:nvSpPr>
        <p:spPr>
          <a:xfrm>
            <a:off x="13694054" y="1119226"/>
            <a:ext cx="6035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 algn="ctr"/>
            <a:r>
              <a:rPr lang="en-US" sz="1440" b="1" dirty="0">
                <a:solidFill>
                  <a:srgbClr val="0B7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+9M</a:t>
            </a:r>
            <a:endParaRPr lang="en-US" sz="1440" dirty="0"/>
          </a:p>
          <a:p>
            <a:pPr algn="ctr"/>
            <a:r>
              <a:rPr lang="en-US" sz="1440" b="1" dirty="0">
                <a:solidFill>
                  <a:srgbClr val="0B7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(+2.7%)</a:t>
            </a:r>
            <a:endParaRPr lang="en-US" sz="1440" dirty="0"/>
          </a:p>
        </p:txBody>
      </p:sp>
      <p:sp>
        <p:nvSpPr>
          <p:cNvPr id="76" name="Shape 74"/>
          <p:cNvSpPr/>
          <p:nvPr/>
        </p:nvSpPr>
        <p:spPr>
          <a:xfrm>
            <a:off x="197511" y="4103827"/>
            <a:ext cx="14242694" cy="482803"/>
          </a:xfrm>
          <a:prstGeom prst="roundRect">
            <a:avLst/>
          </a:prstGeom>
          <a:solidFill>
            <a:srgbClr val="F6F8FB"/>
          </a:solidFill>
          <a:ln w="10160">
            <a:solidFill>
              <a:srgbClr val="D9DEE8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2359152" y="4240987"/>
            <a:ext cx="1623974" cy="1316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20000"/>
          </a:bodyPr>
          <a:lstStyle/>
          <a:p>
            <a:pPr algn="r"/>
            <a:r>
              <a:rPr lang="en-US" sz="1140" b="1" dirty="0">
                <a:solidFill>
                  <a:srgbClr val="0719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to read this slide:</a:t>
            </a:r>
            <a:endParaRPr lang="en-US" sz="1140" dirty="0"/>
          </a:p>
        </p:txBody>
      </p:sp>
      <p:sp>
        <p:nvSpPr>
          <p:cNvPr id="78" name="Text 76"/>
          <p:cNvSpPr/>
          <p:nvPr/>
        </p:nvSpPr>
        <p:spPr>
          <a:xfrm>
            <a:off x="4027018" y="4169664"/>
            <a:ext cx="8613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r>
              <a:rPr lang="en-US" sz="1080" dirty="0">
                <a:solidFill>
                  <a:srgbClr val="0719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Foundation KPIs are expected to remain healthy and stable. Deterioration is a red signal because it puts the GC base at risk.</a:t>
            </a:r>
            <a:endParaRPr lang="en-US" sz="1080" dirty="0"/>
          </a:p>
          <a:p>
            <a:r>
              <a:rPr lang="en-US" sz="1080" dirty="0">
                <a:solidFill>
                  <a:srgbClr val="0719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Restaurant Foundation protects demand capture; Commercial BAU protects baseline demand.</a:t>
            </a:r>
            <a:endParaRPr lang="en-US" sz="1080" dirty="0"/>
          </a:p>
        </p:txBody>
      </p:sp>
      <p:sp>
        <p:nvSpPr>
          <p:cNvPr id="79" name="Shape 77"/>
          <p:cNvSpPr/>
          <p:nvPr/>
        </p:nvSpPr>
        <p:spPr>
          <a:xfrm>
            <a:off x="197511" y="4652467"/>
            <a:ext cx="7000646" cy="307238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0B7A2A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395021" y="4784141"/>
            <a:ext cx="6605626" cy="1975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20000"/>
          </a:bodyPr>
          <a:lstStyle/>
          <a:p>
            <a:r>
              <a:rPr lang="en-US" sz="1620" b="1" dirty="0">
                <a:solidFill>
                  <a:srgbClr val="0B7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Restaurant Foundation</a:t>
            </a:r>
            <a:endParaRPr lang="en-US" sz="1620" dirty="0"/>
          </a:p>
        </p:txBody>
      </p:sp>
      <p:sp>
        <p:nvSpPr>
          <p:cNvPr id="81" name="Text 79"/>
          <p:cNvSpPr/>
          <p:nvPr/>
        </p:nvSpPr>
        <p:spPr>
          <a:xfrm>
            <a:off x="395021" y="5014570"/>
            <a:ext cx="6605626" cy="1975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lang="en-US" sz="1044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operating signals that must remain healthy to protect the base.</a:t>
            </a:r>
            <a:endParaRPr lang="en-US" sz="1044" dirty="0"/>
          </a:p>
        </p:txBody>
      </p:sp>
      <p:sp>
        <p:nvSpPr>
          <p:cNvPr id="82" name="Text 80"/>
          <p:cNvSpPr/>
          <p:nvPr/>
        </p:nvSpPr>
        <p:spPr>
          <a:xfrm>
            <a:off x="395021" y="5266944"/>
            <a:ext cx="746150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r>
              <a:rPr lang="en-US" sz="984" b="1" i="1" dirty="0">
                <a:solidFill>
                  <a:srgbClr val="0B7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Expectation:</a:t>
            </a:r>
            <a:endParaRPr lang="en-US" sz="984" dirty="0"/>
          </a:p>
        </p:txBody>
      </p:sp>
      <p:sp>
        <p:nvSpPr>
          <p:cNvPr id="83" name="Text 81"/>
          <p:cNvSpPr/>
          <p:nvPr/>
        </p:nvSpPr>
        <p:spPr>
          <a:xfrm>
            <a:off x="1152144" y="5266944"/>
            <a:ext cx="584850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lang="en-US" sz="984" i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should remain stable; deterioration is a red signal.</a:t>
            </a:r>
            <a:endParaRPr lang="en-US" sz="984" dirty="0"/>
          </a:p>
        </p:txBody>
      </p:sp>
      <p:sp>
        <p:nvSpPr>
          <p:cNvPr id="84" name="Shape 82"/>
          <p:cNvSpPr/>
          <p:nvPr/>
        </p:nvSpPr>
        <p:spPr>
          <a:xfrm>
            <a:off x="395021" y="5552237"/>
            <a:ext cx="6605626" cy="0"/>
          </a:xfrm>
          <a:prstGeom prst="line">
            <a:avLst/>
          </a:prstGeom>
          <a:noFill/>
          <a:ln w="13970">
            <a:solidFill>
              <a:srgbClr val="0B7A2A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395021" y="5650992"/>
            <a:ext cx="2084832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lang="en-US" sz="1008" b="1" dirty="0">
                <a:solidFill>
                  <a:srgbClr val="0719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</a:t>
            </a:r>
            <a:endParaRPr lang="en-US" sz="1008" dirty="0"/>
          </a:p>
        </p:txBody>
      </p:sp>
      <p:sp>
        <p:nvSpPr>
          <p:cNvPr id="86" name="Text 84"/>
          <p:cNvSpPr/>
          <p:nvPr/>
        </p:nvSpPr>
        <p:spPr>
          <a:xfrm>
            <a:off x="3741725" y="5650992"/>
            <a:ext cx="1700784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/>
            <a:r>
              <a:rPr lang="en-US" sz="1008" b="1" dirty="0">
                <a:solidFill>
                  <a:srgbClr val="0719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/ change</a:t>
            </a:r>
            <a:endParaRPr lang="en-US" sz="1008" dirty="0"/>
          </a:p>
        </p:txBody>
      </p:sp>
      <p:sp>
        <p:nvSpPr>
          <p:cNvPr id="87" name="Text 85"/>
          <p:cNvSpPr/>
          <p:nvPr/>
        </p:nvSpPr>
        <p:spPr>
          <a:xfrm>
            <a:off x="5969203" y="5650992"/>
            <a:ext cx="822960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/>
            <a:r>
              <a:rPr lang="en-US" sz="1008" b="1" dirty="0">
                <a:solidFill>
                  <a:srgbClr val="0719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Signal</a:t>
            </a:r>
            <a:endParaRPr lang="en-US" sz="1008" dirty="0"/>
          </a:p>
        </p:txBody>
      </p:sp>
      <p:sp>
        <p:nvSpPr>
          <p:cNvPr id="88" name="Text 86"/>
          <p:cNvSpPr/>
          <p:nvPr/>
        </p:nvSpPr>
        <p:spPr>
          <a:xfrm>
            <a:off x="395021" y="5958231"/>
            <a:ext cx="2578608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lang="en-US" sz="978" dirty="0">
                <a:solidFill>
                  <a:srgbClr val="0719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Speed of service</a:t>
            </a:r>
            <a:endParaRPr lang="en-US" sz="978" dirty="0"/>
          </a:p>
        </p:txBody>
      </p:sp>
      <p:sp>
        <p:nvSpPr>
          <p:cNvPr id="89" name="Text 87"/>
          <p:cNvSpPr/>
          <p:nvPr/>
        </p:nvSpPr>
        <p:spPr>
          <a:xfrm>
            <a:off x="3851453" y="5958231"/>
            <a:ext cx="1887322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/>
            <a:r>
              <a:rPr lang="en-US" sz="960" dirty="0">
                <a:solidFill>
                  <a:srgbClr val="0719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-18 sec vs benchmark</a:t>
            </a:r>
            <a:endParaRPr lang="en-US" sz="960" dirty="0"/>
          </a:p>
        </p:txBody>
      </p:sp>
      <p:sp>
        <p:nvSpPr>
          <p:cNvPr id="90" name="Shape 88"/>
          <p:cNvSpPr/>
          <p:nvPr/>
        </p:nvSpPr>
        <p:spPr>
          <a:xfrm>
            <a:off x="6046013" y="5930798"/>
            <a:ext cx="768096" cy="219456"/>
          </a:xfrm>
          <a:prstGeom prst="roundRect">
            <a:avLst/>
          </a:prstGeom>
          <a:solidFill>
            <a:srgbClr val="C00000"/>
          </a:solidFill>
          <a:ln w="10160">
            <a:solidFill>
              <a:srgbClr val="C00000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6046013" y="5965912"/>
            <a:ext cx="7680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algn="ctr"/>
            <a:r>
              <a:rPr lang="en-US" sz="864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</a:t>
            </a:r>
            <a:endParaRPr lang="en-US" sz="864" dirty="0"/>
          </a:p>
        </p:txBody>
      </p:sp>
      <p:sp>
        <p:nvSpPr>
          <p:cNvPr id="92" name="Shape 90"/>
          <p:cNvSpPr/>
          <p:nvPr/>
        </p:nvSpPr>
        <p:spPr>
          <a:xfrm>
            <a:off x="395021" y="6227064"/>
            <a:ext cx="6605626" cy="0"/>
          </a:xfrm>
          <a:prstGeom prst="line">
            <a:avLst/>
          </a:prstGeom>
          <a:noFill/>
          <a:ln w="6985">
            <a:solidFill>
              <a:srgbClr val="D9DEE8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395021" y="6270955"/>
            <a:ext cx="2578608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lang="en-US" sz="978" dirty="0">
                <a:solidFill>
                  <a:srgbClr val="0719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Supply availability / OOS</a:t>
            </a:r>
            <a:endParaRPr lang="en-US" sz="978" dirty="0"/>
          </a:p>
        </p:txBody>
      </p:sp>
      <p:sp>
        <p:nvSpPr>
          <p:cNvPr id="94" name="Text 92"/>
          <p:cNvSpPr/>
          <p:nvPr/>
        </p:nvSpPr>
        <p:spPr>
          <a:xfrm>
            <a:off x="3851453" y="6270955"/>
            <a:ext cx="1887322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/>
            <a:r>
              <a:rPr lang="en-US" sz="960" dirty="0">
                <a:solidFill>
                  <a:srgbClr val="0719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+2.1pp</a:t>
            </a:r>
            <a:endParaRPr lang="en-US" sz="960" dirty="0"/>
          </a:p>
        </p:txBody>
      </p:sp>
      <p:sp>
        <p:nvSpPr>
          <p:cNvPr id="95" name="Shape 93"/>
          <p:cNvSpPr/>
          <p:nvPr/>
        </p:nvSpPr>
        <p:spPr>
          <a:xfrm>
            <a:off x="6046013" y="6243523"/>
            <a:ext cx="768096" cy="219456"/>
          </a:xfrm>
          <a:prstGeom prst="roundRect">
            <a:avLst/>
          </a:prstGeom>
          <a:solidFill>
            <a:srgbClr val="C00000"/>
          </a:solidFill>
          <a:ln w="10160">
            <a:solidFill>
              <a:srgbClr val="C00000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6046013" y="6278636"/>
            <a:ext cx="7680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algn="ctr"/>
            <a:r>
              <a:rPr lang="en-US" sz="864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</a:t>
            </a:r>
            <a:endParaRPr lang="en-US" sz="864" dirty="0"/>
          </a:p>
        </p:txBody>
      </p:sp>
      <p:sp>
        <p:nvSpPr>
          <p:cNvPr id="97" name="Shape 95"/>
          <p:cNvSpPr/>
          <p:nvPr/>
        </p:nvSpPr>
        <p:spPr>
          <a:xfrm>
            <a:off x="395021" y="6539789"/>
            <a:ext cx="6605626" cy="0"/>
          </a:xfrm>
          <a:prstGeom prst="line">
            <a:avLst/>
          </a:prstGeom>
          <a:noFill/>
          <a:ln w="6985">
            <a:solidFill>
              <a:srgbClr val="D9DEE8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395021" y="6583680"/>
            <a:ext cx="2578608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lang="en-US" sz="978" dirty="0">
                <a:solidFill>
                  <a:srgbClr val="0719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Technology uptime</a:t>
            </a:r>
            <a:endParaRPr lang="en-US" sz="978" dirty="0"/>
          </a:p>
        </p:txBody>
      </p:sp>
      <p:sp>
        <p:nvSpPr>
          <p:cNvPr id="99" name="Text 97"/>
          <p:cNvSpPr/>
          <p:nvPr/>
        </p:nvSpPr>
        <p:spPr>
          <a:xfrm>
            <a:off x="3851453" y="6583680"/>
            <a:ext cx="1887322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/>
            <a:r>
              <a:rPr lang="en-US" sz="960" dirty="0">
                <a:solidFill>
                  <a:srgbClr val="0719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99.6% stable</a:t>
            </a:r>
            <a:endParaRPr lang="en-US" sz="960" dirty="0"/>
          </a:p>
        </p:txBody>
      </p:sp>
      <p:sp>
        <p:nvSpPr>
          <p:cNvPr id="100" name="Shape 98"/>
          <p:cNvSpPr/>
          <p:nvPr/>
        </p:nvSpPr>
        <p:spPr>
          <a:xfrm>
            <a:off x="6046013" y="6556248"/>
            <a:ext cx="768096" cy="219456"/>
          </a:xfrm>
          <a:prstGeom prst="roundRect">
            <a:avLst/>
          </a:prstGeom>
          <a:solidFill>
            <a:srgbClr val="0B7A2A"/>
          </a:solidFill>
          <a:ln w="10160">
            <a:solidFill>
              <a:srgbClr val="0B7A2A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6046013" y="6591361"/>
            <a:ext cx="7680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algn="ctr"/>
            <a:r>
              <a:rPr lang="en-US" sz="864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</a:t>
            </a:r>
            <a:endParaRPr lang="en-US" sz="864" dirty="0"/>
          </a:p>
        </p:txBody>
      </p:sp>
      <p:sp>
        <p:nvSpPr>
          <p:cNvPr id="102" name="Shape 100"/>
          <p:cNvSpPr/>
          <p:nvPr/>
        </p:nvSpPr>
        <p:spPr>
          <a:xfrm>
            <a:off x="395021" y="6852514"/>
            <a:ext cx="6605626" cy="0"/>
          </a:xfrm>
          <a:prstGeom prst="line">
            <a:avLst/>
          </a:prstGeom>
          <a:noFill/>
          <a:ln w="6985">
            <a:solidFill>
              <a:srgbClr val="D9DEE8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395021" y="6896405"/>
            <a:ext cx="2578608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lang="en-US" sz="978" dirty="0">
                <a:solidFill>
                  <a:srgbClr val="0719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CSAT</a:t>
            </a:r>
            <a:endParaRPr lang="en-US" sz="978" dirty="0"/>
          </a:p>
        </p:txBody>
      </p:sp>
      <p:sp>
        <p:nvSpPr>
          <p:cNvPr id="104" name="Text 102"/>
          <p:cNvSpPr/>
          <p:nvPr/>
        </p:nvSpPr>
        <p:spPr>
          <a:xfrm>
            <a:off x="3851453" y="6896405"/>
            <a:ext cx="1887322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/>
            <a:r>
              <a:rPr lang="en-US" sz="960" dirty="0">
                <a:solidFill>
                  <a:srgbClr val="0719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4.3 vs 4.5 target</a:t>
            </a:r>
            <a:endParaRPr lang="en-US" sz="960" dirty="0"/>
          </a:p>
        </p:txBody>
      </p:sp>
      <p:sp>
        <p:nvSpPr>
          <p:cNvPr id="105" name="Shape 103"/>
          <p:cNvSpPr/>
          <p:nvPr/>
        </p:nvSpPr>
        <p:spPr>
          <a:xfrm>
            <a:off x="6046013" y="6868973"/>
            <a:ext cx="768096" cy="219456"/>
          </a:xfrm>
          <a:prstGeom prst="roundRect">
            <a:avLst/>
          </a:prstGeom>
          <a:solidFill>
            <a:srgbClr val="F4A300"/>
          </a:solidFill>
          <a:ln w="10160">
            <a:solidFill>
              <a:srgbClr val="F4A300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6046013" y="6904086"/>
            <a:ext cx="7680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algn="ctr"/>
            <a:r>
              <a:rPr lang="en-US" sz="864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</a:t>
            </a:r>
            <a:endParaRPr lang="en-US" sz="864" dirty="0"/>
          </a:p>
        </p:txBody>
      </p:sp>
      <p:sp>
        <p:nvSpPr>
          <p:cNvPr id="107" name="Shape 105"/>
          <p:cNvSpPr/>
          <p:nvPr/>
        </p:nvSpPr>
        <p:spPr>
          <a:xfrm>
            <a:off x="395021" y="7165238"/>
            <a:ext cx="6605626" cy="0"/>
          </a:xfrm>
          <a:prstGeom prst="line">
            <a:avLst/>
          </a:prstGeom>
          <a:noFill/>
          <a:ln w="6985">
            <a:solidFill>
              <a:srgbClr val="D9DEE8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395021" y="7209130"/>
            <a:ext cx="2578608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lang="en-US" sz="978" dirty="0">
                <a:solidFill>
                  <a:srgbClr val="0719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Staffing coverage</a:t>
            </a:r>
            <a:endParaRPr lang="en-US" sz="978" dirty="0"/>
          </a:p>
        </p:txBody>
      </p:sp>
      <p:sp>
        <p:nvSpPr>
          <p:cNvPr id="109" name="Text 107"/>
          <p:cNvSpPr/>
          <p:nvPr/>
        </p:nvSpPr>
        <p:spPr>
          <a:xfrm>
            <a:off x="3851453" y="7209130"/>
            <a:ext cx="1887322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/>
            <a:r>
              <a:rPr lang="en-US" sz="960" dirty="0">
                <a:solidFill>
                  <a:srgbClr val="0719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92% vs 97% target</a:t>
            </a:r>
            <a:endParaRPr lang="en-US" sz="960" dirty="0"/>
          </a:p>
        </p:txBody>
      </p:sp>
      <p:sp>
        <p:nvSpPr>
          <p:cNvPr id="110" name="Shape 108"/>
          <p:cNvSpPr/>
          <p:nvPr/>
        </p:nvSpPr>
        <p:spPr>
          <a:xfrm>
            <a:off x="6046013" y="7181698"/>
            <a:ext cx="768096" cy="219456"/>
          </a:xfrm>
          <a:prstGeom prst="roundRect">
            <a:avLst/>
          </a:prstGeom>
          <a:solidFill>
            <a:srgbClr val="C00000"/>
          </a:solidFill>
          <a:ln w="10160">
            <a:solidFill>
              <a:srgbClr val="C00000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6046013" y="7216811"/>
            <a:ext cx="7680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algn="ctr"/>
            <a:r>
              <a:rPr lang="en-US" sz="864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</a:t>
            </a:r>
            <a:endParaRPr lang="en-US" sz="864" dirty="0"/>
          </a:p>
        </p:txBody>
      </p:sp>
      <p:sp>
        <p:nvSpPr>
          <p:cNvPr id="112" name="Shape 110"/>
          <p:cNvSpPr/>
          <p:nvPr/>
        </p:nvSpPr>
        <p:spPr>
          <a:xfrm>
            <a:off x="395021" y="7477963"/>
            <a:ext cx="6605626" cy="0"/>
          </a:xfrm>
          <a:prstGeom prst="line">
            <a:avLst/>
          </a:prstGeom>
          <a:noFill/>
          <a:ln w="6985">
            <a:solidFill>
              <a:srgbClr val="D9DEE8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395021" y="7521855"/>
            <a:ext cx="2578608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lang="en-US" sz="978" dirty="0">
                <a:solidFill>
                  <a:srgbClr val="0719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hours compliance</a:t>
            </a:r>
            <a:endParaRPr lang="en-US" sz="978" dirty="0"/>
          </a:p>
        </p:txBody>
      </p:sp>
      <p:sp>
        <p:nvSpPr>
          <p:cNvPr id="114" name="Text 112"/>
          <p:cNvSpPr/>
          <p:nvPr/>
        </p:nvSpPr>
        <p:spPr>
          <a:xfrm>
            <a:off x="3851453" y="7521855"/>
            <a:ext cx="1887322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/>
            <a:r>
              <a:rPr lang="en-US" sz="960" dirty="0">
                <a:solidFill>
                  <a:srgbClr val="0719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98% maintained</a:t>
            </a:r>
            <a:endParaRPr lang="en-US" sz="960" dirty="0"/>
          </a:p>
        </p:txBody>
      </p:sp>
      <p:sp>
        <p:nvSpPr>
          <p:cNvPr id="115" name="Shape 113"/>
          <p:cNvSpPr/>
          <p:nvPr/>
        </p:nvSpPr>
        <p:spPr>
          <a:xfrm>
            <a:off x="6046013" y="7494422"/>
            <a:ext cx="768096" cy="219456"/>
          </a:xfrm>
          <a:prstGeom prst="roundRect">
            <a:avLst/>
          </a:prstGeom>
          <a:solidFill>
            <a:srgbClr val="F4A300"/>
          </a:solidFill>
          <a:ln w="10160">
            <a:solidFill>
              <a:srgbClr val="F4A300"/>
            </a:solidFill>
            <a:prstDash val="solid"/>
          </a:ln>
        </p:spPr>
      </p:sp>
      <p:sp>
        <p:nvSpPr>
          <p:cNvPr id="116" name="Text 114"/>
          <p:cNvSpPr/>
          <p:nvPr/>
        </p:nvSpPr>
        <p:spPr>
          <a:xfrm>
            <a:off x="6046013" y="7529536"/>
            <a:ext cx="7680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algn="ctr"/>
            <a:r>
              <a:rPr lang="en-US" sz="864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</a:t>
            </a:r>
            <a:endParaRPr lang="en-US" sz="864" dirty="0"/>
          </a:p>
        </p:txBody>
      </p:sp>
      <p:sp>
        <p:nvSpPr>
          <p:cNvPr id="117" name="Shape 115"/>
          <p:cNvSpPr/>
          <p:nvPr/>
        </p:nvSpPr>
        <p:spPr>
          <a:xfrm>
            <a:off x="7395667" y="4652467"/>
            <a:ext cx="7044538" cy="307238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0B7A2A"/>
            </a:solidFill>
            <a:prstDash val="solid"/>
          </a:ln>
        </p:spPr>
      </p:sp>
      <p:sp>
        <p:nvSpPr>
          <p:cNvPr id="118" name="Text 116"/>
          <p:cNvSpPr/>
          <p:nvPr/>
        </p:nvSpPr>
        <p:spPr>
          <a:xfrm>
            <a:off x="7593178" y="4784141"/>
            <a:ext cx="6649517" cy="1975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20000"/>
          </a:bodyPr>
          <a:lstStyle/>
          <a:p>
            <a:r>
              <a:rPr lang="en-US" sz="1620" b="1" dirty="0">
                <a:solidFill>
                  <a:srgbClr val="0B7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Commercial BAU</a:t>
            </a:r>
            <a:endParaRPr lang="en-US" sz="1620" dirty="0"/>
          </a:p>
        </p:txBody>
      </p:sp>
      <p:sp>
        <p:nvSpPr>
          <p:cNvPr id="119" name="Text 117"/>
          <p:cNvSpPr/>
          <p:nvPr/>
        </p:nvSpPr>
        <p:spPr>
          <a:xfrm>
            <a:off x="7593178" y="5014570"/>
            <a:ext cx="6649517" cy="1975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lang="en-US" sz="1044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Always-on commercial platforms that protect baseline demand.</a:t>
            </a:r>
            <a:endParaRPr lang="en-US" sz="1044" dirty="0"/>
          </a:p>
        </p:txBody>
      </p:sp>
      <p:sp>
        <p:nvSpPr>
          <p:cNvPr id="120" name="Text 118"/>
          <p:cNvSpPr/>
          <p:nvPr/>
        </p:nvSpPr>
        <p:spPr>
          <a:xfrm>
            <a:off x="7593178" y="5266944"/>
            <a:ext cx="746150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r>
              <a:rPr lang="en-US" sz="984" b="1" i="1" dirty="0">
                <a:solidFill>
                  <a:srgbClr val="0B7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Expectation:</a:t>
            </a:r>
            <a:endParaRPr lang="en-US" sz="984" dirty="0"/>
          </a:p>
        </p:txBody>
      </p:sp>
      <p:sp>
        <p:nvSpPr>
          <p:cNvPr id="121" name="Text 119"/>
          <p:cNvSpPr/>
          <p:nvPr/>
        </p:nvSpPr>
        <p:spPr>
          <a:xfrm>
            <a:off x="8350301" y="5266944"/>
            <a:ext cx="58923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lang="en-US" sz="984" i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broad adoption and stable coverage; weak execution is a warning sign.</a:t>
            </a:r>
            <a:endParaRPr lang="en-US" sz="984" dirty="0"/>
          </a:p>
        </p:txBody>
      </p:sp>
      <p:sp>
        <p:nvSpPr>
          <p:cNvPr id="122" name="Shape 120"/>
          <p:cNvSpPr/>
          <p:nvPr/>
        </p:nvSpPr>
        <p:spPr>
          <a:xfrm>
            <a:off x="7593178" y="5552237"/>
            <a:ext cx="6649517" cy="0"/>
          </a:xfrm>
          <a:prstGeom prst="line">
            <a:avLst/>
          </a:prstGeom>
          <a:noFill/>
          <a:ln w="13970">
            <a:solidFill>
              <a:srgbClr val="0B7A2A"/>
            </a:solidFill>
            <a:prstDash val="solid"/>
          </a:ln>
        </p:spPr>
      </p:sp>
      <p:sp>
        <p:nvSpPr>
          <p:cNvPr id="123" name="Text 121"/>
          <p:cNvSpPr/>
          <p:nvPr/>
        </p:nvSpPr>
        <p:spPr>
          <a:xfrm>
            <a:off x="7593178" y="5650992"/>
            <a:ext cx="2084832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lang="en-US" sz="1008" b="1" dirty="0">
                <a:solidFill>
                  <a:srgbClr val="0719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</a:t>
            </a:r>
            <a:endParaRPr lang="en-US" sz="1008" dirty="0"/>
          </a:p>
        </p:txBody>
      </p:sp>
      <p:sp>
        <p:nvSpPr>
          <p:cNvPr id="124" name="Text 122"/>
          <p:cNvSpPr/>
          <p:nvPr/>
        </p:nvSpPr>
        <p:spPr>
          <a:xfrm>
            <a:off x="10983773" y="5650992"/>
            <a:ext cx="1700784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/>
            <a:r>
              <a:rPr lang="en-US" sz="1008" b="1" dirty="0">
                <a:solidFill>
                  <a:srgbClr val="0719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/ change</a:t>
            </a:r>
            <a:endParaRPr lang="en-US" sz="1008" dirty="0"/>
          </a:p>
        </p:txBody>
      </p:sp>
      <p:sp>
        <p:nvSpPr>
          <p:cNvPr id="125" name="Text 123"/>
          <p:cNvSpPr/>
          <p:nvPr/>
        </p:nvSpPr>
        <p:spPr>
          <a:xfrm>
            <a:off x="13211251" y="5650992"/>
            <a:ext cx="822960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/>
            <a:r>
              <a:rPr lang="en-US" sz="1008" b="1" dirty="0">
                <a:solidFill>
                  <a:srgbClr val="0719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Signal</a:t>
            </a:r>
            <a:endParaRPr lang="en-US" sz="1008" dirty="0"/>
          </a:p>
        </p:txBody>
      </p:sp>
      <p:sp>
        <p:nvSpPr>
          <p:cNvPr id="126" name="Text 124"/>
          <p:cNvSpPr/>
          <p:nvPr/>
        </p:nvSpPr>
        <p:spPr>
          <a:xfrm>
            <a:off x="7593178" y="5958231"/>
            <a:ext cx="2578608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lang="en-US" sz="978" dirty="0">
                <a:solidFill>
                  <a:srgbClr val="0719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Pricing adoption</a:t>
            </a:r>
            <a:endParaRPr lang="en-US" sz="978" dirty="0"/>
          </a:p>
        </p:txBody>
      </p:sp>
      <p:sp>
        <p:nvSpPr>
          <p:cNvPr id="127" name="Text 125"/>
          <p:cNvSpPr/>
          <p:nvPr/>
        </p:nvSpPr>
        <p:spPr>
          <a:xfrm>
            <a:off x="11093501" y="5958231"/>
            <a:ext cx="1887322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/>
            <a:r>
              <a:rPr lang="en-US" sz="960" dirty="0">
                <a:solidFill>
                  <a:srgbClr val="0719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72% vs 85% target</a:t>
            </a:r>
            <a:endParaRPr lang="en-US" sz="960" dirty="0"/>
          </a:p>
        </p:txBody>
      </p:sp>
      <p:sp>
        <p:nvSpPr>
          <p:cNvPr id="128" name="Shape 126"/>
          <p:cNvSpPr/>
          <p:nvPr/>
        </p:nvSpPr>
        <p:spPr>
          <a:xfrm>
            <a:off x="13288061" y="5930798"/>
            <a:ext cx="768096" cy="219456"/>
          </a:xfrm>
          <a:prstGeom prst="roundRect">
            <a:avLst/>
          </a:prstGeom>
          <a:solidFill>
            <a:srgbClr val="F4A300"/>
          </a:solidFill>
          <a:ln w="10160">
            <a:solidFill>
              <a:srgbClr val="F4A300"/>
            </a:solidFill>
            <a:prstDash val="solid"/>
          </a:ln>
        </p:spPr>
      </p:sp>
      <p:sp>
        <p:nvSpPr>
          <p:cNvPr id="129" name="Text 127"/>
          <p:cNvSpPr/>
          <p:nvPr/>
        </p:nvSpPr>
        <p:spPr>
          <a:xfrm>
            <a:off x="13288061" y="5965912"/>
            <a:ext cx="7680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algn="ctr"/>
            <a:r>
              <a:rPr lang="en-US" sz="864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</a:t>
            </a:r>
            <a:endParaRPr lang="en-US" sz="864" dirty="0"/>
          </a:p>
        </p:txBody>
      </p:sp>
      <p:sp>
        <p:nvSpPr>
          <p:cNvPr id="130" name="Shape 128"/>
          <p:cNvSpPr/>
          <p:nvPr/>
        </p:nvSpPr>
        <p:spPr>
          <a:xfrm>
            <a:off x="7593178" y="6227064"/>
            <a:ext cx="6649517" cy="0"/>
          </a:xfrm>
          <a:prstGeom prst="line">
            <a:avLst/>
          </a:prstGeom>
          <a:noFill/>
          <a:ln w="6985">
            <a:solidFill>
              <a:srgbClr val="D9DEE8"/>
            </a:solidFill>
            <a:prstDash val="solid"/>
          </a:ln>
        </p:spPr>
      </p:sp>
      <p:sp>
        <p:nvSpPr>
          <p:cNvPr id="131" name="Text 129"/>
          <p:cNvSpPr/>
          <p:nvPr/>
        </p:nvSpPr>
        <p:spPr>
          <a:xfrm>
            <a:off x="7593178" y="6270955"/>
            <a:ext cx="2578608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lang="en-US" sz="978" dirty="0">
                <a:solidFill>
                  <a:srgbClr val="0719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/ value menu coverage</a:t>
            </a:r>
            <a:endParaRPr lang="en-US" sz="978" dirty="0"/>
          </a:p>
        </p:txBody>
      </p:sp>
      <p:sp>
        <p:nvSpPr>
          <p:cNvPr id="132" name="Text 130"/>
          <p:cNvSpPr/>
          <p:nvPr/>
        </p:nvSpPr>
        <p:spPr>
          <a:xfrm>
            <a:off x="11093501" y="6270955"/>
            <a:ext cx="1887322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/>
            <a:r>
              <a:rPr lang="en-US" sz="960" dirty="0">
                <a:solidFill>
                  <a:srgbClr val="0719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98%</a:t>
            </a:r>
            <a:endParaRPr lang="en-US" sz="960" dirty="0"/>
          </a:p>
        </p:txBody>
      </p:sp>
      <p:sp>
        <p:nvSpPr>
          <p:cNvPr id="133" name="Shape 131"/>
          <p:cNvSpPr/>
          <p:nvPr/>
        </p:nvSpPr>
        <p:spPr>
          <a:xfrm>
            <a:off x="13288061" y="6243523"/>
            <a:ext cx="768096" cy="219456"/>
          </a:xfrm>
          <a:prstGeom prst="roundRect">
            <a:avLst/>
          </a:prstGeom>
          <a:solidFill>
            <a:srgbClr val="0B7A2A"/>
          </a:solidFill>
          <a:ln w="10160">
            <a:solidFill>
              <a:srgbClr val="0B7A2A"/>
            </a:solidFill>
            <a:prstDash val="solid"/>
          </a:ln>
        </p:spPr>
      </p:sp>
      <p:sp>
        <p:nvSpPr>
          <p:cNvPr id="134" name="Text 132"/>
          <p:cNvSpPr/>
          <p:nvPr/>
        </p:nvSpPr>
        <p:spPr>
          <a:xfrm>
            <a:off x="13288061" y="6278636"/>
            <a:ext cx="7680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algn="ctr"/>
            <a:r>
              <a:rPr lang="en-US" sz="864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</a:t>
            </a:r>
            <a:endParaRPr lang="en-US" sz="864" dirty="0"/>
          </a:p>
        </p:txBody>
      </p:sp>
      <p:sp>
        <p:nvSpPr>
          <p:cNvPr id="135" name="Shape 133"/>
          <p:cNvSpPr/>
          <p:nvPr/>
        </p:nvSpPr>
        <p:spPr>
          <a:xfrm>
            <a:off x="7593178" y="6539789"/>
            <a:ext cx="6649517" cy="0"/>
          </a:xfrm>
          <a:prstGeom prst="line">
            <a:avLst/>
          </a:prstGeom>
          <a:noFill/>
          <a:ln w="6985">
            <a:solidFill>
              <a:srgbClr val="D9DEE8"/>
            </a:solidFill>
            <a:prstDash val="solid"/>
          </a:ln>
        </p:spPr>
      </p:sp>
      <p:sp>
        <p:nvSpPr>
          <p:cNvPr id="136" name="Text 134"/>
          <p:cNvSpPr/>
          <p:nvPr/>
        </p:nvSpPr>
        <p:spPr>
          <a:xfrm>
            <a:off x="7593178" y="6583680"/>
            <a:ext cx="2578608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lang="en-US" sz="978" dirty="0">
                <a:solidFill>
                  <a:srgbClr val="0719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media spend</a:t>
            </a:r>
            <a:endParaRPr lang="en-US" sz="978" dirty="0"/>
          </a:p>
        </p:txBody>
      </p:sp>
      <p:sp>
        <p:nvSpPr>
          <p:cNvPr id="137" name="Text 135"/>
          <p:cNvSpPr/>
          <p:nvPr/>
        </p:nvSpPr>
        <p:spPr>
          <a:xfrm>
            <a:off x="11093501" y="6583680"/>
            <a:ext cx="1887322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/>
            <a:r>
              <a:rPr lang="en-US" sz="960" dirty="0">
                <a:solidFill>
                  <a:srgbClr val="0719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plan</a:t>
            </a:r>
            <a:endParaRPr lang="en-US" sz="960" dirty="0"/>
          </a:p>
        </p:txBody>
      </p:sp>
      <p:sp>
        <p:nvSpPr>
          <p:cNvPr id="138" name="Shape 136"/>
          <p:cNvSpPr/>
          <p:nvPr/>
        </p:nvSpPr>
        <p:spPr>
          <a:xfrm>
            <a:off x="13288061" y="6556248"/>
            <a:ext cx="768096" cy="219456"/>
          </a:xfrm>
          <a:prstGeom prst="roundRect">
            <a:avLst/>
          </a:prstGeom>
          <a:solidFill>
            <a:srgbClr val="0B7A2A"/>
          </a:solidFill>
          <a:ln w="10160">
            <a:solidFill>
              <a:srgbClr val="0B7A2A"/>
            </a:solidFill>
            <a:prstDash val="solid"/>
          </a:ln>
        </p:spPr>
      </p:sp>
      <p:sp>
        <p:nvSpPr>
          <p:cNvPr id="139" name="Text 137"/>
          <p:cNvSpPr/>
          <p:nvPr/>
        </p:nvSpPr>
        <p:spPr>
          <a:xfrm>
            <a:off x="13288061" y="6591361"/>
            <a:ext cx="7680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algn="ctr"/>
            <a:r>
              <a:rPr lang="en-US" sz="864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</a:t>
            </a:r>
            <a:endParaRPr lang="en-US" sz="864" dirty="0"/>
          </a:p>
        </p:txBody>
      </p:sp>
      <p:sp>
        <p:nvSpPr>
          <p:cNvPr id="140" name="Shape 138"/>
          <p:cNvSpPr/>
          <p:nvPr/>
        </p:nvSpPr>
        <p:spPr>
          <a:xfrm>
            <a:off x="7593178" y="6852514"/>
            <a:ext cx="6649517" cy="0"/>
          </a:xfrm>
          <a:prstGeom prst="line">
            <a:avLst/>
          </a:prstGeom>
          <a:noFill/>
          <a:ln w="6985">
            <a:solidFill>
              <a:srgbClr val="D9DEE8"/>
            </a:solidFill>
            <a:prstDash val="solid"/>
          </a:ln>
        </p:spPr>
      </p:sp>
      <p:sp>
        <p:nvSpPr>
          <p:cNvPr id="141" name="Text 139"/>
          <p:cNvSpPr/>
          <p:nvPr/>
        </p:nvSpPr>
        <p:spPr>
          <a:xfrm>
            <a:off x="7593178" y="6896405"/>
            <a:ext cx="2578608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lang="en-US" sz="978" dirty="0">
                <a:solidFill>
                  <a:srgbClr val="0719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Promo / value platform</a:t>
            </a:r>
            <a:endParaRPr lang="en-US" sz="978" dirty="0"/>
          </a:p>
        </p:txBody>
      </p:sp>
      <p:sp>
        <p:nvSpPr>
          <p:cNvPr id="142" name="Text 140"/>
          <p:cNvSpPr/>
          <p:nvPr/>
        </p:nvSpPr>
        <p:spPr>
          <a:xfrm>
            <a:off x="11093501" y="6896405"/>
            <a:ext cx="1887322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/>
            <a:r>
              <a:rPr lang="en-US" sz="960" dirty="0">
                <a:solidFill>
                  <a:srgbClr val="0719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88% coverage</a:t>
            </a:r>
            <a:endParaRPr lang="en-US" sz="960" dirty="0"/>
          </a:p>
        </p:txBody>
      </p:sp>
      <p:sp>
        <p:nvSpPr>
          <p:cNvPr id="143" name="Shape 141"/>
          <p:cNvSpPr/>
          <p:nvPr/>
        </p:nvSpPr>
        <p:spPr>
          <a:xfrm>
            <a:off x="13288061" y="6868973"/>
            <a:ext cx="768096" cy="219456"/>
          </a:xfrm>
          <a:prstGeom prst="roundRect">
            <a:avLst/>
          </a:prstGeom>
          <a:solidFill>
            <a:srgbClr val="F4A300"/>
          </a:solidFill>
          <a:ln w="10160">
            <a:solidFill>
              <a:srgbClr val="F4A300"/>
            </a:solidFill>
            <a:prstDash val="solid"/>
          </a:ln>
        </p:spPr>
      </p:sp>
      <p:sp>
        <p:nvSpPr>
          <p:cNvPr id="144" name="Text 142"/>
          <p:cNvSpPr/>
          <p:nvPr/>
        </p:nvSpPr>
        <p:spPr>
          <a:xfrm>
            <a:off x="13288061" y="6904086"/>
            <a:ext cx="7680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algn="ctr"/>
            <a:r>
              <a:rPr lang="en-US" sz="864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</a:t>
            </a:r>
            <a:endParaRPr lang="en-US" sz="864" dirty="0"/>
          </a:p>
        </p:txBody>
      </p:sp>
      <p:sp>
        <p:nvSpPr>
          <p:cNvPr id="145" name="Shape 143"/>
          <p:cNvSpPr/>
          <p:nvPr/>
        </p:nvSpPr>
        <p:spPr>
          <a:xfrm>
            <a:off x="7593178" y="7165238"/>
            <a:ext cx="6649517" cy="0"/>
          </a:xfrm>
          <a:prstGeom prst="line">
            <a:avLst/>
          </a:prstGeom>
          <a:noFill/>
          <a:ln w="6985">
            <a:solidFill>
              <a:srgbClr val="D9DEE8"/>
            </a:solidFill>
            <a:prstDash val="solid"/>
          </a:ln>
        </p:spPr>
      </p:sp>
      <p:sp>
        <p:nvSpPr>
          <p:cNvPr id="146" name="Text 144"/>
          <p:cNvSpPr/>
          <p:nvPr/>
        </p:nvSpPr>
        <p:spPr>
          <a:xfrm>
            <a:off x="7593178" y="7209130"/>
            <a:ext cx="2578608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lang="en-US" sz="978" dirty="0">
                <a:solidFill>
                  <a:srgbClr val="0719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Loyalty active base</a:t>
            </a:r>
            <a:endParaRPr lang="en-US" sz="978" dirty="0"/>
          </a:p>
        </p:txBody>
      </p:sp>
      <p:sp>
        <p:nvSpPr>
          <p:cNvPr id="147" name="Text 145"/>
          <p:cNvSpPr/>
          <p:nvPr/>
        </p:nvSpPr>
        <p:spPr>
          <a:xfrm>
            <a:off x="11093501" y="7209130"/>
            <a:ext cx="1887322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/>
            <a:r>
              <a:rPr lang="en-US" sz="960" dirty="0">
                <a:solidFill>
                  <a:srgbClr val="0719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96 index vs 100 baseline</a:t>
            </a:r>
            <a:endParaRPr lang="en-US" sz="960" dirty="0"/>
          </a:p>
        </p:txBody>
      </p:sp>
      <p:sp>
        <p:nvSpPr>
          <p:cNvPr id="148" name="Shape 146"/>
          <p:cNvSpPr/>
          <p:nvPr/>
        </p:nvSpPr>
        <p:spPr>
          <a:xfrm>
            <a:off x="13288061" y="7181698"/>
            <a:ext cx="768096" cy="219456"/>
          </a:xfrm>
          <a:prstGeom prst="roundRect">
            <a:avLst/>
          </a:prstGeom>
          <a:solidFill>
            <a:srgbClr val="F4A300"/>
          </a:solidFill>
          <a:ln w="10160">
            <a:solidFill>
              <a:srgbClr val="F4A300"/>
            </a:solidFill>
            <a:prstDash val="solid"/>
          </a:ln>
        </p:spPr>
      </p:sp>
      <p:sp>
        <p:nvSpPr>
          <p:cNvPr id="149" name="Text 147"/>
          <p:cNvSpPr/>
          <p:nvPr/>
        </p:nvSpPr>
        <p:spPr>
          <a:xfrm>
            <a:off x="13288061" y="7216811"/>
            <a:ext cx="7680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algn="ctr"/>
            <a:r>
              <a:rPr lang="en-US" sz="864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</a:t>
            </a:r>
            <a:endParaRPr lang="en-US" sz="864" dirty="0"/>
          </a:p>
        </p:txBody>
      </p:sp>
      <p:sp>
        <p:nvSpPr>
          <p:cNvPr id="150" name="Shape 148"/>
          <p:cNvSpPr/>
          <p:nvPr/>
        </p:nvSpPr>
        <p:spPr>
          <a:xfrm>
            <a:off x="7593178" y="7477963"/>
            <a:ext cx="6649517" cy="0"/>
          </a:xfrm>
          <a:prstGeom prst="line">
            <a:avLst/>
          </a:prstGeom>
          <a:noFill/>
          <a:ln w="6985">
            <a:solidFill>
              <a:srgbClr val="D9DEE8"/>
            </a:solidFill>
            <a:prstDash val="solid"/>
          </a:ln>
        </p:spPr>
      </p:sp>
      <p:sp>
        <p:nvSpPr>
          <p:cNvPr id="151" name="Text 149"/>
          <p:cNvSpPr/>
          <p:nvPr/>
        </p:nvSpPr>
        <p:spPr>
          <a:xfrm>
            <a:off x="7593178" y="7521855"/>
            <a:ext cx="2578608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lang="en-US" sz="978" dirty="0">
                <a:solidFill>
                  <a:srgbClr val="0719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Delivery availability</a:t>
            </a:r>
            <a:endParaRPr lang="en-US" sz="978" dirty="0"/>
          </a:p>
        </p:txBody>
      </p:sp>
      <p:sp>
        <p:nvSpPr>
          <p:cNvPr id="152" name="Text 150"/>
          <p:cNvSpPr/>
          <p:nvPr/>
        </p:nvSpPr>
        <p:spPr>
          <a:xfrm>
            <a:off x="11093501" y="7521855"/>
            <a:ext cx="1887322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/>
            <a:r>
              <a:rPr lang="en-US" sz="960" dirty="0">
                <a:solidFill>
                  <a:srgbClr val="0719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93% coverage</a:t>
            </a:r>
            <a:endParaRPr lang="en-US" sz="960" dirty="0"/>
          </a:p>
        </p:txBody>
      </p:sp>
      <p:sp>
        <p:nvSpPr>
          <p:cNvPr id="153" name="Shape 151"/>
          <p:cNvSpPr/>
          <p:nvPr/>
        </p:nvSpPr>
        <p:spPr>
          <a:xfrm>
            <a:off x="13288061" y="7494422"/>
            <a:ext cx="768096" cy="219456"/>
          </a:xfrm>
          <a:prstGeom prst="roundRect">
            <a:avLst/>
          </a:prstGeom>
          <a:solidFill>
            <a:srgbClr val="F4A300"/>
          </a:solidFill>
          <a:ln w="10160">
            <a:solidFill>
              <a:srgbClr val="F4A300"/>
            </a:solidFill>
            <a:prstDash val="solid"/>
          </a:ln>
        </p:spPr>
      </p:sp>
      <p:sp>
        <p:nvSpPr>
          <p:cNvPr id="154" name="Text 152"/>
          <p:cNvSpPr/>
          <p:nvPr/>
        </p:nvSpPr>
        <p:spPr>
          <a:xfrm>
            <a:off x="13288061" y="7529536"/>
            <a:ext cx="7680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algn="ctr"/>
            <a:r>
              <a:rPr lang="en-US" sz="864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</a:t>
            </a:r>
            <a:endParaRPr lang="en-US" sz="864" dirty="0"/>
          </a:p>
        </p:txBody>
      </p:sp>
      <p:sp>
        <p:nvSpPr>
          <p:cNvPr id="155" name="Text 153"/>
          <p:cNvSpPr/>
          <p:nvPr/>
        </p:nvSpPr>
        <p:spPr>
          <a:xfrm>
            <a:off x="219456" y="7878470"/>
            <a:ext cx="9107424" cy="1316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r>
              <a:rPr lang="en-US" sz="888" i="1" dirty="0">
                <a:solidFill>
                  <a:srgbClr val="52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Note: Illustrative values; percentages shown vs. 2024 Actual GC. Status labels highlight standout KPIs only.</a:t>
            </a:r>
            <a:endParaRPr lang="en-US" sz="888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97510" y="131674"/>
            <a:ext cx="12673584" cy="528144"/>
          </a:xfrm>
          <a:prstGeom prst="rect">
            <a:avLst/>
          </a:prstGeom>
          <a:noFill/>
          <a:ln>
            <a:noFill/>
          </a:ln>
        </p:spPr>
        <p:txBody>
          <a:bodyPr wrap="square" lIns="32918" tIns="32918" rIns="32918" bIns="32918" anchor="t">
            <a:spAutoFit/>
          </a:bodyPr>
          <a:lstStyle/>
          <a:p>
            <a:pPr algn="l"/>
            <a:r>
              <a:rPr sz="3000" b="1">
                <a:solidFill>
                  <a:srgbClr val="081846"/>
                </a:solidFill>
                <a:latin typeface="Arial"/>
              </a:rPr>
              <a:t>External Context Overview: Conditions Shaping Performance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08483" y="603504"/>
            <a:ext cx="12673584" cy="278845"/>
          </a:xfrm>
          <a:prstGeom prst="rect">
            <a:avLst/>
          </a:prstGeom>
          <a:noFill/>
          <a:ln>
            <a:noFill/>
          </a:ln>
        </p:spPr>
        <p:txBody>
          <a:bodyPr wrap="square" lIns="32918" tIns="32918" rIns="32918" bIns="32918" anchor="t">
            <a:spAutoFit/>
          </a:bodyPr>
          <a:lstStyle/>
          <a:p>
            <a:pPr algn="l"/>
            <a:r>
              <a:rPr sz="1380">
                <a:solidFill>
                  <a:srgbClr val="4A4E59"/>
                </a:solidFill>
                <a:latin typeface="Arial"/>
              </a:rPr>
              <a:t>Factors outside direct control can lower or raise the context-adjusted base before incremental growth levers are evaluated.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222224" y="175565"/>
            <a:ext cx="899770" cy="329184"/>
          </a:xfrm>
          <a:prstGeom prst="roundRect">
            <a:avLst/>
          </a:prstGeom>
          <a:solidFill>
            <a:srgbClr val="081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160"/>
          </a:p>
        </p:txBody>
      </p:sp>
      <p:sp>
        <p:nvSpPr>
          <p:cNvPr id="5" name="TextBox 4"/>
          <p:cNvSpPr txBox="1"/>
          <p:nvPr/>
        </p:nvSpPr>
        <p:spPr>
          <a:xfrm>
            <a:off x="13288061" y="213970"/>
            <a:ext cx="768096" cy="241912"/>
          </a:xfrm>
          <a:prstGeom prst="rect">
            <a:avLst/>
          </a:prstGeom>
          <a:noFill/>
          <a:ln>
            <a:noFill/>
          </a:ln>
        </p:spPr>
        <p:txBody>
          <a:bodyPr wrap="square" lIns="32918" tIns="32918" rIns="32918" bIns="32918" anchor="t">
            <a:spAutoFit/>
          </a:bodyPr>
          <a:lstStyle/>
          <a:p>
            <a:pPr algn="ctr"/>
            <a:r>
              <a:rPr sz="1140" b="1">
                <a:solidFill>
                  <a:srgbClr val="FFFFFF"/>
                </a:solidFill>
                <a:latin typeface="Arial"/>
              </a:rPr>
              <a:t>4 OF 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97510" y="1009498"/>
            <a:ext cx="14209776" cy="337962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160"/>
          </a:p>
        </p:txBody>
      </p:sp>
      <p:sp>
        <p:nvSpPr>
          <p:cNvPr id="7" name="TextBox 6"/>
          <p:cNvSpPr txBox="1"/>
          <p:nvPr/>
        </p:nvSpPr>
        <p:spPr>
          <a:xfrm>
            <a:off x="5738774" y="1185063"/>
            <a:ext cx="3236976" cy="301030"/>
          </a:xfrm>
          <a:prstGeom prst="rect">
            <a:avLst/>
          </a:prstGeom>
          <a:noFill/>
          <a:ln>
            <a:noFill/>
          </a:ln>
        </p:spPr>
        <p:txBody>
          <a:bodyPr wrap="square" lIns="32918" tIns="32918" rIns="32918" bIns="32918" anchor="t">
            <a:spAutoFit/>
          </a:bodyPr>
          <a:lstStyle/>
          <a:p>
            <a:pPr algn="ctr"/>
            <a:r>
              <a:rPr sz="1524" b="1">
                <a:solidFill>
                  <a:srgbClr val="EC5514"/>
                </a:solidFill>
                <a:latin typeface="Arial"/>
              </a:rPr>
              <a:t>EXTERNAL CONTEXT DRIVERS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962656" y="1459382"/>
            <a:ext cx="8646566" cy="0"/>
          </a:xfrm>
          <a:prstGeom prst="line">
            <a:avLst/>
          </a:prstGeom>
          <a:ln w="13970">
            <a:solidFill>
              <a:srgbClr val="EC55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2962656" y="1426464"/>
            <a:ext cx="0" cy="76810"/>
          </a:xfrm>
          <a:prstGeom prst="line">
            <a:avLst/>
          </a:prstGeom>
          <a:ln w="12700">
            <a:solidFill>
              <a:srgbClr val="EC55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1609222" y="1426464"/>
            <a:ext cx="0" cy="76810"/>
          </a:xfrm>
          <a:prstGeom prst="line">
            <a:avLst/>
          </a:prstGeom>
          <a:ln w="12700">
            <a:solidFill>
              <a:srgbClr val="EC55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603504" y="3752698"/>
            <a:ext cx="12947904" cy="0"/>
          </a:xfrm>
          <a:prstGeom prst="line">
            <a:avLst/>
          </a:prstGeom>
          <a:ln w="15240">
            <a:solidFill>
              <a:srgbClr val="0818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384048" y="1942186"/>
            <a:ext cx="1152144" cy="391440"/>
          </a:xfrm>
          <a:prstGeom prst="rect">
            <a:avLst/>
          </a:prstGeom>
          <a:noFill/>
          <a:ln>
            <a:noFill/>
          </a:ln>
        </p:spPr>
        <p:txBody>
          <a:bodyPr wrap="square" lIns="32918" tIns="32918" rIns="32918" bIns="32918" anchor="t">
            <a:spAutoFit/>
          </a:bodyPr>
          <a:lstStyle/>
          <a:p>
            <a:pPr algn="l"/>
            <a:r>
              <a:rPr sz="1056" b="1">
                <a:solidFill>
                  <a:srgbClr val="081846"/>
                </a:solidFill>
                <a:latin typeface="Arial"/>
              </a:rPr>
              <a:t>Impact on GC
(Millions)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591056" y="2249423"/>
            <a:ext cx="548640" cy="1503274"/>
          </a:xfrm>
          <a:prstGeom prst="rect">
            <a:avLst/>
          </a:prstGeom>
          <a:solidFill>
            <a:srgbClr val="081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160"/>
          </a:p>
        </p:txBody>
      </p:sp>
      <p:sp>
        <p:nvSpPr>
          <p:cNvPr id="14" name="TextBox 13"/>
          <p:cNvSpPr txBox="1"/>
          <p:nvPr/>
        </p:nvSpPr>
        <p:spPr>
          <a:xfrm>
            <a:off x="1481327" y="1942185"/>
            <a:ext cx="768096" cy="297311"/>
          </a:xfrm>
          <a:prstGeom prst="rect">
            <a:avLst/>
          </a:prstGeom>
          <a:noFill/>
          <a:ln>
            <a:noFill/>
          </a:ln>
        </p:spPr>
        <p:txBody>
          <a:bodyPr wrap="square" lIns="32918" tIns="32918" rIns="32918" bIns="32918" anchor="t">
            <a:spAutoFit/>
          </a:bodyPr>
          <a:lstStyle/>
          <a:p>
            <a:pPr algn="ctr"/>
            <a:r>
              <a:rPr sz="1500" b="1">
                <a:solidFill>
                  <a:srgbClr val="081846"/>
                </a:solidFill>
                <a:latin typeface="Arial"/>
              </a:rPr>
              <a:t>333M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93546" y="3840481"/>
            <a:ext cx="932688" cy="361944"/>
          </a:xfrm>
          <a:prstGeom prst="rect">
            <a:avLst/>
          </a:prstGeom>
          <a:noFill/>
          <a:ln>
            <a:noFill/>
          </a:ln>
        </p:spPr>
        <p:txBody>
          <a:bodyPr wrap="square" lIns="32918" tIns="32918" rIns="32918" bIns="32918" anchor="t">
            <a:spAutoFit/>
          </a:bodyPr>
          <a:lstStyle/>
          <a:p>
            <a:pPr algn="ctr"/>
            <a:r>
              <a:rPr sz="960" b="1">
                <a:solidFill>
                  <a:srgbClr val="081846"/>
                </a:solidFill>
                <a:latin typeface="Arial"/>
              </a:rPr>
              <a:t>Protected
BAU Base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139696" y="2249423"/>
            <a:ext cx="1261872" cy="0"/>
          </a:xfrm>
          <a:prstGeom prst="line">
            <a:avLst/>
          </a:prstGeom>
          <a:ln w="11430">
            <a:solidFill>
              <a:srgbClr val="4A4E59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3401568" y="2249423"/>
            <a:ext cx="548640" cy="342350"/>
          </a:xfrm>
          <a:prstGeom prst="rect">
            <a:avLst/>
          </a:prstGeom>
          <a:solidFill>
            <a:srgbClr val="EC55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160"/>
          </a:p>
        </p:txBody>
      </p:sp>
      <p:sp>
        <p:nvSpPr>
          <p:cNvPr id="18" name="TextBox 17"/>
          <p:cNvSpPr txBox="1"/>
          <p:nvPr/>
        </p:nvSpPr>
        <p:spPr>
          <a:xfrm>
            <a:off x="3357677" y="2635666"/>
            <a:ext cx="636422" cy="405931"/>
          </a:xfrm>
          <a:prstGeom prst="rect">
            <a:avLst/>
          </a:prstGeom>
          <a:noFill/>
          <a:ln>
            <a:noFill/>
          </a:ln>
        </p:spPr>
        <p:txBody>
          <a:bodyPr wrap="square" lIns="32918" tIns="32918" rIns="32918" bIns="32918" anchor="t">
            <a:spAutoFit/>
          </a:bodyPr>
          <a:lstStyle/>
          <a:p>
            <a:pPr algn="ctr"/>
            <a:r>
              <a:rPr sz="1103" b="1">
                <a:solidFill>
                  <a:srgbClr val="EC5514"/>
                </a:solidFill>
                <a:latin typeface="Arial"/>
              </a:rPr>
              <a:t>-6M
(-1.8%)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4058" y="3840480"/>
            <a:ext cx="943661" cy="210493"/>
          </a:xfrm>
          <a:prstGeom prst="rect">
            <a:avLst/>
          </a:prstGeom>
          <a:noFill/>
          <a:ln>
            <a:noFill/>
          </a:ln>
        </p:spPr>
        <p:txBody>
          <a:bodyPr wrap="square" lIns="32918" tIns="32918" rIns="32918" bIns="32918" anchor="t">
            <a:spAutoFit/>
          </a:bodyPr>
          <a:lstStyle/>
          <a:p>
            <a:pPr algn="ctr"/>
            <a:r>
              <a:rPr sz="936" b="1">
                <a:solidFill>
                  <a:srgbClr val="081846"/>
                </a:solidFill>
                <a:latin typeface="Arial"/>
              </a:rPr>
              <a:t>Weather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3950208" y="2591774"/>
            <a:ext cx="768096" cy="0"/>
          </a:xfrm>
          <a:prstGeom prst="line">
            <a:avLst/>
          </a:prstGeom>
          <a:ln w="11430">
            <a:solidFill>
              <a:srgbClr val="4A4E59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4718304" y="2591775"/>
            <a:ext cx="548640" cy="228234"/>
          </a:xfrm>
          <a:prstGeom prst="rect">
            <a:avLst/>
          </a:prstGeom>
          <a:solidFill>
            <a:srgbClr val="EC55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160"/>
          </a:p>
        </p:txBody>
      </p:sp>
      <p:sp>
        <p:nvSpPr>
          <p:cNvPr id="22" name="TextBox 21"/>
          <p:cNvSpPr txBox="1"/>
          <p:nvPr/>
        </p:nvSpPr>
        <p:spPr>
          <a:xfrm>
            <a:off x="4674413" y="2863901"/>
            <a:ext cx="636422" cy="405931"/>
          </a:xfrm>
          <a:prstGeom prst="rect">
            <a:avLst/>
          </a:prstGeom>
          <a:noFill/>
          <a:ln>
            <a:noFill/>
          </a:ln>
        </p:spPr>
        <p:txBody>
          <a:bodyPr wrap="square" lIns="32918" tIns="32918" rIns="32918" bIns="32918" anchor="t">
            <a:spAutoFit/>
          </a:bodyPr>
          <a:lstStyle/>
          <a:p>
            <a:pPr algn="ctr"/>
            <a:r>
              <a:rPr sz="1103" b="1">
                <a:solidFill>
                  <a:srgbClr val="EC5514"/>
                </a:solidFill>
                <a:latin typeface="Arial"/>
              </a:rPr>
              <a:t>-4M
(-1.2%)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20794" y="3840481"/>
            <a:ext cx="943661" cy="354506"/>
          </a:xfrm>
          <a:prstGeom prst="rect">
            <a:avLst/>
          </a:prstGeom>
          <a:noFill/>
          <a:ln>
            <a:noFill/>
          </a:ln>
        </p:spPr>
        <p:txBody>
          <a:bodyPr wrap="square" lIns="32918" tIns="32918" rIns="32918" bIns="32918" anchor="t">
            <a:spAutoFit/>
          </a:bodyPr>
          <a:lstStyle/>
          <a:p>
            <a:pPr algn="ctr"/>
            <a:r>
              <a:rPr sz="936" b="1">
                <a:solidFill>
                  <a:srgbClr val="081846"/>
                </a:solidFill>
                <a:latin typeface="Arial"/>
              </a:rPr>
              <a:t>Macro /
Consumer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266944" y="2820010"/>
            <a:ext cx="768096" cy="0"/>
          </a:xfrm>
          <a:prstGeom prst="line">
            <a:avLst/>
          </a:prstGeom>
          <a:ln w="11430">
            <a:solidFill>
              <a:srgbClr val="4A4E59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6035040" y="2820010"/>
            <a:ext cx="548640" cy="171175"/>
          </a:xfrm>
          <a:prstGeom prst="rect">
            <a:avLst/>
          </a:prstGeom>
          <a:solidFill>
            <a:srgbClr val="EC55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160"/>
          </a:p>
        </p:txBody>
      </p:sp>
      <p:sp>
        <p:nvSpPr>
          <p:cNvPr id="26" name="TextBox 25"/>
          <p:cNvSpPr txBox="1"/>
          <p:nvPr/>
        </p:nvSpPr>
        <p:spPr>
          <a:xfrm>
            <a:off x="5991149" y="3035076"/>
            <a:ext cx="636422" cy="405931"/>
          </a:xfrm>
          <a:prstGeom prst="rect">
            <a:avLst/>
          </a:prstGeom>
          <a:noFill/>
          <a:ln>
            <a:noFill/>
          </a:ln>
        </p:spPr>
        <p:txBody>
          <a:bodyPr wrap="square" lIns="32918" tIns="32918" rIns="32918" bIns="32918" anchor="t">
            <a:spAutoFit/>
          </a:bodyPr>
          <a:lstStyle/>
          <a:p>
            <a:pPr algn="ctr"/>
            <a:r>
              <a:rPr sz="1103" b="1">
                <a:solidFill>
                  <a:srgbClr val="EC5514"/>
                </a:solidFill>
                <a:latin typeface="Arial"/>
              </a:rPr>
              <a:t>-3M
(-0.9%)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37530" y="3840480"/>
            <a:ext cx="943661" cy="210493"/>
          </a:xfrm>
          <a:prstGeom prst="rect">
            <a:avLst/>
          </a:prstGeom>
          <a:noFill/>
          <a:ln>
            <a:noFill/>
          </a:ln>
        </p:spPr>
        <p:txBody>
          <a:bodyPr wrap="square" lIns="32918" tIns="32918" rIns="32918" bIns="32918" anchor="t">
            <a:spAutoFit/>
          </a:bodyPr>
          <a:lstStyle/>
          <a:p>
            <a:pPr algn="ctr"/>
            <a:r>
              <a:rPr sz="936" b="1">
                <a:solidFill>
                  <a:srgbClr val="081846"/>
                </a:solidFill>
                <a:latin typeface="Arial"/>
              </a:rPr>
              <a:t>Competition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6583680" y="2991185"/>
            <a:ext cx="768096" cy="0"/>
          </a:xfrm>
          <a:prstGeom prst="line">
            <a:avLst/>
          </a:prstGeom>
          <a:ln w="11430">
            <a:solidFill>
              <a:srgbClr val="4A4E59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7351776" y="2991185"/>
            <a:ext cx="548640" cy="57058"/>
          </a:xfrm>
          <a:prstGeom prst="rect">
            <a:avLst/>
          </a:prstGeom>
          <a:solidFill>
            <a:srgbClr val="EC55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160"/>
          </a:p>
        </p:txBody>
      </p:sp>
      <p:sp>
        <p:nvSpPr>
          <p:cNvPr id="30" name="TextBox 29"/>
          <p:cNvSpPr txBox="1"/>
          <p:nvPr/>
        </p:nvSpPr>
        <p:spPr>
          <a:xfrm>
            <a:off x="7307885" y="3092135"/>
            <a:ext cx="636422" cy="405931"/>
          </a:xfrm>
          <a:prstGeom prst="rect">
            <a:avLst/>
          </a:prstGeom>
          <a:noFill/>
          <a:ln>
            <a:noFill/>
          </a:ln>
        </p:spPr>
        <p:txBody>
          <a:bodyPr wrap="square" lIns="32918" tIns="32918" rIns="32918" bIns="32918" anchor="t">
            <a:spAutoFit/>
          </a:bodyPr>
          <a:lstStyle/>
          <a:p>
            <a:pPr algn="ctr"/>
            <a:r>
              <a:rPr sz="1103" b="1">
                <a:solidFill>
                  <a:srgbClr val="EC5514"/>
                </a:solidFill>
                <a:latin typeface="Arial"/>
              </a:rPr>
              <a:t>-1M
(-0.3%)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54266" y="3840481"/>
            <a:ext cx="943661" cy="354506"/>
          </a:xfrm>
          <a:prstGeom prst="rect">
            <a:avLst/>
          </a:prstGeom>
          <a:noFill/>
          <a:ln>
            <a:noFill/>
          </a:ln>
        </p:spPr>
        <p:txBody>
          <a:bodyPr wrap="square" lIns="32918" tIns="32918" rIns="32918" bIns="32918" anchor="t">
            <a:spAutoFit/>
          </a:bodyPr>
          <a:lstStyle/>
          <a:p>
            <a:pPr algn="ctr"/>
            <a:r>
              <a:rPr sz="936" b="1">
                <a:solidFill>
                  <a:srgbClr val="081846"/>
                </a:solidFill>
                <a:latin typeface="Arial"/>
              </a:rPr>
              <a:t>Industry /
Category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7900416" y="3048244"/>
            <a:ext cx="768096" cy="0"/>
          </a:xfrm>
          <a:prstGeom prst="line">
            <a:avLst/>
          </a:prstGeom>
          <a:ln w="11430">
            <a:solidFill>
              <a:srgbClr val="4A4E59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ectangle 32"/>
          <p:cNvSpPr/>
          <p:nvPr/>
        </p:nvSpPr>
        <p:spPr>
          <a:xfrm>
            <a:off x="8668512" y="3035077"/>
            <a:ext cx="548640" cy="26334"/>
          </a:xfrm>
          <a:prstGeom prst="rect">
            <a:avLst/>
          </a:prstGeom>
          <a:solidFill>
            <a:srgbClr val="A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160"/>
          </a:p>
        </p:txBody>
      </p:sp>
      <p:sp>
        <p:nvSpPr>
          <p:cNvPr id="34" name="TextBox 33"/>
          <p:cNvSpPr txBox="1"/>
          <p:nvPr/>
        </p:nvSpPr>
        <p:spPr>
          <a:xfrm>
            <a:off x="8624621" y="2806842"/>
            <a:ext cx="636422" cy="398878"/>
          </a:xfrm>
          <a:prstGeom prst="rect">
            <a:avLst/>
          </a:prstGeom>
          <a:noFill/>
          <a:ln>
            <a:noFill/>
          </a:ln>
        </p:spPr>
        <p:txBody>
          <a:bodyPr wrap="square" lIns="32918" tIns="32918" rIns="32918" bIns="32918" anchor="t">
            <a:spAutoFit/>
          </a:bodyPr>
          <a:lstStyle/>
          <a:p>
            <a:pPr algn="ctr"/>
            <a:r>
              <a:rPr sz="1080" b="1">
                <a:solidFill>
                  <a:srgbClr val="4A4E59"/>
                </a:solidFill>
                <a:latin typeface="Arial"/>
              </a:rPr>
              <a:t>0M
(0.0%)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71002" y="3840481"/>
            <a:ext cx="943661" cy="354506"/>
          </a:xfrm>
          <a:prstGeom prst="rect">
            <a:avLst/>
          </a:prstGeom>
          <a:noFill/>
          <a:ln>
            <a:noFill/>
          </a:ln>
        </p:spPr>
        <p:txBody>
          <a:bodyPr wrap="square" lIns="32918" tIns="32918" rIns="32918" bIns="32918" anchor="t">
            <a:spAutoFit/>
          </a:bodyPr>
          <a:lstStyle/>
          <a:p>
            <a:pPr algn="ctr"/>
            <a:r>
              <a:rPr sz="936" b="1">
                <a:solidFill>
                  <a:srgbClr val="081846"/>
                </a:solidFill>
                <a:latin typeface="Arial"/>
              </a:rPr>
              <a:t>Footprint /
Calendar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9217152" y="3048244"/>
            <a:ext cx="1261872" cy="0"/>
          </a:xfrm>
          <a:prstGeom prst="line">
            <a:avLst/>
          </a:prstGeom>
          <a:ln w="11430">
            <a:solidFill>
              <a:srgbClr val="4A4E59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ectangle 36"/>
          <p:cNvSpPr/>
          <p:nvPr/>
        </p:nvSpPr>
        <p:spPr>
          <a:xfrm>
            <a:off x="10479024" y="3048244"/>
            <a:ext cx="548640" cy="704453"/>
          </a:xfrm>
          <a:prstGeom prst="rect">
            <a:avLst/>
          </a:prstGeom>
          <a:solidFill>
            <a:srgbClr val="081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160"/>
          </a:p>
        </p:txBody>
      </p:sp>
      <p:sp>
        <p:nvSpPr>
          <p:cNvPr id="38" name="TextBox 37"/>
          <p:cNvSpPr txBox="1"/>
          <p:nvPr/>
        </p:nvSpPr>
        <p:spPr>
          <a:xfrm>
            <a:off x="10314432" y="2741005"/>
            <a:ext cx="877824" cy="297311"/>
          </a:xfrm>
          <a:prstGeom prst="rect">
            <a:avLst/>
          </a:prstGeom>
          <a:noFill/>
          <a:ln>
            <a:noFill/>
          </a:ln>
        </p:spPr>
        <p:txBody>
          <a:bodyPr wrap="square" lIns="32918" tIns="32918" rIns="32918" bIns="32918" anchor="t">
            <a:spAutoFit/>
          </a:bodyPr>
          <a:lstStyle/>
          <a:p>
            <a:pPr algn="ctr"/>
            <a:r>
              <a:rPr sz="1500" b="1">
                <a:solidFill>
                  <a:srgbClr val="081846"/>
                </a:solidFill>
                <a:latin typeface="Arial"/>
              </a:rPr>
              <a:t>319M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204704" y="3840480"/>
            <a:ext cx="1097280" cy="361944"/>
          </a:xfrm>
          <a:prstGeom prst="rect">
            <a:avLst/>
          </a:prstGeom>
          <a:noFill/>
          <a:ln>
            <a:noFill/>
          </a:ln>
        </p:spPr>
        <p:txBody>
          <a:bodyPr wrap="square" lIns="32918" tIns="32918" rIns="32918" bIns="32918" anchor="t">
            <a:spAutoFit/>
          </a:bodyPr>
          <a:lstStyle/>
          <a:p>
            <a:pPr algn="ctr"/>
            <a:r>
              <a:rPr sz="960" b="1">
                <a:solidFill>
                  <a:srgbClr val="081846"/>
                </a:solidFill>
                <a:latin typeface="Arial"/>
              </a:rPr>
              <a:t>Context-Adjusted
Base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1850624" y="1920240"/>
            <a:ext cx="1481328" cy="96560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C55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160"/>
          </a:p>
        </p:txBody>
      </p:sp>
      <p:sp>
        <p:nvSpPr>
          <p:cNvPr id="41" name="TextBox 40"/>
          <p:cNvSpPr txBox="1"/>
          <p:nvPr/>
        </p:nvSpPr>
        <p:spPr>
          <a:xfrm>
            <a:off x="11938407" y="2073859"/>
            <a:ext cx="1294790" cy="620477"/>
          </a:xfrm>
          <a:prstGeom prst="rect">
            <a:avLst/>
          </a:prstGeom>
          <a:noFill/>
          <a:ln>
            <a:noFill/>
          </a:ln>
        </p:spPr>
        <p:txBody>
          <a:bodyPr wrap="square" lIns="32918" tIns="32918" rIns="32918" bIns="32918" anchor="t">
            <a:spAutoFit/>
          </a:bodyPr>
          <a:lstStyle/>
          <a:p>
            <a:pPr algn="ctr"/>
            <a:r>
              <a:rPr b="1">
                <a:solidFill>
                  <a:srgbClr val="EC5514"/>
                </a:solidFill>
                <a:latin typeface="Arial"/>
              </a:rPr>
              <a:t>-14M
(-4.2%)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12015216" y="2545690"/>
            <a:ext cx="1152144" cy="0"/>
          </a:xfrm>
          <a:prstGeom prst="line">
            <a:avLst/>
          </a:prstGeom>
          <a:ln w="12700">
            <a:solidFill>
              <a:srgbClr val="EC55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12004243" y="2655418"/>
            <a:ext cx="1141171" cy="223445"/>
          </a:xfrm>
          <a:prstGeom prst="rect">
            <a:avLst/>
          </a:prstGeom>
          <a:noFill/>
          <a:ln>
            <a:noFill/>
          </a:ln>
        </p:spPr>
        <p:txBody>
          <a:bodyPr wrap="square" lIns="32918" tIns="32918" rIns="32918" bIns="32918" anchor="t">
            <a:spAutoFit/>
          </a:bodyPr>
          <a:lstStyle/>
          <a:p>
            <a:pPr algn="ctr"/>
            <a:r>
              <a:rPr sz="1020" b="1">
                <a:solidFill>
                  <a:srgbClr val="EC5514"/>
                </a:solidFill>
                <a:latin typeface="Arial"/>
              </a:rPr>
              <a:t>external context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97510" y="4531767"/>
            <a:ext cx="14209776" cy="41696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160"/>
          </a:p>
        </p:txBody>
      </p:sp>
      <p:sp>
        <p:nvSpPr>
          <p:cNvPr id="45" name="TextBox 44"/>
          <p:cNvSpPr txBox="1"/>
          <p:nvPr/>
        </p:nvSpPr>
        <p:spPr>
          <a:xfrm>
            <a:off x="526694" y="4630522"/>
            <a:ext cx="13551408" cy="241912"/>
          </a:xfrm>
          <a:prstGeom prst="rect">
            <a:avLst/>
          </a:prstGeom>
          <a:noFill/>
          <a:ln>
            <a:noFill/>
          </a:ln>
        </p:spPr>
        <p:txBody>
          <a:bodyPr wrap="square" lIns="32918" tIns="32918" rIns="32918" bIns="32918" anchor="t">
            <a:spAutoFit/>
          </a:bodyPr>
          <a:lstStyle/>
          <a:p>
            <a:pPr algn="ctr"/>
            <a:r>
              <a:rPr sz="1140">
                <a:solidFill>
                  <a:srgbClr val="081846"/>
                </a:solidFill>
                <a:latin typeface="Arial"/>
              </a:rPr>
              <a:t>How to read this slide: External context is outside direct control; it calibrates the starting point after protected base and helps set realistic expectations for growth momentum.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97510" y="5091379"/>
            <a:ext cx="14209776" cy="268833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160"/>
          </a:p>
        </p:txBody>
      </p:sp>
      <p:sp>
        <p:nvSpPr>
          <p:cNvPr id="47" name="TextBox 46"/>
          <p:cNvSpPr txBox="1"/>
          <p:nvPr/>
        </p:nvSpPr>
        <p:spPr>
          <a:xfrm>
            <a:off x="384048" y="5255972"/>
            <a:ext cx="13825728" cy="288078"/>
          </a:xfrm>
          <a:prstGeom prst="rect">
            <a:avLst/>
          </a:prstGeom>
          <a:noFill/>
          <a:ln>
            <a:noFill/>
          </a:ln>
        </p:spPr>
        <p:txBody>
          <a:bodyPr wrap="square" lIns="32918" tIns="32918" rIns="32918" bIns="32918" anchor="t">
            <a:spAutoFit/>
          </a:bodyPr>
          <a:lstStyle/>
          <a:p>
            <a:pPr algn="ctr"/>
            <a:r>
              <a:rPr sz="1440" b="1">
                <a:solidFill>
                  <a:srgbClr val="EC5514"/>
                </a:solidFill>
                <a:latin typeface="Arial"/>
              </a:rPr>
              <a:t>EXTERNAL CONTEXT DETAIL — standout signals only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460858" y="5585155"/>
            <a:ext cx="13562381" cy="0"/>
          </a:xfrm>
          <a:prstGeom prst="line">
            <a:avLst/>
          </a:prstGeom>
          <a:ln w="12700">
            <a:solidFill>
              <a:srgbClr val="EC55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548640" y="5727802"/>
            <a:ext cx="1481328" cy="225305"/>
          </a:xfrm>
          <a:prstGeom prst="rect">
            <a:avLst/>
          </a:prstGeom>
          <a:noFill/>
          <a:ln>
            <a:noFill/>
          </a:ln>
        </p:spPr>
        <p:txBody>
          <a:bodyPr wrap="square" lIns="32918" tIns="32918" rIns="32918" bIns="32918" anchor="t">
            <a:spAutoFit/>
          </a:bodyPr>
          <a:lstStyle/>
          <a:p>
            <a:pPr algn="ctr"/>
            <a:r>
              <a:rPr sz="1032" b="1">
                <a:solidFill>
                  <a:srgbClr val="081846"/>
                </a:solidFill>
                <a:latin typeface="Arial"/>
              </a:rPr>
              <a:t>Area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194560" y="5727802"/>
            <a:ext cx="3017520" cy="225305"/>
          </a:xfrm>
          <a:prstGeom prst="rect">
            <a:avLst/>
          </a:prstGeom>
          <a:noFill/>
          <a:ln>
            <a:noFill/>
          </a:ln>
        </p:spPr>
        <p:txBody>
          <a:bodyPr wrap="square" lIns="32918" tIns="32918" rIns="32918" bIns="32918" anchor="t">
            <a:spAutoFit/>
          </a:bodyPr>
          <a:lstStyle/>
          <a:p>
            <a:pPr algn="ctr"/>
            <a:r>
              <a:rPr sz="1032" b="1">
                <a:solidFill>
                  <a:srgbClr val="081846"/>
                </a:solidFill>
                <a:latin typeface="Arial"/>
              </a:rPr>
              <a:t>Example KPI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431536" y="5727802"/>
            <a:ext cx="1700784" cy="225305"/>
          </a:xfrm>
          <a:prstGeom prst="rect">
            <a:avLst/>
          </a:prstGeom>
          <a:noFill/>
          <a:ln>
            <a:noFill/>
          </a:ln>
        </p:spPr>
        <p:txBody>
          <a:bodyPr wrap="square" lIns="32918" tIns="32918" rIns="32918" bIns="32918" anchor="t">
            <a:spAutoFit/>
          </a:bodyPr>
          <a:lstStyle/>
          <a:p>
            <a:pPr algn="ctr"/>
            <a:r>
              <a:rPr sz="1032" b="1">
                <a:solidFill>
                  <a:srgbClr val="081846"/>
                </a:solidFill>
                <a:latin typeface="Arial"/>
              </a:rPr>
              <a:t>Current / change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626096" y="5727802"/>
            <a:ext cx="1591056" cy="225305"/>
          </a:xfrm>
          <a:prstGeom prst="rect">
            <a:avLst/>
          </a:prstGeom>
          <a:noFill/>
          <a:ln>
            <a:noFill/>
          </a:ln>
        </p:spPr>
        <p:txBody>
          <a:bodyPr wrap="square" lIns="32918" tIns="32918" rIns="32918" bIns="32918" anchor="t">
            <a:spAutoFit/>
          </a:bodyPr>
          <a:lstStyle/>
          <a:p>
            <a:pPr algn="ctr"/>
            <a:r>
              <a:rPr sz="1032" b="1">
                <a:solidFill>
                  <a:srgbClr val="081846"/>
                </a:solidFill>
                <a:latin typeface="Arial"/>
              </a:rPr>
              <a:t>Benchmark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436608" y="5727802"/>
            <a:ext cx="1810512" cy="225305"/>
          </a:xfrm>
          <a:prstGeom prst="rect">
            <a:avLst/>
          </a:prstGeom>
          <a:noFill/>
          <a:ln>
            <a:noFill/>
          </a:ln>
        </p:spPr>
        <p:txBody>
          <a:bodyPr wrap="square" lIns="32918" tIns="32918" rIns="32918" bIns="32918" anchor="t">
            <a:spAutoFit/>
          </a:bodyPr>
          <a:lstStyle/>
          <a:p>
            <a:pPr algn="ctr"/>
            <a:r>
              <a:rPr sz="1032" b="1">
                <a:solidFill>
                  <a:srgbClr val="081846"/>
                </a:solidFill>
                <a:latin typeface="Arial"/>
              </a:rPr>
              <a:t>Implication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1444630" y="5727802"/>
            <a:ext cx="1700784" cy="225305"/>
          </a:xfrm>
          <a:prstGeom prst="rect">
            <a:avLst/>
          </a:prstGeom>
          <a:noFill/>
          <a:ln>
            <a:noFill/>
          </a:ln>
        </p:spPr>
        <p:txBody>
          <a:bodyPr wrap="square" lIns="32918" tIns="32918" rIns="32918" bIns="32918" anchor="t">
            <a:spAutoFit/>
          </a:bodyPr>
          <a:lstStyle/>
          <a:p>
            <a:pPr algn="ctr"/>
            <a:r>
              <a:rPr sz="1032" b="1">
                <a:solidFill>
                  <a:srgbClr val="081846"/>
                </a:solidFill>
                <a:latin typeface="Arial"/>
              </a:rPr>
              <a:t>Signal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460858" y="6024067"/>
            <a:ext cx="13562381" cy="0"/>
          </a:xfrm>
          <a:prstGeom prst="line">
            <a:avLst/>
          </a:prstGeom>
          <a:ln w="11430">
            <a:solidFill>
              <a:srgbClr val="0818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548640" y="6111850"/>
            <a:ext cx="1481328" cy="216072"/>
          </a:xfrm>
          <a:prstGeom prst="rect">
            <a:avLst/>
          </a:prstGeom>
          <a:noFill/>
          <a:ln>
            <a:noFill/>
          </a:ln>
        </p:spPr>
        <p:txBody>
          <a:bodyPr wrap="square" lIns="32918" tIns="32918" rIns="32918" bIns="32918" anchor="t">
            <a:spAutoFit/>
          </a:bodyPr>
          <a:lstStyle/>
          <a:p>
            <a:pPr algn="l"/>
            <a:r>
              <a:rPr sz="972" b="1">
                <a:solidFill>
                  <a:srgbClr val="081846"/>
                </a:solidFill>
                <a:latin typeface="Arial"/>
              </a:rPr>
              <a:t>Weather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194560" y="6111849"/>
            <a:ext cx="3017520" cy="208697"/>
          </a:xfrm>
          <a:prstGeom prst="rect">
            <a:avLst/>
          </a:prstGeom>
          <a:noFill/>
          <a:ln>
            <a:noFill/>
          </a:ln>
        </p:spPr>
        <p:txBody>
          <a:bodyPr wrap="square" lIns="32918" tIns="32918" rIns="32918" bIns="32918" anchor="t">
            <a:spAutoFit/>
          </a:bodyPr>
          <a:lstStyle/>
          <a:p>
            <a:pPr algn="l"/>
            <a:r>
              <a:rPr sz="924">
                <a:solidFill>
                  <a:srgbClr val="4A4E59"/>
                </a:solidFill>
                <a:latin typeface="Arial"/>
              </a:rPr>
              <a:t>Severe weather days / mobility disruption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431536" y="6111850"/>
            <a:ext cx="1700784" cy="214212"/>
          </a:xfrm>
          <a:prstGeom prst="rect">
            <a:avLst/>
          </a:prstGeom>
          <a:noFill/>
          <a:ln>
            <a:noFill/>
          </a:ln>
        </p:spPr>
        <p:txBody>
          <a:bodyPr wrap="square" lIns="32918" tIns="32918" rIns="32918" bIns="32918" anchor="t">
            <a:spAutoFit/>
          </a:bodyPr>
          <a:lstStyle/>
          <a:p>
            <a:pPr algn="ctr"/>
            <a:r>
              <a:rPr sz="960" b="1">
                <a:solidFill>
                  <a:srgbClr val="CE1126"/>
                </a:solidFill>
                <a:latin typeface="Arial"/>
              </a:rPr>
              <a:t>Elevated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626096" y="6111850"/>
            <a:ext cx="1591056" cy="214212"/>
          </a:xfrm>
          <a:prstGeom prst="rect">
            <a:avLst/>
          </a:prstGeom>
          <a:noFill/>
          <a:ln>
            <a:noFill/>
          </a:ln>
        </p:spPr>
        <p:txBody>
          <a:bodyPr wrap="square" lIns="32918" tIns="32918" rIns="32918" bIns="32918" anchor="t">
            <a:spAutoFit/>
          </a:bodyPr>
          <a:lstStyle/>
          <a:p>
            <a:pPr algn="ctr"/>
            <a:r>
              <a:rPr sz="960">
                <a:solidFill>
                  <a:srgbClr val="4A4E59"/>
                </a:solidFill>
                <a:latin typeface="Arial"/>
              </a:rPr>
              <a:t>Normal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436608" y="6111850"/>
            <a:ext cx="1810512" cy="214212"/>
          </a:xfrm>
          <a:prstGeom prst="rect">
            <a:avLst/>
          </a:prstGeom>
          <a:noFill/>
          <a:ln>
            <a:noFill/>
          </a:ln>
        </p:spPr>
        <p:txBody>
          <a:bodyPr wrap="square" lIns="32918" tIns="32918" rIns="32918" bIns="32918" anchor="t">
            <a:spAutoFit/>
          </a:bodyPr>
          <a:lstStyle/>
          <a:p>
            <a:pPr algn="ctr"/>
            <a:r>
              <a:rPr sz="960">
                <a:solidFill>
                  <a:srgbClr val="4A4E59"/>
                </a:solidFill>
                <a:latin typeface="Arial"/>
              </a:rPr>
              <a:t>Mobility pressure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11664086" y="6117336"/>
            <a:ext cx="1009498" cy="241402"/>
          </a:xfrm>
          <a:prstGeom prst="roundRect">
            <a:avLst/>
          </a:prstGeom>
          <a:solidFill>
            <a:srgbClr val="CE11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3" tIns="0" rIns="10973" bIns="0" rtlCol="0" anchor="ctr"/>
          <a:lstStyle/>
          <a:p>
            <a:pPr algn="ctr"/>
            <a:r>
              <a:rPr sz="924" b="1">
                <a:solidFill>
                  <a:srgbClr val="FFFFFF"/>
                </a:solidFill>
                <a:latin typeface="Arial"/>
              </a:rPr>
              <a:t>NEGATIVE</a:t>
            </a:r>
          </a:p>
        </p:txBody>
      </p:sp>
      <p:cxnSp>
        <p:nvCxnSpPr>
          <p:cNvPr id="62" name="Connector 61"/>
          <p:cNvCxnSpPr/>
          <p:nvPr/>
        </p:nvCxnSpPr>
        <p:spPr>
          <a:xfrm>
            <a:off x="460858" y="6369710"/>
            <a:ext cx="13562381" cy="0"/>
          </a:xfrm>
          <a:prstGeom prst="line">
            <a:avLst/>
          </a:prstGeom>
          <a:ln w="762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TextBox 62"/>
          <p:cNvSpPr txBox="1"/>
          <p:nvPr/>
        </p:nvSpPr>
        <p:spPr>
          <a:xfrm>
            <a:off x="548640" y="6391656"/>
            <a:ext cx="1481328" cy="216072"/>
          </a:xfrm>
          <a:prstGeom prst="rect">
            <a:avLst/>
          </a:prstGeom>
          <a:noFill/>
          <a:ln>
            <a:noFill/>
          </a:ln>
        </p:spPr>
        <p:txBody>
          <a:bodyPr wrap="square" lIns="32918" tIns="32918" rIns="32918" bIns="32918" anchor="t">
            <a:spAutoFit/>
          </a:bodyPr>
          <a:lstStyle/>
          <a:p>
            <a:pPr algn="l"/>
            <a:r>
              <a:rPr sz="972" b="1">
                <a:solidFill>
                  <a:srgbClr val="081846"/>
                </a:solidFill>
                <a:latin typeface="Arial"/>
              </a:rPr>
              <a:t>Macro / Consumer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194560" y="6391656"/>
            <a:ext cx="3017520" cy="208697"/>
          </a:xfrm>
          <a:prstGeom prst="rect">
            <a:avLst/>
          </a:prstGeom>
          <a:noFill/>
          <a:ln>
            <a:noFill/>
          </a:ln>
        </p:spPr>
        <p:txBody>
          <a:bodyPr wrap="square" lIns="32918" tIns="32918" rIns="32918" bIns="32918" anchor="t">
            <a:spAutoFit/>
          </a:bodyPr>
          <a:lstStyle/>
          <a:p>
            <a:pPr algn="l"/>
            <a:r>
              <a:rPr sz="924">
                <a:solidFill>
                  <a:srgbClr val="4A4E59"/>
                </a:solidFill>
                <a:latin typeface="Arial"/>
              </a:rPr>
              <a:t>Consumer confidence, inflation pressure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431536" y="6391656"/>
            <a:ext cx="1700784" cy="214212"/>
          </a:xfrm>
          <a:prstGeom prst="rect">
            <a:avLst/>
          </a:prstGeom>
          <a:noFill/>
          <a:ln>
            <a:noFill/>
          </a:ln>
        </p:spPr>
        <p:txBody>
          <a:bodyPr wrap="square" lIns="32918" tIns="32918" rIns="32918" bIns="32918" anchor="t">
            <a:spAutoFit/>
          </a:bodyPr>
          <a:lstStyle/>
          <a:p>
            <a:pPr algn="ctr"/>
            <a:r>
              <a:rPr sz="960" b="1">
                <a:solidFill>
                  <a:srgbClr val="CE1126"/>
                </a:solidFill>
                <a:latin typeface="Arial"/>
              </a:rPr>
              <a:t>Soft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626096" y="6391656"/>
            <a:ext cx="1591056" cy="214212"/>
          </a:xfrm>
          <a:prstGeom prst="rect">
            <a:avLst/>
          </a:prstGeom>
          <a:noFill/>
          <a:ln>
            <a:noFill/>
          </a:ln>
        </p:spPr>
        <p:txBody>
          <a:bodyPr wrap="square" lIns="32918" tIns="32918" rIns="32918" bIns="32918" anchor="t">
            <a:spAutoFit/>
          </a:bodyPr>
          <a:lstStyle/>
          <a:p>
            <a:pPr algn="ctr"/>
            <a:r>
              <a:rPr sz="960">
                <a:solidFill>
                  <a:srgbClr val="4A4E59"/>
                </a:solidFill>
                <a:latin typeface="Arial"/>
              </a:rPr>
              <a:t>Neutral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436608" y="6391656"/>
            <a:ext cx="1810512" cy="214212"/>
          </a:xfrm>
          <a:prstGeom prst="rect">
            <a:avLst/>
          </a:prstGeom>
          <a:noFill/>
          <a:ln>
            <a:noFill/>
          </a:ln>
        </p:spPr>
        <p:txBody>
          <a:bodyPr wrap="square" lIns="32918" tIns="32918" rIns="32918" bIns="32918" anchor="t">
            <a:spAutoFit/>
          </a:bodyPr>
          <a:lstStyle/>
          <a:p>
            <a:pPr algn="ctr"/>
            <a:r>
              <a:rPr sz="960">
                <a:solidFill>
                  <a:srgbClr val="4A4E59"/>
                </a:solidFill>
                <a:latin typeface="Arial"/>
              </a:rPr>
              <a:t>Traffic pressure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11664086" y="6397142"/>
            <a:ext cx="1009498" cy="241402"/>
          </a:xfrm>
          <a:prstGeom prst="roundRect">
            <a:avLst/>
          </a:prstGeom>
          <a:solidFill>
            <a:srgbClr val="CE11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3" tIns="0" rIns="10973" bIns="0" rtlCol="0" anchor="ctr"/>
          <a:lstStyle/>
          <a:p>
            <a:pPr algn="ctr"/>
            <a:r>
              <a:rPr sz="924" b="1">
                <a:solidFill>
                  <a:srgbClr val="FFFFFF"/>
                </a:solidFill>
                <a:latin typeface="Arial"/>
              </a:rPr>
              <a:t>NEGATIVE</a:t>
            </a:r>
          </a:p>
        </p:txBody>
      </p:sp>
      <p:cxnSp>
        <p:nvCxnSpPr>
          <p:cNvPr id="69" name="Connector 68"/>
          <p:cNvCxnSpPr/>
          <p:nvPr/>
        </p:nvCxnSpPr>
        <p:spPr>
          <a:xfrm>
            <a:off x="460858" y="6649517"/>
            <a:ext cx="13562381" cy="0"/>
          </a:xfrm>
          <a:prstGeom prst="line">
            <a:avLst/>
          </a:prstGeom>
          <a:ln w="762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TextBox 69"/>
          <p:cNvSpPr txBox="1"/>
          <p:nvPr/>
        </p:nvSpPr>
        <p:spPr>
          <a:xfrm>
            <a:off x="548640" y="6671463"/>
            <a:ext cx="1481328" cy="216072"/>
          </a:xfrm>
          <a:prstGeom prst="rect">
            <a:avLst/>
          </a:prstGeom>
          <a:noFill/>
          <a:ln>
            <a:noFill/>
          </a:ln>
        </p:spPr>
        <p:txBody>
          <a:bodyPr wrap="square" lIns="32918" tIns="32918" rIns="32918" bIns="32918" anchor="t">
            <a:spAutoFit/>
          </a:bodyPr>
          <a:lstStyle/>
          <a:p>
            <a:pPr algn="l"/>
            <a:r>
              <a:rPr sz="972" b="1">
                <a:solidFill>
                  <a:srgbClr val="081846"/>
                </a:solidFill>
                <a:latin typeface="Arial"/>
              </a:rPr>
              <a:t>Competition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2194560" y="6671462"/>
            <a:ext cx="3017520" cy="208697"/>
          </a:xfrm>
          <a:prstGeom prst="rect">
            <a:avLst/>
          </a:prstGeom>
          <a:noFill/>
          <a:ln>
            <a:noFill/>
          </a:ln>
        </p:spPr>
        <p:txBody>
          <a:bodyPr wrap="square" lIns="32918" tIns="32918" rIns="32918" bIns="32918" anchor="t">
            <a:spAutoFit/>
          </a:bodyPr>
          <a:lstStyle/>
          <a:p>
            <a:pPr algn="l"/>
            <a:r>
              <a:rPr sz="924">
                <a:solidFill>
                  <a:srgbClr val="4A4E59"/>
                </a:solidFill>
                <a:latin typeface="Arial"/>
              </a:rPr>
              <a:t>Competitor promo intensity / price gap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431536" y="6671463"/>
            <a:ext cx="1700784" cy="214212"/>
          </a:xfrm>
          <a:prstGeom prst="rect">
            <a:avLst/>
          </a:prstGeom>
          <a:noFill/>
          <a:ln>
            <a:noFill/>
          </a:ln>
        </p:spPr>
        <p:txBody>
          <a:bodyPr wrap="square" lIns="32918" tIns="32918" rIns="32918" bIns="32918" anchor="t">
            <a:spAutoFit/>
          </a:bodyPr>
          <a:lstStyle/>
          <a:p>
            <a:pPr algn="ctr"/>
            <a:r>
              <a:rPr sz="960" b="1">
                <a:solidFill>
                  <a:srgbClr val="CE1126"/>
                </a:solidFill>
                <a:latin typeface="Arial"/>
              </a:rPr>
              <a:t>High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626096" y="6671463"/>
            <a:ext cx="1591056" cy="214212"/>
          </a:xfrm>
          <a:prstGeom prst="rect">
            <a:avLst/>
          </a:prstGeom>
          <a:noFill/>
          <a:ln>
            <a:noFill/>
          </a:ln>
        </p:spPr>
        <p:txBody>
          <a:bodyPr wrap="square" lIns="32918" tIns="32918" rIns="32918" bIns="32918" anchor="t">
            <a:spAutoFit/>
          </a:bodyPr>
          <a:lstStyle/>
          <a:p>
            <a:pPr algn="ctr"/>
            <a:r>
              <a:rPr sz="960">
                <a:solidFill>
                  <a:srgbClr val="4A4E59"/>
                </a:solidFill>
                <a:latin typeface="Arial"/>
              </a:rPr>
              <a:t>Average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436608" y="6671463"/>
            <a:ext cx="1810512" cy="214212"/>
          </a:xfrm>
          <a:prstGeom prst="rect">
            <a:avLst/>
          </a:prstGeom>
          <a:noFill/>
          <a:ln>
            <a:noFill/>
          </a:ln>
        </p:spPr>
        <p:txBody>
          <a:bodyPr wrap="square" lIns="32918" tIns="32918" rIns="32918" bIns="32918" anchor="t">
            <a:spAutoFit/>
          </a:bodyPr>
          <a:lstStyle/>
          <a:p>
            <a:pPr algn="ctr"/>
            <a:r>
              <a:rPr sz="960">
                <a:solidFill>
                  <a:srgbClr val="4A4E59"/>
                </a:solidFill>
                <a:latin typeface="Arial"/>
              </a:rPr>
              <a:t>Share pressure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11664086" y="6676949"/>
            <a:ext cx="1009498" cy="241402"/>
          </a:xfrm>
          <a:prstGeom prst="roundRect">
            <a:avLst/>
          </a:prstGeom>
          <a:solidFill>
            <a:srgbClr val="CE11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3" tIns="0" rIns="10973" bIns="0" rtlCol="0" anchor="ctr"/>
          <a:lstStyle/>
          <a:p>
            <a:pPr algn="ctr"/>
            <a:r>
              <a:rPr sz="924" b="1">
                <a:solidFill>
                  <a:srgbClr val="FFFFFF"/>
                </a:solidFill>
                <a:latin typeface="Arial"/>
              </a:rPr>
              <a:t>NEGATIVE</a:t>
            </a:r>
          </a:p>
        </p:txBody>
      </p:sp>
      <p:cxnSp>
        <p:nvCxnSpPr>
          <p:cNvPr id="76" name="Connector 75"/>
          <p:cNvCxnSpPr/>
          <p:nvPr/>
        </p:nvCxnSpPr>
        <p:spPr>
          <a:xfrm>
            <a:off x="460858" y="6929323"/>
            <a:ext cx="13562381" cy="0"/>
          </a:xfrm>
          <a:prstGeom prst="line">
            <a:avLst/>
          </a:prstGeom>
          <a:ln w="762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TextBox 76"/>
          <p:cNvSpPr txBox="1"/>
          <p:nvPr/>
        </p:nvSpPr>
        <p:spPr>
          <a:xfrm>
            <a:off x="548640" y="6951269"/>
            <a:ext cx="1481328" cy="216072"/>
          </a:xfrm>
          <a:prstGeom prst="rect">
            <a:avLst/>
          </a:prstGeom>
          <a:noFill/>
          <a:ln>
            <a:noFill/>
          </a:ln>
        </p:spPr>
        <p:txBody>
          <a:bodyPr wrap="square" lIns="32918" tIns="32918" rIns="32918" bIns="32918" anchor="t">
            <a:spAutoFit/>
          </a:bodyPr>
          <a:lstStyle/>
          <a:p>
            <a:pPr algn="l"/>
            <a:r>
              <a:rPr sz="972" b="1">
                <a:solidFill>
                  <a:srgbClr val="081846"/>
                </a:solidFill>
                <a:latin typeface="Arial"/>
              </a:rPr>
              <a:t>Industry / Category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2194560" y="6951269"/>
            <a:ext cx="3017520" cy="208697"/>
          </a:xfrm>
          <a:prstGeom prst="rect">
            <a:avLst/>
          </a:prstGeom>
          <a:noFill/>
          <a:ln>
            <a:noFill/>
          </a:ln>
        </p:spPr>
        <p:txBody>
          <a:bodyPr wrap="square" lIns="32918" tIns="32918" rIns="32918" bIns="32918" anchor="t">
            <a:spAutoFit/>
          </a:bodyPr>
          <a:lstStyle/>
          <a:p>
            <a:pPr algn="l"/>
            <a:r>
              <a:rPr sz="924">
                <a:solidFill>
                  <a:srgbClr val="4A4E59"/>
                </a:solidFill>
                <a:latin typeface="Arial"/>
              </a:rPr>
              <a:t>QSR traffic trend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5431536" y="6951269"/>
            <a:ext cx="1700784" cy="214212"/>
          </a:xfrm>
          <a:prstGeom prst="rect">
            <a:avLst/>
          </a:prstGeom>
          <a:noFill/>
          <a:ln>
            <a:noFill/>
          </a:ln>
        </p:spPr>
        <p:txBody>
          <a:bodyPr wrap="square" lIns="32918" tIns="32918" rIns="32918" bIns="32918" anchor="t">
            <a:spAutoFit/>
          </a:bodyPr>
          <a:lstStyle/>
          <a:p>
            <a:pPr algn="ctr"/>
            <a:r>
              <a:rPr sz="960" b="1">
                <a:solidFill>
                  <a:srgbClr val="EC5514"/>
                </a:solidFill>
                <a:latin typeface="Arial"/>
              </a:rPr>
              <a:t>Flat / down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626096" y="6951269"/>
            <a:ext cx="1591056" cy="214212"/>
          </a:xfrm>
          <a:prstGeom prst="rect">
            <a:avLst/>
          </a:prstGeom>
          <a:noFill/>
          <a:ln>
            <a:noFill/>
          </a:ln>
        </p:spPr>
        <p:txBody>
          <a:bodyPr wrap="square" lIns="32918" tIns="32918" rIns="32918" bIns="32918" anchor="t">
            <a:spAutoFit/>
          </a:bodyPr>
          <a:lstStyle/>
          <a:p>
            <a:pPr algn="ctr"/>
            <a:r>
              <a:rPr sz="960">
                <a:solidFill>
                  <a:srgbClr val="4A4E59"/>
                </a:solidFill>
                <a:latin typeface="Arial"/>
              </a:rPr>
              <a:t>Positive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436608" y="6951269"/>
            <a:ext cx="1810512" cy="214212"/>
          </a:xfrm>
          <a:prstGeom prst="rect">
            <a:avLst/>
          </a:prstGeom>
          <a:noFill/>
          <a:ln>
            <a:noFill/>
          </a:ln>
        </p:spPr>
        <p:txBody>
          <a:bodyPr wrap="square" lIns="32918" tIns="32918" rIns="32918" bIns="32918" anchor="t">
            <a:spAutoFit/>
          </a:bodyPr>
          <a:lstStyle/>
          <a:p>
            <a:pPr algn="ctr"/>
            <a:r>
              <a:rPr sz="960">
                <a:solidFill>
                  <a:srgbClr val="4A4E59"/>
                </a:solidFill>
                <a:latin typeface="Arial"/>
              </a:rPr>
              <a:t>Category headwind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11664086" y="6956755"/>
            <a:ext cx="1009498" cy="241402"/>
          </a:xfrm>
          <a:prstGeom prst="round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3" tIns="0" rIns="10973" bIns="0" rtlCol="0" anchor="ctr"/>
          <a:lstStyle/>
          <a:p>
            <a:pPr algn="ctr"/>
            <a:r>
              <a:rPr sz="924" b="1">
                <a:solidFill>
                  <a:srgbClr val="FFFFFF"/>
                </a:solidFill>
                <a:latin typeface="Arial"/>
              </a:rPr>
              <a:t>WATCH</a:t>
            </a:r>
          </a:p>
        </p:txBody>
      </p:sp>
      <p:cxnSp>
        <p:nvCxnSpPr>
          <p:cNvPr id="83" name="Connector 82"/>
          <p:cNvCxnSpPr/>
          <p:nvPr/>
        </p:nvCxnSpPr>
        <p:spPr>
          <a:xfrm>
            <a:off x="460858" y="7209130"/>
            <a:ext cx="13562381" cy="0"/>
          </a:xfrm>
          <a:prstGeom prst="line">
            <a:avLst/>
          </a:prstGeom>
          <a:ln w="762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TextBox 83"/>
          <p:cNvSpPr txBox="1"/>
          <p:nvPr/>
        </p:nvSpPr>
        <p:spPr>
          <a:xfrm>
            <a:off x="548640" y="7231076"/>
            <a:ext cx="1481328" cy="216072"/>
          </a:xfrm>
          <a:prstGeom prst="rect">
            <a:avLst/>
          </a:prstGeom>
          <a:noFill/>
          <a:ln>
            <a:noFill/>
          </a:ln>
        </p:spPr>
        <p:txBody>
          <a:bodyPr wrap="square" lIns="32918" tIns="32918" rIns="32918" bIns="32918" anchor="t">
            <a:spAutoFit/>
          </a:bodyPr>
          <a:lstStyle/>
          <a:p>
            <a:pPr algn="l"/>
            <a:r>
              <a:rPr sz="972" b="1">
                <a:solidFill>
                  <a:srgbClr val="081846"/>
                </a:solidFill>
                <a:latin typeface="Arial"/>
              </a:rPr>
              <a:t>Footprint / Calendar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2194560" y="7231075"/>
            <a:ext cx="3017520" cy="208697"/>
          </a:xfrm>
          <a:prstGeom prst="rect">
            <a:avLst/>
          </a:prstGeom>
          <a:noFill/>
          <a:ln>
            <a:noFill/>
          </a:ln>
        </p:spPr>
        <p:txBody>
          <a:bodyPr wrap="square" lIns="32918" tIns="32918" rIns="32918" bIns="32918" anchor="t">
            <a:spAutoFit/>
          </a:bodyPr>
          <a:lstStyle/>
          <a:p>
            <a:pPr algn="l"/>
            <a:r>
              <a:rPr sz="924">
                <a:solidFill>
                  <a:srgbClr val="4A4E59"/>
                </a:solidFill>
                <a:latin typeface="Arial"/>
              </a:rPr>
              <a:t>Comparable day mix, closures, calendar shift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5431536" y="7231076"/>
            <a:ext cx="1700784" cy="214212"/>
          </a:xfrm>
          <a:prstGeom prst="rect">
            <a:avLst/>
          </a:prstGeom>
          <a:noFill/>
          <a:ln>
            <a:noFill/>
          </a:ln>
        </p:spPr>
        <p:txBody>
          <a:bodyPr wrap="square" lIns="32918" tIns="32918" rIns="32918" bIns="32918" anchor="t">
            <a:spAutoFit/>
          </a:bodyPr>
          <a:lstStyle/>
          <a:p>
            <a:pPr algn="ctr"/>
            <a:r>
              <a:rPr sz="960" b="1">
                <a:solidFill>
                  <a:srgbClr val="4A4E59"/>
                </a:solidFill>
                <a:latin typeface="Arial"/>
              </a:rPr>
              <a:t>Stable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7626096" y="7231076"/>
            <a:ext cx="1591056" cy="214212"/>
          </a:xfrm>
          <a:prstGeom prst="rect">
            <a:avLst/>
          </a:prstGeom>
          <a:noFill/>
          <a:ln>
            <a:noFill/>
          </a:ln>
        </p:spPr>
        <p:txBody>
          <a:bodyPr wrap="square" lIns="32918" tIns="32918" rIns="32918" bIns="32918" anchor="t">
            <a:spAutoFit/>
          </a:bodyPr>
          <a:lstStyle/>
          <a:p>
            <a:pPr algn="ctr"/>
            <a:r>
              <a:rPr sz="960">
                <a:solidFill>
                  <a:srgbClr val="4A4E59"/>
                </a:solidFill>
                <a:latin typeface="Arial"/>
              </a:rPr>
              <a:t>Stable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436608" y="7231076"/>
            <a:ext cx="1810512" cy="214212"/>
          </a:xfrm>
          <a:prstGeom prst="rect">
            <a:avLst/>
          </a:prstGeom>
          <a:noFill/>
          <a:ln>
            <a:noFill/>
          </a:ln>
        </p:spPr>
        <p:txBody>
          <a:bodyPr wrap="square" lIns="32918" tIns="32918" rIns="32918" bIns="32918" anchor="t">
            <a:spAutoFit/>
          </a:bodyPr>
          <a:lstStyle/>
          <a:p>
            <a:pPr algn="ctr"/>
            <a:r>
              <a:rPr sz="960">
                <a:solidFill>
                  <a:srgbClr val="4A4E59"/>
                </a:solidFill>
                <a:latin typeface="Arial"/>
              </a:rPr>
              <a:t>Neutral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11664086" y="7236561"/>
            <a:ext cx="1009498" cy="241402"/>
          </a:xfrm>
          <a:prstGeom prst="roundRect">
            <a:avLst/>
          </a:prstGeom>
          <a:solidFill>
            <a:srgbClr val="A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3" tIns="0" rIns="10973" bIns="0" rtlCol="0" anchor="ctr"/>
          <a:lstStyle/>
          <a:p>
            <a:pPr algn="ctr"/>
            <a:r>
              <a:rPr sz="924" b="1">
                <a:solidFill>
                  <a:srgbClr val="FFFFFF"/>
                </a:solidFill>
                <a:latin typeface="Arial"/>
              </a:rPr>
              <a:t>NEUTRAL</a:t>
            </a:r>
          </a:p>
        </p:txBody>
      </p:sp>
      <p:cxnSp>
        <p:nvCxnSpPr>
          <p:cNvPr id="90" name="Connector 89"/>
          <p:cNvCxnSpPr/>
          <p:nvPr/>
        </p:nvCxnSpPr>
        <p:spPr>
          <a:xfrm>
            <a:off x="460858" y="7488936"/>
            <a:ext cx="13562381" cy="0"/>
          </a:xfrm>
          <a:prstGeom prst="line">
            <a:avLst/>
          </a:prstGeom>
          <a:ln w="762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" name="TextBox 90"/>
          <p:cNvSpPr txBox="1"/>
          <p:nvPr/>
        </p:nvSpPr>
        <p:spPr>
          <a:xfrm>
            <a:off x="548640" y="7510882"/>
            <a:ext cx="1481328" cy="216072"/>
          </a:xfrm>
          <a:prstGeom prst="rect">
            <a:avLst/>
          </a:prstGeom>
          <a:noFill/>
          <a:ln>
            <a:noFill/>
          </a:ln>
        </p:spPr>
        <p:txBody>
          <a:bodyPr wrap="square" lIns="32918" tIns="32918" rIns="32918" bIns="32918" anchor="t">
            <a:spAutoFit/>
          </a:bodyPr>
          <a:lstStyle/>
          <a:p>
            <a:pPr algn="l"/>
            <a:r>
              <a:rPr sz="972" b="1">
                <a:solidFill>
                  <a:srgbClr val="081846"/>
                </a:solidFill>
                <a:latin typeface="Arial"/>
              </a:rPr>
              <a:t>Local Events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2194560" y="7510882"/>
            <a:ext cx="3017520" cy="208697"/>
          </a:xfrm>
          <a:prstGeom prst="rect">
            <a:avLst/>
          </a:prstGeom>
          <a:noFill/>
          <a:ln>
            <a:noFill/>
          </a:ln>
        </p:spPr>
        <p:txBody>
          <a:bodyPr wrap="square" lIns="32918" tIns="32918" rIns="32918" bIns="32918" anchor="t">
            <a:spAutoFit/>
          </a:bodyPr>
          <a:lstStyle/>
          <a:p>
            <a:pPr algn="l"/>
            <a:r>
              <a:rPr sz="924">
                <a:solidFill>
                  <a:srgbClr val="4A4E59"/>
                </a:solidFill>
                <a:latin typeface="Arial"/>
              </a:rPr>
              <a:t>Market disruptions, events, strikes, local demand shocks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5431536" y="7510882"/>
            <a:ext cx="1700784" cy="214212"/>
          </a:xfrm>
          <a:prstGeom prst="rect">
            <a:avLst/>
          </a:prstGeom>
          <a:noFill/>
          <a:ln>
            <a:noFill/>
          </a:ln>
        </p:spPr>
        <p:txBody>
          <a:bodyPr wrap="square" lIns="32918" tIns="32918" rIns="32918" bIns="32918" anchor="t">
            <a:spAutoFit/>
          </a:bodyPr>
          <a:lstStyle/>
          <a:p>
            <a:pPr algn="ctr"/>
            <a:r>
              <a:rPr sz="960" b="1">
                <a:solidFill>
                  <a:srgbClr val="EC5514"/>
                </a:solidFill>
                <a:latin typeface="Arial"/>
              </a:rPr>
              <a:t>Selective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7626096" y="7510882"/>
            <a:ext cx="1591056" cy="214212"/>
          </a:xfrm>
          <a:prstGeom prst="rect">
            <a:avLst/>
          </a:prstGeom>
          <a:noFill/>
          <a:ln>
            <a:noFill/>
          </a:ln>
        </p:spPr>
        <p:txBody>
          <a:bodyPr wrap="square" lIns="32918" tIns="32918" rIns="32918" bIns="32918" anchor="t">
            <a:spAutoFit/>
          </a:bodyPr>
          <a:lstStyle/>
          <a:p>
            <a:pPr algn="ctr"/>
            <a:r>
              <a:rPr sz="960">
                <a:solidFill>
                  <a:srgbClr val="4A4E59"/>
                </a:solidFill>
                <a:latin typeface="Arial"/>
              </a:rPr>
              <a:t>Normal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436608" y="7510882"/>
            <a:ext cx="1810512" cy="214212"/>
          </a:xfrm>
          <a:prstGeom prst="rect">
            <a:avLst/>
          </a:prstGeom>
          <a:noFill/>
          <a:ln>
            <a:noFill/>
          </a:ln>
        </p:spPr>
        <p:txBody>
          <a:bodyPr wrap="square" lIns="32918" tIns="32918" rIns="32918" bIns="32918" anchor="t">
            <a:spAutoFit/>
          </a:bodyPr>
          <a:lstStyle/>
          <a:p>
            <a:pPr algn="ctr"/>
            <a:r>
              <a:rPr sz="960">
                <a:solidFill>
                  <a:srgbClr val="4A4E59"/>
                </a:solidFill>
                <a:latin typeface="Arial"/>
              </a:rPr>
              <a:t>Localized impact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11664086" y="7516368"/>
            <a:ext cx="1009498" cy="241402"/>
          </a:xfrm>
          <a:prstGeom prst="round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3" tIns="0" rIns="10973" bIns="0" rtlCol="0" anchor="ctr"/>
          <a:lstStyle/>
          <a:p>
            <a:pPr algn="ctr"/>
            <a:r>
              <a:rPr sz="924" b="1">
                <a:solidFill>
                  <a:srgbClr val="FFFFFF"/>
                </a:solidFill>
                <a:latin typeface="Arial"/>
              </a:rPr>
              <a:t>WATCH</a:t>
            </a:r>
          </a:p>
        </p:txBody>
      </p:sp>
      <p:cxnSp>
        <p:nvCxnSpPr>
          <p:cNvPr id="97" name="Connector 96"/>
          <p:cNvCxnSpPr/>
          <p:nvPr/>
        </p:nvCxnSpPr>
        <p:spPr>
          <a:xfrm>
            <a:off x="460858" y="7768742"/>
            <a:ext cx="13562381" cy="0"/>
          </a:xfrm>
          <a:prstGeom prst="line">
            <a:avLst/>
          </a:prstGeom>
          <a:ln w="762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TextBox 97"/>
          <p:cNvSpPr txBox="1"/>
          <p:nvPr/>
        </p:nvSpPr>
        <p:spPr>
          <a:xfrm>
            <a:off x="274320" y="7922362"/>
            <a:ext cx="11850624" cy="204978"/>
          </a:xfrm>
          <a:prstGeom prst="rect">
            <a:avLst/>
          </a:prstGeom>
          <a:noFill/>
          <a:ln>
            <a:noFill/>
          </a:ln>
        </p:spPr>
        <p:txBody>
          <a:bodyPr wrap="square" lIns="32918" tIns="32918" rIns="32918" bIns="32918" anchor="t">
            <a:spAutoFit/>
          </a:bodyPr>
          <a:lstStyle/>
          <a:p>
            <a:pPr algn="l"/>
            <a:r>
              <a:rPr sz="900">
                <a:solidFill>
                  <a:srgbClr val="4A4E59"/>
                </a:solidFill>
                <a:latin typeface="Arial"/>
              </a:rPr>
              <a:t>Note: External context separates uncontrollable headwinds/tailwinds from internal execution and helps calibrate targets and narrative.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86538" y="-61424"/>
            <a:ext cx="10314432" cy="978729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2880" b="1">
                <a:solidFill>
                  <a:srgbClr val="0A1850"/>
                </a:solidFill>
                <a:latin typeface="Arial"/>
              </a:rPr>
              <a:t>Growth Momentum Overview: Signals That Create Incremental GC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97510" y="667941"/>
            <a:ext cx="9765792" cy="28809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1272">
                <a:solidFill>
                  <a:srgbClr val="67748F"/>
                </a:solidFill>
                <a:latin typeface="Arial"/>
              </a:rPr>
              <a:t>These signals are expected to create incremental lift and explain why GC moved above or below the protected base.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353898" y="142646"/>
            <a:ext cx="877824" cy="395021"/>
          </a:xfrm>
          <a:prstGeom prst="roundRect">
            <a:avLst/>
          </a:prstGeom>
          <a:solidFill>
            <a:srgbClr val="081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20" b="1">
                <a:solidFill>
                  <a:srgbClr val="FFFFFF"/>
                </a:solidFill>
                <a:latin typeface="Arial"/>
              </a:rPr>
              <a:t>3 OF 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7" y="1075335"/>
            <a:ext cx="11565331" cy="277611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160"/>
          </a:p>
        </p:txBody>
      </p:sp>
      <p:sp>
        <p:nvSpPr>
          <p:cNvPr id="6" name="Rounded Rectangle 5"/>
          <p:cNvSpPr/>
          <p:nvPr/>
        </p:nvSpPr>
        <p:spPr>
          <a:xfrm>
            <a:off x="3511296" y="1163117"/>
            <a:ext cx="3533242" cy="57058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04E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160"/>
          </a:p>
        </p:txBody>
      </p:sp>
      <p:sp>
        <p:nvSpPr>
          <p:cNvPr id="7" name="TextBox 6"/>
          <p:cNvSpPr txBox="1"/>
          <p:nvPr/>
        </p:nvSpPr>
        <p:spPr>
          <a:xfrm>
            <a:off x="3675888" y="1017791"/>
            <a:ext cx="3236976" cy="55399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104EDC"/>
                </a:solidFill>
                <a:latin typeface="Arial"/>
              </a:rPr>
              <a:t>+33M commercial movement (+10.0%)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63440" y="1303741"/>
            <a:ext cx="1207008" cy="421013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1068" i="1">
                <a:solidFill>
                  <a:srgbClr val="28334D"/>
                </a:solidFill>
                <a:latin typeface="Arial"/>
              </a:rPr>
              <a:t>Illustrative example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119226" y="2907792"/>
            <a:ext cx="9612173" cy="0"/>
          </a:xfrm>
          <a:prstGeom prst="line">
            <a:avLst/>
          </a:prstGeom>
          <a:ln w="16510">
            <a:solidFill>
              <a:srgbClr val="6E7891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64592" y="1758352"/>
            <a:ext cx="680314" cy="960199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1128" b="1">
                <a:solidFill>
                  <a:srgbClr val="104EDC"/>
                </a:solidFill>
                <a:latin typeface="Arial"/>
              </a:rPr>
              <a:t>Growth
Momentum
Drivers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3619" y="2859306"/>
            <a:ext cx="724205" cy="579774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1056" b="1">
                <a:solidFill>
                  <a:srgbClr val="28334D"/>
                </a:solidFill>
                <a:latin typeface="Arial"/>
              </a:rPr>
              <a:t>Contribution
(M)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316736" y="2414017"/>
            <a:ext cx="504749" cy="493775"/>
          </a:xfrm>
          <a:prstGeom prst="rect">
            <a:avLst/>
          </a:prstGeom>
          <a:solidFill>
            <a:srgbClr val="104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160"/>
          </a:p>
        </p:txBody>
      </p:sp>
      <p:cxnSp>
        <p:nvCxnSpPr>
          <p:cNvPr id="13" name="Connector 12"/>
          <p:cNvCxnSpPr/>
          <p:nvPr/>
        </p:nvCxnSpPr>
        <p:spPr>
          <a:xfrm>
            <a:off x="1821485" y="2414016"/>
            <a:ext cx="537667" cy="0"/>
          </a:xfrm>
          <a:prstGeom prst="line">
            <a:avLst/>
          </a:prstGeom>
          <a:ln w="16510">
            <a:solidFill>
              <a:srgbClr val="6E7891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1228952" y="2200691"/>
            <a:ext cx="680314" cy="262059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1103" b="1">
                <a:solidFill>
                  <a:srgbClr val="0A1850"/>
                </a:solidFill>
                <a:latin typeface="Arial"/>
              </a:rPr>
              <a:t>Pricing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3818" y="3016120"/>
            <a:ext cx="603504" cy="28809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1272" b="1">
                <a:solidFill>
                  <a:srgbClr val="104EDC"/>
                </a:solidFill>
                <a:latin typeface="Arial"/>
              </a:rPr>
              <a:t>+10M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61872" y="3152758"/>
            <a:ext cx="636422" cy="431785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1103" b="1">
                <a:solidFill>
                  <a:srgbClr val="104EDC"/>
                </a:solidFill>
                <a:latin typeface="Arial"/>
              </a:rPr>
              <a:t>(+3.0%)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359152" y="2463394"/>
            <a:ext cx="504749" cy="444398"/>
          </a:xfrm>
          <a:prstGeom prst="rect">
            <a:avLst/>
          </a:prstGeom>
          <a:solidFill>
            <a:srgbClr val="104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160"/>
          </a:p>
        </p:txBody>
      </p:sp>
      <p:cxnSp>
        <p:nvCxnSpPr>
          <p:cNvPr id="18" name="Connector 17"/>
          <p:cNvCxnSpPr/>
          <p:nvPr/>
        </p:nvCxnSpPr>
        <p:spPr>
          <a:xfrm>
            <a:off x="2863901" y="1969618"/>
            <a:ext cx="537667" cy="0"/>
          </a:xfrm>
          <a:prstGeom prst="line">
            <a:avLst/>
          </a:prstGeom>
          <a:ln w="16510">
            <a:solidFill>
              <a:srgbClr val="6E7891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2271368" y="2030966"/>
            <a:ext cx="680314" cy="601511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1103" b="1">
                <a:solidFill>
                  <a:srgbClr val="0A1850"/>
                </a:solidFill>
                <a:latin typeface="Arial"/>
              </a:rPr>
              <a:t>Promo /
Value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26234" y="3016120"/>
            <a:ext cx="603504" cy="28809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1272" b="1">
                <a:solidFill>
                  <a:srgbClr val="104EDC"/>
                </a:solidFill>
                <a:latin typeface="Arial"/>
              </a:rPr>
              <a:t>+9M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04288" y="3152758"/>
            <a:ext cx="636422" cy="431785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1103" b="1">
                <a:solidFill>
                  <a:srgbClr val="104EDC"/>
                </a:solidFill>
                <a:latin typeface="Arial"/>
              </a:rPr>
              <a:t>(+2.7%)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401568" y="2562149"/>
            <a:ext cx="504749" cy="345643"/>
          </a:xfrm>
          <a:prstGeom prst="rect">
            <a:avLst/>
          </a:prstGeom>
          <a:solidFill>
            <a:srgbClr val="104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160"/>
          </a:p>
        </p:txBody>
      </p:sp>
      <p:cxnSp>
        <p:nvCxnSpPr>
          <p:cNvPr id="23" name="Connector 22"/>
          <p:cNvCxnSpPr/>
          <p:nvPr/>
        </p:nvCxnSpPr>
        <p:spPr>
          <a:xfrm>
            <a:off x="3906317" y="1623974"/>
            <a:ext cx="537667" cy="0"/>
          </a:xfrm>
          <a:prstGeom prst="line">
            <a:avLst/>
          </a:prstGeom>
          <a:ln w="16510">
            <a:solidFill>
              <a:srgbClr val="6E7891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3313785" y="2200691"/>
            <a:ext cx="680314" cy="262059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1103" b="1">
                <a:solidFill>
                  <a:srgbClr val="0A1850"/>
                </a:solidFill>
                <a:latin typeface="Arial"/>
              </a:rPr>
              <a:t>Media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68650" y="3016120"/>
            <a:ext cx="603504" cy="28809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1272" b="1">
                <a:solidFill>
                  <a:srgbClr val="104EDC"/>
                </a:solidFill>
                <a:latin typeface="Arial"/>
              </a:rPr>
              <a:t>+7M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346704" y="3152758"/>
            <a:ext cx="636422" cy="431785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1103" b="1">
                <a:solidFill>
                  <a:srgbClr val="104EDC"/>
                </a:solidFill>
                <a:latin typeface="Arial"/>
              </a:rPr>
              <a:t>(+2.1%)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443984" y="2710282"/>
            <a:ext cx="504749" cy="197510"/>
          </a:xfrm>
          <a:prstGeom prst="rect">
            <a:avLst/>
          </a:prstGeom>
          <a:solidFill>
            <a:srgbClr val="104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160"/>
          </a:p>
        </p:txBody>
      </p:sp>
      <p:cxnSp>
        <p:nvCxnSpPr>
          <p:cNvPr id="28" name="Connector 27"/>
          <p:cNvCxnSpPr/>
          <p:nvPr/>
        </p:nvCxnSpPr>
        <p:spPr>
          <a:xfrm>
            <a:off x="4948733" y="1426464"/>
            <a:ext cx="515722" cy="0"/>
          </a:xfrm>
          <a:prstGeom prst="line">
            <a:avLst/>
          </a:prstGeom>
          <a:ln w="16510">
            <a:solidFill>
              <a:srgbClr val="6E7891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4356201" y="1946102"/>
            <a:ext cx="680314" cy="771237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1103" b="1">
                <a:solidFill>
                  <a:srgbClr val="0A1850"/>
                </a:solidFill>
                <a:latin typeface="Arial"/>
              </a:rPr>
              <a:t>LTO /
Menu
Innovation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11064" y="3016120"/>
            <a:ext cx="603504" cy="28809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1272" b="1">
                <a:solidFill>
                  <a:srgbClr val="104EDC"/>
                </a:solidFill>
                <a:latin typeface="Arial"/>
              </a:rPr>
              <a:t>+4M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89120" y="3152758"/>
            <a:ext cx="636422" cy="431785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1103" b="1">
                <a:solidFill>
                  <a:srgbClr val="104EDC"/>
                </a:solidFill>
                <a:latin typeface="Arial"/>
              </a:rPr>
              <a:t>(+1.2%)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64454" y="2759658"/>
            <a:ext cx="504749" cy="148133"/>
          </a:xfrm>
          <a:prstGeom prst="rect">
            <a:avLst/>
          </a:prstGeom>
          <a:solidFill>
            <a:srgbClr val="104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160"/>
          </a:p>
        </p:txBody>
      </p:sp>
      <p:cxnSp>
        <p:nvCxnSpPr>
          <p:cNvPr id="33" name="Connector 32"/>
          <p:cNvCxnSpPr/>
          <p:nvPr/>
        </p:nvCxnSpPr>
        <p:spPr>
          <a:xfrm>
            <a:off x="5969203" y="1278331"/>
            <a:ext cx="526694" cy="0"/>
          </a:xfrm>
          <a:prstGeom prst="line">
            <a:avLst/>
          </a:prstGeom>
          <a:ln w="16510">
            <a:solidFill>
              <a:srgbClr val="6E7891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5376672" y="2030966"/>
            <a:ext cx="680314" cy="601511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1103" b="1">
                <a:solidFill>
                  <a:srgbClr val="0A1850"/>
                </a:solidFill>
                <a:latin typeface="Arial"/>
              </a:rPr>
              <a:t>Digital /
CRM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31536" y="3016120"/>
            <a:ext cx="603504" cy="28809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1272" b="1">
                <a:solidFill>
                  <a:srgbClr val="104EDC"/>
                </a:solidFill>
                <a:latin typeface="Arial"/>
              </a:rPr>
              <a:t>+3M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09591" y="3152758"/>
            <a:ext cx="636422" cy="431785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1103" b="1">
                <a:solidFill>
                  <a:srgbClr val="104EDC"/>
                </a:solidFill>
                <a:latin typeface="Arial"/>
              </a:rPr>
              <a:t>(+0.9%)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95898" y="2809037"/>
            <a:ext cx="504749" cy="98755"/>
          </a:xfrm>
          <a:prstGeom prst="rect">
            <a:avLst/>
          </a:prstGeom>
          <a:solidFill>
            <a:srgbClr val="104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160"/>
          </a:p>
        </p:txBody>
      </p:sp>
      <p:cxnSp>
        <p:nvCxnSpPr>
          <p:cNvPr id="38" name="Connector 37"/>
          <p:cNvCxnSpPr/>
          <p:nvPr/>
        </p:nvCxnSpPr>
        <p:spPr>
          <a:xfrm>
            <a:off x="7000646" y="1179576"/>
            <a:ext cx="570586" cy="0"/>
          </a:xfrm>
          <a:prstGeom prst="line">
            <a:avLst/>
          </a:prstGeom>
          <a:ln w="16510">
            <a:solidFill>
              <a:srgbClr val="6E7891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6408115" y="2115828"/>
            <a:ext cx="680314" cy="431785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1103" b="1">
                <a:solidFill>
                  <a:srgbClr val="0A1850"/>
                </a:solidFill>
                <a:latin typeface="Arial"/>
              </a:rPr>
              <a:t>Delivery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62979" y="3016120"/>
            <a:ext cx="603504" cy="28809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1272" b="1">
                <a:solidFill>
                  <a:srgbClr val="104EDC"/>
                </a:solidFill>
                <a:latin typeface="Arial"/>
              </a:rPr>
              <a:t>+2M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41034" y="3152758"/>
            <a:ext cx="636422" cy="431785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1103" b="1">
                <a:solidFill>
                  <a:srgbClr val="104EDC"/>
                </a:solidFill>
                <a:latin typeface="Arial"/>
              </a:rPr>
              <a:t>(+0.6%)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571232" y="2907792"/>
            <a:ext cx="504749" cy="49378"/>
          </a:xfrm>
          <a:prstGeom prst="rect">
            <a:avLst/>
          </a:prstGeom>
          <a:solidFill>
            <a:srgbClr val="EE5E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160"/>
          </a:p>
        </p:txBody>
      </p:sp>
      <p:cxnSp>
        <p:nvCxnSpPr>
          <p:cNvPr id="43" name="Connector 42"/>
          <p:cNvCxnSpPr/>
          <p:nvPr/>
        </p:nvCxnSpPr>
        <p:spPr>
          <a:xfrm>
            <a:off x="8075981" y="1228952"/>
            <a:ext cx="548640" cy="0"/>
          </a:xfrm>
          <a:prstGeom prst="line">
            <a:avLst/>
          </a:prstGeom>
          <a:ln w="16510">
            <a:solidFill>
              <a:srgbClr val="6E7891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7483449" y="1946103"/>
            <a:ext cx="680314" cy="771237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1103" b="1">
                <a:solidFill>
                  <a:srgbClr val="0A1850"/>
                </a:solidFill>
                <a:latin typeface="Arial"/>
              </a:rPr>
              <a:t>Operations
Improvement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538314" y="3016120"/>
            <a:ext cx="603504" cy="28809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1272" b="1">
                <a:solidFill>
                  <a:srgbClr val="EB622A"/>
                </a:solidFill>
                <a:latin typeface="Arial"/>
              </a:rPr>
              <a:t>-1M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516368" y="3152758"/>
            <a:ext cx="636422" cy="431785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1103" b="1">
                <a:solidFill>
                  <a:srgbClr val="EB622A"/>
                </a:solidFill>
                <a:latin typeface="Arial"/>
              </a:rPr>
              <a:t>(-0.3%)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624621" y="2907792"/>
            <a:ext cx="504749" cy="49378"/>
          </a:xfrm>
          <a:prstGeom prst="rect">
            <a:avLst/>
          </a:prstGeom>
          <a:solidFill>
            <a:srgbClr val="EE5E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160"/>
          </a:p>
        </p:txBody>
      </p:sp>
      <p:sp>
        <p:nvSpPr>
          <p:cNvPr id="48" name="TextBox 47"/>
          <p:cNvSpPr txBox="1"/>
          <p:nvPr/>
        </p:nvSpPr>
        <p:spPr>
          <a:xfrm>
            <a:off x="8536838" y="2030965"/>
            <a:ext cx="680314" cy="601511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1103" b="1">
                <a:solidFill>
                  <a:srgbClr val="0A1850"/>
                </a:solidFill>
                <a:latin typeface="Arial"/>
              </a:rPr>
              <a:t>Supply
Improvement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591702" y="3016120"/>
            <a:ext cx="603504" cy="28809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1272" b="1">
                <a:solidFill>
                  <a:srgbClr val="EB622A"/>
                </a:solidFill>
                <a:latin typeface="Arial"/>
              </a:rPr>
              <a:t>-1M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569757" y="3152758"/>
            <a:ext cx="636422" cy="431785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1103" b="1">
                <a:solidFill>
                  <a:srgbClr val="EB622A"/>
                </a:solidFill>
                <a:latin typeface="Arial"/>
              </a:rPr>
              <a:t>(-0.3%)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11773814" y="1174089"/>
            <a:ext cx="2765146" cy="5288890"/>
          </a:xfrm>
          <a:prstGeom prst="roundRect">
            <a:avLst/>
          </a:prstGeom>
          <a:solidFill>
            <a:srgbClr val="F9FAFC"/>
          </a:solidFill>
          <a:ln w="12700">
            <a:solidFill>
              <a:srgbClr val="DE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160"/>
          </a:p>
        </p:txBody>
      </p:sp>
      <p:sp>
        <p:nvSpPr>
          <p:cNvPr id="52" name="TextBox 51"/>
          <p:cNvSpPr txBox="1"/>
          <p:nvPr/>
        </p:nvSpPr>
        <p:spPr>
          <a:xfrm>
            <a:off x="12421210" y="1195096"/>
            <a:ext cx="1481328" cy="572464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1560" b="1">
                <a:solidFill>
                  <a:srgbClr val="0A1850"/>
                </a:solidFill>
                <a:latin typeface="Arial"/>
              </a:rPr>
              <a:t>KEY TAKEAWAYS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12037162" y="1667866"/>
            <a:ext cx="2205533" cy="0"/>
          </a:xfrm>
          <a:prstGeom prst="line">
            <a:avLst/>
          </a:prstGeom>
          <a:ln w="13970">
            <a:solidFill>
              <a:srgbClr val="0A18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Oval 53"/>
          <p:cNvSpPr/>
          <p:nvPr/>
        </p:nvSpPr>
        <p:spPr>
          <a:xfrm>
            <a:off x="11982297" y="1997049"/>
            <a:ext cx="460858" cy="460858"/>
          </a:xfrm>
          <a:prstGeom prst="ellipse">
            <a:avLst/>
          </a:prstGeom>
          <a:solidFill>
            <a:srgbClr val="104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92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2563856" y="1872667"/>
            <a:ext cx="1591056" cy="112659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1344" b="1">
                <a:solidFill>
                  <a:srgbClr val="28334D"/>
                </a:solidFill>
                <a:latin typeface="Arial"/>
              </a:rPr>
              <a:t>Growth momentum
is about change,
not just stable health.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11993270" y="2787091"/>
            <a:ext cx="2205533" cy="0"/>
          </a:xfrm>
          <a:prstGeom prst="line">
            <a:avLst/>
          </a:prstGeom>
          <a:ln w="12700">
            <a:solidFill>
              <a:srgbClr val="DEE2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Oval 56"/>
          <p:cNvSpPr/>
          <p:nvPr/>
        </p:nvSpPr>
        <p:spPr>
          <a:xfrm>
            <a:off x="11982297" y="3456432"/>
            <a:ext cx="460858" cy="460858"/>
          </a:xfrm>
          <a:prstGeom prst="ellipse">
            <a:avLst/>
          </a:prstGeom>
          <a:solidFill>
            <a:srgbClr val="104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92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2563856" y="2918346"/>
            <a:ext cx="1591056" cy="1953996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1344" b="1">
                <a:solidFill>
                  <a:srgbClr val="28334D"/>
                </a:solidFill>
                <a:latin typeface="Arial"/>
              </a:rPr>
              <a:t>Commercial levers
such as pricing, media,
promo, LTO, digital,
and delivery should
create lift.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11993270" y="4246474"/>
            <a:ext cx="2205533" cy="0"/>
          </a:xfrm>
          <a:prstGeom prst="line">
            <a:avLst/>
          </a:prstGeom>
          <a:ln w="12700">
            <a:solidFill>
              <a:srgbClr val="DEE2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Oval 59"/>
          <p:cNvSpPr/>
          <p:nvPr/>
        </p:nvSpPr>
        <p:spPr>
          <a:xfrm>
            <a:off x="11982297" y="5288889"/>
            <a:ext cx="460858" cy="460858"/>
          </a:xfrm>
          <a:prstGeom prst="ellipse">
            <a:avLst/>
          </a:prstGeom>
          <a:solidFill>
            <a:srgbClr val="EE5E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92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2563856" y="4957656"/>
            <a:ext cx="1591056" cy="1540293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1344" b="1">
                <a:solidFill>
                  <a:srgbClr val="28334D"/>
                </a:solidFill>
                <a:latin typeface="Arial"/>
              </a:rPr>
              <a:t>Some operational
or supply changes
may help or
constrain
momentum.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65837" y="3983126"/>
            <a:ext cx="11565331" cy="2754173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AD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160"/>
          </a:p>
        </p:txBody>
      </p:sp>
      <p:sp>
        <p:nvSpPr>
          <p:cNvPr id="63" name="TextBox 62"/>
          <p:cNvSpPr txBox="1"/>
          <p:nvPr/>
        </p:nvSpPr>
        <p:spPr>
          <a:xfrm>
            <a:off x="274320" y="4162839"/>
            <a:ext cx="1700784" cy="276999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104EDC"/>
                </a:solidFill>
                <a:latin typeface="Arial"/>
              </a:rPr>
              <a:t>Driver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249423" y="4162839"/>
            <a:ext cx="1591056" cy="276999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104EDC"/>
                </a:solidFill>
                <a:latin typeface="Arial"/>
              </a:rPr>
              <a:t>KPI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301338" y="4162839"/>
            <a:ext cx="1207008" cy="276999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104EDC"/>
                </a:solidFill>
                <a:latin typeface="Arial"/>
              </a:rPr>
              <a:t>YoY Change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541264" y="4162839"/>
            <a:ext cx="2084832" cy="276999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104EDC"/>
                </a:solidFill>
                <a:latin typeface="Arial"/>
              </a:rPr>
              <a:t>Expected Role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988198" y="4162839"/>
            <a:ext cx="2688336" cy="276999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104EDC"/>
                </a:solidFill>
                <a:latin typeface="Arial"/>
              </a:rPr>
              <a:t>Comment</a:t>
            </a:r>
          </a:p>
        </p:txBody>
      </p:sp>
      <p:cxnSp>
        <p:nvCxnSpPr>
          <p:cNvPr id="68" name="Connector 67"/>
          <p:cNvCxnSpPr/>
          <p:nvPr/>
        </p:nvCxnSpPr>
        <p:spPr>
          <a:xfrm>
            <a:off x="252375" y="4454956"/>
            <a:ext cx="11115446" cy="0"/>
          </a:xfrm>
          <a:prstGeom prst="line">
            <a:avLst/>
          </a:prstGeom>
          <a:ln w="12700">
            <a:solidFill>
              <a:srgbClr val="92A0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TextBox 68"/>
          <p:cNvSpPr txBox="1"/>
          <p:nvPr/>
        </p:nvSpPr>
        <p:spPr>
          <a:xfrm>
            <a:off x="274320" y="4542390"/>
            <a:ext cx="1755648" cy="264047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1116" b="1">
                <a:solidFill>
                  <a:srgbClr val="28334D"/>
                </a:solidFill>
                <a:latin typeface="Arial"/>
              </a:rPr>
              <a:t>Pricing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2194560" y="4542390"/>
            <a:ext cx="1777594" cy="264047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1116">
                <a:solidFill>
                  <a:srgbClr val="28334D"/>
                </a:solidFill>
                <a:latin typeface="Arial"/>
              </a:rPr>
              <a:t>Effective price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301338" y="4542390"/>
            <a:ext cx="932688" cy="264047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1116">
                <a:solidFill>
                  <a:srgbClr val="28334D"/>
                </a:solidFill>
                <a:latin typeface="Arial"/>
              </a:rPr>
              <a:t>+4%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519318" y="4542390"/>
            <a:ext cx="2194560" cy="264047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1116">
                <a:solidFill>
                  <a:srgbClr val="28334D"/>
                </a:solidFill>
                <a:latin typeface="Arial"/>
              </a:rPr>
              <a:t>Drive pricing realization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010144" y="4542390"/>
            <a:ext cx="3050438" cy="264047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1116">
                <a:solidFill>
                  <a:srgbClr val="28334D"/>
                </a:solidFill>
                <a:latin typeface="Arial"/>
              </a:rPr>
              <a:t>Affordability must be monitored</a:t>
            </a:r>
          </a:p>
        </p:txBody>
      </p:sp>
      <p:cxnSp>
        <p:nvCxnSpPr>
          <p:cNvPr id="74" name="Connector 73"/>
          <p:cNvCxnSpPr/>
          <p:nvPr/>
        </p:nvCxnSpPr>
        <p:spPr>
          <a:xfrm>
            <a:off x="252375" y="4877410"/>
            <a:ext cx="11115446" cy="0"/>
          </a:xfrm>
          <a:prstGeom prst="line">
            <a:avLst/>
          </a:prstGeom>
          <a:ln w="10160">
            <a:solidFill>
              <a:srgbClr val="DEE2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TextBox 74"/>
          <p:cNvSpPr txBox="1"/>
          <p:nvPr/>
        </p:nvSpPr>
        <p:spPr>
          <a:xfrm>
            <a:off x="274320" y="4899006"/>
            <a:ext cx="1755648" cy="264047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1116" b="1">
                <a:solidFill>
                  <a:srgbClr val="28334D"/>
                </a:solidFill>
                <a:latin typeface="Arial"/>
              </a:rPr>
              <a:t>Promo / Value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2194560" y="4899006"/>
            <a:ext cx="1777594" cy="264047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1116">
                <a:solidFill>
                  <a:srgbClr val="28334D"/>
                </a:solidFill>
                <a:latin typeface="Arial"/>
              </a:rPr>
              <a:t>Discount depth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301338" y="4899006"/>
            <a:ext cx="932688" cy="264047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1116">
                <a:solidFill>
                  <a:srgbClr val="28334D"/>
                </a:solidFill>
                <a:latin typeface="Arial"/>
              </a:rPr>
              <a:t>+2pp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5519318" y="4899006"/>
            <a:ext cx="2194560" cy="264047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1116">
                <a:solidFill>
                  <a:srgbClr val="28334D"/>
                </a:solidFill>
                <a:latin typeface="Arial"/>
              </a:rPr>
              <a:t>Drive volume and traffic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10144" y="4899006"/>
            <a:ext cx="3050438" cy="264047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1116">
                <a:solidFill>
                  <a:srgbClr val="28334D"/>
                </a:solidFill>
                <a:latin typeface="Arial"/>
              </a:rPr>
              <a:t>Balance lift with margin impact</a:t>
            </a:r>
          </a:p>
        </p:txBody>
      </p:sp>
      <p:cxnSp>
        <p:nvCxnSpPr>
          <p:cNvPr id="80" name="Connector 79"/>
          <p:cNvCxnSpPr/>
          <p:nvPr/>
        </p:nvCxnSpPr>
        <p:spPr>
          <a:xfrm>
            <a:off x="252375" y="5234026"/>
            <a:ext cx="11115446" cy="0"/>
          </a:xfrm>
          <a:prstGeom prst="line">
            <a:avLst/>
          </a:prstGeom>
          <a:ln w="10160">
            <a:solidFill>
              <a:srgbClr val="DEE2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TextBox 80"/>
          <p:cNvSpPr txBox="1"/>
          <p:nvPr/>
        </p:nvSpPr>
        <p:spPr>
          <a:xfrm>
            <a:off x="274320" y="5255622"/>
            <a:ext cx="1755648" cy="264047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1116" b="1">
                <a:solidFill>
                  <a:srgbClr val="28334D"/>
                </a:solidFill>
                <a:latin typeface="Arial"/>
              </a:rPr>
              <a:t>Media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2194560" y="5255622"/>
            <a:ext cx="1777594" cy="264047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1116">
                <a:solidFill>
                  <a:srgbClr val="28334D"/>
                </a:solidFill>
                <a:latin typeface="Arial"/>
              </a:rPr>
              <a:t>Media spend ROI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4301338" y="5255622"/>
            <a:ext cx="932688" cy="264047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1116">
                <a:solidFill>
                  <a:srgbClr val="28334D"/>
                </a:solidFill>
                <a:latin typeface="Arial"/>
              </a:rPr>
              <a:t>+10%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5519318" y="5255621"/>
            <a:ext cx="2194560" cy="264047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1116">
                <a:solidFill>
                  <a:srgbClr val="28334D"/>
                </a:solidFill>
                <a:latin typeface="Arial"/>
              </a:rPr>
              <a:t>Drive awareness and traffic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8010144" y="5255622"/>
            <a:ext cx="3050438" cy="264047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1116">
                <a:solidFill>
                  <a:srgbClr val="28334D"/>
                </a:solidFill>
                <a:latin typeface="Arial"/>
              </a:rPr>
              <a:t>Focus on efficient channels</a:t>
            </a:r>
          </a:p>
        </p:txBody>
      </p:sp>
      <p:cxnSp>
        <p:nvCxnSpPr>
          <p:cNvPr id="86" name="Connector 85"/>
          <p:cNvCxnSpPr/>
          <p:nvPr/>
        </p:nvCxnSpPr>
        <p:spPr>
          <a:xfrm>
            <a:off x="252375" y="5590642"/>
            <a:ext cx="11115446" cy="0"/>
          </a:xfrm>
          <a:prstGeom prst="line">
            <a:avLst/>
          </a:prstGeom>
          <a:ln w="10160">
            <a:solidFill>
              <a:srgbClr val="DEE2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7" name="TextBox 86"/>
          <p:cNvSpPr txBox="1"/>
          <p:nvPr/>
        </p:nvSpPr>
        <p:spPr>
          <a:xfrm>
            <a:off x="274320" y="5612237"/>
            <a:ext cx="1755648" cy="264047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1116" b="1">
                <a:solidFill>
                  <a:srgbClr val="28334D"/>
                </a:solidFill>
                <a:latin typeface="Arial"/>
              </a:rPr>
              <a:t>LTO / Menu Innovation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2194560" y="5612237"/>
            <a:ext cx="1777594" cy="264047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1116">
                <a:solidFill>
                  <a:srgbClr val="28334D"/>
                </a:solidFill>
                <a:latin typeface="Arial"/>
              </a:rPr>
              <a:t>LTO sales contribution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4301338" y="5612238"/>
            <a:ext cx="932688" cy="264047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1116">
                <a:solidFill>
                  <a:srgbClr val="28334D"/>
                </a:solidFill>
                <a:latin typeface="Arial"/>
              </a:rPr>
              <a:t>+15%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5519318" y="5526381"/>
            <a:ext cx="2194560" cy="43576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1116">
                <a:solidFill>
                  <a:srgbClr val="28334D"/>
                </a:solidFill>
                <a:latin typeface="Arial"/>
              </a:rPr>
              <a:t>Drive trial and incremental sales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8010144" y="5612238"/>
            <a:ext cx="3050438" cy="264047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1116">
                <a:solidFill>
                  <a:srgbClr val="28334D"/>
                </a:solidFill>
                <a:latin typeface="Arial"/>
              </a:rPr>
              <a:t>Sustain novelty and relevance</a:t>
            </a:r>
          </a:p>
        </p:txBody>
      </p:sp>
      <p:cxnSp>
        <p:nvCxnSpPr>
          <p:cNvPr id="92" name="Connector 91"/>
          <p:cNvCxnSpPr/>
          <p:nvPr/>
        </p:nvCxnSpPr>
        <p:spPr>
          <a:xfrm>
            <a:off x="252375" y="5947258"/>
            <a:ext cx="11115446" cy="0"/>
          </a:xfrm>
          <a:prstGeom prst="line">
            <a:avLst/>
          </a:prstGeom>
          <a:ln w="10160">
            <a:solidFill>
              <a:srgbClr val="DEE2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" name="TextBox 92"/>
          <p:cNvSpPr txBox="1"/>
          <p:nvPr/>
        </p:nvSpPr>
        <p:spPr>
          <a:xfrm>
            <a:off x="274320" y="5968854"/>
            <a:ext cx="1755648" cy="264047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1116" b="1">
                <a:solidFill>
                  <a:srgbClr val="28334D"/>
                </a:solidFill>
                <a:latin typeface="Arial"/>
              </a:rPr>
              <a:t>Digital / CRM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2194560" y="5968854"/>
            <a:ext cx="1777594" cy="264047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1116">
                <a:solidFill>
                  <a:srgbClr val="28334D"/>
                </a:solidFill>
                <a:latin typeface="Arial"/>
              </a:rPr>
              <a:t>Active members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4301338" y="5968854"/>
            <a:ext cx="932688" cy="264047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1116">
                <a:solidFill>
                  <a:srgbClr val="28334D"/>
                </a:solidFill>
                <a:latin typeface="Arial"/>
              </a:rPr>
              <a:t>+8%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5519318" y="5882997"/>
            <a:ext cx="2194560" cy="43576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1116">
                <a:solidFill>
                  <a:srgbClr val="28334D"/>
                </a:solidFill>
                <a:latin typeface="Arial"/>
              </a:rPr>
              <a:t>Increase engagement and frequency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8010144" y="5968854"/>
            <a:ext cx="3050438" cy="264047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1116">
                <a:solidFill>
                  <a:srgbClr val="28334D"/>
                </a:solidFill>
                <a:latin typeface="Arial"/>
              </a:rPr>
              <a:t>Grow and retain active base</a:t>
            </a:r>
          </a:p>
        </p:txBody>
      </p:sp>
      <p:cxnSp>
        <p:nvCxnSpPr>
          <p:cNvPr id="98" name="Connector 97"/>
          <p:cNvCxnSpPr/>
          <p:nvPr/>
        </p:nvCxnSpPr>
        <p:spPr>
          <a:xfrm>
            <a:off x="252375" y="6303874"/>
            <a:ext cx="11115446" cy="0"/>
          </a:xfrm>
          <a:prstGeom prst="line">
            <a:avLst/>
          </a:prstGeom>
          <a:ln w="10160">
            <a:solidFill>
              <a:srgbClr val="DEE2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9" name="TextBox 98"/>
          <p:cNvSpPr txBox="1"/>
          <p:nvPr/>
        </p:nvSpPr>
        <p:spPr>
          <a:xfrm>
            <a:off x="274320" y="6325470"/>
            <a:ext cx="1755648" cy="264047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1116" b="1">
                <a:solidFill>
                  <a:srgbClr val="28334D"/>
                </a:solidFill>
                <a:latin typeface="Arial"/>
              </a:rPr>
              <a:t>Delivery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2194560" y="6325470"/>
            <a:ext cx="1777594" cy="264047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1116">
                <a:solidFill>
                  <a:srgbClr val="28334D"/>
                </a:solidFill>
                <a:latin typeface="Arial"/>
              </a:rPr>
              <a:t>Delivery sales mix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4301338" y="6325470"/>
            <a:ext cx="932688" cy="264047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1116">
                <a:solidFill>
                  <a:srgbClr val="28334D"/>
                </a:solidFill>
                <a:latin typeface="Arial"/>
              </a:rPr>
              <a:t>+1pp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5519318" y="6325469"/>
            <a:ext cx="2194560" cy="264047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1116">
                <a:solidFill>
                  <a:srgbClr val="28334D"/>
                </a:solidFill>
                <a:latin typeface="Arial"/>
              </a:rPr>
              <a:t>Expand accessible demand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8010144" y="6325470"/>
            <a:ext cx="3050438" cy="264047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1116">
                <a:solidFill>
                  <a:srgbClr val="28334D"/>
                </a:solidFill>
                <a:latin typeface="Arial"/>
              </a:rPr>
              <a:t>Manage profitability and fees</a:t>
            </a:r>
          </a:p>
        </p:txBody>
      </p:sp>
      <p:cxnSp>
        <p:nvCxnSpPr>
          <p:cNvPr id="104" name="Connector 103"/>
          <p:cNvCxnSpPr/>
          <p:nvPr/>
        </p:nvCxnSpPr>
        <p:spPr>
          <a:xfrm>
            <a:off x="252375" y="6660490"/>
            <a:ext cx="11115446" cy="0"/>
          </a:xfrm>
          <a:prstGeom prst="line">
            <a:avLst/>
          </a:prstGeom>
          <a:ln w="10160">
            <a:solidFill>
              <a:srgbClr val="DEE2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5" name="TextBox 104"/>
          <p:cNvSpPr txBox="1"/>
          <p:nvPr/>
        </p:nvSpPr>
        <p:spPr>
          <a:xfrm>
            <a:off x="274320" y="6596229"/>
            <a:ext cx="1755648" cy="43576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1116" b="1">
                <a:solidFill>
                  <a:srgbClr val="28334D"/>
                </a:solidFill>
                <a:latin typeface="Arial"/>
              </a:rPr>
              <a:t>Operations Improvement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2194560" y="6682086"/>
            <a:ext cx="1777594" cy="264047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1116">
                <a:solidFill>
                  <a:srgbClr val="28334D"/>
                </a:solidFill>
                <a:latin typeface="Arial"/>
              </a:rPr>
              <a:t>Restaurant margin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4301338" y="6682086"/>
            <a:ext cx="932688" cy="264047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1116">
                <a:solidFill>
                  <a:srgbClr val="28334D"/>
                </a:solidFill>
                <a:latin typeface="Arial"/>
              </a:rPr>
              <a:t>+1%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5519318" y="6682086"/>
            <a:ext cx="2194560" cy="264047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1116">
                <a:solidFill>
                  <a:srgbClr val="28334D"/>
                </a:solidFill>
                <a:latin typeface="Arial"/>
              </a:rPr>
              <a:t>Unlock margin to reinvest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8010144" y="6682086"/>
            <a:ext cx="3050438" cy="264047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1116">
                <a:solidFill>
                  <a:srgbClr val="28334D"/>
                </a:solidFill>
                <a:latin typeface="Arial"/>
              </a:rPr>
              <a:t>Efficiency gains may vary</a:t>
            </a:r>
          </a:p>
        </p:txBody>
      </p:sp>
      <p:cxnSp>
        <p:nvCxnSpPr>
          <p:cNvPr id="110" name="Connector 109"/>
          <p:cNvCxnSpPr/>
          <p:nvPr/>
        </p:nvCxnSpPr>
        <p:spPr>
          <a:xfrm>
            <a:off x="252375" y="7017106"/>
            <a:ext cx="11115446" cy="0"/>
          </a:xfrm>
          <a:prstGeom prst="line">
            <a:avLst/>
          </a:prstGeom>
          <a:ln w="10160">
            <a:solidFill>
              <a:srgbClr val="DEE2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1" name="TextBox 110"/>
          <p:cNvSpPr txBox="1"/>
          <p:nvPr/>
        </p:nvSpPr>
        <p:spPr>
          <a:xfrm>
            <a:off x="274320" y="7038701"/>
            <a:ext cx="1755648" cy="264047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1116" b="1">
                <a:solidFill>
                  <a:srgbClr val="28334D"/>
                </a:solidFill>
                <a:latin typeface="Arial"/>
              </a:rPr>
              <a:t>Supply Improvement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2194560" y="7038702"/>
            <a:ext cx="1777594" cy="264047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1116">
                <a:solidFill>
                  <a:srgbClr val="28334D"/>
                </a:solidFill>
                <a:latin typeface="Arial"/>
              </a:rPr>
              <a:t>COGS per unit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4301338" y="7038702"/>
            <a:ext cx="932688" cy="264047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1116">
                <a:solidFill>
                  <a:srgbClr val="28334D"/>
                </a:solidFill>
                <a:latin typeface="Arial"/>
              </a:rPr>
              <a:t>-1%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5519318" y="7038701"/>
            <a:ext cx="2194560" cy="264047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1116">
                <a:solidFill>
                  <a:srgbClr val="28334D"/>
                </a:solidFill>
                <a:latin typeface="Arial"/>
              </a:rPr>
              <a:t>Lower cost to support margin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010144" y="7038702"/>
            <a:ext cx="3050438" cy="264047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1116">
                <a:solidFill>
                  <a:srgbClr val="28334D"/>
                </a:solidFill>
                <a:latin typeface="Arial"/>
              </a:rPr>
              <a:t>Commodity and supplier driven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241402" y="6814717"/>
            <a:ext cx="6693408" cy="251159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1032" i="1">
                <a:solidFill>
                  <a:srgbClr val="67748F"/>
                </a:solidFill>
                <a:latin typeface="Arial"/>
              </a:rPr>
              <a:t>Positive movement is expected here; weak or negative movement signals lost incremental opportunity.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854062" y="55777"/>
            <a:ext cx="9125655" cy="398878"/>
          </a:xfrm>
          <a:prstGeom prst="rect">
            <a:avLst/>
          </a:prstGeom>
          <a:noFill/>
          <a:ln>
            <a:noFill/>
          </a:ln>
        </p:spPr>
        <p:txBody>
          <a:bodyPr wrap="square" lIns="32918" tIns="32918" rIns="32918" bIns="32918" anchor="ctr">
            <a:spAutoFit/>
          </a:bodyPr>
          <a:lstStyle/>
          <a:p>
            <a:pPr algn="ctr"/>
            <a:r>
              <a:rPr sz="2160" b="1" dirty="0">
                <a:solidFill>
                  <a:srgbClr val="000000"/>
                </a:solidFill>
                <a:latin typeface="Arial"/>
              </a:rPr>
              <a:t>MVM Technical Architecture</a:t>
            </a:r>
            <a:r>
              <a:rPr lang="en-US" sz="2160" b="1" dirty="0">
                <a:solidFill>
                  <a:srgbClr val="000000"/>
                </a:solidFill>
                <a:latin typeface="Arial"/>
              </a:rPr>
              <a:t> (Phase 2)</a:t>
            </a:r>
            <a:endParaRPr sz="2160" b="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2769775" y="495309"/>
            <a:ext cx="2783539" cy="1596019"/>
          </a:xfrm>
          <a:prstGeom prst="roundRect">
            <a:avLst/>
          </a:prstGeom>
          <a:solidFill>
            <a:srgbClr val="EBF8EF"/>
          </a:solidFill>
          <a:ln w="12700">
            <a:solidFill>
              <a:srgbClr val="218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160"/>
          </a:p>
        </p:txBody>
      </p:sp>
      <p:sp>
        <p:nvSpPr>
          <p:cNvPr id="6" name="Rounded Rectangle 5"/>
          <p:cNvSpPr/>
          <p:nvPr/>
        </p:nvSpPr>
        <p:spPr>
          <a:xfrm>
            <a:off x="3008264" y="583092"/>
            <a:ext cx="2435960" cy="395021"/>
          </a:xfrm>
          <a:prstGeom prst="roundRect">
            <a:avLst/>
          </a:prstGeom>
          <a:solidFill>
            <a:srgbClr val="218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1946" rIns="54864" bIns="21946" rtlCol="0" anchor="ctr"/>
          <a:lstStyle/>
          <a:p>
            <a:pPr algn="ctr"/>
            <a:r>
              <a:rPr sz="1440" b="1" dirty="0">
                <a:solidFill>
                  <a:srgbClr val="FFFFFF"/>
                </a:solidFill>
                <a:latin typeface="Arial"/>
              </a:rPr>
              <a:t>Protected Base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984655" y="1052441"/>
            <a:ext cx="1157630" cy="3560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18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1946" rIns="54864" bIns="21946" rtlCol="0" anchor="ctr"/>
          <a:lstStyle/>
          <a:p>
            <a:pPr algn="ctr"/>
            <a:r>
              <a:rPr sz="864" b="1">
                <a:solidFill>
                  <a:srgbClr val="192337"/>
                </a:solidFill>
                <a:latin typeface="Arial"/>
              </a:rPr>
              <a:t>Restaurant
Foundation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38419" y="1065896"/>
            <a:ext cx="1157630" cy="3560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18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1946" rIns="54864" bIns="21946" rtlCol="0" anchor="ctr"/>
          <a:lstStyle/>
          <a:p>
            <a:pPr algn="ctr"/>
            <a:r>
              <a:rPr sz="864" b="1">
                <a:solidFill>
                  <a:srgbClr val="192337"/>
                </a:solidFill>
                <a:latin typeface="Arial"/>
              </a:rPr>
              <a:t>Commercial
BAU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68DC0FA0-6934-834D-09EB-AB5039730904}"/>
              </a:ext>
            </a:extLst>
          </p:cNvPr>
          <p:cNvGrpSpPr/>
          <p:nvPr/>
        </p:nvGrpSpPr>
        <p:grpSpPr>
          <a:xfrm>
            <a:off x="5684988" y="495309"/>
            <a:ext cx="3752698" cy="1559828"/>
            <a:chOff x="5684988" y="495309"/>
            <a:chExt cx="3752698" cy="1559828"/>
          </a:xfrm>
        </p:grpSpPr>
        <p:sp>
          <p:nvSpPr>
            <p:cNvPr id="9" name="Rounded Rectangle 8"/>
            <p:cNvSpPr/>
            <p:nvPr/>
          </p:nvSpPr>
          <p:spPr>
            <a:xfrm>
              <a:off x="5684988" y="495309"/>
              <a:ext cx="3752698" cy="1559828"/>
            </a:xfrm>
            <a:prstGeom prst="roundRect">
              <a:avLst/>
            </a:prstGeom>
            <a:solidFill>
              <a:srgbClr val="FFF6EE"/>
            </a:solidFill>
            <a:ln w="12700">
              <a:solidFill>
                <a:srgbClr val="E85C1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160"/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5772770" y="583092"/>
              <a:ext cx="3577133" cy="395021"/>
            </a:xfrm>
            <a:prstGeom prst="roundRect">
              <a:avLst/>
            </a:prstGeom>
            <a:solidFill>
              <a:srgbClr val="E85C1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54864" tIns="21946" rIns="54864" bIns="21946" rtlCol="0" anchor="ctr"/>
            <a:lstStyle/>
            <a:p>
              <a:pPr algn="ctr"/>
              <a:r>
                <a:rPr sz="1440" b="1">
                  <a:solidFill>
                    <a:srgbClr val="FFFFFF"/>
                  </a:solidFill>
                  <a:latin typeface="Arial"/>
                </a:rPr>
                <a:t>External Context</a:t>
              </a:r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5794715" y="1109787"/>
              <a:ext cx="825703" cy="47183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E85C1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54864" tIns="21946" rIns="54864" bIns="21946" rtlCol="0" anchor="ctr"/>
            <a:lstStyle/>
            <a:p>
              <a:pPr algn="ctr"/>
              <a:r>
                <a:rPr sz="864" b="1" dirty="0">
                  <a:solidFill>
                    <a:srgbClr val="192337"/>
                  </a:solidFill>
                  <a:latin typeface="Arial"/>
                </a:rPr>
                <a:t>Weather</a:t>
              </a:r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6697228" y="1109787"/>
              <a:ext cx="825703" cy="47183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E85C1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54864" tIns="21946" rIns="54864" bIns="21946" rtlCol="0" anchor="ctr"/>
            <a:lstStyle/>
            <a:p>
              <a:pPr algn="ctr"/>
              <a:r>
                <a:rPr lang="en-US" sz="864" b="1" dirty="0">
                  <a:solidFill>
                    <a:srgbClr val="192337"/>
                  </a:solidFill>
                  <a:latin typeface="Arial"/>
                </a:rPr>
                <a:t>Macro</a:t>
              </a:r>
              <a:endParaRPr sz="864" b="1" dirty="0">
                <a:solidFill>
                  <a:srgbClr val="192337"/>
                </a:solidFill>
                <a:latin typeface="Arial"/>
              </a:endParaRPr>
            </a:p>
          </p:txBody>
        </p:sp>
        <p:sp>
          <p:nvSpPr>
            <p:cNvPr id="13" name="Rounded Rectangle 12"/>
            <p:cNvSpPr/>
            <p:nvPr/>
          </p:nvSpPr>
          <p:spPr>
            <a:xfrm>
              <a:off x="7599741" y="1109787"/>
              <a:ext cx="825703" cy="47183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E85C1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54864" tIns="21946" rIns="54864" bIns="21946" rtlCol="0" anchor="ctr"/>
            <a:lstStyle/>
            <a:p>
              <a:pPr algn="ctr"/>
              <a:r>
                <a:rPr sz="864" b="1">
                  <a:solidFill>
                    <a:srgbClr val="192337"/>
                  </a:solidFill>
                  <a:latin typeface="Arial"/>
                </a:rPr>
                <a:t>Competition</a:t>
              </a:r>
            </a:p>
          </p:txBody>
        </p:sp>
        <p:sp>
          <p:nvSpPr>
            <p:cNvPr id="14" name="Rounded Rectangle 13"/>
            <p:cNvSpPr/>
            <p:nvPr/>
          </p:nvSpPr>
          <p:spPr>
            <a:xfrm>
              <a:off x="8502255" y="1109787"/>
              <a:ext cx="825703" cy="47183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E85C1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54864" tIns="21946" rIns="54864" bIns="21946" rtlCol="0" anchor="ctr"/>
            <a:lstStyle/>
            <a:p>
              <a:pPr algn="ctr"/>
              <a:r>
                <a:rPr lang="en-US" sz="864" b="1" dirty="0">
                  <a:solidFill>
                    <a:srgbClr val="192337"/>
                  </a:solidFill>
                  <a:latin typeface="Arial"/>
                </a:rPr>
                <a:t>Industry</a:t>
              </a:r>
              <a:endParaRPr sz="864" b="1" dirty="0">
                <a:solidFill>
                  <a:srgbClr val="192337"/>
                </a:solidFill>
                <a:latin typeface="Arial"/>
              </a:endParaRPr>
            </a:p>
          </p:txBody>
        </p:sp>
      </p:grpSp>
      <p:sp>
        <p:nvSpPr>
          <p:cNvPr id="15" name="Rounded Rectangle 14"/>
          <p:cNvSpPr/>
          <p:nvPr/>
        </p:nvSpPr>
        <p:spPr>
          <a:xfrm>
            <a:off x="9516780" y="515406"/>
            <a:ext cx="3858554" cy="155982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1C5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160"/>
          </a:p>
        </p:txBody>
      </p:sp>
      <p:sp>
        <p:nvSpPr>
          <p:cNvPr id="16" name="Rounded Rectangle 15"/>
          <p:cNvSpPr/>
          <p:nvPr/>
        </p:nvSpPr>
        <p:spPr>
          <a:xfrm>
            <a:off x="9657140" y="583092"/>
            <a:ext cx="3533242" cy="395021"/>
          </a:xfrm>
          <a:prstGeom prst="roundRect">
            <a:avLst/>
          </a:prstGeom>
          <a:solidFill>
            <a:srgbClr val="1C5D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1946" rIns="54864" bIns="21946" rtlCol="0" anchor="ctr"/>
          <a:lstStyle/>
          <a:p>
            <a:pPr algn="ctr"/>
            <a:r>
              <a:rPr sz="1440" b="1">
                <a:solidFill>
                  <a:srgbClr val="FFFFFF"/>
                </a:solidFill>
                <a:latin typeface="Arial"/>
              </a:rPr>
              <a:t>Growth Momentum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679088" y="1109787"/>
            <a:ext cx="517549" cy="47183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C5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1946" rIns="54864" bIns="21946" rtlCol="0" anchor="ctr"/>
          <a:lstStyle/>
          <a:p>
            <a:pPr algn="ctr"/>
            <a:r>
              <a:rPr sz="756" b="1">
                <a:solidFill>
                  <a:srgbClr val="192337"/>
                </a:solidFill>
                <a:latin typeface="Arial"/>
              </a:rPr>
              <a:t>Pricing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273448" y="1109787"/>
            <a:ext cx="517549" cy="47183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C5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1946" rIns="54864" bIns="21946" rtlCol="0" anchor="ctr"/>
          <a:lstStyle/>
          <a:p>
            <a:pPr algn="ctr"/>
            <a:r>
              <a:rPr sz="756" b="1">
                <a:solidFill>
                  <a:srgbClr val="192337"/>
                </a:solidFill>
                <a:latin typeface="Arial"/>
              </a:rPr>
              <a:t>Promo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867808" y="1109787"/>
            <a:ext cx="517549" cy="47183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C5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1946" rIns="54864" bIns="21946" rtlCol="0" anchor="ctr"/>
          <a:lstStyle/>
          <a:p>
            <a:pPr algn="ctr"/>
            <a:r>
              <a:rPr sz="756" b="1">
                <a:solidFill>
                  <a:srgbClr val="192337"/>
                </a:solidFill>
                <a:latin typeface="Arial"/>
              </a:rPr>
              <a:t>Media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62168" y="1109787"/>
            <a:ext cx="517549" cy="47183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C5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1946" rIns="54864" bIns="21946" rtlCol="0" anchor="ctr"/>
          <a:lstStyle/>
          <a:p>
            <a:pPr algn="ctr"/>
            <a:r>
              <a:rPr sz="756" b="1" dirty="0">
                <a:solidFill>
                  <a:srgbClr val="192337"/>
                </a:solidFill>
                <a:latin typeface="Arial"/>
              </a:rPr>
              <a:t>Menu</a:t>
            </a:r>
            <a:endParaRPr lang="en-US" sz="756" b="1" dirty="0">
              <a:solidFill>
                <a:srgbClr val="192337"/>
              </a:solidFill>
              <a:latin typeface="Arial"/>
            </a:endParaRPr>
          </a:p>
          <a:p>
            <a:pPr algn="ctr"/>
            <a:r>
              <a:rPr sz="756" b="1" dirty="0">
                <a:solidFill>
                  <a:srgbClr val="192337"/>
                </a:solidFill>
                <a:latin typeface="Arial"/>
              </a:rPr>
              <a:t>/</a:t>
            </a:r>
            <a:r>
              <a:rPr lang="en-US" sz="756" b="1" dirty="0">
                <a:solidFill>
                  <a:srgbClr val="192337"/>
                </a:solidFill>
                <a:latin typeface="Arial"/>
              </a:rPr>
              <a:t> </a:t>
            </a:r>
            <a:r>
              <a:rPr sz="756" b="1" dirty="0">
                <a:solidFill>
                  <a:srgbClr val="192337"/>
                </a:solidFill>
                <a:latin typeface="Arial"/>
              </a:rPr>
              <a:t>LTO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2056528" y="1109787"/>
            <a:ext cx="517549" cy="47183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C5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1946" rIns="54864" bIns="21946" rtlCol="0" anchor="ctr"/>
          <a:lstStyle/>
          <a:p>
            <a:pPr algn="ctr"/>
            <a:r>
              <a:rPr lang="en-US" sz="756" b="1" dirty="0">
                <a:solidFill>
                  <a:srgbClr val="192337"/>
                </a:solidFill>
                <a:latin typeface="Arial"/>
              </a:rPr>
              <a:t>Loyalty</a:t>
            </a:r>
            <a:endParaRPr sz="756" b="1" dirty="0">
              <a:solidFill>
                <a:srgbClr val="192337"/>
              </a:solidFill>
              <a:latin typeface="Arial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12650888" y="1109787"/>
            <a:ext cx="539495" cy="47183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C5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1946" rIns="54864" bIns="21946" rtlCol="0" anchor="ctr"/>
          <a:lstStyle/>
          <a:p>
            <a:pPr algn="ctr"/>
            <a:r>
              <a:rPr sz="756" b="1" dirty="0">
                <a:solidFill>
                  <a:srgbClr val="192337"/>
                </a:solidFill>
                <a:latin typeface="Arial"/>
              </a:rPr>
              <a:t>Delivery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2802694" y="2394382"/>
            <a:ext cx="10572641" cy="921715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051F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160"/>
          </a:p>
        </p:txBody>
      </p:sp>
      <p:sp>
        <p:nvSpPr>
          <p:cNvPr id="56" name="TextBox 55"/>
          <p:cNvSpPr txBox="1"/>
          <p:nvPr/>
        </p:nvSpPr>
        <p:spPr>
          <a:xfrm>
            <a:off x="2423488" y="2144647"/>
            <a:ext cx="10094976" cy="288078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32918" tIns="32918" rIns="32918" bIns="32918" anchor="ctr">
            <a:spAutoFit/>
          </a:bodyPr>
          <a:lstStyle/>
          <a:p>
            <a:pPr algn="ctr"/>
            <a:r>
              <a:rPr lang="en-US" sz="1440" b="1" dirty="0">
                <a:solidFill>
                  <a:srgbClr val="051F50"/>
                </a:solidFill>
                <a:latin typeface="Arial"/>
              </a:rPr>
              <a:t>Data &amp;</a:t>
            </a:r>
            <a:r>
              <a:rPr sz="1440" b="1" dirty="0">
                <a:solidFill>
                  <a:srgbClr val="051F50"/>
                </a:solidFill>
                <a:latin typeface="Arial"/>
              </a:rPr>
              <a:t> Feature Tables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2978258" y="2833294"/>
            <a:ext cx="1053389" cy="37307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18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1946" rIns="54864" bIns="21946" rtlCol="0" anchor="ctr"/>
          <a:lstStyle/>
          <a:p>
            <a:pPr algn="ctr"/>
            <a:r>
              <a:rPr sz="852" dirty="0">
                <a:solidFill>
                  <a:srgbClr val="192337"/>
                </a:solidFill>
                <a:latin typeface="Arial"/>
              </a:rPr>
              <a:t>Speed: </a:t>
            </a:r>
            <a:endParaRPr lang="en-US" sz="852" dirty="0">
              <a:solidFill>
                <a:srgbClr val="192337"/>
              </a:solidFill>
              <a:latin typeface="Arial"/>
            </a:endParaRPr>
          </a:p>
          <a:p>
            <a:pPr algn="ctr"/>
            <a:r>
              <a:rPr lang="en-US" sz="852" dirty="0">
                <a:solidFill>
                  <a:srgbClr val="192337"/>
                </a:solidFill>
                <a:latin typeface="Arial"/>
              </a:rPr>
              <a:t>R2P, OEPE</a:t>
            </a:r>
          </a:p>
          <a:p>
            <a:pPr algn="ctr"/>
            <a:r>
              <a:rPr sz="852" dirty="0">
                <a:solidFill>
                  <a:srgbClr val="192337"/>
                </a:solidFill>
                <a:latin typeface="Arial"/>
              </a:rPr>
              <a:t>P90 service time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4091998" y="2844267"/>
            <a:ext cx="630936" cy="37307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5C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1946" rIns="54864" bIns="21946" rtlCol="0" anchor="ctr"/>
          <a:lstStyle/>
          <a:p>
            <a:pPr algn="ctr"/>
            <a:r>
              <a:rPr lang="en-US" sz="852" dirty="0">
                <a:solidFill>
                  <a:srgbClr val="192337"/>
                </a:solidFill>
                <a:latin typeface="Arial"/>
              </a:rPr>
              <a:t>Supply:</a:t>
            </a:r>
          </a:p>
          <a:p>
            <a:pPr algn="ctr"/>
            <a:r>
              <a:rPr lang="en-US" sz="852" dirty="0">
                <a:solidFill>
                  <a:srgbClr val="192337"/>
                </a:solidFill>
                <a:latin typeface="Arial"/>
              </a:rPr>
              <a:t>OOS</a:t>
            </a:r>
            <a:endParaRPr sz="852" dirty="0">
              <a:solidFill>
                <a:srgbClr val="192337"/>
              </a:solidFill>
              <a:latin typeface="Arial"/>
            </a:endParaRPr>
          </a:p>
        </p:txBody>
      </p:sp>
      <p:sp>
        <p:nvSpPr>
          <p:cNvPr id="60" name="Rounded Rectangle 59"/>
          <p:cNvSpPr/>
          <p:nvPr/>
        </p:nvSpPr>
        <p:spPr>
          <a:xfrm>
            <a:off x="4788771" y="2833294"/>
            <a:ext cx="569670" cy="37307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C5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1946" rIns="54864" bIns="21946" rtlCol="0" anchor="ctr"/>
          <a:lstStyle/>
          <a:p>
            <a:pPr algn="ctr"/>
            <a:r>
              <a:rPr lang="en-US" sz="852" dirty="0">
                <a:solidFill>
                  <a:srgbClr val="192337"/>
                </a:solidFill>
                <a:latin typeface="Arial"/>
              </a:rPr>
              <a:t>Tech:</a:t>
            </a:r>
          </a:p>
          <a:p>
            <a:pPr algn="ctr"/>
            <a:r>
              <a:rPr lang="en-US" sz="852" dirty="0">
                <a:solidFill>
                  <a:srgbClr val="192337"/>
                </a:solidFill>
                <a:latin typeface="Arial"/>
              </a:rPr>
              <a:t>Uptime</a:t>
            </a:r>
            <a:endParaRPr sz="852" dirty="0">
              <a:solidFill>
                <a:srgbClr val="192337"/>
              </a:solidFill>
              <a:latin typeface="Arial"/>
            </a:endParaRPr>
          </a:p>
        </p:txBody>
      </p:sp>
      <p:sp>
        <p:nvSpPr>
          <p:cNvPr id="65" name="Rounded Rectangle 64"/>
          <p:cNvSpPr/>
          <p:nvPr/>
        </p:nvSpPr>
        <p:spPr>
          <a:xfrm>
            <a:off x="2769775" y="3502634"/>
            <a:ext cx="7944307" cy="2040941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51F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160"/>
          </a:p>
        </p:txBody>
      </p:sp>
      <p:sp>
        <p:nvSpPr>
          <p:cNvPr id="66" name="TextBox 65"/>
          <p:cNvSpPr txBox="1"/>
          <p:nvPr/>
        </p:nvSpPr>
        <p:spPr>
          <a:xfrm>
            <a:off x="3450046" y="3506729"/>
            <a:ext cx="7944307" cy="288078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32918" tIns="32918" rIns="32918" bIns="32918" anchor="ctr">
            <a:spAutoFit/>
          </a:bodyPr>
          <a:lstStyle/>
          <a:p>
            <a:pPr algn="ctr"/>
            <a:r>
              <a:rPr sz="1440" b="1" dirty="0">
                <a:solidFill>
                  <a:srgbClr val="051F50"/>
                </a:solidFill>
                <a:latin typeface="Arial"/>
              </a:rPr>
              <a:t>Evidence Pathway</a:t>
            </a:r>
          </a:p>
        </p:txBody>
      </p:sp>
      <p:sp>
        <p:nvSpPr>
          <p:cNvPr id="69" name="Diamond 68"/>
          <p:cNvSpPr/>
          <p:nvPr/>
        </p:nvSpPr>
        <p:spPr>
          <a:xfrm>
            <a:off x="6691865" y="3796405"/>
            <a:ext cx="1377773" cy="614477"/>
          </a:xfrm>
          <a:prstGeom prst="diamond">
            <a:avLst/>
          </a:prstGeom>
          <a:solidFill>
            <a:srgbClr val="FFFFFF"/>
          </a:solidFill>
          <a:ln w="12700">
            <a:solidFill>
              <a:srgbClr val="051F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24">
                <a:solidFill>
                  <a:srgbClr val="192337"/>
                </a:solidFill>
                <a:latin typeface="Arial"/>
              </a:rPr>
              <a:t>Prior evidence
exists?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124230" y="3741173"/>
            <a:ext cx="1755648" cy="214212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32918" tIns="32918" rIns="32918" bIns="32918" anchor="ctr">
            <a:spAutoFit/>
          </a:bodyPr>
          <a:lstStyle/>
          <a:p>
            <a:pPr algn="ctr"/>
            <a:r>
              <a:rPr sz="960" b="1" dirty="0">
                <a:solidFill>
                  <a:srgbClr val="21843B"/>
                </a:solidFill>
                <a:latin typeface="Arial"/>
              </a:rPr>
              <a:t>Yes → Prior-Informed Path</a:t>
            </a:r>
          </a:p>
        </p:txBody>
      </p:sp>
      <p:cxnSp>
        <p:nvCxnSpPr>
          <p:cNvPr id="71" name="Connector 70"/>
          <p:cNvCxnSpPr/>
          <p:nvPr/>
        </p:nvCxnSpPr>
        <p:spPr>
          <a:xfrm>
            <a:off x="5879878" y="4051275"/>
            <a:ext cx="658368" cy="197510"/>
          </a:xfrm>
          <a:prstGeom prst="line">
            <a:avLst/>
          </a:prstGeom>
          <a:ln w="12700">
            <a:solidFill>
              <a:srgbClr val="21843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TextBox 71"/>
          <p:cNvSpPr txBox="1"/>
          <p:nvPr/>
        </p:nvSpPr>
        <p:spPr>
          <a:xfrm>
            <a:off x="8201311" y="3757382"/>
            <a:ext cx="1975104" cy="214212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32918" tIns="32918" rIns="32918" bIns="32918" anchor="ctr">
            <a:spAutoFit/>
          </a:bodyPr>
          <a:lstStyle/>
          <a:p>
            <a:pPr algn="ctr"/>
            <a:r>
              <a:rPr sz="960" b="1" dirty="0">
                <a:solidFill>
                  <a:srgbClr val="051F50"/>
                </a:solidFill>
                <a:latin typeface="Arial"/>
              </a:rPr>
              <a:t>No → Causal Estimation Path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3685318" y="4029329"/>
            <a:ext cx="2798064" cy="24140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18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1946" rIns="54864" bIns="21946" rtlCol="0" anchor="ctr"/>
          <a:lstStyle/>
          <a:p>
            <a:pPr algn="ctr"/>
            <a:r>
              <a:rPr sz="912">
                <a:solidFill>
                  <a:srgbClr val="192337"/>
                </a:solidFill>
                <a:latin typeface="Arial"/>
              </a:rPr>
              <a:t>Prior Repository</a:t>
            </a:r>
          </a:p>
        </p:txBody>
      </p:sp>
      <p:cxnSp>
        <p:nvCxnSpPr>
          <p:cNvPr id="75" name="Connector 74"/>
          <p:cNvCxnSpPr/>
          <p:nvPr/>
        </p:nvCxnSpPr>
        <p:spPr>
          <a:xfrm>
            <a:off x="5084350" y="4292676"/>
            <a:ext cx="0" cy="65837"/>
          </a:xfrm>
          <a:prstGeom prst="line">
            <a:avLst/>
          </a:prstGeom>
          <a:ln w="10160">
            <a:solidFill>
              <a:srgbClr val="21843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Rounded Rectangle 75"/>
          <p:cNvSpPr/>
          <p:nvPr/>
        </p:nvSpPr>
        <p:spPr>
          <a:xfrm>
            <a:off x="3685318" y="4336567"/>
            <a:ext cx="2798064" cy="24140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18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1946" rIns="54864" bIns="21946" rtlCol="0" anchor="ctr"/>
          <a:lstStyle/>
          <a:p>
            <a:pPr algn="ctr"/>
            <a:r>
              <a:rPr sz="912">
                <a:solidFill>
                  <a:srgbClr val="192337"/>
                </a:solidFill>
                <a:latin typeface="Arial"/>
              </a:rPr>
              <a:t>Experiment Repository</a:t>
            </a:r>
          </a:p>
        </p:txBody>
      </p:sp>
      <p:cxnSp>
        <p:nvCxnSpPr>
          <p:cNvPr id="77" name="Connector 76"/>
          <p:cNvCxnSpPr/>
          <p:nvPr/>
        </p:nvCxnSpPr>
        <p:spPr>
          <a:xfrm>
            <a:off x="5084350" y="4599915"/>
            <a:ext cx="0" cy="65836"/>
          </a:xfrm>
          <a:prstGeom prst="line">
            <a:avLst/>
          </a:prstGeom>
          <a:ln w="10160">
            <a:solidFill>
              <a:srgbClr val="21843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Rounded Rectangle 77"/>
          <p:cNvSpPr/>
          <p:nvPr/>
        </p:nvSpPr>
        <p:spPr>
          <a:xfrm>
            <a:off x="3685318" y="4643805"/>
            <a:ext cx="2798064" cy="24140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18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1946" rIns="54864" bIns="21946" rtlCol="0" anchor="ctr"/>
          <a:lstStyle/>
          <a:p>
            <a:pPr algn="ctr"/>
            <a:r>
              <a:rPr sz="912">
                <a:solidFill>
                  <a:srgbClr val="192337"/>
                </a:solidFill>
                <a:latin typeface="Arial"/>
              </a:rPr>
              <a:t>QBR / Historical Analysis</a:t>
            </a:r>
          </a:p>
        </p:txBody>
      </p:sp>
      <p:cxnSp>
        <p:nvCxnSpPr>
          <p:cNvPr id="79" name="Connector 78"/>
          <p:cNvCxnSpPr/>
          <p:nvPr/>
        </p:nvCxnSpPr>
        <p:spPr>
          <a:xfrm>
            <a:off x="5084350" y="4907153"/>
            <a:ext cx="0" cy="65837"/>
          </a:xfrm>
          <a:prstGeom prst="line">
            <a:avLst/>
          </a:prstGeom>
          <a:ln w="10160">
            <a:solidFill>
              <a:srgbClr val="21843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Rounded Rectangle 79"/>
          <p:cNvSpPr/>
          <p:nvPr/>
        </p:nvSpPr>
        <p:spPr>
          <a:xfrm>
            <a:off x="3685318" y="4951044"/>
            <a:ext cx="2798064" cy="24140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18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1946" rIns="54864" bIns="21946" rtlCol="0" anchor="ctr"/>
          <a:lstStyle/>
          <a:p>
            <a:pPr algn="ctr"/>
            <a:r>
              <a:rPr lang="en-US" sz="912" dirty="0">
                <a:solidFill>
                  <a:srgbClr val="192337"/>
                </a:solidFill>
                <a:latin typeface="Arial"/>
              </a:rPr>
              <a:t>Industry</a:t>
            </a:r>
            <a:r>
              <a:rPr sz="912" dirty="0">
                <a:solidFill>
                  <a:srgbClr val="192337"/>
                </a:solidFill>
                <a:latin typeface="Arial"/>
              </a:rPr>
              <a:t> </a:t>
            </a:r>
            <a:r>
              <a:rPr lang="en-US" sz="912" dirty="0">
                <a:solidFill>
                  <a:srgbClr val="192337"/>
                </a:solidFill>
                <a:latin typeface="Arial"/>
              </a:rPr>
              <a:t>Reference</a:t>
            </a:r>
            <a:endParaRPr sz="912" dirty="0">
              <a:solidFill>
                <a:srgbClr val="192337"/>
              </a:solidFill>
              <a:latin typeface="Arial"/>
            </a:endParaRPr>
          </a:p>
        </p:txBody>
      </p:sp>
      <p:cxnSp>
        <p:nvCxnSpPr>
          <p:cNvPr id="81" name="Connector 80"/>
          <p:cNvCxnSpPr>
            <a:cxnSpLocks/>
          </p:cNvCxnSpPr>
          <p:nvPr/>
        </p:nvCxnSpPr>
        <p:spPr>
          <a:xfrm flipV="1">
            <a:off x="5084350" y="5214391"/>
            <a:ext cx="0" cy="32918"/>
          </a:xfrm>
          <a:prstGeom prst="line">
            <a:avLst/>
          </a:prstGeom>
          <a:ln w="10160">
            <a:solidFill>
              <a:srgbClr val="21843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Rounded Rectangle 81"/>
          <p:cNvSpPr/>
          <p:nvPr/>
        </p:nvSpPr>
        <p:spPr>
          <a:xfrm>
            <a:off x="3685320" y="5269255"/>
            <a:ext cx="2841953" cy="208483"/>
          </a:xfrm>
          <a:prstGeom prst="roundRect">
            <a:avLst/>
          </a:prstGeom>
          <a:solidFill>
            <a:srgbClr val="EBF8EF"/>
          </a:solidFill>
          <a:ln w="12700">
            <a:solidFill>
              <a:srgbClr val="218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1946" rIns="54864" bIns="21946" rtlCol="0" anchor="ctr"/>
          <a:lstStyle/>
          <a:p>
            <a:pPr algn="ctr"/>
            <a:r>
              <a:rPr sz="1020" b="1" dirty="0">
                <a:solidFill>
                  <a:srgbClr val="21843B"/>
                </a:solidFill>
                <a:latin typeface="Arial"/>
              </a:rPr>
              <a:t>Prior-Informed Estimate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8223257" y="4029329"/>
            <a:ext cx="1678838" cy="2685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C5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1946" rIns="54864" bIns="21946" rtlCol="0" anchor="ctr"/>
          <a:lstStyle/>
          <a:p>
            <a:pPr algn="ctr"/>
            <a:r>
              <a:rPr sz="888" dirty="0">
                <a:solidFill>
                  <a:srgbClr val="192337"/>
                </a:solidFill>
                <a:latin typeface="Arial"/>
              </a:rPr>
              <a:t>Panel / Regression Analysis</a:t>
            </a:r>
          </a:p>
        </p:txBody>
      </p:sp>
      <p:cxnSp>
        <p:nvCxnSpPr>
          <p:cNvPr id="84" name="Connector 83"/>
          <p:cNvCxnSpPr>
            <a:cxnSpLocks/>
          </p:cNvCxnSpPr>
          <p:nvPr/>
        </p:nvCxnSpPr>
        <p:spPr>
          <a:xfrm>
            <a:off x="9007812" y="4381206"/>
            <a:ext cx="0" cy="37408"/>
          </a:xfrm>
          <a:prstGeom prst="line">
            <a:avLst/>
          </a:prstGeom>
          <a:ln w="10160">
            <a:solidFill>
              <a:srgbClr val="1C5DD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Rounded Rectangle 84"/>
          <p:cNvSpPr/>
          <p:nvPr/>
        </p:nvSpPr>
        <p:spPr>
          <a:xfrm>
            <a:off x="8223257" y="4380458"/>
            <a:ext cx="1678838" cy="2685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C5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1946" rIns="54864" bIns="21946" rtlCol="0" anchor="ctr"/>
          <a:lstStyle/>
          <a:p>
            <a:pPr algn="ctr"/>
            <a:r>
              <a:rPr sz="888">
                <a:solidFill>
                  <a:srgbClr val="192337"/>
                </a:solidFill>
                <a:latin typeface="Arial"/>
              </a:rPr>
              <a:t>Quasi-Experiment / Matching</a:t>
            </a:r>
          </a:p>
        </p:txBody>
      </p:sp>
      <p:cxnSp>
        <p:nvCxnSpPr>
          <p:cNvPr id="86" name="Connector 85"/>
          <p:cNvCxnSpPr>
            <a:cxnSpLocks/>
          </p:cNvCxnSpPr>
          <p:nvPr/>
        </p:nvCxnSpPr>
        <p:spPr>
          <a:xfrm>
            <a:off x="9007812" y="4304397"/>
            <a:ext cx="0" cy="76062"/>
          </a:xfrm>
          <a:prstGeom prst="line">
            <a:avLst/>
          </a:prstGeom>
          <a:ln w="10160">
            <a:solidFill>
              <a:srgbClr val="1C5DD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7" name="Rounded Rectangle 86"/>
          <p:cNvSpPr/>
          <p:nvPr/>
        </p:nvSpPr>
        <p:spPr>
          <a:xfrm>
            <a:off x="8234230" y="4743436"/>
            <a:ext cx="1678838" cy="2685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C5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1946" rIns="54864" bIns="21946" rtlCol="0" anchor="ctr"/>
          <a:lstStyle/>
          <a:p>
            <a:pPr algn="ctr"/>
            <a:r>
              <a:rPr sz="888" dirty="0">
                <a:solidFill>
                  <a:srgbClr val="192337"/>
                </a:solidFill>
                <a:latin typeface="Arial"/>
              </a:rPr>
              <a:t>Sensitivity / Scenario Analysis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8234230" y="5236959"/>
            <a:ext cx="1678838" cy="200754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1C5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1946" rIns="54864" bIns="21946" rtlCol="0" anchor="ctr"/>
          <a:lstStyle/>
          <a:p>
            <a:pPr algn="ctr"/>
            <a:r>
              <a:rPr sz="1020" b="1" dirty="0">
                <a:solidFill>
                  <a:srgbClr val="051F50"/>
                </a:solidFill>
                <a:latin typeface="Arial"/>
              </a:rPr>
              <a:t>New Domain Estimate</a:t>
            </a:r>
          </a:p>
        </p:txBody>
      </p:sp>
      <p:grpSp>
        <p:nvGrpSpPr>
          <p:cNvPr id="255" name="Group 254">
            <a:extLst>
              <a:ext uri="{FF2B5EF4-FFF2-40B4-BE49-F238E27FC236}">
                <a16:creationId xmlns:a16="http://schemas.microsoft.com/office/drawing/2014/main" id="{55AE7E71-A0B8-5253-9E96-6423374B9B99}"/>
              </a:ext>
            </a:extLst>
          </p:cNvPr>
          <p:cNvGrpSpPr/>
          <p:nvPr/>
        </p:nvGrpSpPr>
        <p:grpSpPr>
          <a:xfrm>
            <a:off x="10881247" y="3650768"/>
            <a:ext cx="2168543" cy="3116274"/>
            <a:chOff x="8887968" y="2816352"/>
            <a:chExt cx="1874519" cy="2176272"/>
          </a:xfrm>
        </p:grpSpPr>
        <p:sp>
          <p:nvSpPr>
            <p:cNvPr id="92" name="Rounded Rectangle 91"/>
            <p:cNvSpPr/>
            <p:nvPr/>
          </p:nvSpPr>
          <p:spPr>
            <a:xfrm>
              <a:off x="8887968" y="2816352"/>
              <a:ext cx="1874519" cy="2176272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1C5D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160"/>
            </a:p>
          </p:txBody>
        </p:sp>
        <p:sp>
          <p:nvSpPr>
            <p:cNvPr id="93" name="TextBox 92"/>
            <p:cNvSpPr txBox="1"/>
            <p:nvPr/>
          </p:nvSpPr>
          <p:spPr>
            <a:xfrm>
              <a:off x="9015984" y="2866984"/>
              <a:ext cx="1627632" cy="355937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square" lIns="32918" tIns="32918" rIns="32918" bIns="32918" anchor="ctr">
              <a:spAutoFit/>
            </a:bodyPr>
            <a:lstStyle/>
            <a:p>
              <a:pPr algn="ctr"/>
              <a:r>
                <a:rPr sz="1440" b="1" dirty="0">
                  <a:solidFill>
                    <a:srgbClr val="051F50"/>
                  </a:solidFill>
                  <a:latin typeface="Arial"/>
                </a:rPr>
                <a:t>Granular Domain Drill-Downs</a:t>
              </a:r>
            </a:p>
          </p:txBody>
        </p:sp>
        <p:sp>
          <p:nvSpPr>
            <p:cNvPr id="94" name="TextBox 93"/>
            <p:cNvSpPr txBox="1"/>
            <p:nvPr/>
          </p:nvSpPr>
          <p:spPr>
            <a:xfrm>
              <a:off x="9034273" y="3188080"/>
              <a:ext cx="1609344" cy="31724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square" lIns="32918" tIns="32918" rIns="32918" bIns="32918" anchor="ctr">
              <a:spAutoFit/>
            </a:bodyPr>
            <a:lstStyle/>
            <a:p>
              <a:pPr algn="ctr"/>
              <a:r>
                <a:rPr sz="840">
                  <a:solidFill>
                    <a:srgbClr val="192337"/>
                  </a:solidFill>
                  <a:latin typeface="Arial"/>
                </a:rPr>
                <a:t>Explains which sub-components drive domain-level contribution for traceability</a:t>
              </a:r>
            </a:p>
          </p:txBody>
        </p:sp>
        <p:sp>
          <p:nvSpPr>
            <p:cNvPr id="95" name="Rounded Rectangle 94"/>
            <p:cNvSpPr/>
            <p:nvPr/>
          </p:nvSpPr>
          <p:spPr>
            <a:xfrm>
              <a:off x="9034272" y="3584448"/>
              <a:ext cx="566928" cy="164592"/>
            </a:xfrm>
            <a:prstGeom prst="roundRect">
              <a:avLst/>
            </a:prstGeom>
            <a:solidFill>
              <a:srgbClr val="EFF6FF"/>
            </a:solidFill>
            <a:ln w="12700">
              <a:solidFill>
                <a:srgbClr val="1C5D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54864" tIns="21946" rIns="54864" bIns="21946" rtlCol="0" anchor="ctr"/>
            <a:lstStyle/>
            <a:p>
              <a:pPr algn="ctr"/>
              <a:r>
                <a:rPr sz="732" b="1">
                  <a:solidFill>
                    <a:srgbClr val="051F50"/>
                  </a:solidFill>
                  <a:latin typeface="Arial"/>
                </a:rPr>
                <a:t>Menu</a:t>
              </a:r>
            </a:p>
          </p:txBody>
        </p:sp>
        <p:sp>
          <p:nvSpPr>
            <p:cNvPr id="96" name="TextBox 95"/>
            <p:cNvSpPr txBox="1"/>
            <p:nvPr/>
          </p:nvSpPr>
          <p:spPr>
            <a:xfrm>
              <a:off x="9646920" y="3570004"/>
              <a:ext cx="960120" cy="193479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square" lIns="32918" tIns="32918" rIns="32918" bIns="32918" anchor="ctr">
              <a:spAutoFit/>
            </a:bodyPr>
            <a:lstStyle/>
            <a:p>
              <a:pPr algn="l"/>
              <a:r>
                <a:rPr sz="684" dirty="0">
                  <a:solidFill>
                    <a:srgbClr val="192337"/>
                  </a:solidFill>
                  <a:latin typeface="Arial"/>
                </a:rPr>
                <a:t>Premium | Value | Core | LTO</a:t>
              </a:r>
            </a:p>
          </p:txBody>
        </p:sp>
        <p:sp>
          <p:nvSpPr>
            <p:cNvPr id="97" name="Rounded Rectangle 96"/>
            <p:cNvSpPr/>
            <p:nvPr/>
          </p:nvSpPr>
          <p:spPr>
            <a:xfrm>
              <a:off x="9034272" y="3822191"/>
              <a:ext cx="566928" cy="164592"/>
            </a:xfrm>
            <a:prstGeom prst="roundRect">
              <a:avLst/>
            </a:prstGeom>
            <a:solidFill>
              <a:srgbClr val="EFF6FF"/>
            </a:solidFill>
            <a:ln w="12700">
              <a:solidFill>
                <a:srgbClr val="1C5D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54864" tIns="21946" rIns="54864" bIns="21946" rtlCol="0" anchor="ctr"/>
            <a:lstStyle/>
            <a:p>
              <a:pPr algn="ctr"/>
              <a:r>
                <a:rPr sz="732" b="1">
                  <a:solidFill>
                    <a:srgbClr val="051F50"/>
                  </a:solidFill>
                  <a:latin typeface="Arial"/>
                </a:rPr>
                <a:t>Pricing</a:t>
              </a:r>
            </a:p>
          </p:txBody>
        </p:sp>
        <p:sp>
          <p:nvSpPr>
            <p:cNvPr id="98" name="TextBox 97"/>
            <p:cNvSpPr txBox="1"/>
            <p:nvPr/>
          </p:nvSpPr>
          <p:spPr>
            <a:xfrm>
              <a:off x="9646920" y="3807747"/>
              <a:ext cx="960120" cy="193479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square" lIns="32918" tIns="32918" rIns="32918" bIns="32918" anchor="ctr">
              <a:spAutoFit/>
            </a:bodyPr>
            <a:lstStyle/>
            <a:p>
              <a:r>
                <a:rPr lang="en-US" sz="684" dirty="0">
                  <a:solidFill>
                    <a:srgbClr val="192337"/>
                  </a:solidFill>
                  <a:latin typeface="Arial"/>
                </a:rPr>
                <a:t>Premium | Value | Core | LTO</a:t>
              </a:r>
            </a:p>
          </p:txBody>
        </p:sp>
        <p:sp>
          <p:nvSpPr>
            <p:cNvPr id="99" name="Rounded Rectangle 98"/>
            <p:cNvSpPr/>
            <p:nvPr/>
          </p:nvSpPr>
          <p:spPr>
            <a:xfrm>
              <a:off x="9034272" y="4059935"/>
              <a:ext cx="566928" cy="164592"/>
            </a:xfrm>
            <a:prstGeom prst="roundRect">
              <a:avLst/>
            </a:prstGeom>
            <a:solidFill>
              <a:srgbClr val="EFF6FF"/>
            </a:solidFill>
            <a:ln w="12700">
              <a:solidFill>
                <a:srgbClr val="1C5D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54864" tIns="21946" rIns="54864" bIns="21946" rtlCol="0" anchor="ctr"/>
            <a:lstStyle/>
            <a:p>
              <a:pPr algn="ctr"/>
              <a:r>
                <a:rPr sz="732" b="1">
                  <a:solidFill>
                    <a:srgbClr val="051F50"/>
                  </a:solidFill>
                  <a:latin typeface="Arial"/>
                </a:rPr>
                <a:t>Media</a:t>
              </a:r>
            </a:p>
          </p:txBody>
        </p:sp>
        <p:sp>
          <p:nvSpPr>
            <p:cNvPr id="100" name="TextBox 99"/>
            <p:cNvSpPr txBox="1"/>
            <p:nvPr/>
          </p:nvSpPr>
          <p:spPr>
            <a:xfrm>
              <a:off x="9646920" y="4045490"/>
              <a:ext cx="960120" cy="193479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square" lIns="32918" tIns="32918" rIns="32918" bIns="32918" anchor="ctr">
              <a:spAutoFit/>
            </a:bodyPr>
            <a:lstStyle/>
            <a:p>
              <a:pPr algn="l"/>
              <a:r>
                <a:rPr sz="684">
                  <a:solidFill>
                    <a:srgbClr val="192337"/>
                  </a:solidFill>
                  <a:latin typeface="Arial"/>
                </a:rPr>
                <a:t>Base Media | Campaign | Channel</a:t>
              </a:r>
            </a:p>
          </p:txBody>
        </p:sp>
        <p:sp>
          <p:nvSpPr>
            <p:cNvPr id="101" name="Rounded Rectangle 100"/>
            <p:cNvSpPr/>
            <p:nvPr/>
          </p:nvSpPr>
          <p:spPr>
            <a:xfrm>
              <a:off x="9034271" y="4283254"/>
              <a:ext cx="612645" cy="179018"/>
            </a:xfrm>
            <a:prstGeom prst="roundRect">
              <a:avLst/>
            </a:prstGeom>
            <a:solidFill>
              <a:srgbClr val="EFF6FF"/>
            </a:solidFill>
            <a:ln w="12700">
              <a:solidFill>
                <a:srgbClr val="1C5D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54864" tIns="21946" rIns="54864" bIns="21946" rtlCol="0" anchor="ctr"/>
            <a:lstStyle/>
            <a:p>
              <a:pPr algn="ctr"/>
              <a:r>
                <a:rPr sz="732" b="1" dirty="0">
                  <a:solidFill>
                    <a:srgbClr val="051F50"/>
                  </a:solidFill>
                  <a:latin typeface="Arial"/>
                </a:rPr>
                <a:t>Speed</a:t>
              </a:r>
            </a:p>
          </p:txBody>
        </p:sp>
        <p:sp>
          <p:nvSpPr>
            <p:cNvPr id="102" name="TextBox 101"/>
            <p:cNvSpPr txBox="1"/>
            <p:nvPr/>
          </p:nvSpPr>
          <p:spPr>
            <a:xfrm>
              <a:off x="9646920" y="4283236"/>
              <a:ext cx="960120" cy="193479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square" lIns="32918" tIns="32918" rIns="32918" bIns="32918" anchor="ctr">
              <a:spAutoFit/>
            </a:bodyPr>
            <a:lstStyle/>
            <a:p>
              <a:pPr algn="l"/>
              <a:r>
                <a:rPr sz="684" dirty="0">
                  <a:solidFill>
                    <a:srgbClr val="192337"/>
                  </a:solidFill>
                  <a:latin typeface="Arial"/>
                </a:rPr>
                <a:t>Service Time | </a:t>
              </a:r>
              <a:r>
                <a:rPr lang="en-US" sz="684" dirty="0">
                  <a:solidFill>
                    <a:srgbClr val="192337"/>
                  </a:solidFill>
                  <a:latin typeface="Arial"/>
                </a:rPr>
                <a:t>Restaurants</a:t>
              </a:r>
              <a:r>
                <a:rPr sz="684" dirty="0">
                  <a:solidFill>
                    <a:srgbClr val="192337"/>
                  </a:solidFill>
                  <a:latin typeface="Arial"/>
                </a:rPr>
                <a:t> | Hours</a:t>
              </a:r>
            </a:p>
          </p:txBody>
        </p:sp>
        <p:sp>
          <p:nvSpPr>
            <p:cNvPr id="103" name="Rounded Rectangle 102"/>
            <p:cNvSpPr/>
            <p:nvPr/>
          </p:nvSpPr>
          <p:spPr>
            <a:xfrm>
              <a:off x="9034271" y="4529140"/>
              <a:ext cx="612647" cy="170877"/>
            </a:xfrm>
            <a:prstGeom prst="roundRect">
              <a:avLst/>
            </a:prstGeom>
            <a:solidFill>
              <a:srgbClr val="EFF6FF"/>
            </a:solidFill>
            <a:ln w="12700">
              <a:solidFill>
                <a:srgbClr val="1C5D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54864" tIns="21946" rIns="54864" bIns="21946" rtlCol="0" anchor="ctr"/>
            <a:lstStyle/>
            <a:p>
              <a:pPr algn="ctr"/>
              <a:r>
                <a:rPr sz="732" b="1" dirty="0">
                  <a:solidFill>
                    <a:srgbClr val="051F50"/>
                  </a:solidFill>
                  <a:latin typeface="Arial"/>
                </a:rPr>
                <a:t>Competition</a:t>
              </a:r>
            </a:p>
          </p:txBody>
        </p:sp>
        <p:sp>
          <p:nvSpPr>
            <p:cNvPr id="104" name="TextBox 103"/>
            <p:cNvSpPr txBox="1"/>
            <p:nvPr/>
          </p:nvSpPr>
          <p:spPr>
            <a:xfrm>
              <a:off x="9646920" y="4520979"/>
              <a:ext cx="960120" cy="193479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square" lIns="32918" tIns="32918" rIns="32918" bIns="32918" anchor="ctr">
              <a:spAutoFit/>
            </a:bodyPr>
            <a:lstStyle/>
            <a:p>
              <a:pPr algn="l"/>
              <a:r>
                <a:rPr sz="684">
                  <a:solidFill>
                    <a:srgbClr val="192337"/>
                  </a:solidFill>
                  <a:latin typeface="Arial"/>
                </a:rPr>
                <a:t>Price | Promo | Share of Voice</a:t>
              </a:r>
            </a:p>
          </p:txBody>
        </p:sp>
      </p:grpSp>
      <p:grpSp>
        <p:nvGrpSpPr>
          <p:cNvPr id="211" name="Group 210">
            <a:extLst>
              <a:ext uri="{FF2B5EF4-FFF2-40B4-BE49-F238E27FC236}">
                <a16:creationId xmlns:a16="http://schemas.microsoft.com/office/drawing/2014/main" id="{2D75E5BB-839C-30C8-7F06-59AC472B8BB0}"/>
              </a:ext>
            </a:extLst>
          </p:cNvPr>
          <p:cNvGrpSpPr/>
          <p:nvPr/>
        </p:nvGrpSpPr>
        <p:grpSpPr>
          <a:xfrm>
            <a:off x="2769776" y="5815287"/>
            <a:ext cx="7187184" cy="935295"/>
            <a:chOff x="2057400" y="4833950"/>
            <a:chExt cx="6492240" cy="852195"/>
          </a:xfrm>
        </p:grpSpPr>
        <p:sp>
          <p:nvSpPr>
            <p:cNvPr id="108" name="Rounded Rectangle 107"/>
            <p:cNvSpPr/>
            <p:nvPr/>
          </p:nvSpPr>
          <p:spPr>
            <a:xfrm>
              <a:off x="2057400" y="4846320"/>
              <a:ext cx="6492240" cy="839825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1C5D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160"/>
            </a:p>
          </p:txBody>
        </p:sp>
        <p:sp>
          <p:nvSpPr>
            <p:cNvPr id="109" name="TextBox 108"/>
            <p:cNvSpPr txBox="1"/>
            <p:nvPr/>
          </p:nvSpPr>
          <p:spPr>
            <a:xfrm>
              <a:off x="2240280" y="4833950"/>
              <a:ext cx="6126481" cy="262483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square" lIns="32918" tIns="32918" rIns="32918" bIns="32918" anchor="ctr">
              <a:spAutoFit/>
            </a:bodyPr>
            <a:lstStyle/>
            <a:p>
              <a:pPr algn="ctr"/>
              <a:r>
                <a:rPr lang="en-US" sz="1440" b="1" dirty="0">
                  <a:solidFill>
                    <a:srgbClr val="051F50"/>
                  </a:solidFill>
                  <a:latin typeface="Arial"/>
                </a:rPr>
                <a:t>Stand-alone</a:t>
              </a:r>
              <a:r>
                <a:rPr sz="1440" b="1" dirty="0">
                  <a:solidFill>
                    <a:srgbClr val="051F50"/>
                  </a:solidFill>
                  <a:latin typeface="Arial"/>
                </a:rPr>
                <a:t> Domain Estimate Outputs</a:t>
              </a:r>
            </a:p>
          </p:txBody>
        </p:sp>
        <p:sp>
          <p:nvSpPr>
            <p:cNvPr id="110" name="TextBox 109"/>
            <p:cNvSpPr txBox="1"/>
            <p:nvPr/>
          </p:nvSpPr>
          <p:spPr>
            <a:xfrm>
              <a:off x="2376448" y="5041903"/>
              <a:ext cx="6126481" cy="185072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square" lIns="32918" tIns="32918" rIns="32918" bIns="32918" anchor="ctr">
              <a:spAutoFit/>
            </a:bodyPr>
            <a:lstStyle/>
            <a:p>
              <a:pPr algn="ctr"/>
              <a:r>
                <a:rPr sz="888" dirty="0">
                  <a:solidFill>
                    <a:srgbClr val="192337"/>
                  </a:solidFill>
                  <a:latin typeface="Arial"/>
                </a:rPr>
                <a:t>impact estimate + uncertainty + confidence + data quality + owner validation</a:t>
              </a:r>
            </a:p>
          </p:txBody>
        </p:sp>
      </p:grpSp>
      <p:cxnSp>
        <p:nvCxnSpPr>
          <p:cNvPr id="111" name="Connector 110"/>
          <p:cNvCxnSpPr/>
          <p:nvPr/>
        </p:nvCxnSpPr>
        <p:spPr>
          <a:xfrm>
            <a:off x="4909471" y="5543575"/>
            <a:ext cx="0" cy="285293"/>
          </a:xfrm>
          <a:prstGeom prst="line">
            <a:avLst/>
          </a:prstGeom>
          <a:ln w="11430">
            <a:solidFill>
              <a:srgbClr val="051F5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 111"/>
          <p:cNvCxnSpPr/>
          <p:nvPr/>
        </p:nvCxnSpPr>
        <p:spPr>
          <a:xfrm>
            <a:off x="9254700" y="5543575"/>
            <a:ext cx="0" cy="285293"/>
          </a:xfrm>
          <a:prstGeom prst="line">
            <a:avLst/>
          </a:prstGeom>
          <a:ln w="11430">
            <a:solidFill>
              <a:srgbClr val="051F5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12" name="Group 211">
            <a:extLst>
              <a:ext uri="{FF2B5EF4-FFF2-40B4-BE49-F238E27FC236}">
                <a16:creationId xmlns:a16="http://schemas.microsoft.com/office/drawing/2014/main" id="{7BE63EBB-C568-B90A-DAB1-02C4DA6FF54E}"/>
              </a:ext>
            </a:extLst>
          </p:cNvPr>
          <p:cNvGrpSpPr/>
          <p:nvPr/>
        </p:nvGrpSpPr>
        <p:grpSpPr>
          <a:xfrm>
            <a:off x="2802695" y="6882924"/>
            <a:ext cx="10572638" cy="454544"/>
            <a:chOff x="2057400" y="5371719"/>
            <a:chExt cx="6492240" cy="621595"/>
          </a:xfrm>
        </p:grpSpPr>
        <p:sp>
          <p:nvSpPr>
            <p:cNvPr id="116" name="Rounded Rectangle 115"/>
            <p:cNvSpPr/>
            <p:nvPr/>
          </p:nvSpPr>
          <p:spPr>
            <a:xfrm>
              <a:off x="2057400" y="5394960"/>
              <a:ext cx="6492240" cy="585216"/>
            </a:xfrm>
            <a:prstGeom prst="roundRect">
              <a:avLst/>
            </a:prstGeom>
            <a:noFill/>
            <a:ln w="12700">
              <a:solidFill>
                <a:srgbClr val="051F5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160" dirty="0">
                <a:solidFill>
                  <a:srgbClr val="002060"/>
                </a:solidFill>
              </a:endParaRPr>
            </a:p>
          </p:txBody>
        </p:sp>
        <p:sp>
          <p:nvSpPr>
            <p:cNvPr id="117" name="TextBox 116"/>
            <p:cNvSpPr txBox="1"/>
            <p:nvPr/>
          </p:nvSpPr>
          <p:spPr>
            <a:xfrm>
              <a:off x="2423160" y="5371719"/>
              <a:ext cx="5760720" cy="39395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square" lIns="32918" tIns="32918" rIns="32918" bIns="32918" anchor="ctr">
              <a:spAutoFit/>
            </a:bodyPr>
            <a:lstStyle/>
            <a:p>
              <a:pPr algn="ctr"/>
              <a:r>
                <a:rPr sz="1440" b="1" dirty="0">
                  <a:solidFill>
                    <a:srgbClr val="002060"/>
                  </a:solidFill>
                  <a:latin typeface="Arial"/>
                </a:rPr>
                <a:t>Integrated MVM </a:t>
              </a:r>
              <a:r>
                <a:rPr lang="en-US" sz="1440" b="1" dirty="0">
                  <a:solidFill>
                    <a:srgbClr val="002060"/>
                  </a:solidFill>
                  <a:latin typeface="Arial"/>
                </a:rPr>
                <a:t>&amp;</a:t>
              </a:r>
              <a:r>
                <a:rPr sz="1440" b="1" dirty="0">
                  <a:solidFill>
                    <a:srgbClr val="002060"/>
                  </a:solidFill>
                  <a:latin typeface="Arial"/>
                </a:rPr>
                <a:t> Reconciliation</a:t>
              </a:r>
            </a:p>
          </p:txBody>
        </p:sp>
        <p:sp>
          <p:nvSpPr>
            <p:cNvPr id="118" name="TextBox 117"/>
            <p:cNvSpPr txBox="1"/>
            <p:nvPr/>
          </p:nvSpPr>
          <p:spPr>
            <a:xfrm>
              <a:off x="2456697" y="5710460"/>
              <a:ext cx="5760720" cy="282854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square" lIns="32918" tIns="32918" rIns="32918" bIns="32918" anchor="ctr">
              <a:spAutoFit/>
            </a:bodyPr>
            <a:lstStyle/>
            <a:p>
              <a:pPr algn="ctr"/>
              <a:r>
                <a:rPr lang="en-US" sz="912" dirty="0">
                  <a:solidFill>
                    <a:srgbClr val="002060"/>
                  </a:solidFill>
                  <a:latin typeface="Arial"/>
                </a:rPr>
                <a:t>ML training -&gt; </a:t>
              </a:r>
              <a:r>
                <a:rPr sz="912" dirty="0">
                  <a:solidFill>
                    <a:srgbClr val="002060"/>
                  </a:solidFill>
                  <a:latin typeface="Arial"/>
                </a:rPr>
                <a:t>Aligns all domains, </a:t>
              </a:r>
              <a:r>
                <a:rPr lang="en-US" sz="912" dirty="0">
                  <a:solidFill>
                    <a:srgbClr val="002060"/>
                  </a:solidFill>
                  <a:latin typeface="Arial"/>
                </a:rPr>
                <a:t>f</a:t>
              </a:r>
              <a:r>
                <a:rPr sz="912" dirty="0">
                  <a:solidFill>
                    <a:srgbClr val="002060"/>
                  </a:solidFill>
                  <a:latin typeface="Arial"/>
                </a:rPr>
                <a:t>its monthly / quarterly / yearly training data</a:t>
              </a:r>
              <a:r>
                <a:rPr lang="en-US" sz="912" dirty="0">
                  <a:solidFill>
                    <a:srgbClr val="002060"/>
                  </a:solidFill>
                  <a:latin typeface="Arial"/>
                </a:rPr>
                <a:t>, confidence + uncertainty</a:t>
              </a:r>
              <a:endParaRPr sz="912" dirty="0">
                <a:solidFill>
                  <a:srgbClr val="002060"/>
                </a:solidFill>
                <a:latin typeface="Arial"/>
              </a:endParaRPr>
            </a:p>
          </p:txBody>
        </p:sp>
      </p:grpSp>
      <p:sp>
        <p:nvSpPr>
          <p:cNvPr id="124" name="Rounded Rectangle 123"/>
          <p:cNvSpPr/>
          <p:nvPr/>
        </p:nvSpPr>
        <p:spPr>
          <a:xfrm>
            <a:off x="4586258" y="7787338"/>
            <a:ext cx="1369456" cy="263347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17A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1946" rIns="54864" bIns="21946" rtlCol="0" anchor="ctr"/>
          <a:lstStyle/>
          <a:p>
            <a:pPr algn="ctr"/>
            <a:r>
              <a:rPr sz="996" b="1" dirty="0">
                <a:solidFill>
                  <a:srgbClr val="192337"/>
                </a:solidFill>
                <a:latin typeface="Arial"/>
              </a:rPr>
              <a:t>Waterfall Output</a:t>
            </a:r>
          </a:p>
        </p:txBody>
      </p:sp>
      <p:sp>
        <p:nvSpPr>
          <p:cNvPr id="125" name="Rounded Rectangle 124"/>
          <p:cNvSpPr/>
          <p:nvPr/>
        </p:nvSpPr>
        <p:spPr>
          <a:xfrm>
            <a:off x="6105837" y="7784003"/>
            <a:ext cx="1726890" cy="263347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17A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1946" rIns="54864" bIns="21946" rtlCol="0" anchor="ctr"/>
          <a:lstStyle/>
          <a:p>
            <a:pPr algn="ctr"/>
            <a:r>
              <a:rPr sz="996" b="1" dirty="0">
                <a:solidFill>
                  <a:srgbClr val="192337"/>
                </a:solidFill>
                <a:latin typeface="Arial"/>
              </a:rPr>
              <a:t>Domain Drill-Downs</a:t>
            </a:r>
          </a:p>
        </p:txBody>
      </p:sp>
      <p:sp>
        <p:nvSpPr>
          <p:cNvPr id="126" name="Rounded Rectangle 125"/>
          <p:cNvSpPr/>
          <p:nvPr/>
        </p:nvSpPr>
        <p:spPr>
          <a:xfrm>
            <a:off x="8008732" y="7805088"/>
            <a:ext cx="1726890" cy="263347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17A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1946" rIns="54864" bIns="21946" rtlCol="0" anchor="ctr"/>
          <a:lstStyle/>
          <a:p>
            <a:pPr algn="ctr"/>
            <a:r>
              <a:rPr sz="996" b="1" dirty="0">
                <a:solidFill>
                  <a:srgbClr val="192337"/>
                </a:solidFill>
                <a:latin typeface="Arial"/>
              </a:rPr>
              <a:t>Confidence</a:t>
            </a:r>
            <a:r>
              <a:rPr lang="en-US" sz="996" b="1" dirty="0">
                <a:solidFill>
                  <a:srgbClr val="192337"/>
                </a:solidFill>
                <a:latin typeface="Arial"/>
              </a:rPr>
              <a:t> </a:t>
            </a:r>
          </a:p>
          <a:p>
            <a:pPr algn="ctr"/>
            <a:r>
              <a:rPr lang="en-US" sz="996" b="1" dirty="0">
                <a:solidFill>
                  <a:srgbClr val="192337"/>
                </a:solidFill>
                <a:latin typeface="Arial"/>
              </a:rPr>
              <a:t>Uncertainty</a:t>
            </a:r>
            <a:endParaRPr sz="996" b="1" dirty="0">
              <a:solidFill>
                <a:srgbClr val="192337"/>
              </a:solidFill>
              <a:latin typeface="Arial"/>
            </a:endParaRPr>
          </a:p>
        </p:txBody>
      </p:sp>
      <p:sp>
        <p:nvSpPr>
          <p:cNvPr id="136" name="Rounded Rectangle 6">
            <a:extLst>
              <a:ext uri="{FF2B5EF4-FFF2-40B4-BE49-F238E27FC236}">
                <a16:creationId xmlns:a16="http://schemas.microsoft.com/office/drawing/2014/main" id="{357912A1-A90E-5729-DEE1-3032ACAF2AB0}"/>
              </a:ext>
            </a:extLst>
          </p:cNvPr>
          <p:cNvSpPr/>
          <p:nvPr/>
        </p:nvSpPr>
        <p:spPr>
          <a:xfrm>
            <a:off x="3036253" y="1473809"/>
            <a:ext cx="510020" cy="15480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18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1946" rIns="54864" bIns="21946" rtlCol="0" anchor="ctr"/>
          <a:lstStyle/>
          <a:p>
            <a:pPr algn="ctr"/>
            <a:r>
              <a:rPr lang="en-US" sz="864" b="1" dirty="0">
                <a:solidFill>
                  <a:srgbClr val="192337"/>
                </a:solidFill>
                <a:latin typeface="Arial"/>
              </a:rPr>
              <a:t>Speed</a:t>
            </a:r>
            <a:endParaRPr sz="864" b="1" dirty="0">
              <a:solidFill>
                <a:srgbClr val="192337"/>
              </a:solidFill>
              <a:latin typeface="Arial"/>
            </a:endParaRPr>
          </a:p>
        </p:txBody>
      </p:sp>
      <p:sp>
        <p:nvSpPr>
          <p:cNvPr id="138" name="Rounded Rectangle 6">
            <a:extLst>
              <a:ext uri="{FF2B5EF4-FFF2-40B4-BE49-F238E27FC236}">
                <a16:creationId xmlns:a16="http://schemas.microsoft.com/office/drawing/2014/main" id="{1D1185E5-DEA8-E29E-F73B-4C325AB42CBB}"/>
              </a:ext>
            </a:extLst>
          </p:cNvPr>
          <p:cNvSpPr/>
          <p:nvPr/>
        </p:nvSpPr>
        <p:spPr>
          <a:xfrm>
            <a:off x="3577792" y="1473809"/>
            <a:ext cx="510020" cy="15480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18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1946" rIns="54864" bIns="21946" rtlCol="0" anchor="ctr"/>
          <a:lstStyle/>
          <a:p>
            <a:pPr algn="ctr"/>
            <a:r>
              <a:rPr lang="en-US" sz="864" b="1" dirty="0">
                <a:solidFill>
                  <a:srgbClr val="192337"/>
                </a:solidFill>
                <a:latin typeface="Arial"/>
              </a:rPr>
              <a:t>Supply</a:t>
            </a:r>
            <a:endParaRPr sz="864" b="1" dirty="0">
              <a:solidFill>
                <a:srgbClr val="192337"/>
              </a:solidFill>
              <a:latin typeface="Arial"/>
            </a:endParaRPr>
          </a:p>
        </p:txBody>
      </p:sp>
      <p:sp>
        <p:nvSpPr>
          <p:cNvPr id="140" name="Rounded Rectangle 6">
            <a:extLst>
              <a:ext uri="{FF2B5EF4-FFF2-40B4-BE49-F238E27FC236}">
                <a16:creationId xmlns:a16="http://schemas.microsoft.com/office/drawing/2014/main" id="{76AD7E6E-E3DB-F079-16F5-AC0664B0EBB8}"/>
              </a:ext>
            </a:extLst>
          </p:cNvPr>
          <p:cNvSpPr/>
          <p:nvPr/>
        </p:nvSpPr>
        <p:spPr>
          <a:xfrm>
            <a:off x="3048087" y="1690090"/>
            <a:ext cx="510020" cy="15480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18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1946" rIns="54864" bIns="21946" rtlCol="0" anchor="ctr"/>
          <a:lstStyle/>
          <a:p>
            <a:pPr algn="ctr"/>
            <a:r>
              <a:rPr lang="en-US" sz="864" b="1" dirty="0">
                <a:solidFill>
                  <a:srgbClr val="192337"/>
                </a:solidFill>
                <a:latin typeface="Arial"/>
              </a:rPr>
              <a:t>Tech</a:t>
            </a:r>
            <a:endParaRPr sz="864" b="1" dirty="0">
              <a:solidFill>
                <a:srgbClr val="192337"/>
              </a:solidFill>
              <a:latin typeface="Arial"/>
            </a:endParaRPr>
          </a:p>
        </p:txBody>
      </p:sp>
      <p:sp>
        <p:nvSpPr>
          <p:cNvPr id="142" name="Rounded Rectangle 6">
            <a:extLst>
              <a:ext uri="{FF2B5EF4-FFF2-40B4-BE49-F238E27FC236}">
                <a16:creationId xmlns:a16="http://schemas.microsoft.com/office/drawing/2014/main" id="{7FF9BDAA-2151-BF17-6DD2-BC5784D4BB72}"/>
              </a:ext>
            </a:extLst>
          </p:cNvPr>
          <p:cNvSpPr/>
          <p:nvPr/>
        </p:nvSpPr>
        <p:spPr>
          <a:xfrm>
            <a:off x="3577792" y="1679095"/>
            <a:ext cx="510020" cy="15480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18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1946" rIns="54864" bIns="21946" rtlCol="0" anchor="ctr"/>
          <a:lstStyle/>
          <a:p>
            <a:pPr algn="ctr"/>
            <a:r>
              <a:rPr lang="en-US" sz="864" b="1" dirty="0">
                <a:solidFill>
                  <a:srgbClr val="192337"/>
                </a:solidFill>
                <a:latin typeface="Arial"/>
              </a:rPr>
              <a:t>CSAT</a:t>
            </a:r>
            <a:endParaRPr sz="864" b="1" dirty="0">
              <a:solidFill>
                <a:srgbClr val="192337"/>
              </a:solidFill>
              <a:latin typeface="Arial"/>
            </a:endParaRPr>
          </a:p>
        </p:txBody>
      </p:sp>
      <p:sp>
        <p:nvSpPr>
          <p:cNvPr id="144" name="Rounded Rectangle 6">
            <a:extLst>
              <a:ext uri="{FF2B5EF4-FFF2-40B4-BE49-F238E27FC236}">
                <a16:creationId xmlns:a16="http://schemas.microsoft.com/office/drawing/2014/main" id="{9F3E3F14-2829-0432-3C1E-60A1E0FAAAD7}"/>
              </a:ext>
            </a:extLst>
          </p:cNvPr>
          <p:cNvSpPr/>
          <p:nvPr/>
        </p:nvSpPr>
        <p:spPr>
          <a:xfrm>
            <a:off x="3364470" y="1871279"/>
            <a:ext cx="510020" cy="15480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18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1946" rIns="54864" bIns="21946" rtlCol="0" anchor="ctr"/>
          <a:lstStyle/>
          <a:p>
            <a:pPr algn="ctr"/>
            <a:r>
              <a:rPr lang="en-US" sz="864" b="1" dirty="0">
                <a:solidFill>
                  <a:srgbClr val="192337"/>
                </a:solidFill>
                <a:latin typeface="Arial"/>
              </a:rPr>
              <a:t>Crew</a:t>
            </a:r>
            <a:endParaRPr sz="864" b="1" dirty="0">
              <a:solidFill>
                <a:srgbClr val="192337"/>
              </a:solidFill>
              <a:latin typeface="Arial"/>
            </a:endParaRPr>
          </a:p>
        </p:txBody>
      </p:sp>
      <p:sp>
        <p:nvSpPr>
          <p:cNvPr id="146" name="Rounded Rectangle 6">
            <a:extLst>
              <a:ext uri="{FF2B5EF4-FFF2-40B4-BE49-F238E27FC236}">
                <a16:creationId xmlns:a16="http://schemas.microsoft.com/office/drawing/2014/main" id="{133A232F-621E-2CA7-BCD8-1CAAE5854331}"/>
              </a:ext>
            </a:extLst>
          </p:cNvPr>
          <p:cNvSpPr/>
          <p:nvPr/>
        </p:nvSpPr>
        <p:spPr>
          <a:xfrm>
            <a:off x="4253613" y="1483876"/>
            <a:ext cx="510020" cy="15480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18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1946" rIns="54864" bIns="21946" rtlCol="0" anchor="ctr"/>
          <a:lstStyle/>
          <a:p>
            <a:pPr algn="ctr"/>
            <a:r>
              <a:rPr lang="en-US" sz="864" b="1" dirty="0">
                <a:solidFill>
                  <a:srgbClr val="192337"/>
                </a:solidFill>
                <a:latin typeface="Arial"/>
              </a:rPr>
              <a:t>Pricing</a:t>
            </a:r>
            <a:endParaRPr sz="864" b="1" dirty="0">
              <a:solidFill>
                <a:srgbClr val="192337"/>
              </a:solidFill>
              <a:latin typeface="Arial"/>
            </a:endParaRPr>
          </a:p>
        </p:txBody>
      </p:sp>
      <p:sp>
        <p:nvSpPr>
          <p:cNvPr id="148" name="Rounded Rectangle 6">
            <a:extLst>
              <a:ext uri="{FF2B5EF4-FFF2-40B4-BE49-F238E27FC236}">
                <a16:creationId xmlns:a16="http://schemas.microsoft.com/office/drawing/2014/main" id="{E9ED6DEA-E33E-7AC5-33F5-D39287A4FE10}"/>
              </a:ext>
            </a:extLst>
          </p:cNvPr>
          <p:cNvSpPr/>
          <p:nvPr/>
        </p:nvSpPr>
        <p:spPr>
          <a:xfrm>
            <a:off x="4795153" y="1483876"/>
            <a:ext cx="510020" cy="15480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18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1946" rIns="54864" bIns="21946" rtlCol="0" anchor="ctr"/>
          <a:lstStyle/>
          <a:p>
            <a:pPr algn="ctr"/>
            <a:r>
              <a:rPr lang="en-US" sz="864" b="1" dirty="0">
                <a:solidFill>
                  <a:srgbClr val="192337"/>
                </a:solidFill>
                <a:latin typeface="Arial"/>
              </a:rPr>
              <a:t>Menu</a:t>
            </a:r>
            <a:endParaRPr sz="864" b="1" dirty="0">
              <a:solidFill>
                <a:srgbClr val="192337"/>
              </a:solidFill>
              <a:latin typeface="Arial"/>
            </a:endParaRPr>
          </a:p>
        </p:txBody>
      </p:sp>
      <p:sp>
        <p:nvSpPr>
          <p:cNvPr id="150" name="Rounded Rectangle 6">
            <a:extLst>
              <a:ext uri="{FF2B5EF4-FFF2-40B4-BE49-F238E27FC236}">
                <a16:creationId xmlns:a16="http://schemas.microsoft.com/office/drawing/2014/main" id="{76C4A348-11B9-F98C-D295-F4FF0BF1B098}"/>
              </a:ext>
            </a:extLst>
          </p:cNvPr>
          <p:cNvSpPr/>
          <p:nvPr/>
        </p:nvSpPr>
        <p:spPr>
          <a:xfrm>
            <a:off x="4265448" y="1700157"/>
            <a:ext cx="510020" cy="15480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18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1946" rIns="54864" bIns="21946" rtlCol="0" anchor="ctr"/>
          <a:lstStyle/>
          <a:p>
            <a:pPr algn="ctr"/>
            <a:r>
              <a:rPr lang="en-US" sz="864" b="1" dirty="0">
                <a:solidFill>
                  <a:srgbClr val="192337"/>
                </a:solidFill>
                <a:latin typeface="Arial"/>
              </a:rPr>
              <a:t>Media</a:t>
            </a:r>
            <a:endParaRPr sz="864" b="1" dirty="0">
              <a:solidFill>
                <a:srgbClr val="192337"/>
              </a:solidFill>
              <a:latin typeface="Arial"/>
            </a:endParaRPr>
          </a:p>
        </p:txBody>
      </p:sp>
      <p:sp>
        <p:nvSpPr>
          <p:cNvPr id="152" name="Rounded Rectangle 6">
            <a:extLst>
              <a:ext uri="{FF2B5EF4-FFF2-40B4-BE49-F238E27FC236}">
                <a16:creationId xmlns:a16="http://schemas.microsoft.com/office/drawing/2014/main" id="{6D9D78D9-4A99-01EF-E7C2-8A8DCF726EA6}"/>
              </a:ext>
            </a:extLst>
          </p:cNvPr>
          <p:cNvSpPr/>
          <p:nvPr/>
        </p:nvSpPr>
        <p:spPr>
          <a:xfrm>
            <a:off x="4795153" y="1689161"/>
            <a:ext cx="510020" cy="15480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18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1946" rIns="54864" bIns="21946" rtlCol="0" anchor="ctr"/>
          <a:lstStyle/>
          <a:p>
            <a:pPr algn="ctr"/>
            <a:r>
              <a:rPr lang="en-US" sz="864" b="1" dirty="0">
                <a:solidFill>
                  <a:srgbClr val="192337"/>
                </a:solidFill>
                <a:latin typeface="Arial"/>
              </a:rPr>
              <a:t>Promo</a:t>
            </a:r>
            <a:endParaRPr sz="864" b="1" dirty="0">
              <a:solidFill>
                <a:srgbClr val="192337"/>
              </a:solidFill>
              <a:latin typeface="Arial"/>
            </a:endParaRPr>
          </a:p>
        </p:txBody>
      </p:sp>
      <p:sp>
        <p:nvSpPr>
          <p:cNvPr id="154" name="Rounded Rectangle 6">
            <a:extLst>
              <a:ext uri="{FF2B5EF4-FFF2-40B4-BE49-F238E27FC236}">
                <a16:creationId xmlns:a16="http://schemas.microsoft.com/office/drawing/2014/main" id="{BBCC79B6-4CB6-4FCD-B9C1-36778F4A0571}"/>
              </a:ext>
            </a:extLst>
          </p:cNvPr>
          <p:cNvSpPr/>
          <p:nvPr/>
        </p:nvSpPr>
        <p:spPr>
          <a:xfrm>
            <a:off x="4234950" y="1881346"/>
            <a:ext cx="510020" cy="15480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18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1946" rIns="54864" bIns="21946" rtlCol="0" anchor="ctr"/>
          <a:lstStyle/>
          <a:p>
            <a:pPr algn="ctr"/>
            <a:r>
              <a:rPr lang="en-US" sz="864" b="1" dirty="0">
                <a:solidFill>
                  <a:srgbClr val="192337"/>
                </a:solidFill>
                <a:latin typeface="Arial"/>
              </a:rPr>
              <a:t>Loyalty</a:t>
            </a:r>
            <a:endParaRPr sz="864" b="1" dirty="0">
              <a:solidFill>
                <a:srgbClr val="192337"/>
              </a:solidFill>
              <a:latin typeface="Arial"/>
            </a:endParaRPr>
          </a:p>
        </p:txBody>
      </p:sp>
      <p:sp>
        <p:nvSpPr>
          <p:cNvPr id="156" name="Rounded Rectangle 6">
            <a:extLst>
              <a:ext uri="{FF2B5EF4-FFF2-40B4-BE49-F238E27FC236}">
                <a16:creationId xmlns:a16="http://schemas.microsoft.com/office/drawing/2014/main" id="{F3A176E2-7637-78C0-E9FD-1B6561EDD426}"/>
              </a:ext>
            </a:extLst>
          </p:cNvPr>
          <p:cNvSpPr/>
          <p:nvPr/>
        </p:nvSpPr>
        <p:spPr>
          <a:xfrm>
            <a:off x="4783157" y="1888787"/>
            <a:ext cx="591377" cy="14736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18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1946" rIns="54864" bIns="21946" rtlCol="0" anchor="ctr"/>
          <a:lstStyle/>
          <a:p>
            <a:pPr algn="ctr"/>
            <a:r>
              <a:rPr lang="en-US" sz="864" b="1" dirty="0">
                <a:solidFill>
                  <a:srgbClr val="192337"/>
                </a:solidFill>
                <a:latin typeface="Arial"/>
              </a:rPr>
              <a:t>Delivery</a:t>
            </a:r>
            <a:endParaRPr sz="864" b="1" dirty="0">
              <a:solidFill>
                <a:srgbClr val="192337"/>
              </a:solidFill>
              <a:latin typeface="Arial"/>
            </a:endParaRPr>
          </a:p>
        </p:txBody>
      </p:sp>
      <p:sp>
        <p:nvSpPr>
          <p:cNvPr id="40" name="Rounded Rectangle 39"/>
          <p:cNvSpPr/>
          <p:nvPr/>
        </p:nvSpPr>
        <p:spPr>
          <a:xfrm>
            <a:off x="2967286" y="2438273"/>
            <a:ext cx="6325819" cy="3291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17A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1946" rIns="54864" bIns="21946" rtlCol="0" anchor="ctr"/>
          <a:lstStyle/>
          <a:p>
            <a:pPr algn="ctr"/>
            <a:r>
              <a:rPr sz="972" dirty="0">
                <a:solidFill>
                  <a:srgbClr val="192337"/>
                </a:solidFill>
                <a:latin typeface="Arial"/>
              </a:rPr>
              <a:t>Feature</a:t>
            </a:r>
            <a:r>
              <a:rPr lang="en-US" sz="972" dirty="0">
                <a:solidFill>
                  <a:srgbClr val="192337"/>
                </a:solidFill>
                <a:latin typeface="Arial"/>
              </a:rPr>
              <a:t> </a:t>
            </a:r>
            <a:r>
              <a:rPr sz="972" dirty="0">
                <a:solidFill>
                  <a:srgbClr val="192337"/>
                </a:solidFill>
                <a:latin typeface="Arial"/>
              </a:rPr>
              <a:t>Store</a:t>
            </a:r>
            <a:endParaRPr lang="en-US" sz="972" dirty="0">
              <a:solidFill>
                <a:srgbClr val="192337"/>
              </a:solidFill>
              <a:latin typeface="Arial"/>
            </a:endParaRPr>
          </a:p>
          <a:p>
            <a:pPr algn="ctr"/>
            <a:r>
              <a:rPr lang="en-US" sz="972" dirty="0">
                <a:solidFill>
                  <a:srgbClr val="192337"/>
                </a:solidFill>
                <a:latin typeface="Arial"/>
              </a:rPr>
              <a:t>Topline KPIs + Features</a:t>
            </a:r>
            <a:endParaRPr sz="972" dirty="0">
              <a:solidFill>
                <a:srgbClr val="192337"/>
              </a:solidFill>
              <a:latin typeface="Arial"/>
            </a:endParaRPr>
          </a:p>
        </p:txBody>
      </p:sp>
      <p:sp>
        <p:nvSpPr>
          <p:cNvPr id="158" name="Rounded Rectangle 59">
            <a:extLst>
              <a:ext uri="{FF2B5EF4-FFF2-40B4-BE49-F238E27FC236}">
                <a16:creationId xmlns:a16="http://schemas.microsoft.com/office/drawing/2014/main" id="{71A7ECB1-604A-B5E5-DA0D-CBB1653B2BC6}"/>
              </a:ext>
            </a:extLst>
          </p:cNvPr>
          <p:cNvSpPr/>
          <p:nvPr/>
        </p:nvSpPr>
        <p:spPr>
          <a:xfrm>
            <a:off x="5430412" y="2829636"/>
            <a:ext cx="653150" cy="37307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C5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1946" rIns="54864" bIns="21946" rtlCol="0" anchor="ctr"/>
          <a:lstStyle/>
          <a:p>
            <a:pPr algn="ctr"/>
            <a:r>
              <a:rPr lang="en-US" sz="852" dirty="0">
                <a:solidFill>
                  <a:srgbClr val="192337"/>
                </a:solidFill>
                <a:latin typeface="Arial"/>
              </a:rPr>
              <a:t>CSAT:</a:t>
            </a:r>
          </a:p>
          <a:p>
            <a:pPr algn="ctr"/>
            <a:r>
              <a:rPr lang="en-US" sz="852" dirty="0">
                <a:solidFill>
                  <a:srgbClr val="192337"/>
                </a:solidFill>
                <a:latin typeface="Arial"/>
              </a:rPr>
              <a:t>OSAT, sentiment</a:t>
            </a:r>
            <a:endParaRPr sz="852" dirty="0">
              <a:solidFill>
                <a:srgbClr val="192337"/>
              </a:solidFill>
              <a:latin typeface="Arial"/>
            </a:endParaRPr>
          </a:p>
        </p:txBody>
      </p:sp>
      <p:sp>
        <p:nvSpPr>
          <p:cNvPr id="160" name="Rounded Rectangle 59">
            <a:extLst>
              <a:ext uri="{FF2B5EF4-FFF2-40B4-BE49-F238E27FC236}">
                <a16:creationId xmlns:a16="http://schemas.microsoft.com/office/drawing/2014/main" id="{465EEB97-03E2-AD97-F124-EC00B145DEE5}"/>
              </a:ext>
            </a:extLst>
          </p:cNvPr>
          <p:cNvSpPr/>
          <p:nvPr/>
        </p:nvSpPr>
        <p:spPr>
          <a:xfrm>
            <a:off x="6137513" y="2836951"/>
            <a:ext cx="653150" cy="37307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C5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1946" rIns="54864" bIns="21946" rtlCol="0" anchor="ctr"/>
          <a:lstStyle/>
          <a:p>
            <a:pPr algn="ctr"/>
            <a:r>
              <a:rPr lang="en-US" sz="852" dirty="0">
                <a:solidFill>
                  <a:srgbClr val="192337"/>
                </a:solidFill>
                <a:latin typeface="Arial"/>
              </a:rPr>
              <a:t>Crew:</a:t>
            </a:r>
          </a:p>
          <a:p>
            <a:pPr algn="ctr"/>
            <a:r>
              <a:rPr lang="en-US" sz="852" dirty="0">
                <a:solidFill>
                  <a:srgbClr val="192337"/>
                </a:solidFill>
                <a:latin typeface="Arial"/>
              </a:rPr>
              <a:t>OSAT</a:t>
            </a:r>
          </a:p>
          <a:p>
            <a:pPr algn="ctr"/>
            <a:r>
              <a:rPr lang="en-US" sz="852" dirty="0">
                <a:solidFill>
                  <a:srgbClr val="192337"/>
                </a:solidFill>
                <a:latin typeface="Arial"/>
              </a:rPr>
              <a:t>Coverage</a:t>
            </a:r>
            <a:endParaRPr sz="852" dirty="0">
              <a:solidFill>
                <a:srgbClr val="192337"/>
              </a:solidFill>
              <a:latin typeface="Arial"/>
            </a:endParaRPr>
          </a:p>
        </p:txBody>
      </p:sp>
      <p:sp>
        <p:nvSpPr>
          <p:cNvPr id="162" name="Rounded Rectangle 59">
            <a:extLst>
              <a:ext uri="{FF2B5EF4-FFF2-40B4-BE49-F238E27FC236}">
                <a16:creationId xmlns:a16="http://schemas.microsoft.com/office/drawing/2014/main" id="{0C8D7604-759B-EE74-9000-AC38794CF6E6}"/>
              </a:ext>
            </a:extLst>
          </p:cNvPr>
          <p:cNvSpPr/>
          <p:nvPr/>
        </p:nvSpPr>
        <p:spPr>
          <a:xfrm>
            <a:off x="6843293" y="2833294"/>
            <a:ext cx="653150" cy="37307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C5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1946" rIns="54864" bIns="21946" rtlCol="0" anchor="ctr"/>
          <a:lstStyle/>
          <a:p>
            <a:pPr algn="ctr"/>
            <a:r>
              <a:rPr lang="en-US" sz="852" dirty="0">
                <a:solidFill>
                  <a:srgbClr val="192337"/>
                </a:solidFill>
                <a:latin typeface="Arial"/>
              </a:rPr>
              <a:t>Pricing:</a:t>
            </a:r>
          </a:p>
          <a:p>
            <a:pPr algn="ctr"/>
            <a:r>
              <a:rPr lang="en-US" sz="852" dirty="0">
                <a:solidFill>
                  <a:srgbClr val="192337"/>
                </a:solidFill>
                <a:latin typeface="Arial"/>
              </a:rPr>
              <a:t>Adoption rate</a:t>
            </a:r>
            <a:endParaRPr sz="852" dirty="0">
              <a:solidFill>
                <a:srgbClr val="192337"/>
              </a:solidFill>
              <a:latin typeface="Arial"/>
            </a:endParaRPr>
          </a:p>
        </p:txBody>
      </p:sp>
      <p:sp>
        <p:nvSpPr>
          <p:cNvPr id="164" name="Rounded Rectangle 59">
            <a:extLst>
              <a:ext uri="{FF2B5EF4-FFF2-40B4-BE49-F238E27FC236}">
                <a16:creationId xmlns:a16="http://schemas.microsoft.com/office/drawing/2014/main" id="{6ADA2155-02B6-DF73-7236-483AA83ADC0D}"/>
              </a:ext>
            </a:extLst>
          </p:cNvPr>
          <p:cNvSpPr/>
          <p:nvPr/>
        </p:nvSpPr>
        <p:spPr>
          <a:xfrm>
            <a:off x="7556525" y="2833294"/>
            <a:ext cx="721596" cy="37307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C5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1946" rIns="54864" bIns="21946" rtlCol="0" anchor="ctr"/>
          <a:lstStyle/>
          <a:p>
            <a:pPr algn="ctr"/>
            <a:r>
              <a:rPr lang="en-US" sz="852" dirty="0">
                <a:solidFill>
                  <a:srgbClr val="192337"/>
                </a:solidFill>
                <a:latin typeface="Arial"/>
              </a:rPr>
              <a:t>Menu:</a:t>
            </a:r>
          </a:p>
          <a:p>
            <a:pPr algn="ctr"/>
            <a:r>
              <a:rPr lang="en-US" sz="852" dirty="0">
                <a:solidFill>
                  <a:srgbClr val="192337"/>
                </a:solidFill>
                <a:latin typeface="Arial"/>
              </a:rPr>
              <a:t>Core / Value items</a:t>
            </a:r>
            <a:endParaRPr sz="852" dirty="0">
              <a:solidFill>
                <a:srgbClr val="192337"/>
              </a:solidFill>
              <a:latin typeface="Arial"/>
            </a:endParaRPr>
          </a:p>
        </p:txBody>
      </p:sp>
      <p:sp>
        <p:nvSpPr>
          <p:cNvPr id="166" name="Rounded Rectangle 59">
            <a:extLst>
              <a:ext uri="{FF2B5EF4-FFF2-40B4-BE49-F238E27FC236}">
                <a16:creationId xmlns:a16="http://schemas.microsoft.com/office/drawing/2014/main" id="{8044D163-C373-ACA9-BDE0-B1C2BF597E7C}"/>
              </a:ext>
            </a:extLst>
          </p:cNvPr>
          <p:cNvSpPr/>
          <p:nvPr/>
        </p:nvSpPr>
        <p:spPr>
          <a:xfrm>
            <a:off x="8376876" y="2814585"/>
            <a:ext cx="721596" cy="37307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C5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1946" rIns="54864" bIns="21946" rtlCol="0" anchor="ctr"/>
          <a:lstStyle/>
          <a:p>
            <a:pPr algn="ctr"/>
            <a:r>
              <a:rPr lang="en-US" sz="852" dirty="0">
                <a:solidFill>
                  <a:srgbClr val="192337"/>
                </a:solidFill>
                <a:latin typeface="Arial"/>
              </a:rPr>
              <a:t>Media:</a:t>
            </a:r>
          </a:p>
          <a:p>
            <a:pPr algn="ctr"/>
            <a:r>
              <a:rPr lang="en-US" sz="852" dirty="0">
                <a:solidFill>
                  <a:srgbClr val="192337"/>
                </a:solidFill>
                <a:latin typeface="Arial"/>
              </a:rPr>
              <a:t>Base spend</a:t>
            </a:r>
            <a:endParaRPr sz="852" dirty="0">
              <a:solidFill>
                <a:srgbClr val="192337"/>
              </a:solidFill>
              <a:latin typeface="Arial"/>
            </a:endParaRPr>
          </a:p>
        </p:txBody>
      </p:sp>
      <p:sp>
        <p:nvSpPr>
          <p:cNvPr id="168" name="TextBox 167">
            <a:extLst>
              <a:ext uri="{FF2B5EF4-FFF2-40B4-BE49-F238E27FC236}">
                <a16:creationId xmlns:a16="http://schemas.microsoft.com/office/drawing/2014/main" id="{907C59DD-27D8-CA04-D7E9-F5A751573C89}"/>
              </a:ext>
            </a:extLst>
          </p:cNvPr>
          <p:cNvSpPr txBox="1"/>
          <p:nvPr/>
        </p:nvSpPr>
        <p:spPr>
          <a:xfrm>
            <a:off x="9073649" y="2760131"/>
            <a:ext cx="438912" cy="380411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32918" tIns="32918" rIns="32918" bIns="32918" anchor="ctr">
            <a:spAutoFit/>
          </a:bodyPr>
          <a:lstStyle/>
          <a:p>
            <a:pPr algn="ctr"/>
            <a:r>
              <a:rPr sz="2040" dirty="0">
                <a:solidFill>
                  <a:srgbClr val="192337"/>
                </a:solidFill>
                <a:latin typeface="Arial"/>
              </a:rPr>
              <a:t>…</a:t>
            </a:r>
          </a:p>
        </p:txBody>
      </p:sp>
      <p:sp>
        <p:nvSpPr>
          <p:cNvPr id="170" name="Rounded Rectangle 39">
            <a:extLst>
              <a:ext uri="{FF2B5EF4-FFF2-40B4-BE49-F238E27FC236}">
                <a16:creationId xmlns:a16="http://schemas.microsoft.com/office/drawing/2014/main" id="{47BC9BD2-07E1-5EE2-9CAC-9EC48A069B56}"/>
              </a:ext>
            </a:extLst>
          </p:cNvPr>
          <p:cNvSpPr/>
          <p:nvPr/>
        </p:nvSpPr>
        <p:spPr>
          <a:xfrm>
            <a:off x="9391051" y="2438273"/>
            <a:ext cx="3363972" cy="33512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17A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1946" rIns="54864" bIns="21946" rtlCol="0" anchor="ctr"/>
          <a:lstStyle/>
          <a:p>
            <a:pPr algn="ctr"/>
            <a:r>
              <a:rPr lang="en-US" sz="972" dirty="0">
                <a:solidFill>
                  <a:srgbClr val="192337"/>
                </a:solidFill>
                <a:latin typeface="Arial"/>
              </a:rPr>
              <a:t>Training datasets</a:t>
            </a:r>
            <a:endParaRPr sz="972" dirty="0">
              <a:solidFill>
                <a:srgbClr val="192337"/>
              </a:solidFill>
              <a:latin typeface="Arial"/>
            </a:endParaRPr>
          </a:p>
        </p:txBody>
      </p:sp>
      <p:sp>
        <p:nvSpPr>
          <p:cNvPr id="172" name="Rounded Rectangle 57">
            <a:extLst>
              <a:ext uri="{FF2B5EF4-FFF2-40B4-BE49-F238E27FC236}">
                <a16:creationId xmlns:a16="http://schemas.microsoft.com/office/drawing/2014/main" id="{C2AEC307-9FF7-1AE4-8788-17B0308F57DE}"/>
              </a:ext>
            </a:extLst>
          </p:cNvPr>
          <p:cNvSpPr/>
          <p:nvPr/>
        </p:nvSpPr>
        <p:spPr>
          <a:xfrm>
            <a:off x="9569359" y="2811348"/>
            <a:ext cx="2966208" cy="373075"/>
          </a:xfrm>
          <a:prstGeom prst="roundRect">
            <a:avLst/>
          </a:prstGeom>
          <a:solidFill>
            <a:srgbClr val="FFFFFF"/>
          </a:solidFill>
          <a:ln w="12700"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1946" rIns="54864" bIns="21946" rtlCol="0" anchor="ctr"/>
          <a:lstStyle/>
          <a:p>
            <a:pPr algn="ctr"/>
            <a:r>
              <a:rPr lang="en-US" sz="852" dirty="0">
                <a:solidFill>
                  <a:srgbClr val="192337"/>
                </a:solidFill>
                <a:latin typeface="Arial"/>
              </a:rPr>
              <a:t>3-year restaurant weekly historical performance</a:t>
            </a:r>
          </a:p>
        </p:txBody>
      </p:sp>
      <p:grpSp>
        <p:nvGrpSpPr>
          <p:cNvPr id="178" name="Group 177">
            <a:extLst>
              <a:ext uri="{FF2B5EF4-FFF2-40B4-BE49-F238E27FC236}">
                <a16:creationId xmlns:a16="http://schemas.microsoft.com/office/drawing/2014/main" id="{349DD1E4-4011-CE4D-F0A4-6CC15DFA6D29}"/>
              </a:ext>
            </a:extLst>
          </p:cNvPr>
          <p:cNvGrpSpPr/>
          <p:nvPr/>
        </p:nvGrpSpPr>
        <p:grpSpPr>
          <a:xfrm>
            <a:off x="2851728" y="3787926"/>
            <a:ext cx="827761" cy="1719062"/>
            <a:chOff x="370600" y="2916936"/>
            <a:chExt cx="810589" cy="1645920"/>
          </a:xfrm>
        </p:grpSpPr>
        <p:sp>
          <p:nvSpPr>
            <p:cNvPr id="43" name="Rounded Rectangle 42"/>
            <p:cNvSpPr/>
            <p:nvPr/>
          </p:nvSpPr>
          <p:spPr>
            <a:xfrm>
              <a:off x="410590" y="2916936"/>
              <a:ext cx="717965" cy="1645920"/>
            </a:xfrm>
            <a:prstGeom prst="roundRect">
              <a:avLst/>
            </a:prstGeom>
            <a:solidFill>
              <a:srgbClr val="F8FAFC"/>
            </a:solidFill>
            <a:ln w="12700">
              <a:solidFill>
                <a:srgbClr val="717A8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160"/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370600" y="3130599"/>
              <a:ext cx="810589" cy="770886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square" lIns="32918" tIns="32918" rIns="32918" bIns="32918" anchor="ctr">
              <a:spAutoFit/>
            </a:bodyPr>
            <a:lstStyle/>
            <a:p>
              <a:pPr algn="ctr"/>
              <a:r>
                <a:rPr sz="960" b="1" dirty="0">
                  <a:solidFill>
                    <a:srgbClr val="051F50"/>
                  </a:solidFill>
                  <a:latin typeface="Arial"/>
                </a:rPr>
                <a:t>Evidence </a:t>
              </a:r>
              <a:endParaRPr lang="en-US" sz="960" b="1" dirty="0">
                <a:solidFill>
                  <a:srgbClr val="051F50"/>
                </a:solidFill>
                <a:latin typeface="Arial"/>
              </a:endParaRPr>
            </a:p>
            <a:p>
              <a:pPr algn="ctr"/>
              <a:r>
                <a:rPr sz="960" b="1" dirty="0">
                  <a:solidFill>
                    <a:srgbClr val="051F50"/>
                  </a:solidFill>
                  <a:latin typeface="Arial"/>
                </a:rPr>
                <a:t>&amp; </a:t>
              </a:r>
              <a:endParaRPr lang="en-US" sz="960" b="1" dirty="0">
                <a:solidFill>
                  <a:srgbClr val="051F50"/>
                </a:solidFill>
                <a:latin typeface="Arial"/>
              </a:endParaRPr>
            </a:p>
            <a:p>
              <a:pPr algn="ctr"/>
              <a:r>
                <a:rPr sz="960" b="1" dirty="0">
                  <a:solidFill>
                    <a:srgbClr val="051F50"/>
                  </a:solidFill>
                  <a:latin typeface="Arial"/>
                </a:rPr>
                <a:t>Business</a:t>
              </a:r>
              <a:endParaRPr lang="en-US" sz="960" b="1" dirty="0">
                <a:solidFill>
                  <a:srgbClr val="051F50"/>
                </a:solidFill>
                <a:latin typeface="Arial"/>
              </a:endParaRPr>
            </a:p>
            <a:p>
              <a:pPr algn="ctr"/>
              <a:r>
                <a:rPr lang="en-US" sz="960" b="1" dirty="0">
                  <a:solidFill>
                    <a:srgbClr val="051F50"/>
                  </a:solidFill>
                  <a:latin typeface="Arial"/>
                </a:rPr>
                <a:t>Knowledge</a:t>
              </a:r>
              <a:r>
                <a:rPr sz="960" b="1" dirty="0">
                  <a:solidFill>
                    <a:srgbClr val="051F50"/>
                  </a:solidFill>
                  <a:latin typeface="Arial"/>
                </a:rPr>
                <a:t>
Repositories</a:t>
              </a:r>
            </a:p>
          </p:txBody>
        </p:sp>
      </p:grpSp>
      <p:cxnSp>
        <p:nvCxnSpPr>
          <p:cNvPr id="188" name="Straight Arrow Connector 187">
            <a:extLst>
              <a:ext uri="{FF2B5EF4-FFF2-40B4-BE49-F238E27FC236}">
                <a16:creationId xmlns:a16="http://schemas.microsoft.com/office/drawing/2014/main" id="{37CF9BF4-FE35-2075-F926-1D87A0C866BE}"/>
              </a:ext>
            </a:extLst>
          </p:cNvPr>
          <p:cNvCxnSpPr>
            <a:cxnSpLocks/>
          </p:cNvCxnSpPr>
          <p:nvPr/>
        </p:nvCxnSpPr>
        <p:spPr>
          <a:xfrm flipH="1">
            <a:off x="6285872" y="3853764"/>
            <a:ext cx="599910" cy="0"/>
          </a:xfrm>
          <a:prstGeom prst="straightConnector1">
            <a:avLst/>
          </a:prstGeom>
          <a:ln w="6350">
            <a:solidFill>
              <a:schemeClr val="bg1">
                <a:lumMod val="50000"/>
              </a:schemeClr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1" name="Straight Arrow Connector 190">
            <a:extLst>
              <a:ext uri="{FF2B5EF4-FFF2-40B4-BE49-F238E27FC236}">
                <a16:creationId xmlns:a16="http://schemas.microsoft.com/office/drawing/2014/main" id="{A1EA385F-15B7-E490-BA62-3BEEC5AEAC7E}"/>
              </a:ext>
            </a:extLst>
          </p:cNvPr>
          <p:cNvCxnSpPr>
            <a:cxnSpLocks/>
          </p:cNvCxnSpPr>
          <p:nvPr/>
        </p:nvCxnSpPr>
        <p:spPr>
          <a:xfrm flipV="1">
            <a:off x="7733741" y="3826332"/>
            <a:ext cx="558096" cy="1829"/>
          </a:xfrm>
          <a:prstGeom prst="straightConnector1">
            <a:avLst/>
          </a:prstGeom>
          <a:ln w="6350">
            <a:solidFill>
              <a:schemeClr val="bg1">
                <a:lumMod val="50000"/>
              </a:schemeClr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2" name="Connector 85">
            <a:extLst>
              <a:ext uri="{FF2B5EF4-FFF2-40B4-BE49-F238E27FC236}">
                <a16:creationId xmlns:a16="http://schemas.microsoft.com/office/drawing/2014/main" id="{EE373C70-10E2-AB45-32F7-C59910760C6D}"/>
              </a:ext>
            </a:extLst>
          </p:cNvPr>
          <p:cNvCxnSpPr>
            <a:cxnSpLocks/>
          </p:cNvCxnSpPr>
          <p:nvPr/>
        </p:nvCxnSpPr>
        <p:spPr>
          <a:xfrm>
            <a:off x="9015127" y="4673815"/>
            <a:ext cx="0" cy="76062"/>
          </a:xfrm>
          <a:prstGeom prst="line">
            <a:avLst/>
          </a:prstGeom>
          <a:ln w="10160">
            <a:solidFill>
              <a:srgbClr val="1C5DD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3" name="Connector 85">
            <a:extLst>
              <a:ext uri="{FF2B5EF4-FFF2-40B4-BE49-F238E27FC236}">
                <a16:creationId xmlns:a16="http://schemas.microsoft.com/office/drawing/2014/main" id="{C0AA93C3-263E-9E2D-46EB-2F098CA7B01E}"/>
              </a:ext>
            </a:extLst>
          </p:cNvPr>
          <p:cNvCxnSpPr>
            <a:cxnSpLocks/>
          </p:cNvCxnSpPr>
          <p:nvPr/>
        </p:nvCxnSpPr>
        <p:spPr>
          <a:xfrm>
            <a:off x="9015127" y="5079808"/>
            <a:ext cx="0" cy="76062"/>
          </a:xfrm>
          <a:prstGeom prst="line">
            <a:avLst/>
          </a:prstGeom>
          <a:ln w="10160">
            <a:solidFill>
              <a:srgbClr val="1C5DD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04" name="Group 203">
            <a:extLst>
              <a:ext uri="{FF2B5EF4-FFF2-40B4-BE49-F238E27FC236}">
                <a16:creationId xmlns:a16="http://schemas.microsoft.com/office/drawing/2014/main" id="{92FA4C56-5883-A7C9-AF7A-9F4F444D932F}"/>
              </a:ext>
            </a:extLst>
          </p:cNvPr>
          <p:cNvGrpSpPr/>
          <p:nvPr/>
        </p:nvGrpSpPr>
        <p:grpSpPr>
          <a:xfrm>
            <a:off x="9956959" y="3979701"/>
            <a:ext cx="678398" cy="1447534"/>
            <a:chOff x="370600" y="2916936"/>
            <a:chExt cx="810589" cy="1645920"/>
          </a:xfrm>
        </p:grpSpPr>
        <p:sp>
          <p:nvSpPr>
            <p:cNvPr id="205" name="Rounded Rectangle 42">
              <a:extLst>
                <a:ext uri="{FF2B5EF4-FFF2-40B4-BE49-F238E27FC236}">
                  <a16:creationId xmlns:a16="http://schemas.microsoft.com/office/drawing/2014/main" id="{4F51DDEB-4A04-D495-3D1D-0F22D2389866}"/>
                </a:ext>
              </a:extLst>
            </p:cNvPr>
            <p:cNvSpPr/>
            <p:nvPr/>
          </p:nvSpPr>
          <p:spPr>
            <a:xfrm>
              <a:off x="410590" y="2916936"/>
              <a:ext cx="717965" cy="1645920"/>
            </a:xfrm>
            <a:prstGeom prst="roundRect">
              <a:avLst/>
            </a:prstGeom>
            <a:solidFill>
              <a:srgbClr val="F8FAFC"/>
            </a:solidFill>
            <a:ln w="12700">
              <a:solidFill>
                <a:srgbClr val="717A8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160"/>
            </a:p>
          </p:txBody>
        </p:sp>
        <p:sp>
          <p:nvSpPr>
            <p:cNvPr id="206" name="TextBox 205">
              <a:extLst>
                <a:ext uri="{FF2B5EF4-FFF2-40B4-BE49-F238E27FC236}">
                  <a16:creationId xmlns:a16="http://schemas.microsoft.com/office/drawing/2014/main" id="{DFBCF66C-2135-26C0-F3A6-6E5F61A13590}"/>
                </a:ext>
              </a:extLst>
            </p:cNvPr>
            <p:cNvSpPr txBox="1"/>
            <p:nvPr/>
          </p:nvSpPr>
          <p:spPr>
            <a:xfrm>
              <a:off x="370600" y="3226280"/>
              <a:ext cx="810589" cy="579529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square" lIns="32918" tIns="32918" rIns="32918" bIns="32918" anchor="ctr">
              <a:spAutoFit/>
            </a:bodyPr>
            <a:lstStyle/>
            <a:p>
              <a:pPr algn="ctr"/>
              <a:r>
                <a:rPr lang="en-US" sz="960" b="1" dirty="0">
                  <a:solidFill>
                    <a:srgbClr val="051F50"/>
                  </a:solidFill>
                  <a:latin typeface="Arial"/>
                </a:rPr>
                <a:t>Causal Inference Capability</a:t>
              </a:r>
              <a:endParaRPr sz="960" b="1" dirty="0">
                <a:solidFill>
                  <a:srgbClr val="051F50"/>
                </a:solidFill>
                <a:latin typeface="Arial"/>
              </a:endParaRPr>
            </a:p>
          </p:txBody>
        </p:sp>
      </p:grpSp>
      <p:cxnSp>
        <p:nvCxnSpPr>
          <p:cNvPr id="208" name="Connector 111">
            <a:extLst>
              <a:ext uri="{FF2B5EF4-FFF2-40B4-BE49-F238E27FC236}">
                <a16:creationId xmlns:a16="http://schemas.microsoft.com/office/drawing/2014/main" id="{C8B0DA83-BB8F-E3A8-5BC1-11CDFD6DC7C4}"/>
              </a:ext>
            </a:extLst>
          </p:cNvPr>
          <p:cNvCxnSpPr/>
          <p:nvPr/>
        </p:nvCxnSpPr>
        <p:spPr>
          <a:xfrm>
            <a:off x="4383458" y="2083506"/>
            <a:ext cx="0" cy="285293"/>
          </a:xfrm>
          <a:prstGeom prst="line">
            <a:avLst/>
          </a:prstGeom>
          <a:ln w="11430">
            <a:solidFill>
              <a:srgbClr val="051F5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9" name="Connector 111">
            <a:extLst>
              <a:ext uri="{FF2B5EF4-FFF2-40B4-BE49-F238E27FC236}">
                <a16:creationId xmlns:a16="http://schemas.microsoft.com/office/drawing/2014/main" id="{3C5F5800-515C-B899-06B9-C4F8D18E324F}"/>
              </a:ext>
            </a:extLst>
          </p:cNvPr>
          <p:cNvCxnSpPr/>
          <p:nvPr/>
        </p:nvCxnSpPr>
        <p:spPr>
          <a:xfrm>
            <a:off x="8886299" y="2109089"/>
            <a:ext cx="0" cy="285293"/>
          </a:xfrm>
          <a:prstGeom prst="line">
            <a:avLst/>
          </a:prstGeom>
          <a:ln w="11430">
            <a:solidFill>
              <a:srgbClr val="051F5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0" name="Connector 111">
            <a:extLst>
              <a:ext uri="{FF2B5EF4-FFF2-40B4-BE49-F238E27FC236}">
                <a16:creationId xmlns:a16="http://schemas.microsoft.com/office/drawing/2014/main" id="{B2F38261-ADE7-3840-48CD-42EC6E36FA2F}"/>
              </a:ext>
            </a:extLst>
          </p:cNvPr>
          <p:cNvCxnSpPr/>
          <p:nvPr/>
        </p:nvCxnSpPr>
        <p:spPr>
          <a:xfrm>
            <a:off x="11306614" y="2080720"/>
            <a:ext cx="0" cy="285293"/>
          </a:xfrm>
          <a:prstGeom prst="line">
            <a:avLst/>
          </a:prstGeom>
          <a:ln w="11430">
            <a:solidFill>
              <a:srgbClr val="051F5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4" name="Rounded Rectangle 6">
            <a:extLst>
              <a:ext uri="{FF2B5EF4-FFF2-40B4-BE49-F238E27FC236}">
                <a16:creationId xmlns:a16="http://schemas.microsoft.com/office/drawing/2014/main" id="{36D1F68F-0B38-1C60-D2D2-20DAE27F9644}"/>
              </a:ext>
            </a:extLst>
          </p:cNvPr>
          <p:cNvSpPr/>
          <p:nvPr/>
        </p:nvSpPr>
        <p:spPr>
          <a:xfrm>
            <a:off x="2997705" y="6294333"/>
            <a:ext cx="510020" cy="15480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18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1946" rIns="54864" bIns="21946" rtlCol="0" anchor="ctr"/>
          <a:lstStyle/>
          <a:p>
            <a:pPr algn="ctr"/>
            <a:r>
              <a:rPr lang="en-US" sz="864" b="1" dirty="0">
                <a:solidFill>
                  <a:srgbClr val="192337"/>
                </a:solidFill>
                <a:latin typeface="Arial"/>
              </a:rPr>
              <a:t>Speed</a:t>
            </a:r>
            <a:endParaRPr sz="864" b="1" dirty="0">
              <a:solidFill>
                <a:srgbClr val="192337"/>
              </a:solidFill>
              <a:latin typeface="Arial"/>
            </a:endParaRPr>
          </a:p>
        </p:txBody>
      </p:sp>
      <p:sp>
        <p:nvSpPr>
          <p:cNvPr id="216" name="Rounded Rectangle 6">
            <a:extLst>
              <a:ext uri="{FF2B5EF4-FFF2-40B4-BE49-F238E27FC236}">
                <a16:creationId xmlns:a16="http://schemas.microsoft.com/office/drawing/2014/main" id="{05097B4D-CC93-C57D-2DCB-B1D6F5D35FF4}"/>
              </a:ext>
            </a:extLst>
          </p:cNvPr>
          <p:cNvSpPr/>
          <p:nvPr/>
        </p:nvSpPr>
        <p:spPr>
          <a:xfrm>
            <a:off x="3539245" y="6294333"/>
            <a:ext cx="510020" cy="15480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18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1946" rIns="54864" bIns="21946" rtlCol="0" anchor="ctr"/>
          <a:lstStyle/>
          <a:p>
            <a:pPr algn="ctr"/>
            <a:r>
              <a:rPr lang="en-US" sz="864" b="1" dirty="0">
                <a:solidFill>
                  <a:srgbClr val="192337"/>
                </a:solidFill>
                <a:latin typeface="Arial"/>
              </a:rPr>
              <a:t>Supply</a:t>
            </a:r>
            <a:endParaRPr sz="864" b="1" dirty="0">
              <a:solidFill>
                <a:srgbClr val="192337"/>
              </a:solidFill>
              <a:latin typeface="Arial"/>
            </a:endParaRPr>
          </a:p>
        </p:txBody>
      </p:sp>
      <p:sp>
        <p:nvSpPr>
          <p:cNvPr id="218" name="Rounded Rectangle 6">
            <a:extLst>
              <a:ext uri="{FF2B5EF4-FFF2-40B4-BE49-F238E27FC236}">
                <a16:creationId xmlns:a16="http://schemas.microsoft.com/office/drawing/2014/main" id="{42BBDFD9-F47F-BFB1-F6B9-A6CFCBDB5550}"/>
              </a:ext>
            </a:extLst>
          </p:cNvPr>
          <p:cNvSpPr/>
          <p:nvPr/>
        </p:nvSpPr>
        <p:spPr>
          <a:xfrm>
            <a:off x="4138958" y="6305329"/>
            <a:ext cx="510020" cy="15480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18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1946" rIns="54864" bIns="21946" rtlCol="0" anchor="ctr"/>
          <a:lstStyle/>
          <a:p>
            <a:pPr algn="ctr"/>
            <a:r>
              <a:rPr lang="en-US" sz="864" b="1" dirty="0">
                <a:solidFill>
                  <a:srgbClr val="192337"/>
                </a:solidFill>
                <a:latin typeface="Arial"/>
              </a:rPr>
              <a:t>Tech</a:t>
            </a:r>
            <a:endParaRPr sz="864" b="1" dirty="0">
              <a:solidFill>
                <a:srgbClr val="192337"/>
              </a:solidFill>
              <a:latin typeface="Arial"/>
            </a:endParaRPr>
          </a:p>
        </p:txBody>
      </p:sp>
      <p:sp>
        <p:nvSpPr>
          <p:cNvPr id="220" name="Rounded Rectangle 6">
            <a:extLst>
              <a:ext uri="{FF2B5EF4-FFF2-40B4-BE49-F238E27FC236}">
                <a16:creationId xmlns:a16="http://schemas.microsoft.com/office/drawing/2014/main" id="{98080731-F7AB-94EA-9B04-1B34E8082EF7}"/>
              </a:ext>
            </a:extLst>
          </p:cNvPr>
          <p:cNvSpPr/>
          <p:nvPr/>
        </p:nvSpPr>
        <p:spPr>
          <a:xfrm>
            <a:off x="4668663" y="6294333"/>
            <a:ext cx="510020" cy="15480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18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1946" rIns="54864" bIns="21946" rtlCol="0" anchor="ctr"/>
          <a:lstStyle/>
          <a:p>
            <a:pPr algn="ctr"/>
            <a:r>
              <a:rPr lang="en-US" sz="864" b="1" dirty="0">
                <a:solidFill>
                  <a:srgbClr val="192337"/>
                </a:solidFill>
                <a:latin typeface="Arial"/>
              </a:rPr>
              <a:t>CSAT</a:t>
            </a:r>
            <a:endParaRPr sz="864" b="1" dirty="0">
              <a:solidFill>
                <a:srgbClr val="192337"/>
              </a:solidFill>
              <a:latin typeface="Arial"/>
            </a:endParaRPr>
          </a:p>
        </p:txBody>
      </p:sp>
      <p:sp>
        <p:nvSpPr>
          <p:cNvPr id="222" name="Rounded Rectangle 6">
            <a:extLst>
              <a:ext uri="{FF2B5EF4-FFF2-40B4-BE49-F238E27FC236}">
                <a16:creationId xmlns:a16="http://schemas.microsoft.com/office/drawing/2014/main" id="{FA01305B-E783-7140-D36B-B76591236C5D}"/>
              </a:ext>
            </a:extLst>
          </p:cNvPr>
          <p:cNvSpPr/>
          <p:nvPr/>
        </p:nvSpPr>
        <p:spPr>
          <a:xfrm>
            <a:off x="5245376" y="6287945"/>
            <a:ext cx="510020" cy="15480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18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1946" rIns="54864" bIns="21946" rtlCol="0" anchor="ctr"/>
          <a:lstStyle/>
          <a:p>
            <a:pPr algn="ctr"/>
            <a:r>
              <a:rPr lang="en-US" sz="864" b="1" dirty="0">
                <a:solidFill>
                  <a:srgbClr val="192337"/>
                </a:solidFill>
                <a:latin typeface="Arial"/>
              </a:rPr>
              <a:t>Crew</a:t>
            </a:r>
            <a:endParaRPr sz="864" b="1" dirty="0">
              <a:solidFill>
                <a:srgbClr val="192337"/>
              </a:solidFill>
              <a:latin typeface="Arial"/>
            </a:endParaRPr>
          </a:p>
        </p:txBody>
      </p:sp>
      <p:sp>
        <p:nvSpPr>
          <p:cNvPr id="224" name="Rounded Rectangle 6">
            <a:extLst>
              <a:ext uri="{FF2B5EF4-FFF2-40B4-BE49-F238E27FC236}">
                <a16:creationId xmlns:a16="http://schemas.microsoft.com/office/drawing/2014/main" id="{DEE341A7-A725-B740-3A6C-14E5BF52FE42}"/>
              </a:ext>
            </a:extLst>
          </p:cNvPr>
          <p:cNvSpPr/>
          <p:nvPr/>
        </p:nvSpPr>
        <p:spPr>
          <a:xfrm>
            <a:off x="3003000" y="6549260"/>
            <a:ext cx="510020" cy="15480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18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1946" rIns="54864" bIns="21946" rtlCol="0" anchor="ctr"/>
          <a:lstStyle/>
          <a:p>
            <a:pPr algn="ctr"/>
            <a:r>
              <a:rPr lang="en-US" sz="864" b="1" dirty="0">
                <a:solidFill>
                  <a:srgbClr val="192337"/>
                </a:solidFill>
                <a:latin typeface="Arial"/>
              </a:rPr>
              <a:t>Pricing</a:t>
            </a:r>
            <a:endParaRPr sz="864" b="1" dirty="0">
              <a:solidFill>
                <a:srgbClr val="192337"/>
              </a:solidFill>
              <a:latin typeface="Arial"/>
            </a:endParaRPr>
          </a:p>
        </p:txBody>
      </p:sp>
      <p:sp>
        <p:nvSpPr>
          <p:cNvPr id="226" name="Rounded Rectangle 6">
            <a:extLst>
              <a:ext uri="{FF2B5EF4-FFF2-40B4-BE49-F238E27FC236}">
                <a16:creationId xmlns:a16="http://schemas.microsoft.com/office/drawing/2014/main" id="{36F0D60B-1B95-FE52-6308-73A7BFEF953A}"/>
              </a:ext>
            </a:extLst>
          </p:cNvPr>
          <p:cNvSpPr/>
          <p:nvPr/>
        </p:nvSpPr>
        <p:spPr>
          <a:xfrm>
            <a:off x="3544539" y="6549260"/>
            <a:ext cx="510020" cy="15480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18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1946" rIns="54864" bIns="21946" rtlCol="0" anchor="ctr"/>
          <a:lstStyle/>
          <a:p>
            <a:pPr algn="ctr"/>
            <a:r>
              <a:rPr lang="en-US" sz="864" b="1" dirty="0">
                <a:solidFill>
                  <a:srgbClr val="192337"/>
                </a:solidFill>
                <a:latin typeface="Arial"/>
              </a:rPr>
              <a:t>Menu</a:t>
            </a:r>
            <a:endParaRPr sz="864" b="1" dirty="0">
              <a:solidFill>
                <a:srgbClr val="192337"/>
              </a:solidFill>
              <a:latin typeface="Arial"/>
            </a:endParaRPr>
          </a:p>
        </p:txBody>
      </p:sp>
      <p:sp>
        <p:nvSpPr>
          <p:cNvPr id="228" name="Rounded Rectangle 6">
            <a:extLst>
              <a:ext uri="{FF2B5EF4-FFF2-40B4-BE49-F238E27FC236}">
                <a16:creationId xmlns:a16="http://schemas.microsoft.com/office/drawing/2014/main" id="{D859C833-E1F3-FB09-07FE-644034A6775C}"/>
              </a:ext>
            </a:extLst>
          </p:cNvPr>
          <p:cNvSpPr/>
          <p:nvPr/>
        </p:nvSpPr>
        <p:spPr>
          <a:xfrm>
            <a:off x="4152864" y="6540543"/>
            <a:ext cx="510020" cy="15480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18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1946" rIns="54864" bIns="21946" rtlCol="0" anchor="ctr"/>
          <a:lstStyle/>
          <a:p>
            <a:pPr algn="ctr"/>
            <a:r>
              <a:rPr lang="en-US" sz="864" b="1" dirty="0">
                <a:solidFill>
                  <a:srgbClr val="192337"/>
                </a:solidFill>
                <a:latin typeface="Arial"/>
              </a:rPr>
              <a:t>Media</a:t>
            </a:r>
            <a:endParaRPr sz="864" b="1" dirty="0">
              <a:solidFill>
                <a:srgbClr val="192337"/>
              </a:solidFill>
              <a:latin typeface="Arial"/>
            </a:endParaRPr>
          </a:p>
        </p:txBody>
      </p:sp>
      <p:sp>
        <p:nvSpPr>
          <p:cNvPr id="230" name="Rounded Rectangle 6">
            <a:extLst>
              <a:ext uri="{FF2B5EF4-FFF2-40B4-BE49-F238E27FC236}">
                <a16:creationId xmlns:a16="http://schemas.microsoft.com/office/drawing/2014/main" id="{DCE59FF4-437B-C5D2-982B-AB3FF473382D}"/>
              </a:ext>
            </a:extLst>
          </p:cNvPr>
          <p:cNvSpPr/>
          <p:nvPr/>
        </p:nvSpPr>
        <p:spPr>
          <a:xfrm>
            <a:off x="4682569" y="6529547"/>
            <a:ext cx="510020" cy="15480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18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1946" rIns="54864" bIns="21946" rtlCol="0" anchor="ctr"/>
          <a:lstStyle/>
          <a:p>
            <a:pPr algn="ctr"/>
            <a:r>
              <a:rPr lang="en-US" sz="864" b="1" dirty="0">
                <a:solidFill>
                  <a:srgbClr val="192337"/>
                </a:solidFill>
                <a:latin typeface="Arial"/>
              </a:rPr>
              <a:t>Promo</a:t>
            </a:r>
            <a:endParaRPr sz="864" b="1" dirty="0">
              <a:solidFill>
                <a:srgbClr val="192337"/>
              </a:solidFill>
              <a:latin typeface="Arial"/>
            </a:endParaRPr>
          </a:p>
        </p:txBody>
      </p:sp>
      <p:sp>
        <p:nvSpPr>
          <p:cNvPr id="232" name="Rounded Rectangle 6">
            <a:extLst>
              <a:ext uri="{FF2B5EF4-FFF2-40B4-BE49-F238E27FC236}">
                <a16:creationId xmlns:a16="http://schemas.microsoft.com/office/drawing/2014/main" id="{C4D1AD04-75E2-4762-9D35-0A6C9E8BBC9D}"/>
              </a:ext>
            </a:extLst>
          </p:cNvPr>
          <p:cNvSpPr/>
          <p:nvPr/>
        </p:nvSpPr>
        <p:spPr>
          <a:xfrm>
            <a:off x="5239665" y="6522106"/>
            <a:ext cx="510020" cy="15480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18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1946" rIns="54864" bIns="21946" rtlCol="0" anchor="ctr"/>
          <a:lstStyle/>
          <a:p>
            <a:pPr algn="ctr"/>
            <a:r>
              <a:rPr lang="en-US" sz="864" b="1" dirty="0">
                <a:solidFill>
                  <a:srgbClr val="192337"/>
                </a:solidFill>
                <a:latin typeface="Arial"/>
              </a:rPr>
              <a:t>Loyalty</a:t>
            </a:r>
            <a:endParaRPr sz="864" b="1" dirty="0">
              <a:solidFill>
                <a:srgbClr val="192337"/>
              </a:solidFill>
              <a:latin typeface="Arial"/>
            </a:endParaRPr>
          </a:p>
        </p:txBody>
      </p:sp>
      <p:sp>
        <p:nvSpPr>
          <p:cNvPr id="234" name="Rounded Rectangle 6">
            <a:extLst>
              <a:ext uri="{FF2B5EF4-FFF2-40B4-BE49-F238E27FC236}">
                <a16:creationId xmlns:a16="http://schemas.microsoft.com/office/drawing/2014/main" id="{F9D5B7DA-890F-33DB-5139-A061C6E5C810}"/>
              </a:ext>
            </a:extLst>
          </p:cNvPr>
          <p:cNvSpPr/>
          <p:nvPr/>
        </p:nvSpPr>
        <p:spPr>
          <a:xfrm>
            <a:off x="5787872" y="6529547"/>
            <a:ext cx="591377" cy="14736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18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1946" rIns="54864" bIns="21946" rtlCol="0" anchor="ctr"/>
          <a:lstStyle/>
          <a:p>
            <a:pPr algn="ctr"/>
            <a:r>
              <a:rPr lang="en-US" sz="864" b="1" dirty="0">
                <a:solidFill>
                  <a:srgbClr val="192337"/>
                </a:solidFill>
                <a:latin typeface="Arial"/>
              </a:rPr>
              <a:t>Delivery</a:t>
            </a:r>
            <a:endParaRPr sz="864" b="1" dirty="0">
              <a:solidFill>
                <a:srgbClr val="192337"/>
              </a:solidFill>
              <a:latin typeface="Arial"/>
            </a:endParaRPr>
          </a:p>
        </p:txBody>
      </p:sp>
      <p:sp>
        <p:nvSpPr>
          <p:cNvPr id="236" name="Rounded Rectangle 10">
            <a:extLst>
              <a:ext uri="{FF2B5EF4-FFF2-40B4-BE49-F238E27FC236}">
                <a16:creationId xmlns:a16="http://schemas.microsoft.com/office/drawing/2014/main" id="{F854C7C4-3AE2-0CBD-BA52-021214E68BD9}"/>
              </a:ext>
            </a:extLst>
          </p:cNvPr>
          <p:cNvSpPr/>
          <p:nvPr/>
        </p:nvSpPr>
        <p:spPr>
          <a:xfrm>
            <a:off x="5836914" y="6287945"/>
            <a:ext cx="596218" cy="15480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5C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1946" rIns="54864" bIns="21946" rtlCol="0" anchor="ctr"/>
          <a:lstStyle/>
          <a:p>
            <a:pPr algn="ctr"/>
            <a:r>
              <a:rPr sz="864" b="1" dirty="0">
                <a:solidFill>
                  <a:srgbClr val="192337"/>
                </a:solidFill>
                <a:latin typeface="Arial"/>
              </a:rPr>
              <a:t>Weather</a:t>
            </a:r>
          </a:p>
        </p:txBody>
      </p:sp>
      <p:sp>
        <p:nvSpPr>
          <p:cNvPr id="238" name="Rounded Rectangle 11">
            <a:extLst>
              <a:ext uri="{FF2B5EF4-FFF2-40B4-BE49-F238E27FC236}">
                <a16:creationId xmlns:a16="http://schemas.microsoft.com/office/drawing/2014/main" id="{46CE2795-2F8E-5145-6157-426562493CCD}"/>
              </a:ext>
            </a:extLst>
          </p:cNvPr>
          <p:cNvSpPr/>
          <p:nvPr/>
        </p:nvSpPr>
        <p:spPr>
          <a:xfrm>
            <a:off x="6490441" y="6261864"/>
            <a:ext cx="502976" cy="1808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5C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1946" rIns="54864" bIns="21946" rtlCol="0" anchor="ctr"/>
          <a:lstStyle/>
          <a:p>
            <a:pPr algn="ctr"/>
            <a:r>
              <a:rPr lang="en-US" sz="864" b="1" dirty="0">
                <a:solidFill>
                  <a:srgbClr val="192337"/>
                </a:solidFill>
                <a:latin typeface="Arial"/>
              </a:rPr>
              <a:t>Macro</a:t>
            </a:r>
            <a:endParaRPr sz="864" b="1" dirty="0">
              <a:solidFill>
                <a:srgbClr val="192337"/>
              </a:solidFill>
              <a:latin typeface="Arial"/>
            </a:endParaRPr>
          </a:p>
        </p:txBody>
      </p:sp>
      <p:sp>
        <p:nvSpPr>
          <p:cNvPr id="240" name="Rounded Rectangle 12">
            <a:extLst>
              <a:ext uri="{FF2B5EF4-FFF2-40B4-BE49-F238E27FC236}">
                <a16:creationId xmlns:a16="http://schemas.microsoft.com/office/drawing/2014/main" id="{673D5FDF-CBCD-7F15-EA78-B514467341F2}"/>
              </a:ext>
            </a:extLst>
          </p:cNvPr>
          <p:cNvSpPr/>
          <p:nvPr/>
        </p:nvSpPr>
        <p:spPr>
          <a:xfrm>
            <a:off x="7080658" y="6261864"/>
            <a:ext cx="777136" cy="18727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5C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1946" rIns="54864" bIns="21946" rtlCol="0" anchor="ctr"/>
          <a:lstStyle/>
          <a:p>
            <a:pPr algn="ctr"/>
            <a:r>
              <a:rPr sz="864" b="1" dirty="0">
                <a:solidFill>
                  <a:srgbClr val="192337"/>
                </a:solidFill>
                <a:latin typeface="Arial"/>
              </a:rPr>
              <a:t>Competition</a:t>
            </a:r>
          </a:p>
        </p:txBody>
      </p:sp>
      <p:sp>
        <p:nvSpPr>
          <p:cNvPr id="242" name="Rounded Rectangle 13">
            <a:extLst>
              <a:ext uri="{FF2B5EF4-FFF2-40B4-BE49-F238E27FC236}">
                <a16:creationId xmlns:a16="http://schemas.microsoft.com/office/drawing/2014/main" id="{DF7BAE13-26CD-8CC7-A2F0-028E5D3743BF}"/>
              </a:ext>
            </a:extLst>
          </p:cNvPr>
          <p:cNvSpPr/>
          <p:nvPr/>
        </p:nvSpPr>
        <p:spPr>
          <a:xfrm>
            <a:off x="7899559" y="6261864"/>
            <a:ext cx="603504" cy="19826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5C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1946" rIns="54864" bIns="21946" rtlCol="0" anchor="ctr"/>
          <a:lstStyle/>
          <a:p>
            <a:pPr algn="ctr"/>
            <a:r>
              <a:rPr lang="en-US" sz="864" b="1" dirty="0">
                <a:solidFill>
                  <a:srgbClr val="192337"/>
                </a:solidFill>
                <a:latin typeface="Arial"/>
              </a:rPr>
              <a:t>Industry</a:t>
            </a:r>
            <a:endParaRPr sz="864" b="1" dirty="0">
              <a:solidFill>
                <a:srgbClr val="192337"/>
              </a:solidFill>
              <a:latin typeface="Arial"/>
            </a:endParaRPr>
          </a:p>
        </p:txBody>
      </p:sp>
      <p:sp>
        <p:nvSpPr>
          <p:cNvPr id="244" name="Rounded Rectangle 16">
            <a:extLst>
              <a:ext uri="{FF2B5EF4-FFF2-40B4-BE49-F238E27FC236}">
                <a16:creationId xmlns:a16="http://schemas.microsoft.com/office/drawing/2014/main" id="{85D64605-6CE7-F557-7A46-95DD266972F4}"/>
              </a:ext>
            </a:extLst>
          </p:cNvPr>
          <p:cNvSpPr/>
          <p:nvPr/>
        </p:nvSpPr>
        <p:spPr>
          <a:xfrm>
            <a:off x="6415593" y="6498210"/>
            <a:ext cx="578504" cy="16235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C5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1946" rIns="54864" bIns="21946" rtlCol="0" anchor="ctr"/>
          <a:lstStyle/>
          <a:p>
            <a:pPr algn="ctr"/>
            <a:r>
              <a:rPr sz="756" b="1">
                <a:solidFill>
                  <a:srgbClr val="192337"/>
                </a:solidFill>
                <a:latin typeface="Arial"/>
              </a:rPr>
              <a:t>Pricing</a:t>
            </a:r>
          </a:p>
        </p:txBody>
      </p:sp>
      <p:sp>
        <p:nvSpPr>
          <p:cNvPr id="246" name="Rounded Rectangle 17">
            <a:extLst>
              <a:ext uri="{FF2B5EF4-FFF2-40B4-BE49-F238E27FC236}">
                <a16:creationId xmlns:a16="http://schemas.microsoft.com/office/drawing/2014/main" id="{72C9F6FE-C51C-33CE-1A61-591C5A01C835}"/>
              </a:ext>
            </a:extLst>
          </p:cNvPr>
          <p:cNvSpPr/>
          <p:nvPr/>
        </p:nvSpPr>
        <p:spPr>
          <a:xfrm>
            <a:off x="7009953" y="6498210"/>
            <a:ext cx="578504" cy="16235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C5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1946" rIns="54864" bIns="21946" rtlCol="0" anchor="ctr"/>
          <a:lstStyle/>
          <a:p>
            <a:pPr algn="ctr"/>
            <a:r>
              <a:rPr sz="756" b="1">
                <a:solidFill>
                  <a:srgbClr val="192337"/>
                </a:solidFill>
                <a:latin typeface="Arial"/>
              </a:rPr>
              <a:t>Promo</a:t>
            </a:r>
          </a:p>
        </p:txBody>
      </p:sp>
      <p:sp>
        <p:nvSpPr>
          <p:cNvPr id="248" name="Rounded Rectangle 18">
            <a:extLst>
              <a:ext uri="{FF2B5EF4-FFF2-40B4-BE49-F238E27FC236}">
                <a16:creationId xmlns:a16="http://schemas.microsoft.com/office/drawing/2014/main" id="{08EB064C-E79F-8D52-8ADD-EF2093AEE25E}"/>
              </a:ext>
            </a:extLst>
          </p:cNvPr>
          <p:cNvSpPr/>
          <p:nvPr/>
        </p:nvSpPr>
        <p:spPr>
          <a:xfrm>
            <a:off x="7604313" y="6498210"/>
            <a:ext cx="578504" cy="16235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C5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1946" rIns="54864" bIns="21946" rtlCol="0" anchor="ctr"/>
          <a:lstStyle/>
          <a:p>
            <a:pPr algn="ctr"/>
            <a:r>
              <a:rPr sz="756" b="1">
                <a:solidFill>
                  <a:srgbClr val="192337"/>
                </a:solidFill>
                <a:latin typeface="Arial"/>
              </a:rPr>
              <a:t>Media</a:t>
            </a:r>
          </a:p>
        </p:txBody>
      </p:sp>
      <p:sp>
        <p:nvSpPr>
          <p:cNvPr id="250" name="Rounded Rectangle 19">
            <a:extLst>
              <a:ext uri="{FF2B5EF4-FFF2-40B4-BE49-F238E27FC236}">
                <a16:creationId xmlns:a16="http://schemas.microsoft.com/office/drawing/2014/main" id="{7BB26664-46AE-EE14-4245-B717016C007A}"/>
              </a:ext>
            </a:extLst>
          </p:cNvPr>
          <p:cNvSpPr/>
          <p:nvPr/>
        </p:nvSpPr>
        <p:spPr>
          <a:xfrm>
            <a:off x="8223258" y="6498210"/>
            <a:ext cx="578504" cy="16235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C5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1946" rIns="54864" bIns="21946" rtlCol="0" anchor="ctr"/>
          <a:lstStyle/>
          <a:p>
            <a:pPr algn="ctr"/>
            <a:r>
              <a:rPr sz="756" b="1" dirty="0">
                <a:solidFill>
                  <a:srgbClr val="192337"/>
                </a:solidFill>
                <a:latin typeface="Arial"/>
              </a:rPr>
              <a:t>Menu</a:t>
            </a:r>
            <a:endParaRPr lang="en-US" sz="756" b="1" dirty="0">
              <a:solidFill>
                <a:srgbClr val="192337"/>
              </a:solidFill>
              <a:latin typeface="Arial"/>
            </a:endParaRPr>
          </a:p>
          <a:p>
            <a:pPr algn="ctr"/>
            <a:r>
              <a:rPr sz="756" b="1" dirty="0">
                <a:solidFill>
                  <a:srgbClr val="192337"/>
                </a:solidFill>
                <a:latin typeface="Arial"/>
              </a:rPr>
              <a:t>/</a:t>
            </a:r>
            <a:r>
              <a:rPr lang="en-US" sz="756" b="1" dirty="0">
                <a:solidFill>
                  <a:srgbClr val="192337"/>
                </a:solidFill>
                <a:latin typeface="Arial"/>
              </a:rPr>
              <a:t> </a:t>
            </a:r>
            <a:r>
              <a:rPr sz="756" b="1" dirty="0">
                <a:solidFill>
                  <a:srgbClr val="192337"/>
                </a:solidFill>
                <a:latin typeface="Arial"/>
              </a:rPr>
              <a:t>LTO</a:t>
            </a:r>
          </a:p>
        </p:txBody>
      </p:sp>
      <p:sp>
        <p:nvSpPr>
          <p:cNvPr id="252" name="Rounded Rectangle 20">
            <a:extLst>
              <a:ext uri="{FF2B5EF4-FFF2-40B4-BE49-F238E27FC236}">
                <a16:creationId xmlns:a16="http://schemas.microsoft.com/office/drawing/2014/main" id="{82FF4807-BBCC-A8C6-4081-5A3B967D2638}"/>
              </a:ext>
            </a:extLst>
          </p:cNvPr>
          <p:cNvSpPr/>
          <p:nvPr/>
        </p:nvSpPr>
        <p:spPr>
          <a:xfrm>
            <a:off x="8859183" y="6486048"/>
            <a:ext cx="578503" cy="174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C5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1946" rIns="54864" bIns="21946" rtlCol="0" anchor="ctr"/>
          <a:lstStyle/>
          <a:p>
            <a:pPr algn="ctr"/>
            <a:r>
              <a:rPr lang="en-US" sz="756" b="1" dirty="0">
                <a:solidFill>
                  <a:srgbClr val="192337"/>
                </a:solidFill>
                <a:latin typeface="Arial"/>
              </a:rPr>
              <a:t>Loyalty</a:t>
            </a:r>
            <a:endParaRPr sz="756" b="1" dirty="0">
              <a:solidFill>
                <a:srgbClr val="192337"/>
              </a:solidFill>
              <a:latin typeface="Arial"/>
            </a:endParaRPr>
          </a:p>
        </p:txBody>
      </p:sp>
      <p:sp>
        <p:nvSpPr>
          <p:cNvPr id="254" name="Rounded Rectangle 21">
            <a:extLst>
              <a:ext uri="{FF2B5EF4-FFF2-40B4-BE49-F238E27FC236}">
                <a16:creationId xmlns:a16="http://schemas.microsoft.com/office/drawing/2014/main" id="{5EE6A443-2403-6B03-6AAE-5EBE352D4710}"/>
              </a:ext>
            </a:extLst>
          </p:cNvPr>
          <p:cNvSpPr/>
          <p:nvPr/>
        </p:nvSpPr>
        <p:spPr>
          <a:xfrm>
            <a:off x="8585829" y="6276618"/>
            <a:ext cx="603035" cy="16235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C5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1946" rIns="54864" bIns="21946" rtlCol="0" anchor="ctr"/>
          <a:lstStyle/>
          <a:p>
            <a:pPr algn="ctr"/>
            <a:r>
              <a:rPr sz="756" b="1" dirty="0">
                <a:solidFill>
                  <a:srgbClr val="192337"/>
                </a:solidFill>
                <a:latin typeface="Arial"/>
              </a:rPr>
              <a:t>Delivery</a:t>
            </a:r>
          </a:p>
        </p:txBody>
      </p:sp>
      <p:cxnSp>
        <p:nvCxnSpPr>
          <p:cNvPr id="264" name="Straight Arrow Connector 263">
            <a:extLst>
              <a:ext uri="{FF2B5EF4-FFF2-40B4-BE49-F238E27FC236}">
                <a16:creationId xmlns:a16="http://schemas.microsoft.com/office/drawing/2014/main" id="{ECA9F1D0-9D42-3CEA-3985-AE7E43C15792}"/>
              </a:ext>
            </a:extLst>
          </p:cNvPr>
          <p:cNvCxnSpPr/>
          <p:nvPr/>
        </p:nvCxnSpPr>
        <p:spPr>
          <a:xfrm>
            <a:off x="13190382" y="3316097"/>
            <a:ext cx="0" cy="3500323"/>
          </a:xfrm>
          <a:prstGeom prst="straightConnector1">
            <a:avLst/>
          </a:prstGeom>
          <a:ln w="9525">
            <a:solidFill>
              <a:schemeClr val="bg1">
                <a:lumMod val="50000"/>
              </a:schemeClr>
            </a:solidFill>
            <a:prstDash val="dash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5" name="Connector 110">
            <a:extLst>
              <a:ext uri="{FF2B5EF4-FFF2-40B4-BE49-F238E27FC236}">
                <a16:creationId xmlns:a16="http://schemas.microsoft.com/office/drawing/2014/main" id="{045F240F-EB79-7F7B-C54F-A6EE69D11048}"/>
              </a:ext>
            </a:extLst>
          </p:cNvPr>
          <p:cNvCxnSpPr>
            <a:cxnSpLocks/>
          </p:cNvCxnSpPr>
          <p:nvPr/>
        </p:nvCxnSpPr>
        <p:spPr>
          <a:xfrm>
            <a:off x="7233124" y="6761843"/>
            <a:ext cx="0" cy="138078"/>
          </a:xfrm>
          <a:prstGeom prst="line">
            <a:avLst/>
          </a:prstGeom>
          <a:ln w="11430">
            <a:solidFill>
              <a:srgbClr val="051F5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8" name="Rounded Rectangle 115">
            <a:extLst>
              <a:ext uri="{FF2B5EF4-FFF2-40B4-BE49-F238E27FC236}">
                <a16:creationId xmlns:a16="http://schemas.microsoft.com/office/drawing/2014/main" id="{978B43ED-5AB2-7ABD-1A58-4306A9D5FEDF}"/>
              </a:ext>
            </a:extLst>
          </p:cNvPr>
          <p:cNvSpPr/>
          <p:nvPr/>
        </p:nvSpPr>
        <p:spPr>
          <a:xfrm>
            <a:off x="2802695" y="7453303"/>
            <a:ext cx="10518611" cy="651119"/>
          </a:xfrm>
          <a:prstGeom prst="roundRect">
            <a:avLst/>
          </a:prstGeom>
          <a:noFill/>
          <a:ln w="12700">
            <a:solidFill>
              <a:srgbClr val="051F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160" dirty="0">
              <a:solidFill>
                <a:srgbClr val="002060"/>
              </a:solidFill>
            </a:endParaRPr>
          </a:p>
        </p:txBody>
      </p:sp>
      <p:sp>
        <p:nvSpPr>
          <p:cNvPr id="270" name="TextBox 269">
            <a:extLst>
              <a:ext uri="{FF2B5EF4-FFF2-40B4-BE49-F238E27FC236}">
                <a16:creationId xmlns:a16="http://schemas.microsoft.com/office/drawing/2014/main" id="{7F911EF5-BB15-DEF3-E46B-85AC88746E97}"/>
              </a:ext>
            </a:extLst>
          </p:cNvPr>
          <p:cNvSpPr txBox="1"/>
          <p:nvPr/>
        </p:nvSpPr>
        <p:spPr>
          <a:xfrm>
            <a:off x="2896173" y="7484314"/>
            <a:ext cx="9269078" cy="288078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32918" tIns="32918" rIns="32918" bIns="32918" anchor="ctr">
            <a:spAutoFit/>
          </a:bodyPr>
          <a:lstStyle/>
          <a:p>
            <a:pPr algn="ctr"/>
            <a:r>
              <a:rPr lang="en-US" sz="1440" b="1" dirty="0">
                <a:solidFill>
                  <a:srgbClr val="002060"/>
                </a:solidFill>
                <a:latin typeface="Arial"/>
              </a:rPr>
              <a:t>Final Outputs</a:t>
            </a:r>
            <a:endParaRPr sz="1440" b="1" dirty="0">
              <a:solidFill>
                <a:srgbClr val="002060"/>
              </a:solidFill>
              <a:latin typeface="Arial"/>
            </a:endParaRPr>
          </a:p>
        </p:txBody>
      </p:sp>
      <p:sp>
        <p:nvSpPr>
          <p:cNvPr id="272" name="Rounded Rectangle 125">
            <a:extLst>
              <a:ext uri="{FF2B5EF4-FFF2-40B4-BE49-F238E27FC236}">
                <a16:creationId xmlns:a16="http://schemas.microsoft.com/office/drawing/2014/main" id="{BED732A9-3C30-5728-2343-7B261C2781B6}"/>
              </a:ext>
            </a:extLst>
          </p:cNvPr>
          <p:cNvSpPr/>
          <p:nvPr/>
        </p:nvSpPr>
        <p:spPr>
          <a:xfrm>
            <a:off x="9885746" y="7784003"/>
            <a:ext cx="1726890" cy="263347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17A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1946" rIns="54864" bIns="21946" rtlCol="0" anchor="ctr"/>
          <a:lstStyle/>
          <a:p>
            <a:pPr algn="ctr"/>
            <a:r>
              <a:rPr lang="en-US" sz="996" b="1" dirty="0">
                <a:solidFill>
                  <a:srgbClr val="192337"/>
                </a:solidFill>
                <a:latin typeface="Arial"/>
              </a:rPr>
              <a:t>Results Alignment</a:t>
            </a:r>
            <a:endParaRPr sz="996" b="1" dirty="0">
              <a:solidFill>
                <a:srgbClr val="192337"/>
              </a:solidFill>
              <a:latin typeface="Arial"/>
            </a:endParaRPr>
          </a:p>
        </p:txBody>
      </p:sp>
      <p:cxnSp>
        <p:nvCxnSpPr>
          <p:cNvPr id="273" name="Connector 110">
            <a:extLst>
              <a:ext uri="{FF2B5EF4-FFF2-40B4-BE49-F238E27FC236}">
                <a16:creationId xmlns:a16="http://schemas.microsoft.com/office/drawing/2014/main" id="{1252C3C5-7B18-48E7-EE4F-0254C455CF8A}"/>
              </a:ext>
            </a:extLst>
          </p:cNvPr>
          <p:cNvCxnSpPr>
            <a:cxnSpLocks/>
          </p:cNvCxnSpPr>
          <p:nvPr/>
        </p:nvCxnSpPr>
        <p:spPr>
          <a:xfrm>
            <a:off x="7245551" y="7296286"/>
            <a:ext cx="0" cy="138078"/>
          </a:xfrm>
          <a:prstGeom prst="line">
            <a:avLst/>
          </a:prstGeom>
          <a:ln w="11430">
            <a:solidFill>
              <a:srgbClr val="051F5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94" name="Group 293">
            <a:extLst>
              <a:ext uri="{FF2B5EF4-FFF2-40B4-BE49-F238E27FC236}">
                <a16:creationId xmlns:a16="http://schemas.microsoft.com/office/drawing/2014/main" id="{C596A012-C217-176F-8FBE-CE71E9E62C23}"/>
              </a:ext>
            </a:extLst>
          </p:cNvPr>
          <p:cNvGrpSpPr/>
          <p:nvPr/>
        </p:nvGrpSpPr>
        <p:grpSpPr>
          <a:xfrm>
            <a:off x="405515" y="4445038"/>
            <a:ext cx="1952094" cy="2330933"/>
            <a:chOff x="64010" y="4030018"/>
            <a:chExt cx="1626745" cy="2188145"/>
          </a:xfrm>
        </p:grpSpPr>
        <p:grpSp>
          <p:nvGrpSpPr>
            <p:cNvPr id="274" name="Group 273">
              <a:extLst>
                <a:ext uri="{FF2B5EF4-FFF2-40B4-BE49-F238E27FC236}">
                  <a16:creationId xmlns:a16="http://schemas.microsoft.com/office/drawing/2014/main" id="{C770A916-56F0-723A-EF9B-66218E3CEAA6}"/>
                </a:ext>
              </a:extLst>
            </p:cNvPr>
            <p:cNvGrpSpPr/>
            <p:nvPr/>
          </p:nvGrpSpPr>
          <p:grpSpPr>
            <a:xfrm>
              <a:off x="64010" y="4030018"/>
              <a:ext cx="1626745" cy="2188145"/>
              <a:chOff x="8887968" y="2816352"/>
              <a:chExt cx="1755649" cy="1833728"/>
            </a:xfrm>
          </p:grpSpPr>
          <p:sp>
            <p:nvSpPr>
              <p:cNvPr id="275" name="Rounded Rectangle 91">
                <a:extLst>
                  <a:ext uri="{FF2B5EF4-FFF2-40B4-BE49-F238E27FC236}">
                    <a16:creationId xmlns:a16="http://schemas.microsoft.com/office/drawing/2014/main" id="{FBA88A62-8A6F-BA5B-5EED-287C0F9012CD}"/>
                  </a:ext>
                </a:extLst>
              </p:cNvPr>
              <p:cNvSpPr/>
              <p:nvPr/>
            </p:nvSpPr>
            <p:spPr>
              <a:xfrm>
                <a:off x="8887968" y="2816352"/>
                <a:ext cx="1755649" cy="1833728"/>
              </a:xfrm>
              <a:prstGeom prst="roundRect">
                <a:avLst/>
              </a:prstGeom>
              <a:solidFill>
                <a:srgbClr val="FFFFFF"/>
              </a:solidFill>
              <a:ln w="12700">
                <a:solidFill>
                  <a:srgbClr val="1C5DD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160"/>
              </a:p>
            </p:txBody>
          </p:sp>
          <p:sp>
            <p:nvSpPr>
              <p:cNvPr id="276" name="TextBox 275">
                <a:extLst>
                  <a:ext uri="{FF2B5EF4-FFF2-40B4-BE49-F238E27FC236}">
                    <a16:creationId xmlns:a16="http://schemas.microsoft.com/office/drawing/2014/main" id="{369C47FB-3043-6291-56F7-51D64123396A}"/>
                  </a:ext>
                </a:extLst>
              </p:cNvPr>
              <p:cNvSpPr txBox="1"/>
              <p:nvPr/>
            </p:nvSpPr>
            <p:spPr>
              <a:xfrm>
                <a:off x="9015984" y="2844473"/>
                <a:ext cx="1627632" cy="400959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square" lIns="32918" tIns="32918" rIns="32918" bIns="32918" anchor="ctr">
                <a:spAutoFit/>
              </a:bodyPr>
              <a:lstStyle/>
              <a:p>
                <a:pPr algn="ctr"/>
                <a:r>
                  <a:rPr lang="en-US" sz="1440" b="1" dirty="0">
                    <a:solidFill>
                      <a:srgbClr val="051F50"/>
                    </a:solidFill>
                    <a:latin typeface="Arial"/>
                  </a:rPr>
                  <a:t>Business Domain Alignment</a:t>
                </a:r>
                <a:endParaRPr sz="1440" b="1" dirty="0">
                  <a:solidFill>
                    <a:srgbClr val="051F50"/>
                  </a:solidFill>
                  <a:latin typeface="Arial"/>
                </a:endParaRPr>
              </a:p>
            </p:txBody>
          </p:sp>
          <p:sp>
            <p:nvSpPr>
              <p:cNvPr id="277" name="TextBox 276">
                <a:extLst>
                  <a:ext uri="{FF2B5EF4-FFF2-40B4-BE49-F238E27FC236}">
                    <a16:creationId xmlns:a16="http://schemas.microsoft.com/office/drawing/2014/main" id="{A5BC82BE-BA2E-12E9-AFAD-AE0163F02DEC}"/>
                  </a:ext>
                </a:extLst>
              </p:cNvPr>
              <p:cNvSpPr txBox="1"/>
              <p:nvPr/>
            </p:nvSpPr>
            <p:spPr>
              <a:xfrm>
                <a:off x="9034273" y="3218863"/>
                <a:ext cx="1609344" cy="255684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square" lIns="32918" tIns="32918" rIns="32918" bIns="32918" anchor="ctr">
                <a:spAutoFit/>
              </a:bodyPr>
              <a:lstStyle/>
              <a:p>
                <a:pPr algn="ctr"/>
                <a:r>
                  <a:rPr lang="en-US" sz="840" dirty="0">
                    <a:solidFill>
                      <a:srgbClr val="192337"/>
                    </a:solidFill>
                    <a:latin typeface="Arial"/>
                  </a:rPr>
                  <a:t>Business domain teams need to agree on the attribution estimation</a:t>
                </a:r>
                <a:endParaRPr sz="840" dirty="0">
                  <a:solidFill>
                    <a:srgbClr val="192337"/>
                  </a:solidFill>
                  <a:latin typeface="Arial"/>
                </a:endParaRPr>
              </a:p>
            </p:txBody>
          </p:sp>
          <p:sp>
            <p:nvSpPr>
              <p:cNvPr id="278" name="Rounded Rectangle 94">
                <a:extLst>
                  <a:ext uri="{FF2B5EF4-FFF2-40B4-BE49-F238E27FC236}">
                    <a16:creationId xmlns:a16="http://schemas.microsoft.com/office/drawing/2014/main" id="{0C92C9E8-98DF-6BF7-BBF5-4847E742F796}"/>
                  </a:ext>
                </a:extLst>
              </p:cNvPr>
              <p:cNvSpPr/>
              <p:nvPr/>
            </p:nvSpPr>
            <p:spPr>
              <a:xfrm>
                <a:off x="9034273" y="3573584"/>
                <a:ext cx="690657" cy="175456"/>
              </a:xfrm>
              <a:prstGeom prst="roundRect">
                <a:avLst/>
              </a:prstGeom>
              <a:solidFill>
                <a:srgbClr val="EFF6FF"/>
              </a:solidFill>
              <a:ln w="12700">
                <a:solidFill>
                  <a:srgbClr val="1C5DD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54864" tIns="21946" rIns="54864" bIns="21946" rtlCol="0" anchor="ctr"/>
              <a:lstStyle/>
              <a:p>
                <a:pPr algn="ctr"/>
                <a:r>
                  <a:rPr sz="732" b="1" dirty="0">
                    <a:solidFill>
                      <a:srgbClr val="051F50"/>
                    </a:solidFill>
                    <a:latin typeface="Arial"/>
                  </a:rPr>
                  <a:t>Menu</a:t>
                </a:r>
              </a:p>
            </p:txBody>
          </p:sp>
          <p:sp>
            <p:nvSpPr>
              <p:cNvPr id="280" name="Rounded Rectangle 96">
                <a:extLst>
                  <a:ext uri="{FF2B5EF4-FFF2-40B4-BE49-F238E27FC236}">
                    <a16:creationId xmlns:a16="http://schemas.microsoft.com/office/drawing/2014/main" id="{52877E86-2E19-ECD1-4805-EBC110311321}"/>
                  </a:ext>
                </a:extLst>
              </p:cNvPr>
              <p:cNvSpPr/>
              <p:nvPr/>
            </p:nvSpPr>
            <p:spPr>
              <a:xfrm>
                <a:off x="9809345" y="3584448"/>
                <a:ext cx="566928" cy="164592"/>
              </a:xfrm>
              <a:prstGeom prst="roundRect">
                <a:avLst/>
              </a:prstGeom>
              <a:solidFill>
                <a:srgbClr val="EFF6FF"/>
              </a:solidFill>
              <a:ln w="12700">
                <a:solidFill>
                  <a:srgbClr val="1C5DD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54864" tIns="21946" rIns="54864" bIns="21946" rtlCol="0" anchor="ctr"/>
              <a:lstStyle/>
              <a:p>
                <a:pPr algn="ctr"/>
                <a:r>
                  <a:rPr lang="en-US" sz="732" b="1" dirty="0">
                    <a:solidFill>
                      <a:srgbClr val="051F50"/>
                    </a:solidFill>
                    <a:latin typeface="Arial"/>
                  </a:rPr>
                  <a:t>RGM</a:t>
                </a:r>
                <a:endParaRPr sz="732" b="1" dirty="0">
                  <a:solidFill>
                    <a:srgbClr val="051F50"/>
                  </a:solidFill>
                  <a:latin typeface="Arial"/>
                </a:endParaRPr>
              </a:p>
            </p:txBody>
          </p:sp>
          <p:sp>
            <p:nvSpPr>
              <p:cNvPr id="282" name="Rounded Rectangle 98">
                <a:extLst>
                  <a:ext uri="{FF2B5EF4-FFF2-40B4-BE49-F238E27FC236}">
                    <a16:creationId xmlns:a16="http://schemas.microsoft.com/office/drawing/2014/main" id="{A937C5C3-B180-1570-C59D-E0D57987793D}"/>
                  </a:ext>
                </a:extLst>
              </p:cNvPr>
              <p:cNvSpPr/>
              <p:nvPr/>
            </p:nvSpPr>
            <p:spPr>
              <a:xfrm>
                <a:off x="9034273" y="3838934"/>
                <a:ext cx="690657" cy="164592"/>
              </a:xfrm>
              <a:prstGeom prst="roundRect">
                <a:avLst/>
              </a:prstGeom>
              <a:solidFill>
                <a:srgbClr val="EFF6FF"/>
              </a:solidFill>
              <a:ln w="12700">
                <a:solidFill>
                  <a:srgbClr val="1C5DD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54864" tIns="21946" rIns="54864" bIns="21946" rtlCol="0" anchor="ctr"/>
              <a:lstStyle/>
              <a:p>
                <a:pPr algn="ctr"/>
                <a:r>
                  <a:rPr lang="en-US" sz="732" b="1" dirty="0">
                    <a:solidFill>
                      <a:srgbClr val="051F50"/>
                    </a:solidFill>
                    <a:latin typeface="Arial"/>
                  </a:rPr>
                  <a:t>Marketing</a:t>
                </a:r>
                <a:endParaRPr sz="732" b="1" dirty="0">
                  <a:solidFill>
                    <a:srgbClr val="051F50"/>
                  </a:solidFill>
                  <a:latin typeface="Arial"/>
                </a:endParaRPr>
              </a:p>
            </p:txBody>
          </p:sp>
          <p:sp>
            <p:nvSpPr>
              <p:cNvPr id="284" name="Rounded Rectangle 100">
                <a:extLst>
                  <a:ext uri="{FF2B5EF4-FFF2-40B4-BE49-F238E27FC236}">
                    <a16:creationId xmlns:a16="http://schemas.microsoft.com/office/drawing/2014/main" id="{789A0566-D40F-B130-19EC-921A1CC66230}"/>
                  </a:ext>
                </a:extLst>
              </p:cNvPr>
              <p:cNvSpPr/>
              <p:nvPr/>
            </p:nvSpPr>
            <p:spPr>
              <a:xfrm>
                <a:off x="9809345" y="3838934"/>
                <a:ext cx="566928" cy="164592"/>
              </a:xfrm>
              <a:prstGeom prst="roundRect">
                <a:avLst/>
              </a:prstGeom>
              <a:solidFill>
                <a:srgbClr val="EFF6FF"/>
              </a:solidFill>
              <a:ln w="12700">
                <a:solidFill>
                  <a:srgbClr val="1C5DD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54864" tIns="21946" rIns="54864" bIns="21946" rtlCol="0" anchor="ctr"/>
              <a:lstStyle/>
              <a:p>
                <a:pPr algn="ctr"/>
                <a:r>
                  <a:rPr lang="en-US" sz="732" b="1" dirty="0">
                    <a:solidFill>
                      <a:srgbClr val="051F50"/>
                    </a:solidFill>
                    <a:latin typeface="Arial"/>
                  </a:rPr>
                  <a:t>Ops</a:t>
                </a:r>
                <a:endParaRPr sz="732" b="1" dirty="0">
                  <a:solidFill>
                    <a:srgbClr val="051F50"/>
                  </a:solidFill>
                  <a:latin typeface="Arial"/>
                </a:endParaRPr>
              </a:p>
            </p:txBody>
          </p:sp>
          <p:sp>
            <p:nvSpPr>
              <p:cNvPr id="286" name="Rounded Rectangle 102">
                <a:extLst>
                  <a:ext uri="{FF2B5EF4-FFF2-40B4-BE49-F238E27FC236}">
                    <a16:creationId xmlns:a16="http://schemas.microsoft.com/office/drawing/2014/main" id="{D497D86D-0309-0523-7DC3-FB514E454022}"/>
                  </a:ext>
                </a:extLst>
              </p:cNvPr>
              <p:cNvSpPr/>
              <p:nvPr/>
            </p:nvSpPr>
            <p:spPr>
              <a:xfrm>
                <a:off x="9034271" y="4102903"/>
                <a:ext cx="690658" cy="164592"/>
              </a:xfrm>
              <a:prstGeom prst="roundRect">
                <a:avLst/>
              </a:prstGeom>
              <a:solidFill>
                <a:srgbClr val="EFF6FF"/>
              </a:solidFill>
              <a:ln w="12700">
                <a:solidFill>
                  <a:srgbClr val="1C5DD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54864" tIns="21946" rIns="54864" bIns="21946" rtlCol="0" anchor="ctr"/>
              <a:lstStyle/>
              <a:p>
                <a:pPr algn="ctr"/>
                <a:r>
                  <a:rPr lang="en-US" sz="732" b="1" dirty="0">
                    <a:solidFill>
                      <a:srgbClr val="051F50"/>
                    </a:solidFill>
                    <a:latin typeface="Arial"/>
                  </a:rPr>
                  <a:t>Technology</a:t>
                </a:r>
                <a:endParaRPr sz="732" b="1" dirty="0">
                  <a:solidFill>
                    <a:srgbClr val="051F50"/>
                  </a:solidFill>
                  <a:latin typeface="Arial"/>
                </a:endParaRPr>
              </a:p>
            </p:txBody>
          </p:sp>
        </p:grpSp>
        <p:sp>
          <p:nvSpPr>
            <p:cNvPr id="289" name="Rounded Rectangle 102">
              <a:extLst>
                <a:ext uri="{FF2B5EF4-FFF2-40B4-BE49-F238E27FC236}">
                  <a16:creationId xmlns:a16="http://schemas.microsoft.com/office/drawing/2014/main" id="{90250A9E-E4A8-EE1C-A5F7-72C59740288D}"/>
                </a:ext>
              </a:extLst>
            </p:cNvPr>
            <p:cNvSpPr/>
            <p:nvPr/>
          </p:nvSpPr>
          <p:spPr>
            <a:xfrm>
              <a:off x="946776" y="5567889"/>
              <a:ext cx="529526" cy="193745"/>
            </a:xfrm>
            <a:prstGeom prst="roundRect">
              <a:avLst/>
            </a:prstGeom>
            <a:solidFill>
              <a:srgbClr val="EFF6FF"/>
            </a:solidFill>
            <a:ln w="12700">
              <a:solidFill>
                <a:srgbClr val="1C5D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54864" tIns="21946" rIns="54864" bIns="21946" rtlCol="0" anchor="ctr"/>
            <a:lstStyle/>
            <a:p>
              <a:pPr algn="ctr"/>
              <a:r>
                <a:rPr lang="en-US" sz="732" b="1" dirty="0">
                  <a:solidFill>
                    <a:srgbClr val="051F50"/>
                  </a:solidFill>
                  <a:latin typeface="Arial"/>
                </a:rPr>
                <a:t>People</a:t>
              </a:r>
              <a:endParaRPr sz="732" b="1" dirty="0">
                <a:solidFill>
                  <a:srgbClr val="051F50"/>
                </a:solidFill>
                <a:latin typeface="Arial"/>
              </a:endParaRPr>
            </a:p>
          </p:txBody>
        </p:sp>
        <p:sp>
          <p:nvSpPr>
            <p:cNvPr id="291" name="Rounded Rectangle 102">
              <a:extLst>
                <a:ext uri="{FF2B5EF4-FFF2-40B4-BE49-F238E27FC236}">
                  <a16:creationId xmlns:a16="http://schemas.microsoft.com/office/drawing/2014/main" id="{79E80333-9298-F2B9-BF5D-650BFE3ACEFD}"/>
                </a:ext>
              </a:extLst>
            </p:cNvPr>
            <p:cNvSpPr/>
            <p:nvPr/>
          </p:nvSpPr>
          <p:spPr>
            <a:xfrm>
              <a:off x="199572" y="5875423"/>
              <a:ext cx="665824" cy="193745"/>
            </a:xfrm>
            <a:prstGeom prst="roundRect">
              <a:avLst/>
            </a:prstGeom>
            <a:solidFill>
              <a:srgbClr val="EFF6FF"/>
            </a:solidFill>
            <a:ln w="12700">
              <a:solidFill>
                <a:srgbClr val="1C5D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54864" tIns="21946" rIns="54864" bIns="21946" rtlCol="0" anchor="ctr"/>
            <a:lstStyle/>
            <a:p>
              <a:pPr algn="ctr"/>
              <a:r>
                <a:rPr lang="en-US" sz="732" b="1" dirty="0">
                  <a:solidFill>
                    <a:srgbClr val="051F50"/>
                  </a:solidFill>
                  <a:latin typeface="Arial"/>
                </a:rPr>
                <a:t>Supply Chain</a:t>
              </a:r>
              <a:endParaRPr sz="732" b="1" dirty="0">
                <a:solidFill>
                  <a:srgbClr val="051F50"/>
                </a:solidFill>
                <a:latin typeface="Arial"/>
              </a:endParaRPr>
            </a:p>
          </p:txBody>
        </p:sp>
        <p:sp>
          <p:nvSpPr>
            <p:cNvPr id="293" name="Rounded Rectangle 102">
              <a:extLst>
                <a:ext uri="{FF2B5EF4-FFF2-40B4-BE49-F238E27FC236}">
                  <a16:creationId xmlns:a16="http://schemas.microsoft.com/office/drawing/2014/main" id="{B26F5963-7DE3-48E8-D097-DCA4B7A77427}"/>
                </a:ext>
              </a:extLst>
            </p:cNvPr>
            <p:cNvSpPr/>
            <p:nvPr/>
          </p:nvSpPr>
          <p:spPr>
            <a:xfrm>
              <a:off x="946776" y="5875423"/>
              <a:ext cx="529526" cy="193745"/>
            </a:xfrm>
            <a:prstGeom prst="roundRect">
              <a:avLst/>
            </a:prstGeom>
            <a:solidFill>
              <a:srgbClr val="EFF6FF"/>
            </a:solidFill>
            <a:ln w="12700">
              <a:solidFill>
                <a:srgbClr val="1C5D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54864" tIns="21946" rIns="54864" bIns="21946" rtlCol="0" anchor="ctr"/>
            <a:lstStyle/>
            <a:p>
              <a:pPr algn="ctr"/>
              <a:r>
                <a:rPr lang="en-US" sz="732" b="1" dirty="0">
                  <a:solidFill>
                    <a:srgbClr val="051F50"/>
                  </a:solidFill>
                  <a:latin typeface="Arial"/>
                </a:rPr>
                <a:t>Finance</a:t>
              </a:r>
              <a:endParaRPr sz="732" b="1" dirty="0">
                <a:solidFill>
                  <a:srgbClr val="051F50"/>
                </a:solidFill>
                <a:latin typeface="Arial"/>
              </a:endParaRPr>
            </a:p>
          </p:txBody>
        </p:sp>
      </p:grpSp>
      <p:cxnSp>
        <p:nvCxnSpPr>
          <p:cNvPr id="296" name="Straight Arrow Connector 295">
            <a:extLst>
              <a:ext uri="{FF2B5EF4-FFF2-40B4-BE49-F238E27FC236}">
                <a16:creationId xmlns:a16="http://schemas.microsoft.com/office/drawing/2014/main" id="{43620C5C-B910-B3A2-E2AE-FDCCA703EBBF}"/>
              </a:ext>
            </a:extLst>
          </p:cNvPr>
          <p:cNvCxnSpPr>
            <a:cxnSpLocks/>
          </p:cNvCxnSpPr>
          <p:nvPr/>
        </p:nvCxnSpPr>
        <p:spPr>
          <a:xfrm>
            <a:off x="10033771" y="6289724"/>
            <a:ext cx="834036" cy="4608"/>
          </a:xfrm>
          <a:prstGeom prst="straightConnector1">
            <a:avLst/>
          </a:prstGeom>
          <a:ln w="9525">
            <a:solidFill>
              <a:schemeClr val="bg1">
                <a:lumMod val="50000"/>
              </a:schemeClr>
            </a:solidFill>
            <a:prstDash val="dash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9" name="Straight Arrow Connector 298">
            <a:extLst>
              <a:ext uri="{FF2B5EF4-FFF2-40B4-BE49-F238E27FC236}">
                <a16:creationId xmlns:a16="http://schemas.microsoft.com/office/drawing/2014/main" id="{E922B04F-A5C5-10C0-2664-1ABDD8A4B4D5}"/>
              </a:ext>
            </a:extLst>
          </p:cNvPr>
          <p:cNvCxnSpPr>
            <a:cxnSpLocks/>
          </p:cNvCxnSpPr>
          <p:nvPr/>
        </p:nvCxnSpPr>
        <p:spPr>
          <a:xfrm flipH="1" flipV="1">
            <a:off x="2357608" y="6069811"/>
            <a:ext cx="412168" cy="13452"/>
          </a:xfrm>
          <a:prstGeom prst="straightConnector1">
            <a:avLst/>
          </a:prstGeom>
          <a:ln w="9525">
            <a:solidFill>
              <a:schemeClr val="bg1">
                <a:lumMod val="50000"/>
              </a:schemeClr>
            </a:solidFill>
            <a:prstDash val="dash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8" name="Connector 110">
            <a:extLst>
              <a:ext uri="{FF2B5EF4-FFF2-40B4-BE49-F238E27FC236}">
                <a16:creationId xmlns:a16="http://schemas.microsoft.com/office/drawing/2014/main" id="{B10134B8-5A53-2B21-4F5D-DD09B5DA3154}"/>
              </a:ext>
            </a:extLst>
          </p:cNvPr>
          <p:cNvCxnSpPr>
            <a:cxnSpLocks/>
          </p:cNvCxnSpPr>
          <p:nvPr/>
        </p:nvCxnSpPr>
        <p:spPr>
          <a:xfrm>
            <a:off x="7428431" y="3324411"/>
            <a:ext cx="0" cy="138078"/>
          </a:xfrm>
          <a:prstGeom prst="line">
            <a:avLst/>
          </a:prstGeom>
          <a:ln w="11430">
            <a:solidFill>
              <a:srgbClr val="051F5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20E4B2-D53F-BDE8-1253-3667FE5967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C2C3F26-5976-8454-C7F2-645B686F61D5}"/>
              </a:ext>
            </a:extLst>
          </p:cNvPr>
          <p:cNvSpPr txBox="1"/>
          <p:nvPr/>
        </p:nvSpPr>
        <p:spPr>
          <a:xfrm>
            <a:off x="2626504" y="64468"/>
            <a:ext cx="9688943" cy="398878"/>
          </a:xfrm>
          <a:prstGeom prst="rect">
            <a:avLst/>
          </a:prstGeom>
          <a:noFill/>
          <a:ln>
            <a:noFill/>
          </a:ln>
        </p:spPr>
        <p:txBody>
          <a:bodyPr wrap="square" lIns="32918" tIns="32918" rIns="32918" bIns="32918" anchor="ctr">
            <a:spAutoFit/>
          </a:bodyPr>
          <a:lstStyle/>
          <a:p>
            <a:pPr algn="ctr"/>
            <a:r>
              <a:rPr sz="2160" b="1" dirty="0">
                <a:solidFill>
                  <a:srgbClr val="000000"/>
                </a:solidFill>
                <a:latin typeface="Arial"/>
              </a:rPr>
              <a:t>MVM Technical Architecture</a:t>
            </a:r>
            <a:r>
              <a:rPr lang="en-US" sz="2160" b="1" dirty="0">
                <a:solidFill>
                  <a:srgbClr val="000000"/>
                </a:solidFill>
                <a:latin typeface="Arial"/>
              </a:rPr>
              <a:t> (Phase 2)</a:t>
            </a:r>
            <a:endParaRPr sz="2160" b="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4B27C86D-D0D4-1C72-BB97-033ABE9042DB}"/>
              </a:ext>
            </a:extLst>
          </p:cNvPr>
          <p:cNvSpPr/>
          <p:nvPr/>
        </p:nvSpPr>
        <p:spPr>
          <a:xfrm>
            <a:off x="2769775" y="495309"/>
            <a:ext cx="2783539" cy="1596019"/>
          </a:xfrm>
          <a:prstGeom prst="roundRect">
            <a:avLst/>
          </a:prstGeom>
          <a:solidFill>
            <a:schemeClr val="bg1">
              <a:lumMod val="50000"/>
            </a:schemeClr>
          </a:solidFill>
          <a:ln w="12700"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160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D32E773A-8077-4872-9367-EA7886CFA9D6}"/>
              </a:ext>
            </a:extLst>
          </p:cNvPr>
          <p:cNvSpPr/>
          <p:nvPr/>
        </p:nvSpPr>
        <p:spPr>
          <a:xfrm>
            <a:off x="3008264" y="583092"/>
            <a:ext cx="2435960" cy="395021"/>
          </a:xfrm>
          <a:prstGeom prst="roundRect">
            <a:avLst/>
          </a:prstGeom>
          <a:solidFill>
            <a:schemeClr val="bg1">
              <a:lumMod val="5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1946" rIns="54864" bIns="21946" rtlCol="0" anchor="ctr"/>
          <a:lstStyle/>
          <a:p>
            <a:pPr algn="ctr"/>
            <a:r>
              <a:rPr sz="1440" b="1" dirty="0">
                <a:solidFill>
                  <a:srgbClr val="FFFFFF"/>
                </a:solidFill>
                <a:latin typeface="Arial"/>
              </a:rPr>
              <a:t>Protected Base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4450CBB9-A00B-CC2E-F312-101698DFB70D}"/>
              </a:ext>
            </a:extLst>
          </p:cNvPr>
          <p:cNvSpPr/>
          <p:nvPr/>
        </p:nvSpPr>
        <p:spPr>
          <a:xfrm>
            <a:off x="2984655" y="1052441"/>
            <a:ext cx="1157630" cy="3560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18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1946" rIns="54864" bIns="21946" rtlCol="0" anchor="ctr"/>
          <a:lstStyle/>
          <a:p>
            <a:pPr algn="ctr"/>
            <a:r>
              <a:rPr sz="864" b="1" dirty="0">
                <a:solidFill>
                  <a:srgbClr val="192337"/>
                </a:solidFill>
                <a:latin typeface="Arial"/>
              </a:rPr>
              <a:t>Restaurant
Foundation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2B98C167-19F2-F389-7FDF-0F93769F2371}"/>
              </a:ext>
            </a:extLst>
          </p:cNvPr>
          <p:cNvSpPr/>
          <p:nvPr/>
        </p:nvSpPr>
        <p:spPr>
          <a:xfrm>
            <a:off x="4238419" y="1065896"/>
            <a:ext cx="1157630" cy="3560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18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1946" rIns="54864" bIns="21946" rtlCol="0" anchor="ctr"/>
          <a:lstStyle/>
          <a:p>
            <a:pPr algn="ctr"/>
            <a:r>
              <a:rPr sz="864" b="1">
                <a:solidFill>
                  <a:srgbClr val="192337"/>
                </a:solidFill>
                <a:latin typeface="Arial"/>
              </a:rPr>
              <a:t>Commercial
BAU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9EE2EB3A-9DAD-B49F-38CA-B5555D538A5C}"/>
              </a:ext>
            </a:extLst>
          </p:cNvPr>
          <p:cNvSpPr/>
          <p:nvPr/>
        </p:nvSpPr>
        <p:spPr>
          <a:xfrm>
            <a:off x="5772770" y="583092"/>
            <a:ext cx="3577133" cy="395021"/>
          </a:xfrm>
          <a:prstGeom prst="round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1946" rIns="54864" bIns="21946" rtlCol="0" anchor="ctr"/>
          <a:lstStyle/>
          <a:p>
            <a:pPr algn="ctr"/>
            <a:r>
              <a:rPr sz="1440" b="1">
                <a:solidFill>
                  <a:srgbClr val="FFFFFF"/>
                </a:solidFill>
                <a:latin typeface="Arial"/>
              </a:rPr>
              <a:t>External Context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31C95277-CA56-D330-BC36-807ECFA8DDE3}"/>
              </a:ext>
            </a:extLst>
          </p:cNvPr>
          <p:cNvSpPr/>
          <p:nvPr/>
        </p:nvSpPr>
        <p:spPr>
          <a:xfrm>
            <a:off x="9516780" y="515406"/>
            <a:ext cx="3858554" cy="155982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1C5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160"/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98035FFF-C1BA-ADDC-1C81-6117A5BF1C4F}"/>
              </a:ext>
            </a:extLst>
          </p:cNvPr>
          <p:cNvSpPr/>
          <p:nvPr/>
        </p:nvSpPr>
        <p:spPr>
          <a:xfrm>
            <a:off x="9657140" y="583092"/>
            <a:ext cx="3533242" cy="395021"/>
          </a:xfrm>
          <a:prstGeom prst="roundRect">
            <a:avLst/>
          </a:prstGeom>
          <a:solidFill>
            <a:srgbClr val="1C5D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1946" rIns="54864" bIns="21946" rtlCol="0" anchor="ctr"/>
          <a:lstStyle/>
          <a:p>
            <a:pPr algn="ctr"/>
            <a:r>
              <a:rPr sz="1440" b="1">
                <a:solidFill>
                  <a:srgbClr val="FFFFFF"/>
                </a:solidFill>
                <a:latin typeface="Arial"/>
              </a:rPr>
              <a:t>Growth Momentum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049C259B-9BBE-07C8-2A2A-1092590C5B2D}"/>
              </a:ext>
            </a:extLst>
          </p:cNvPr>
          <p:cNvSpPr/>
          <p:nvPr/>
        </p:nvSpPr>
        <p:spPr>
          <a:xfrm>
            <a:off x="9679088" y="1109787"/>
            <a:ext cx="517549" cy="47183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C5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1946" rIns="54864" bIns="21946" rtlCol="0" anchor="ctr"/>
          <a:lstStyle/>
          <a:p>
            <a:pPr algn="ctr"/>
            <a:r>
              <a:rPr sz="756" b="1">
                <a:solidFill>
                  <a:srgbClr val="192337"/>
                </a:solidFill>
                <a:latin typeface="Arial"/>
              </a:rPr>
              <a:t>Pricing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64038A3F-AC97-6067-40BE-E40E4E7812EB}"/>
              </a:ext>
            </a:extLst>
          </p:cNvPr>
          <p:cNvSpPr/>
          <p:nvPr/>
        </p:nvSpPr>
        <p:spPr>
          <a:xfrm>
            <a:off x="10273448" y="1109787"/>
            <a:ext cx="517549" cy="47183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C5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1946" rIns="54864" bIns="21946" rtlCol="0" anchor="ctr"/>
          <a:lstStyle/>
          <a:p>
            <a:pPr algn="ctr"/>
            <a:r>
              <a:rPr sz="756" b="1">
                <a:solidFill>
                  <a:srgbClr val="192337"/>
                </a:solidFill>
                <a:latin typeface="Arial"/>
              </a:rPr>
              <a:t>Promo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A7B0C161-1CEF-256F-794D-5C353976D580}"/>
              </a:ext>
            </a:extLst>
          </p:cNvPr>
          <p:cNvSpPr/>
          <p:nvPr/>
        </p:nvSpPr>
        <p:spPr>
          <a:xfrm>
            <a:off x="10867808" y="1109787"/>
            <a:ext cx="517549" cy="47183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C5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1946" rIns="54864" bIns="21946" rtlCol="0" anchor="ctr"/>
          <a:lstStyle/>
          <a:p>
            <a:pPr algn="ctr"/>
            <a:r>
              <a:rPr sz="756" b="1">
                <a:solidFill>
                  <a:srgbClr val="192337"/>
                </a:solidFill>
                <a:latin typeface="Arial"/>
              </a:rPr>
              <a:t>Media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4CA464C6-C470-40B1-7472-B7F2D1F7567A}"/>
              </a:ext>
            </a:extLst>
          </p:cNvPr>
          <p:cNvSpPr/>
          <p:nvPr/>
        </p:nvSpPr>
        <p:spPr>
          <a:xfrm>
            <a:off x="11462168" y="1109787"/>
            <a:ext cx="517549" cy="47183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C5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1946" rIns="54864" bIns="21946" rtlCol="0" anchor="ctr"/>
          <a:lstStyle/>
          <a:p>
            <a:pPr algn="ctr"/>
            <a:r>
              <a:rPr sz="756" b="1" dirty="0">
                <a:solidFill>
                  <a:srgbClr val="192337"/>
                </a:solidFill>
                <a:latin typeface="Arial"/>
              </a:rPr>
              <a:t>Menu</a:t>
            </a:r>
            <a:endParaRPr lang="en-US" sz="756" b="1" dirty="0">
              <a:solidFill>
                <a:srgbClr val="192337"/>
              </a:solidFill>
              <a:latin typeface="Arial"/>
            </a:endParaRPr>
          </a:p>
          <a:p>
            <a:pPr algn="ctr"/>
            <a:r>
              <a:rPr sz="756" b="1" dirty="0">
                <a:solidFill>
                  <a:srgbClr val="192337"/>
                </a:solidFill>
                <a:latin typeface="Arial"/>
              </a:rPr>
              <a:t>/</a:t>
            </a:r>
            <a:r>
              <a:rPr lang="en-US" sz="756" b="1" dirty="0">
                <a:solidFill>
                  <a:srgbClr val="192337"/>
                </a:solidFill>
                <a:latin typeface="Arial"/>
              </a:rPr>
              <a:t> </a:t>
            </a:r>
            <a:r>
              <a:rPr sz="756" b="1" dirty="0">
                <a:solidFill>
                  <a:srgbClr val="192337"/>
                </a:solidFill>
                <a:latin typeface="Arial"/>
              </a:rPr>
              <a:t>LTO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0DF584D0-27DD-6E4A-1A8C-5073C9251D6E}"/>
              </a:ext>
            </a:extLst>
          </p:cNvPr>
          <p:cNvSpPr/>
          <p:nvPr/>
        </p:nvSpPr>
        <p:spPr>
          <a:xfrm>
            <a:off x="12056528" y="1109787"/>
            <a:ext cx="517549" cy="47183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C5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1946" rIns="54864" bIns="21946" rtlCol="0" anchor="ctr"/>
          <a:lstStyle/>
          <a:p>
            <a:pPr algn="ctr"/>
            <a:r>
              <a:rPr lang="en-US" sz="756" b="1" dirty="0">
                <a:solidFill>
                  <a:srgbClr val="192337"/>
                </a:solidFill>
                <a:latin typeface="Arial"/>
              </a:rPr>
              <a:t>Loyalty</a:t>
            </a:r>
            <a:endParaRPr sz="756" b="1" dirty="0">
              <a:solidFill>
                <a:srgbClr val="192337"/>
              </a:solidFill>
              <a:latin typeface="Arial"/>
            </a:endParaRP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5909A0B8-878E-C248-1524-3DF115DE5E63}"/>
              </a:ext>
            </a:extLst>
          </p:cNvPr>
          <p:cNvSpPr/>
          <p:nvPr/>
        </p:nvSpPr>
        <p:spPr>
          <a:xfrm>
            <a:off x="12650888" y="1109787"/>
            <a:ext cx="539495" cy="47183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C5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1946" rIns="54864" bIns="21946" rtlCol="0" anchor="ctr"/>
          <a:lstStyle/>
          <a:p>
            <a:pPr algn="ctr"/>
            <a:r>
              <a:rPr sz="756" b="1" dirty="0">
                <a:solidFill>
                  <a:srgbClr val="192337"/>
                </a:solidFill>
                <a:latin typeface="Arial"/>
              </a:rPr>
              <a:t>Delivery</a:t>
            </a:r>
          </a:p>
        </p:txBody>
      </p:sp>
      <p:sp>
        <p:nvSpPr>
          <p:cNvPr id="55" name="Rounded Rectangle 54">
            <a:extLst>
              <a:ext uri="{FF2B5EF4-FFF2-40B4-BE49-F238E27FC236}">
                <a16:creationId xmlns:a16="http://schemas.microsoft.com/office/drawing/2014/main" id="{DD0C155F-84B6-7BBC-EB26-0C9EAEB487E1}"/>
              </a:ext>
            </a:extLst>
          </p:cNvPr>
          <p:cNvSpPr/>
          <p:nvPr/>
        </p:nvSpPr>
        <p:spPr>
          <a:xfrm>
            <a:off x="2802694" y="2394382"/>
            <a:ext cx="10572641" cy="921715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051F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16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78C21F28-C0CC-CA03-1D7E-8FAF6C02C7CE}"/>
              </a:ext>
            </a:extLst>
          </p:cNvPr>
          <p:cNvSpPr txBox="1"/>
          <p:nvPr/>
        </p:nvSpPr>
        <p:spPr>
          <a:xfrm>
            <a:off x="2423488" y="2144647"/>
            <a:ext cx="10094976" cy="288078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32918" tIns="32918" rIns="32918" bIns="32918" anchor="ctr">
            <a:spAutoFit/>
          </a:bodyPr>
          <a:lstStyle/>
          <a:p>
            <a:pPr algn="ctr"/>
            <a:r>
              <a:rPr lang="en-US" sz="1440" b="1" dirty="0">
                <a:solidFill>
                  <a:srgbClr val="051F50"/>
                </a:solidFill>
                <a:latin typeface="Arial"/>
              </a:rPr>
              <a:t>Data &amp;</a:t>
            </a:r>
            <a:r>
              <a:rPr sz="1440" b="1" dirty="0">
                <a:solidFill>
                  <a:srgbClr val="051F50"/>
                </a:solidFill>
                <a:latin typeface="Arial"/>
              </a:rPr>
              <a:t> Feature Tables</a:t>
            </a:r>
          </a:p>
        </p:txBody>
      </p:sp>
      <p:sp>
        <p:nvSpPr>
          <p:cNvPr id="58" name="Rounded Rectangle 57">
            <a:extLst>
              <a:ext uri="{FF2B5EF4-FFF2-40B4-BE49-F238E27FC236}">
                <a16:creationId xmlns:a16="http://schemas.microsoft.com/office/drawing/2014/main" id="{67B374E1-D69B-9630-BBA7-58FB13C9538F}"/>
              </a:ext>
            </a:extLst>
          </p:cNvPr>
          <p:cNvSpPr/>
          <p:nvPr/>
        </p:nvSpPr>
        <p:spPr>
          <a:xfrm>
            <a:off x="2978258" y="2833294"/>
            <a:ext cx="1053389" cy="37307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18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1946" rIns="54864" bIns="21946" rtlCol="0" anchor="ctr"/>
          <a:lstStyle/>
          <a:p>
            <a:pPr algn="ctr"/>
            <a:r>
              <a:rPr sz="852" dirty="0">
                <a:solidFill>
                  <a:srgbClr val="192337"/>
                </a:solidFill>
                <a:latin typeface="Arial"/>
              </a:rPr>
              <a:t>Speed: </a:t>
            </a:r>
            <a:endParaRPr lang="en-US" sz="852" dirty="0">
              <a:solidFill>
                <a:srgbClr val="192337"/>
              </a:solidFill>
              <a:latin typeface="Arial"/>
            </a:endParaRPr>
          </a:p>
          <a:p>
            <a:pPr algn="ctr"/>
            <a:r>
              <a:rPr lang="en-US" sz="852" dirty="0">
                <a:solidFill>
                  <a:srgbClr val="192337"/>
                </a:solidFill>
                <a:latin typeface="Arial"/>
              </a:rPr>
              <a:t>R2P, OEPE</a:t>
            </a:r>
          </a:p>
          <a:p>
            <a:pPr algn="ctr"/>
            <a:r>
              <a:rPr sz="852" dirty="0">
                <a:solidFill>
                  <a:srgbClr val="192337"/>
                </a:solidFill>
                <a:latin typeface="Arial"/>
              </a:rPr>
              <a:t>P90 service time</a:t>
            </a:r>
          </a:p>
        </p:txBody>
      </p:sp>
      <p:sp>
        <p:nvSpPr>
          <p:cNvPr id="59" name="Rounded Rectangle 58">
            <a:extLst>
              <a:ext uri="{FF2B5EF4-FFF2-40B4-BE49-F238E27FC236}">
                <a16:creationId xmlns:a16="http://schemas.microsoft.com/office/drawing/2014/main" id="{46C3369F-54FD-BF0B-CB44-C5E912AF9569}"/>
              </a:ext>
            </a:extLst>
          </p:cNvPr>
          <p:cNvSpPr/>
          <p:nvPr/>
        </p:nvSpPr>
        <p:spPr>
          <a:xfrm>
            <a:off x="4091998" y="2844267"/>
            <a:ext cx="630936" cy="373075"/>
          </a:xfrm>
          <a:prstGeom prst="roundRect">
            <a:avLst/>
          </a:prstGeom>
          <a:solidFill>
            <a:schemeClr val="bg1">
              <a:lumMod val="50000"/>
            </a:schemeClr>
          </a:solidFill>
          <a:ln w="12700">
            <a:solidFill>
              <a:srgbClr val="E85C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1946" rIns="54864" bIns="21946" rtlCol="0" anchor="ctr"/>
          <a:lstStyle/>
          <a:p>
            <a:pPr algn="ctr"/>
            <a:r>
              <a:rPr lang="en-US" sz="852" dirty="0">
                <a:solidFill>
                  <a:srgbClr val="192337"/>
                </a:solidFill>
                <a:latin typeface="Arial"/>
              </a:rPr>
              <a:t>Supply:</a:t>
            </a:r>
          </a:p>
          <a:p>
            <a:pPr algn="ctr"/>
            <a:r>
              <a:rPr lang="en-US" sz="852" dirty="0">
                <a:solidFill>
                  <a:srgbClr val="192337"/>
                </a:solidFill>
                <a:latin typeface="Arial"/>
              </a:rPr>
              <a:t>OOS</a:t>
            </a:r>
            <a:endParaRPr sz="852" dirty="0">
              <a:solidFill>
                <a:srgbClr val="192337"/>
              </a:solidFill>
              <a:latin typeface="Arial"/>
            </a:endParaRPr>
          </a:p>
        </p:txBody>
      </p:sp>
      <p:sp>
        <p:nvSpPr>
          <p:cNvPr id="60" name="Rounded Rectangle 59">
            <a:extLst>
              <a:ext uri="{FF2B5EF4-FFF2-40B4-BE49-F238E27FC236}">
                <a16:creationId xmlns:a16="http://schemas.microsoft.com/office/drawing/2014/main" id="{39ABA448-E7DD-F060-C4E4-A164FBB0FA2E}"/>
              </a:ext>
            </a:extLst>
          </p:cNvPr>
          <p:cNvSpPr/>
          <p:nvPr/>
        </p:nvSpPr>
        <p:spPr>
          <a:xfrm>
            <a:off x="4788771" y="2833294"/>
            <a:ext cx="569670" cy="373075"/>
          </a:xfrm>
          <a:prstGeom prst="roundRect">
            <a:avLst/>
          </a:prstGeom>
          <a:solidFill>
            <a:schemeClr val="bg1">
              <a:lumMod val="50000"/>
            </a:schemeClr>
          </a:solidFill>
          <a:ln w="12700">
            <a:solidFill>
              <a:srgbClr val="1C5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1946" rIns="54864" bIns="21946" rtlCol="0" anchor="ctr"/>
          <a:lstStyle/>
          <a:p>
            <a:pPr algn="ctr"/>
            <a:r>
              <a:rPr lang="en-US" sz="852" dirty="0">
                <a:solidFill>
                  <a:srgbClr val="192337"/>
                </a:solidFill>
                <a:latin typeface="Arial"/>
              </a:rPr>
              <a:t>Tech:</a:t>
            </a:r>
          </a:p>
          <a:p>
            <a:pPr algn="ctr"/>
            <a:r>
              <a:rPr lang="en-US" sz="852" dirty="0">
                <a:solidFill>
                  <a:srgbClr val="192337"/>
                </a:solidFill>
                <a:latin typeface="Arial"/>
              </a:rPr>
              <a:t>Uptime</a:t>
            </a:r>
            <a:endParaRPr sz="852" dirty="0">
              <a:solidFill>
                <a:srgbClr val="192337"/>
              </a:solidFill>
              <a:latin typeface="Arial"/>
            </a:endParaRPr>
          </a:p>
        </p:txBody>
      </p:sp>
      <p:sp>
        <p:nvSpPr>
          <p:cNvPr id="65" name="Rounded Rectangle 64">
            <a:extLst>
              <a:ext uri="{FF2B5EF4-FFF2-40B4-BE49-F238E27FC236}">
                <a16:creationId xmlns:a16="http://schemas.microsoft.com/office/drawing/2014/main" id="{C6CAAAE3-9AA4-7085-FDDD-686207FF58F5}"/>
              </a:ext>
            </a:extLst>
          </p:cNvPr>
          <p:cNvSpPr/>
          <p:nvPr/>
        </p:nvSpPr>
        <p:spPr>
          <a:xfrm>
            <a:off x="2769775" y="3502634"/>
            <a:ext cx="7944307" cy="2040941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51F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16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E93A1021-723A-208A-7D39-A5A73321FA27}"/>
              </a:ext>
            </a:extLst>
          </p:cNvPr>
          <p:cNvSpPr txBox="1"/>
          <p:nvPr/>
        </p:nvSpPr>
        <p:spPr>
          <a:xfrm>
            <a:off x="3450046" y="3506729"/>
            <a:ext cx="7944307" cy="288078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32918" tIns="32918" rIns="32918" bIns="32918" anchor="ctr">
            <a:spAutoFit/>
          </a:bodyPr>
          <a:lstStyle/>
          <a:p>
            <a:pPr algn="ctr"/>
            <a:r>
              <a:rPr sz="1440" b="1" dirty="0">
                <a:solidFill>
                  <a:srgbClr val="051F50"/>
                </a:solidFill>
                <a:latin typeface="Arial"/>
              </a:rPr>
              <a:t>Evidence Pathway</a:t>
            </a:r>
          </a:p>
        </p:txBody>
      </p:sp>
      <p:sp>
        <p:nvSpPr>
          <p:cNvPr id="69" name="Diamond 68">
            <a:extLst>
              <a:ext uri="{FF2B5EF4-FFF2-40B4-BE49-F238E27FC236}">
                <a16:creationId xmlns:a16="http://schemas.microsoft.com/office/drawing/2014/main" id="{3EBB2A84-90F9-10D4-5C84-424E7C10B7EE}"/>
              </a:ext>
            </a:extLst>
          </p:cNvPr>
          <p:cNvSpPr/>
          <p:nvPr/>
        </p:nvSpPr>
        <p:spPr>
          <a:xfrm>
            <a:off x="6691865" y="3796405"/>
            <a:ext cx="1377773" cy="614477"/>
          </a:xfrm>
          <a:prstGeom prst="diamond">
            <a:avLst/>
          </a:prstGeom>
          <a:solidFill>
            <a:srgbClr val="FFFFFF"/>
          </a:solidFill>
          <a:ln w="12700">
            <a:solidFill>
              <a:srgbClr val="051F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24">
                <a:solidFill>
                  <a:srgbClr val="192337"/>
                </a:solidFill>
                <a:latin typeface="Arial"/>
              </a:rPr>
              <a:t>Prior evidence
exists?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82DE3524-53C5-E9C7-2E4E-CF6A5758DC5F}"/>
              </a:ext>
            </a:extLst>
          </p:cNvPr>
          <p:cNvSpPr txBox="1"/>
          <p:nvPr/>
        </p:nvSpPr>
        <p:spPr>
          <a:xfrm>
            <a:off x="4124230" y="3741173"/>
            <a:ext cx="1755648" cy="214212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  <a:effectLst/>
        </p:spPr>
        <p:txBody>
          <a:bodyPr wrap="square" lIns="32918" tIns="32918" rIns="32918" bIns="32918" anchor="ctr">
            <a:spAutoFit/>
          </a:bodyPr>
          <a:lstStyle/>
          <a:p>
            <a:pPr algn="ctr"/>
            <a:r>
              <a:rPr sz="960" b="1" dirty="0">
                <a:solidFill>
                  <a:srgbClr val="21843B"/>
                </a:solidFill>
                <a:latin typeface="Arial"/>
              </a:rPr>
              <a:t>Yes → Prior-Informed Path</a:t>
            </a:r>
          </a:p>
        </p:txBody>
      </p:sp>
      <p:cxnSp>
        <p:nvCxnSpPr>
          <p:cNvPr id="71" name="Connector 70">
            <a:extLst>
              <a:ext uri="{FF2B5EF4-FFF2-40B4-BE49-F238E27FC236}">
                <a16:creationId xmlns:a16="http://schemas.microsoft.com/office/drawing/2014/main" id="{2F5884D2-7ADE-6F74-297E-B4E6AAE73133}"/>
              </a:ext>
            </a:extLst>
          </p:cNvPr>
          <p:cNvCxnSpPr/>
          <p:nvPr/>
        </p:nvCxnSpPr>
        <p:spPr>
          <a:xfrm>
            <a:off x="5879878" y="4051275"/>
            <a:ext cx="658368" cy="197510"/>
          </a:xfrm>
          <a:prstGeom prst="line">
            <a:avLst/>
          </a:prstGeom>
          <a:ln w="12700">
            <a:solidFill>
              <a:srgbClr val="21843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TextBox 71">
            <a:extLst>
              <a:ext uri="{FF2B5EF4-FFF2-40B4-BE49-F238E27FC236}">
                <a16:creationId xmlns:a16="http://schemas.microsoft.com/office/drawing/2014/main" id="{6DC91A0E-6894-B70E-8B7A-8FC5C3DCD3EF}"/>
              </a:ext>
            </a:extLst>
          </p:cNvPr>
          <p:cNvSpPr txBox="1"/>
          <p:nvPr/>
        </p:nvSpPr>
        <p:spPr>
          <a:xfrm>
            <a:off x="8201311" y="3757382"/>
            <a:ext cx="1975104" cy="214212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32918" tIns="32918" rIns="32918" bIns="32918" anchor="ctr">
            <a:spAutoFit/>
          </a:bodyPr>
          <a:lstStyle/>
          <a:p>
            <a:pPr algn="ctr"/>
            <a:r>
              <a:rPr sz="960" b="1" dirty="0">
                <a:solidFill>
                  <a:srgbClr val="051F50"/>
                </a:solidFill>
                <a:latin typeface="Arial"/>
              </a:rPr>
              <a:t>No → Causal Estimation Path</a:t>
            </a:r>
          </a:p>
        </p:txBody>
      </p:sp>
      <p:sp>
        <p:nvSpPr>
          <p:cNvPr id="74" name="Rounded Rectangle 73">
            <a:extLst>
              <a:ext uri="{FF2B5EF4-FFF2-40B4-BE49-F238E27FC236}">
                <a16:creationId xmlns:a16="http://schemas.microsoft.com/office/drawing/2014/main" id="{9DFB9C7C-4E7C-2138-0659-775C8D63DBDF}"/>
              </a:ext>
            </a:extLst>
          </p:cNvPr>
          <p:cNvSpPr/>
          <p:nvPr/>
        </p:nvSpPr>
        <p:spPr>
          <a:xfrm>
            <a:off x="3685318" y="4029329"/>
            <a:ext cx="2798064" cy="241402"/>
          </a:xfrm>
          <a:prstGeom prst="roundRect">
            <a:avLst/>
          </a:prstGeom>
          <a:solidFill>
            <a:schemeClr val="bg1">
              <a:lumMod val="50000"/>
            </a:schemeClr>
          </a:solidFill>
          <a:ln w="12700">
            <a:solidFill>
              <a:srgbClr val="218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1946" rIns="54864" bIns="21946" rtlCol="0" anchor="ctr"/>
          <a:lstStyle/>
          <a:p>
            <a:pPr algn="ctr"/>
            <a:r>
              <a:rPr sz="912" dirty="0">
                <a:solidFill>
                  <a:srgbClr val="192337"/>
                </a:solidFill>
                <a:latin typeface="Arial"/>
              </a:rPr>
              <a:t>Prior Repository</a:t>
            </a:r>
          </a:p>
        </p:txBody>
      </p:sp>
      <p:cxnSp>
        <p:nvCxnSpPr>
          <p:cNvPr id="75" name="Connector 74">
            <a:extLst>
              <a:ext uri="{FF2B5EF4-FFF2-40B4-BE49-F238E27FC236}">
                <a16:creationId xmlns:a16="http://schemas.microsoft.com/office/drawing/2014/main" id="{0967337A-4859-2FE9-21C7-BF90BFC56752}"/>
              </a:ext>
            </a:extLst>
          </p:cNvPr>
          <p:cNvCxnSpPr/>
          <p:nvPr/>
        </p:nvCxnSpPr>
        <p:spPr>
          <a:xfrm>
            <a:off x="5084350" y="4292676"/>
            <a:ext cx="0" cy="65837"/>
          </a:xfrm>
          <a:prstGeom prst="line">
            <a:avLst/>
          </a:prstGeom>
          <a:ln w="10160">
            <a:solidFill>
              <a:srgbClr val="21843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Rounded Rectangle 75">
            <a:extLst>
              <a:ext uri="{FF2B5EF4-FFF2-40B4-BE49-F238E27FC236}">
                <a16:creationId xmlns:a16="http://schemas.microsoft.com/office/drawing/2014/main" id="{49F8B1F0-8828-2069-7B12-0F59C27F55FD}"/>
              </a:ext>
            </a:extLst>
          </p:cNvPr>
          <p:cNvSpPr/>
          <p:nvPr/>
        </p:nvSpPr>
        <p:spPr>
          <a:xfrm>
            <a:off x="3685318" y="4336567"/>
            <a:ext cx="2798064" cy="241402"/>
          </a:xfrm>
          <a:prstGeom prst="roundRect">
            <a:avLst/>
          </a:prstGeom>
          <a:solidFill>
            <a:schemeClr val="bg1">
              <a:lumMod val="50000"/>
            </a:schemeClr>
          </a:solidFill>
          <a:ln w="12700">
            <a:solidFill>
              <a:srgbClr val="218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1946" rIns="54864" bIns="21946" rtlCol="0" anchor="ctr"/>
          <a:lstStyle/>
          <a:p>
            <a:pPr algn="ctr"/>
            <a:r>
              <a:rPr sz="912">
                <a:solidFill>
                  <a:srgbClr val="192337"/>
                </a:solidFill>
                <a:latin typeface="Arial"/>
              </a:rPr>
              <a:t>Experiment Repository</a:t>
            </a:r>
          </a:p>
        </p:txBody>
      </p:sp>
      <p:cxnSp>
        <p:nvCxnSpPr>
          <p:cNvPr id="77" name="Connector 76">
            <a:extLst>
              <a:ext uri="{FF2B5EF4-FFF2-40B4-BE49-F238E27FC236}">
                <a16:creationId xmlns:a16="http://schemas.microsoft.com/office/drawing/2014/main" id="{03E77E05-FD7D-941B-1A59-DA67BFB0C37D}"/>
              </a:ext>
            </a:extLst>
          </p:cNvPr>
          <p:cNvCxnSpPr/>
          <p:nvPr/>
        </p:nvCxnSpPr>
        <p:spPr>
          <a:xfrm>
            <a:off x="5084350" y="4599915"/>
            <a:ext cx="0" cy="65836"/>
          </a:xfrm>
          <a:prstGeom prst="line">
            <a:avLst/>
          </a:prstGeom>
          <a:ln w="10160">
            <a:solidFill>
              <a:srgbClr val="21843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Rounded Rectangle 77">
            <a:extLst>
              <a:ext uri="{FF2B5EF4-FFF2-40B4-BE49-F238E27FC236}">
                <a16:creationId xmlns:a16="http://schemas.microsoft.com/office/drawing/2014/main" id="{AAFEAB36-6372-B8FE-05B4-4CF16F7C9C21}"/>
              </a:ext>
            </a:extLst>
          </p:cNvPr>
          <p:cNvSpPr/>
          <p:nvPr/>
        </p:nvSpPr>
        <p:spPr>
          <a:xfrm>
            <a:off x="3685318" y="4643805"/>
            <a:ext cx="2798064" cy="241402"/>
          </a:xfrm>
          <a:prstGeom prst="roundRect">
            <a:avLst/>
          </a:prstGeom>
          <a:solidFill>
            <a:schemeClr val="bg1">
              <a:lumMod val="50000"/>
            </a:schemeClr>
          </a:solidFill>
          <a:ln w="12700">
            <a:solidFill>
              <a:srgbClr val="218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1946" rIns="54864" bIns="21946" rtlCol="0" anchor="ctr"/>
          <a:lstStyle/>
          <a:p>
            <a:pPr algn="ctr"/>
            <a:r>
              <a:rPr sz="912">
                <a:solidFill>
                  <a:srgbClr val="192337"/>
                </a:solidFill>
                <a:latin typeface="Arial"/>
              </a:rPr>
              <a:t>QBR / Historical Analysis</a:t>
            </a:r>
          </a:p>
        </p:txBody>
      </p:sp>
      <p:cxnSp>
        <p:nvCxnSpPr>
          <p:cNvPr id="79" name="Connector 78">
            <a:extLst>
              <a:ext uri="{FF2B5EF4-FFF2-40B4-BE49-F238E27FC236}">
                <a16:creationId xmlns:a16="http://schemas.microsoft.com/office/drawing/2014/main" id="{9598DE67-D836-7CEF-CB71-1F7E07A70E0F}"/>
              </a:ext>
            </a:extLst>
          </p:cNvPr>
          <p:cNvCxnSpPr/>
          <p:nvPr/>
        </p:nvCxnSpPr>
        <p:spPr>
          <a:xfrm>
            <a:off x="5084350" y="4907153"/>
            <a:ext cx="0" cy="65837"/>
          </a:xfrm>
          <a:prstGeom prst="line">
            <a:avLst/>
          </a:prstGeom>
          <a:ln w="10160">
            <a:solidFill>
              <a:srgbClr val="21843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Rounded Rectangle 79">
            <a:extLst>
              <a:ext uri="{FF2B5EF4-FFF2-40B4-BE49-F238E27FC236}">
                <a16:creationId xmlns:a16="http://schemas.microsoft.com/office/drawing/2014/main" id="{8508635A-B615-2AAC-7C00-FA6E1A2DCB72}"/>
              </a:ext>
            </a:extLst>
          </p:cNvPr>
          <p:cNvSpPr/>
          <p:nvPr/>
        </p:nvSpPr>
        <p:spPr>
          <a:xfrm>
            <a:off x="3685318" y="4951044"/>
            <a:ext cx="2798064" cy="241402"/>
          </a:xfrm>
          <a:prstGeom prst="roundRect">
            <a:avLst/>
          </a:prstGeom>
          <a:solidFill>
            <a:schemeClr val="bg1">
              <a:lumMod val="50000"/>
            </a:schemeClr>
          </a:solidFill>
          <a:ln w="12700">
            <a:solidFill>
              <a:srgbClr val="218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1946" rIns="54864" bIns="21946" rtlCol="0" anchor="ctr"/>
          <a:lstStyle/>
          <a:p>
            <a:pPr algn="ctr"/>
            <a:r>
              <a:rPr lang="en-US" sz="912" dirty="0">
                <a:solidFill>
                  <a:srgbClr val="192337"/>
                </a:solidFill>
                <a:latin typeface="Arial"/>
              </a:rPr>
              <a:t>Industry</a:t>
            </a:r>
            <a:r>
              <a:rPr sz="912" dirty="0">
                <a:solidFill>
                  <a:srgbClr val="192337"/>
                </a:solidFill>
                <a:latin typeface="Arial"/>
              </a:rPr>
              <a:t> </a:t>
            </a:r>
            <a:r>
              <a:rPr lang="en-US" sz="912" dirty="0">
                <a:solidFill>
                  <a:srgbClr val="192337"/>
                </a:solidFill>
                <a:latin typeface="Arial"/>
              </a:rPr>
              <a:t>Reference</a:t>
            </a:r>
            <a:endParaRPr sz="912" dirty="0">
              <a:solidFill>
                <a:srgbClr val="192337"/>
              </a:solidFill>
              <a:latin typeface="Arial"/>
            </a:endParaRPr>
          </a:p>
        </p:txBody>
      </p:sp>
      <p:cxnSp>
        <p:nvCxnSpPr>
          <p:cNvPr id="81" name="Connector 80">
            <a:extLst>
              <a:ext uri="{FF2B5EF4-FFF2-40B4-BE49-F238E27FC236}">
                <a16:creationId xmlns:a16="http://schemas.microsoft.com/office/drawing/2014/main" id="{D2D1011C-D484-21C6-1F66-3C683356EA70}"/>
              </a:ext>
            </a:extLst>
          </p:cNvPr>
          <p:cNvCxnSpPr>
            <a:cxnSpLocks/>
          </p:cNvCxnSpPr>
          <p:nvPr/>
        </p:nvCxnSpPr>
        <p:spPr>
          <a:xfrm flipV="1">
            <a:off x="5084350" y="5214391"/>
            <a:ext cx="0" cy="32918"/>
          </a:xfrm>
          <a:prstGeom prst="line">
            <a:avLst/>
          </a:prstGeom>
          <a:ln w="10160">
            <a:solidFill>
              <a:srgbClr val="21843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Rounded Rectangle 81">
            <a:extLst>
              <a:ext uri="{FF2B5EF4-FFF2-40B4-BE49-F238E27FC236}">
                <a16:creationId xmlns:a16="http://schemas.microsoft.com/office/drawing/2014/main" id="{29B18071-8003-5FF6-88BE-163B555B5B17}"/>
              </a:ext>
            </a:extLst>
          </p:cNvPr>
          <p:cNvSpPr/>
          <p:nvPr/>
        </p:nvSpPr>
        <p:spPr>
          <a:xfrm>
            <a:off x="3685320" y="5269255"/>
            <a:ext cx="2841953" cy="208483"/>
          </a:xfrm>
          <a:prstGeom prst="roundRect">
            <a:avLst/>
          </a:prstGeom>
          <a:solidFill>
            <a:schemeClr val="bg1">
              <a:lumMod val="50000"/>
            </a:schemeClr>
          </a:solidFill>
          <a:ln w="12700">
            <a:solidFill>
              <a:srgbClr val="218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1946" rIns="54864" bIns="21946" rtlCol="0" anchor="ctr"/>
          <a:lstStyle/>
          <a:p>
            <a:pPr algn="ctr"/>
            <a:r>
              <a:rPr sz="1020" b="1" dirty="0">
                <a:solidFill>
                  <a:srgbClr val="21843B"/>
                </a:solidFill>
                <a:latin typeface="Arial"/>
              </a:rPr>
              <a:t>Prior-Informed Estimate</a:t>
            </a:r>
          </a:p>
        </p:txBody>
      </p:sp>
      <p:sp>
        <p:nvSpPr>
          <p:cNvPr id="83" name="Rounded Rectangle 82">
            <a:extLst>
              <a:ext uri="{FF2B5EF4-FFF2-40B4-BE49-F238E27FC236}">
                <a16:creationId xmlns:a16="http://schemas.microsoft.com/office/drawing/2014/main" id="{AF98B067-745E-5CC5-F032-8972B3682490}"/>
              </a:ext>
            </a:extLst>
          </p:cNvPr>
          <p:cNvSpPr/>
          <p:nvPr/>
        </p:nvSpPr>
        <p:spPr>
          <a:xfrm>
            <a:off x="8223257" y="4029329"/>
            <a:ext cx="1678838" cy="2685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C5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1946" rIns="54864" bIns="21946" rtlCol="0" anchor="ctr"/>
          <a:lstStyle/>
          <a:p>
            <a:pPr algn="ctr"/>
            <a:r>
              <a:rPr sz="888" dirty="0">
                <a:solidFill>
                  <a:srgbClr val="192337"/>
                </a:solidFill>
                <a:latin typeface="Arial"/>
              </a:rPr>
              <a:t>Panel / Regression Analysis</a:t>
            </a:r>
          </a:p>
        </p:txBody>
      </p:sp>
      <p:cxnSp>
        <p:nvCxnSpPr>
          <p:cNvPr id="84" name="Connector 83">
            <a:extLst>
              <a:ext uri="{FF2B5EF4-FFF2-40B4-BE49-F238E27FC236}">
                <a16:creationId xmlns:a16="http://schemas.microsoft.com/office/drawing/2014/main" id="{4D176EC9-A455-BFD3-924B-64AD535C6ED3}"/>
              </a:ext>
            </a:extLst>
          </p:cNvPr>
          <p:cNvCxnSpPr>
            <a:cxnSpLocks/>
          </p:cNvCxnSpPr>
          <p:nvPr/>
        </p:nvCxnSpPr>
        <p:spPr>
          <a:xfrm>
            <a:off x="9007812" y="4381206"/>
            <a:ext cx="0" cy="37408"/>
          </a:xfrm>
          <a:prstGeom prst="line">
            <a:avLst/>
          </a:prstGeom>
          <a:ln w="10160">
            <a:solidFill>
              <a:srgbClr val="1C5DD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Rounded Rectangle 84">
            <a:extLst>
              <a:ext uri="{FF2B5EF4-FFF2-40B4-BE49-F238E27FC236}">
                <a16:creationId xmlns:a16="http://schemas.microsoft.com/office/drawing/2014/main" id="{362216EB-0CD9-9750-38F8-F6A2D99B840D}"/>
              </a:ext>
            </a:extLst>
          </p:cNvPr>
          <p:cNvSpPr/>
          <p:nvPr/>
        </p:nvSpPr>
        <p:spPr>
          <a:xfrm>
            <a:off x="8223257" y="4380458"/>
            <a:ext cx="1678838" cy="268584"/>
          </a:xfrm>
          <a:prstGeom prst="roundRect">
            <a:avLst/>
          </a:prstGeom>
          <a:solidFill>
            <a:schemeClr val="bg1">
              <a:lumMod val="50000"/>
            </a:schemeClr>
          </a:solidFill>
          <a:ln w="12700">
            <a:solidFill>
              <a:srgbClr val="1C5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1946" rIns="54864" bIns="21946" rtlCol="0" anchor="ctr"/>
          <a:lstStyle/>
          <a:p>
            <a:pPr algn="ctr"/>
            <a:r>
              <a:rPr sz="888" dirty="0">
                <a:solidFill>
                  <a:srgbClr val="192337"/>
                </a:solidFill>
                <a:latin typeface="Arial"/>
              </a:rPr>
              <a:t>Quasi-Experiment / Matching</a:t>
            </a:r>
          </a:p>
        </p:txBody>
      </p:sp>
      <p:cxnSp>
        <p:nvCxnSpPr>
          <p:cNvPr id="86" name="Connector 85">
            <a:extLst>
              <a:ext uri="{FF2B5EF4-FFF2-40B4-BE49-F238E27FC236}">
                <a16:creationId xmlns:a16="http://schemas.microsoft.com/office/drawing/2014/main" id="{9FC97A82-DA6C-F31A-7EBB-14A376A9E689}"/>
              </a:ext>
            </a:extLst>
          </p:cNvPr>
          <p:cNvCxnSpPr>
            <a:cxnSpLocks/>
          </p:cNvCxnSpPr>
          <p:nvPr/>
        </p:nvCxnSpPr>
        <p:spPr>
          <a:xfrm>
            <a:off x="9007812" y="4304397"/>
            <a:ext cx="0" cy="76062"/>
          </a:xfrm>
          <a:prstGeom prst="line">
            <a:avLst/>
          </a:prstGeom>
          <a:ln w="10160">
            <a:solidFill>
              <a:srgbClr val="1C5DD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7" name="Rounded Rectangle 86">
            <a:extLst>
              <a:ext uri="{FF2B5EF4-FFF2-40B4-BE49-F238E27FC236}">
                <a16:creationId xmlns:a16="http://schemas.microsoft.com/office/drawing/2014/main" id="{7A347EC6-E070-3C43-3BDC-D8176CDD10A6}"/>
              </a:ext>
            </a:extLst>
          </p:cNvPr>
          <p:cNvSpPr/>
          <p:nvPr/>
        </p:nvSpPr>
        <p:spPr>
          <a:xfrm>
            <a:off x="8234230" y="4743436"/>
            <a:ext cx="1678838" cy="268584"/>
          </a:xfrm>
          <a:prstGeom prst="roundRect">
            <a:avLst/>
          </a:prstGeom>
          <a:solidFill>
            <a:schemeClr val="bg1">
              <a:lumMod val="50000"/>
            </a:schemeClr>
          </a:solidFill>
          <a:ln w="12700">
            <a:solidFill>
              <a:srgbClr val="1C5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1946" rIns="54864" bIns="21946" rtlCol="0" anchor="ctr"/>
          <a:lstStyle/>
          <a:p>
            <a:pPr algn="ctr"/>
            <a:r>
              <a:rPr sz="888" dirty="0">
                <a:solidFill>
                  <a:srgbClr val="192337"/>
                </a:solidFill>
                <a:latin typeface="Arial"/>
              </a:rPr>
              <a:t>Sensitivity / Scenario Analysis</a:t>
            </a:r>
          </a:p>
        </p:txBody>
      </p:sp>
      <p:sp>
        <p:nvSpPr>
          <p:cNvPr id="89" name="Rounded Rectangle 88">
            <a:extLst>
              <a:ext uri="{FF2B5EF4-FFF2-40B4-BE49-F238E27FC236}">
                <a16:creationId xmlns:a16="http://schemas.microsoft.com/office/drawing/2014/main" id="{FD9D29D9-D61A-2918-6C3E-81377C7EC65A}"/>
              </a:ext>
            </a:extLst>
          </p:cNvPr>
          <p:cNvSpPr/>
          <p:nvPr/>
        </p:nvSpPr>
        <p:spPr>
          <a:xfrm>
            <a:off x="8234230" y="5236959"/>
            <a:ext cx="1678838" cy="200754"/>
          </a:xfrm>
          <a:prstGeom prst="roundRect">
            <a:avLst/>
          </a:prstGeom>
          <a:solidFill>
            <a:schemeClr val="bg1">
              <a:lumMod val="50000"/>
            </a:schemeClr>
          </a:solidFill>
          <a:ln w="12700">
            <a:solidFill>
              <a:srgbClr val="1C5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1946" rIns="54864" bIns="21946" rtlCol="0" anchor="ctr"/>
          <a:lstStyle/>
          <a:p>
            <a:pPr algn="ctr"/>
            <a:r>
              <a:rPr sz="1020" b="1" dirty="0">
                <a:solidFill>
                  <a:srgbClr val="051F50"/>
                </a:solidFill>
                <a:latin typeface="Arial"/>
              </a:rPr>
              <a:t>New Domain Estimate</a:t>
            </a:r>
          </a:p>
        </p:txBody>
      </p:sp>
      <p:grpSp>
        <p:nvGrpSpPr>
          <p:cNvPr id="255" name="Group 254">
            <a:extLst>
              <a:ext uri="{FF2B5EF4-FFF2-40B4-BE49-F238E27FC236}">
                <a16:creationId xmlns:a16="http://schemas.microsoft.com/office/drawing/2014/main" id="{2372AD36-F279-2384-CF21-7B92836E561A}"/>
              </a:ext>
            </a:extLst>
          </p:cNvPr>
          <p:cNvGrpSpPr/>
          <p:nvPr/>
        </p:nvGrpSpPr>
        <p:grpSpPr>
          <a:xfrm>
            <a:off x="10881247" y="3650768"/>
            <a:ext cx="2168543" cy="3116274"/>
            <a:chOff x="8887968" y="2816352"/>
            <a:chExt cx="1874519" cy="2176272"/>
          </a:xfrm>
          <a:solidFill>
            <a:schemeClr val="bg1">
              <a:lumMod val="50000"/>
            </a:schemeClr>
          </a:solidFill>
        </p:grpSpPr>
        <p:sp>
          <p:nvSpPr>
            <p:cNvPr id="92" name="Rounded Rectangle 91">
              <a:extLst>
                <a:ext uri="{FF2B5EF4-FFF2-40B4-BE49-F238E27FC236}">
                  <a16:creationId xmlns:a16="http://schemas.microsoft.com/office/drawing/2014/main" id="{A3FDBB69-5B68-75B4-A3FC-4BE4DBE03291}"/>
                </a:ext>
              </a:extLst>
            </p:cNvPr>
            <p:cNvSpPr/>
            <p:nvPr/>
          </p:nvSpPr>
          <p:spPr>
            <a:xfrm>
              <a:off x="8887968" y="2816352"/>
              <a:ext cx="1874519" cy="2176272"/>
            </a:xfrm>
            <a:prstGeom prst="roundRect">
              <a:avLst/>
            </a:prstGeom>
            <a:grpFill/>
            <a:ln w="12700">
              <a:solidFill>
                <a:srgbClr val="1C5D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160"/>
            </a:p>
          </p:txBody>
        </p:sp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90CFE3EB-2B76-4539-1F8D-24842DF29CB6}"/>
                </a:ext>
              </a:extLst>
            </p:cNvPr>
            <p:cNvSpPr txBox="1"/>
            <p:nvPr/>
          </p:nvSpPr>
          <p:spPr>
            <a:xfrm>
              <a:off x="9015984" y="2866984"/>
              <a:ext cx="1627632" cy="355937"/>
            </a:xfrm>
            <a:prstGeom prst="rect">
              <a:avLst/>
            </a:prstGeom>
            <a:grpFill/>
            <a:ln>
              <a:noFill/>
            </a:ln>
            <a:effectLst/>
          </p:spPr>
          <p:txBody>
            <a:bodyPr wrap="square" lIns="32918" tIns="32918" rIns="32918" bIns="32918" anchor="ctr">
              <a:spAutoFit/>
            </a:bodyPr>
            <a:lstStyle/>
            <a:p>
              <a:pPr algn="ctr"/>
              <a:r>
                <a:rPr sz="1440" b="1" dirty="0">
                  <a:solidFill>
                    <a:srgbClr val="051F50"/>
                  </a:solidFill>
                  <a:latin typeface="Arial"/>
                </a:rPr>
                <a:t>Granular Domain Drill-Downs</a:t>
              </a:r>
            </a:p>
          </p:txBody>
        </p:sp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52DD15BE-1107-E844-8EB5-8B52ABF12236}"/>
                </a:ext>
              </a:extLst>
            </p:cNvPr>
            <p:cNvSpPr txBox="1"/>
            <p:nvPr/>
          </p:nvSpPr>
          <p:spPr>
            <a:xfrm>
              <a:off x="9034273" y="3188080"/>
              <a:ext cx="1609344" cy="317248"/>
            </a:xfrm>
            <a:prstGeom prst="rect">
              <a:avLst/>
            </a:prstGeom>
            <a:grpFill/>
            <a:ln>
              <a:noFill/>
            </a:ln>
            <a:effectLst/>
          </p:spPr>
          <p:txBody>
            <a:bodyPr wrap="square" lIns="32918" tIns="32918" rIns="32918" bIns="32918" anchor="ctr">
              <a:spAutoFit/>
            </a:bodyPr>
            <a:lstStyle/>
            <a:p>
              <a:pPr algn="ctr"/>
              <a:r>
                <a:rPr sz="840">
                  <a:solidFill>
                    <a:srgbClr val="192337"/>
                  </a:solidFill>
                  <a:latin typeface="Arial"/>
                </a:rPr>
                <a:t>Explains which sub-components drive domain-level contribution for traceability</a:t>
              </a:r>
            </a:p>
          </p:txBody>
        </p:sp>
        <p:sp>
          <p:nvSpPr>
            <p:cNvPr id="95" name="Rounded Rectangle 94">
              <a:extLst>
                <a:ext uri="{FF2B5EF4-FFF2-40B4-BE49-F238E27FC236}">
                  <a16:creationId xmlns:a16="http://schemas.microsoft.com/office/drawing/2014/main" id="{123F1926-2EFA-EE0F-449F-8B8C037A2CE3}"/>
                </a:ext>
              </a:extLst>
            </p:cNvPr>
            <p:cNvSpPr/>
            <p:nvPr/>
          </p:nvSpPr>
          <p:spPr>
            <a:xfrm>
              <a:off x="9034272" y="3584448"/>
              <a:ext cx="566928" cy="164592"/>
            </a:xfrm>
            <a:prstGeom prst="roundRect">
              <a:avLst/>
            </a:prstGeom>
            <a:grpFill/>
            <a:ln w="12700">
              <a:solidFill>
                <a:srgbClr val="1C5D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54864" tIns="21946" rIns="54864" bIns="21946" rtlCol="0" anchor="ctr"/>
            <a:lstStyle/>
            <a:p>
              <a:pPr algn="ctr"/>
              <a:r>
                <a:rPr sz="732" b="1">
                  <a:solidFill>
                    <a:srgbClr val="051F50"/>
                  </a:solidFill>
                  <a:latin typeface="Arial"/>
                </a:rPr>
                <a:t>Menu</a:t>
              </a:r>
            </a:p>
          </p:txBody>
        </p:sp>
        <p:sp>
          <p:nvSpPr>
            <p:cNvPr id="96" name="TextBox 95">
              <a:extLst>
                <a:ext uri="{FF2B5EF4-FFF2-40B4-BE49-F238E27FC236}">
                  <a16:creationId xmlns:a16="http://schemas.microsoft.com/office/drawing/2014/main" id="{23C4D13E-2FB9-17A1-F6F8-C95010F3C717}"/>
                </a:ext>
              </a:extLst>
            </p:cNvPr>
            <p:cNvSpPr txBox="1"/>
            <p:nvPr/>
          </p:nvSpPr>
          <p:spPr>
            <a:xfrm>
              <a:off x="9646920" y="3570004"/>
              <a:ext cx="960120" cy="193479"/>
            </a:xfrm>
            <a:prstGeom prst="rect">
              <a:avLst/>
            </a:prstGeom>
            <a:grpFill/>
            <a:ln>
              <a:noFill/>
            </a:ln>
            <a:effectLst/>
          </p:spPr>
          <p:txBody>
            <a:bodyPr wrap="square" lIns="32918" tIns="32918" rIns="32918" bIns="32918" anchor="ctr">
              <a:spAutoFit/>
            </a:bodyPr>
            <a:lstStyle/>
            <a:p>
              <a:pPr algn="l"/>
              <a:r>
                <a:rPr sz="684" dirty="0">
                  <a:solidFill>
                    <a:srgbClr val="192337"/>
                  </a:solidFill>
                  <a:latin typeface="Arial"/>
                </a:rPr>
                <a:t>Premium | Value | Core | LTO</a:t>
              </a:r>
            </a:p>
          </p:txBody>
        </p:sp>
        <p:sp>
          <p:nvSpPr>
            <p:cNvPr id="97" name="Rounded Rectangle 96">
              <a:extLst>
                <a:ext uri="{FF2B5EF4-FFF2-40B4-BE49-F238E27FC236}">
                  <a16:creationId xmlns:a16="http://schemas.microsoft.com/office/drawing/2014/main" id="{F01A1C47-88F8-0B2B-E82E-43AEE3862E35}"/>
                </a:ext>
              </a:extLst>
            </p:cNvPr>
            <p:cNvSpPr/>
            <p:nvPr/>
          </p:nvSpPr>
          <p:spPr>
            <a:xfrm>
              <a:off x="9034272" y="3822191"/>
              <a:ext cx="566928" cy="164592"/>
            </a:xfrm>
            <a:prstGeom prst="roundRect">
              <a:avLst/>
            </a:prstGeom>
            <a:grpFill/>
            <a:ln w="12700">
              <a:solidFill>
                <a:srgbClr val="1C5D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54864" tIns="21946" rIns="54864" bIns="21946" rtlCol="0" anchor="ctr"/>
            <a:lstStyle/>
            <a:p>
              <a:pPr algn="ctr"/>
              <a:r>
                <a:rPr sz="732" b="1">
                  <a:solidFill>
                    <a:srgbClr val="051F50"/>
                  </a:solidFill>
                  <a:latin typeface="Arial"/>
                </a:rPr>
                <a:t>Pricing</a:t>
              </a:r>
            </a:p>
          </p:txBody>
        </p:sp>
        <p:sp>
          <p:nvSpPr>
            <p:cNvPr id="98" name="TextBox 97">
              <a:extLst>
                <a:ext uri="{FF2B5EF4-FFF2-40B4-BE49-F238E27FC236}">
                  <a16:creationId xmlns:a16="http://schemas.microsoft.com/office/drawing/2014/main" id="{32A61D31-832A-411B-BECF-60FCEDB93150}"/>
                </a:ext>
              </a:extLst>
            </p:cNvPr>
            <p:cNvSpPr txBox="1"/>
            <p:nvPr/>
          </p:nvSpPr>
          <p:spPr>
            <a:xfrm>
              <a:off x="9646920" y="3807747"/>
              <a:ext cx="960120" cy="193479"/>
            </a:xfrm>
            <a:prstGeom prst="rect">
              <a:avLst/>
            </a:prstGeom>
            <a:grpFill/>
            <a:ln>
              <a:noFill/>
            </a:ln>
            <a:effectLst/>
          </p:spPr>
          <p:txBody>
            <a:bodyPr wrap="square" lIns="32918" tIns="32918" rIns="32918" bIns="32918" anchor="ctr">
              <a:spAutoFit/>
            </a:bodyPr>
            <a:lstStyle/>
            <a:p>
              <a:r>
                <a:rPr lang="en-US" sz="684" dirty="0">
                  <a:solidFill>
                    <a:srgbClr val="192337"/>
                  </a:solidFill>
                  <a:latin typeface="Arial"/>
                </a:rPr>
                <a:t>Premium | Value | Core | LTO</a:t>
              </a:r>
            </a:p>
          </p:txBody>
        </p:sp>
        <p:sp>
          <p:nvSpPr>
            <p:cNvPr id="99" name="Rounded Rectangle 98">
              <a:extLst>
                <a:ext uri="{FF2B5EF4-FFF2-40B4-BE49-F238E27FC236}">
                  <a16:creationId xmlns:a16="http://schemas.microsoft.com/office/drawing/2014/main" id="{140DDAC9-4A67-E155-22D6-81F13AA03F1B}"/>
                </a:ext>
              </a:extLst>
            </p:cNvPr>
            <p:cNvSpPr/>
            <p:nvPr/>
          </p:nvSpPr>
          <p:spPr>
            <a:xfrm>
              <a:off x="9034272" y="4059935"/>
              <a:ext cx="566928" cy="164592"/>
            </a:xfrm>
            <a:prstGeom prst="roundRect">
              <a:avLst/>
            </a:prstGeom>
            <a:grpFill/>
            <a:ln w="12700">
              <a:solidFill>
                <a:srgbClr val="1C5D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54864" tIns="21946" rIns="54864" bIns="21946" rtlCol="0" anchor="ctr"/>
            <a:lstStyle/>
            <a:p>
              <a:pPr algn="ctr"/>
              <a:r>
                <a:rPr sz="732" b="1">
                  <a:solidFill>
                    <a:srgbClr val="051F50"/>
                  </a:solidFill>
                  <a:latin typeface="Arial"/>
                </a:rPr>
                <a:t>Media</a:t>
              </a:r>
            </a:p>
          </p:txBody>
        </p:sp>
        <p:sp>
          <p:nvSpPr>
            <p:cNvPr id="100" name="TextBox 99">
              <a:extLst>
                <a:ext uri="{FF2B5EF4-FFF2-40B4-BE49-F238E27FC236}">
                  <a16:creationId xmlns:a16="http://schemas.microsoft.com/office/drawing/2014/main" id="{28068778-3986-5F8F-CB47-A5E4BEC6D5BC}"/>
                </a:ext>
              </a:extLst>
            </p:cNvPr>
            <p:cNvSpPr txBox="1"/>
            <p:nvPr/>
          </p:nvSpPr>
          <p:spPr>
            <a:xfrm>
              <a:off x="9646920" y="4045490"/>
              <a:ext cx="960120" cy="193479"/>
            </a:xfrm>
            <a:prstGeom prst="rect">
              <a:avLst/>
            </a:prstGeom>
            <a:grpFill/>
            <a:ln>
              <a:noFill/>
            </a:ln>
            <a:effectLst/>
          </p:spPr>
          <p:txBody>
            <a:bodyPr wrap="square" lIns="32918" tIns="32918" rIns="32918" bIns="32918" anchor="ctr">
              <a:spAutoFit/>
            </a:bodyPr>
            <a:lstStyle/>
            <a:p>
              <a:pPr algn="l"/>
              <a:r>
                <a:rPr sz="684">
                  <a:solidFill>
                    <a:srgbClr val="192337"/>
                  </a:solidFill>
                  <a:latin typeface="Arial"/>
                </a:rPr>
                <a:t>Base Media | Campaign | Channel</a:t>
              </a:r>
            </a:p>
          </p:txBody>
        </p:sp>
        <p:sp>
          <p:nvSpPr>
            <p:cNvPr id="101" name="Rounded Rectangle 100">
              <a:extLst>
                <a:ext uri="{FF2B5EF4-FFF2-40B4-BE49-F238E27FC236}">
                  <a16:creationId xmlns:a16="http://schemas.microsoft.com/office/drawing/2014/main" id="{0C671FF4-C89C-F646-CDC7-93B1E40FCB71}"/>
                </a:ext>
              </a:extLst>
            </p:cNvPr>
            <p:cNvSpPr/>
            <p:nvPr/>
          </p:nvSpPr>
          <p:spPr>
            <a:xfrm>
              <a:off x="9034271" y="4283254"/>
              <a:ext cx="612645" cy="179018"/>
            </a:xfrm>
            <a:prstGeom prst="roundRect">
              <a:avLst/>
            </a:prstGeom>
            <a:grpFill/>
            <a:ln w="12700">
              <a:solidFill>
                <a:srgbClr val="1C5D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54864" tIns="21946" rIns="54864" bIns="21946" rtlCol="0" anchor="ctr"/>
            <a:lstStyle/>
            <a:p>
              <a:pPr algn="ctr"/>
              <a:r>
                <a:rPr sz="732" b="1" dirty="0">
                  <a:solidFill>
                    <a:srgbClr val="051F50"/>
                  </a:solidFill>
                  <a:latin typeface="Arial"/>
                </a:rPr>
                <a:t>Speed</a:t>
              </a:r>
            </a:p>
          </p:txBody>
        </p:sp>
        <p:sp>
          <p:nvSpPr>
            <p:cNvPr id="102" name="TextBox 101">
              <a:extLst>
                <a:ext uri="{FF2B5EF4-FFF2-40B4-BE49-F238E27FC236}">
                  <a16:creationId xmlns:a16="http://schemas.microsoft.com/office/drawing/2014/main" id="{8BA35C55-2934-6E75-EEB6-6BB3FD9FE996}"/>
                </a:ext>
              </a:extLst>
            </p:cNvPr>
            <p:cNvSpPr txBox="1"/>
            <p:nvPr/>
          </p:nvSpPr>
          <p:spPr>
            <a:xfrm>
              <a:off x="9646920" y="4283236"/>
              <a:ext cx="960120" cy="193479"/>
            </a:xfrm>
            <a:prstGeom prst="rect">
              <a:avLst/>
            </a:prstGeom>
            <a:grpFill/>
            <a:ln>
              <a:noFill/>
            </a:ln>
            <a:effectLst/>
          </p:spPr>
          <p:txBody>
            <a:bodyPr wrap="square" lIns="32918" tIns="32918" rIns="32918" bIns="32918" anchor="ctr">
              <a:spAutoFit/>
            </a:bodyPr>
            <a:lstStyle/>
            <a:p>
              <a:pPr algn="l"/>
              <a:r>
                <a:rPr sz="684" dirty="0">
                  <a:solidFill>
                    <a:srgbClr val="192337"/>
                  </a:solidFill>
                  <a:latin typeface="Arial"/>
                </a:rPr>
                <a:t>Service Time | </a:t>
              </a:r>
              <a:r>
                <a:rPr lang="en-US" sz="684" dirty="0">
                  <a:solidFill>
                    <a:srgbClr val="192337"/>
                  </a:solidFill>
                  <a:latin typeface="Arial"/>
                </a:rPr>
                <a:t>Restaurants</a:t>
              </a:r>
              <a:r>
                <a:rPr sz="684" dirty="0">
                  <a:solidFill>
                    <a:srgbClr val="192337"/>
                  </a:solidFill>
                  <a:latin typeface="Arial"/>
                </a:rPr>
                <a:t> | Hours</a:t>
              </a:r>
            </a:p>
          </p:txBody>
        </p:sp>
        <p:sp>
          <p:nvSpPr>
            <p:cNvPr id="103" name="Rounded Rectangle 102">
              <a:extLst>
                <a:ext uri="{FF2B5EF4-FFF2-40B4-BE49-F238E27FC236}">
                  <a16:creationId xmlns:a16="http://schemas.microsoft.com/office/drawing/2014/main" id="{F7853BC0-6A94-3839-FD4D-CEA5CEBEEDE1}"/>
                </a:ext>
              </a:extLst>
            </p:cNvPr>
            <p:cNvSpPr/>
            <p:nvPr/>
          </p:nvSpPr>
          <p:spPr>
            <a:xfrm>
              <a:off x="9034271" y="4529140"/>
              <a:ext cx="612647" cy="170877"/>
            </a:xfrm>
            <a:prstGeom prst="roundRect">
              <a:avLst/>
            </a:prstGeom>
            <a:grpFill/>
            <a:ln w="12700">
              <a:solidFill>
                <a:srgbClr val="1C5D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54864" tIns="21946" rIns="54864" bIns="21946" rtlCol="0" anchor="ctr"/>
            <a:lstStyle/>
            <a:p>
              <a:pPr algn="ctr"/>
              <a:r>
                <a:rPr sz="732" b="1" dirty="0">
                  <a:solidFill>
                    <a:srgbClr val="051F50"/>
                  </a:solidFill>
                  <a:latin typeface="Arial"/>
                </a:rPr>
                <a:t>Competition</a:t>
              </a:r>
            </a:p>
          </p:txBody>
        </p:sp>
        <p:sp>
          <p:nvSpPr>
            <p:cNvPr id="104" name="TextBox 103">
              <a:extLst>
                <a:ext uri="{FF2B5EF4-FFF2-40B4-BE49-F238E27FC236}">
                  <a16:creationId xmlns:a16="http://schemas.microsoft.com/office/drawing/2014/main" id="{C15A8461-BBCB-0734-0B33-CD96EED41C4F}"/>
                </a:ext>
              </a:extLst>
            </p:cNvPr>
            <p:cNvSpPr txBox="1"/>
            <p:nvPr/>
          </p:nvSpPr>
          <p:spPr>
            <a:xfrm>
              <a:off x="9646920" y="4520979"/>
              <a:ext cx="960120" cy="193479"/>
            </a:xfrm>
            <a:prstGeom prst="rect">
              <a:avLst/>
            </a:prstGeom>
            <a:grpFill/>
            <a:ln>
              <a:noFill/>
            </a:ln>
            <a:effectLst/>
          </p:spPr>
          <p:txBody>
            <a:bodyPr wrap="square" lIns="32918" tIns="32918" rIns="32918" bIns="32918" anchor="ctr">
              <a:spAutoFit/>
            </a:bodyPr>
            <a:lstStyle/>
            <a:p>
              <a:pPr algn="l"/>
              <a:r>
                <a:rPr sz="684">
                  <a:solidFill>
                    <a:srgbClr val="192337"/>
                  </a:solidFill>
                  <a:latin typeface="Arial"/>
                </a:rPr>
                <a:t>Price | Promo | Share of Voice</a:t>
              </a:r>
            </a:p>
          </p:txBody>
        </p:sp>
      </p:grpSp>
      <p:grpSp>
        <p:nvGrpSpPr>
          <p:cNvPr id="211" name="Group 210">
            <a:extLst>
              <a:ext uri="{FF2B5EF4-FFF2-40B4-BE49-F238E27FC236}">
                <a16:creationId xmlns:a16="http://schemas.microsoft.com/office/drawing/2014/main" id="{EE55F2BC-7DB1-589E-D2C8-350A133785EA}"/>
              </a:ext>
            </a:extLst>
          </p:cNvPr>
          <p:cNvGrpSpPr/>
          <p:nvPr/>
        </p:nvGrpSpPr>
        <p:grpSpPr>
          <a:xfrm>
            <a:off x="2769776" y="5815287"/>
            <a:ext cx="7187184" cy="935295"/>
            <a:chOff x="2057400" y="4833950"/>
            <a:chExt cx="6492240" cy="852195"/>
          </a:xfrm>
          <a:solidFill>
            <a:schemeClr val="bg1">
              <a:lumMod val="50000"/>
            </a:schemeClr>
          </a:solidFill>
        </p:grpSpPr>
        <p:sp>
          <p:nvSpPr>
            <p:cNvPr id="108" name="Rounded Rectangle 107">
              <a:extLst>
                <a:ext uri="{FF2B5EF4-FFF2-40B4-BE49-F238E27FC236}">
                  <a16:creationId xmlns:a16="http://schemas.microsoft.com/office/drawing/2014/main" id="{C6CA1E90-72C8-F355-9936-6B933B93B5AD}"/>
                </a:ext>
              </a:extLst>
            </p:cNvPr>
            <p:cNvSpPr/>
            <p:nvPr/>
          </p:nvSpPr>
          <p:spPr>
            <a:xfrm>
              <a:off x="2057400" y="4846320"/>
              <a:ext cx="6492240" cy="839825"/>
            </a:xfrm>
            <a:prstGeom prst="roundRect">
              <a:avLst/>
            </a:prstGeom>
            <a:grpFill/>
            <a:ln w="12700">
              <a:solidFill>
                <a:srgbClr val="1C5D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160"/>
            </a:p>
          </p:txBody>
        </p:sp>
        <p:sp>
          <p:nvSpPr>
            <p:cNvPr id="109" name="TextBox 108">
              <a:extLst>
                <a:ext uri="{FF2B5EF4-FFF2-40B4-BE49-F238E27FC236}">
                  <a16:creationId xmlns:a16="http://schemas.microsoft.com/office/drawing/2014/main" id="{90302E0D-96FF-043D-1591-9A4F9DD289DB}"/>
                </a:ext>
              </a:extLst>
            </p:cNvPr>
            <p:cNvSpPr txBox="1"/>
            <p:nvPr/>
          </p:nvSpPr>
          <p:spPr>
            <a:xfrm>
              <a:off x="2240280" y="4833950"/>
              <a:ext cx="6126481" cy="262483"/>
            </a:xfrm>
            <a:prstGeom prst="rect">
              <a:avLst/>
            </a:prstGeom>
            <a:grpFill/>
            <a:ln>
              <a:noFill/>
            </a:ln>
            <a:effectLst/>
          </p:spPr>
          <p:txBody>
            <a:bodyPr wrap="square" lIns="32918" tIns="32918" rIns="32918" bIns="32918" anchor="ctr">
              <a:spAutoFit/>
            </a:bodyPr>
            <a:lstStyle/>
            <a:p>
              <a:pPr algn="ctr"/>
              <a:r>
                <a:rPr lang="en-US" sz="1440" b="1" dirty="0">
                  <a:solidFill>
                    <a:srgbClr val="051F50"/>
                  </a:solidFill>
                  <a:latin typeface="Arial"/>
                </a:rPr>
                <a:t>Stand-alone</a:t>
              </a:r>
              <a:r>
                <a:rPr sz="1440" b="1" dirty="0">
                  <a:solidFill>
                    <a:srgbClr val="051F50"/>
                  </a:solidFill>
                  <a:latin typeface="Arial"/>
                </a:rPr>
                <a:t> Domain Estimate Outputs</a:t>
              </a:r>
            </a:p>
          </p:txBody>
        </p:sp>
        <p:sp>
          <p:nvSpPr>
            <p:cNvPr id="110" name="TextBox 109">
              <a:extLst>
                <a:ext uri="{FF2B5EF4-FFF2-40B4-BE49-F238E27FC236}">
                  <a16:creationId xmlns:a16="http://schemas.microsoft.com/office/drawing/2014/main" id="{A40E3CB7-B248-E336-6CFF-185556A4DA87}"/>
                </a:ext>
              </a:extLst>
            </p:cNvPr>
            <p:cNvSpPr txBox="1"/>
            <p:nvPr/>
          </p:nvSpPr>
          <p:spPr>
            <a:xfrm>
              <a:off x="2376448" y="5041903"/>
              <a:ext cx="6126481" cy="185072"/>
            </a:xfrm>
            <a:prstGeom prst="rect">
              <a:avLst/>
            </a:prstGeom>
            <a:grpFill/>
            <a:ln>
              <a:noFill/>
            </a:ln>
            <a:effectLst/>
          </p:spPr>
          <p:txBody>
            <a:bodyPr wrap="square" lIns="32918" tIns="32918" rIns="32918" bIns="32918" anchor="ctr">
              <a:spAutoFit/>
            </a:bodyPr>
            <a:lstStyle/>
            <a:p>
              <a:pPr algn="ctr"/>
              <a:r>
                <a:rPr sz="888" dirty="0">
                  <a:solidFill>
                    <a:srgbClr val="192337"/>
                  </a:solidFill>
                  <a:latin typeface="Arial"/>
                </a:rPr>
                <a:t>impact estimate + uncertainty + confidence + data quality + owner validation</a:t>
              </a:r>
            </a:p>
          </p:txBody>
        </p:sp>
      </p:grpSp>
      <p:cxnSp>
        <p:nvCxnSpPr>
          <p:cNvPr id="111" name="Connector 110">
            <a:extLst>
              <a:ext uri="{FF2B5EF4-FFF2-40B4-BE49-F238E27FC236}">
                <a16:creationId xmlns:a16="http://schemas.microsoft.com/office/drawing/2014/main" id="{91C628AA-B11A-9325-6676-81136DC353C4}"/>
              </a:ext>
            </a:extLst>
          </p:cNvPr>
          <p:cNvCxnSpPr/>
          <p:nvPr/>
        </p:nvCxnSpPr>
        <p:spPr>
          <a:xfrm>
            <a:off x="4909471" y="5543575"/>
            <a:ext cx="0" cy="285293"/>
          </a:xfrm>
          <a:prstGeom prst="line">
            <a:avLst/>
          </a:prstGeom>
          <a:ln w="11430">
            <a:solidFill>
              <a:srgbClr val="051F5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 111">
            <a:extLst>
              <a:ext uri="{FF2B5EF4-FFF2-40B4-BE49-F238E27FC236}">
                <a16:creationId xmlns:a16="http://schemas.microsoft.com/office/drawing/2014/main" id="{6C5AB47C-3EB6-D262-794C-0221CC001E0C}"/>
              </a:ext>
            </a:extLst>
          </p:cNvPr>
          <p:cNvCxnSpPr/>
          <p:nvPr/>
        </p:nvCxnSpPr>
        <p:spPr>
          <a:xfrm>
            <a:off x="9254700" y="5543575"/>
            <a:ext cx="0" cy="285293"/>
          </a:xfrm>
          <a:prstGeom prst="line">
            <a:avLst/>
          </a:prstGeom>
          <a:ln w="11430">
            <a:solidFill>
              <a:srgbClr val="051F5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12" name="Group 211">
            <a:extLst>
              <a:ext uri="{FF2B5EF4-FFF2-40B4-BE49-F238E27FC236}">
                <a16:creationId xmlns:a16="http://schemas.microsoft.com/office/drawing/2014/main" id="{D86C37C0-B114-B4C7-968B-29DCF069CC6C}"/>
              </a:ext>
            </a:extLst>
          </p:cNvPr>
          <p:cNvGrpSpPr/>
          <p:nvPr/>
        </p:nvGrpSpPr>
        <p:grpSpPr>
          <a:xfrm>
            <a:off x="2802695" y="6882924"/>
            <a:ext cx="10572638" cy="454544"/>
            <a:chOff x="2057400" y="5371719"/>
            <a:chExt cx="6492240" cy="621595"/>
          </a:xfrm>
        </p:grpSpPr>
        <p:sp>
          <p:nvSpPr>
            <p:cNvPr id="116" name="Rounded Rectangle 115">
              <a:extLst>
                <a:ext uri="{FF2B5EF4-FFF2-40B4-BE49-F238E27FC236}">
                  <a16:creationId xmlns:a16="http://schemas.microsoft.com/office/drawing/2014/main" id="{319933F2-D681-94EA-863A-67E68521AA09}"/>
                </a:ext>
              </a:extLst>
            </p:cNvPr>
            <p:cNvSpPr/>
            <p:nvPr/>
          </p:nvSpPr>
          <p:spPr>
            <a:xfrm>
              <a:off x="2057400" y="5394960"/>
              <a:ext cx="6492240" cy="585216"/>
            </a:xfrm>
            <a:prstGeom prst="roundRect">
              <a:avLst/>
            </a:prstGeom>
            <a:noFill/>
            <a:ln w="12700">
              <a:solidFill>
                <a:srgbClr val="051F5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160" dirty="0">
                <a:solidFill>
                  <a:srgbClr val="002060"/>
                </a:solidFill>
              </a:endParaRPr>
            </a:p>
          </p:txBody>
        </p:sp>
        <p:sp>
          <p:nvSpPr>
            <p:cNvPr id="117" name="TextBox 116">
              <a:extLst>
                <a:ext uri="{FF2B5EF4-FFF2-40B4-BE49-F238E27FC236}">
                  <a16:creationId xmlns:a16="http://schemas.microsoft.com/office/drawing/2014/main" id="{3C3E94EF-181A-C687-5DF7-3A05B3C13469}"/>
                </a:ext>
              </a:extLst>
            </p:cNvPr>
            <p:cNvSpPr txBox="1"/>
            <p:nvPr/>
          </p:nvSpPr>
          <p:spPr>
            <a:xfrm>
              <a:off x="2423160" y="5371719"/>
              <a:ext cx="5760720" cy="39395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square" lIns="32918" tIns="32918" rIns="32918" bIns="32918" anchor="ctr">
              <a:spAutoFit/>
            </a:bodyPr>
            <a:lstStyle/>
            <a:p>
              <a:pPr algn="ctr"/>
              <a:r>
                <a:rPr sz="1440" b="1" dirty="0">
                  <a:solidFill>
                    <a:srgbClr val="002060"/>
                  </a:solidFill>
                  <a:latin typeface="Arial"/>
                </a:rPr>
                <a:t>Integrated MVM </a:t>
              </a:r>
              <a:r>
                <a:rPr lang="en-US" sz="1440" b="1" dirty="0">
                  <a:solidFill>
                    <a:srgbClr val="002060"/>
                  </a:solidFill>
                  <a:latin typeface="Arial"/>
                </a:rPr>
                <a:t>&amp;</a:t>
              </a:r>
              <a:r>
                <a:rPr sz="1440" b="1" dirty="0">
                  <a:solidFill>
                    <a:srgbClr val="002060"/>
                  </a:solidFill>
                  <a:latin typeface="Arial"/>
                </a:rPr>
                <a:t> Reconciliation</a:t>
              </a:r>
            </a:p>
          </p:txBody>
        </p:sp>
        <p:sp>
          <p:nvSpPr>
            <p:cNvPr id="118" name="TextBox 117">
              <a:extLst>
                <a:ext uri="{FF2B5EF4-FFF2-40B4-BE49-F238E27FC236}">
                  <a16:creationId xmlns:a16="http://schemas.microsoft.com/office/drawing/2014/main" id="{B6433999-5D1E-54E1-CE38-807E7432D56E}"/>
                </a:ext>
              </a:extLst>
            </p:cNvPr>
            <p:cNvSpPr txBox="1"/>
            <p:nvPr/>
          </p:nvSpPr>
          <p:spPr>
            <a:xfrm>
              <a:off x="2456697" y="5710460"/>
              <a:ext cx="5760720" cy="282854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square" lIns="32918" tIns="32918" rIns="32918" bIns="32918" anchor="ctr">
              <a:spAutoFit/>
            </a:bodyPr>
            <a:lstStyle/>
            <a:p>
              <a:pPr algn="ctr"/>
              <a:r>
                <a:rPr lang="en-US" sz="912" dirty="0">
                  <a:solidFill>
                    <a:srgbClr val="002060"/>
                  </a:solidFill>
                  <a:latin typeface="Arial"/>
                </a:rPr>
                <a:t>ML training -&gt; </a:t>
              </a:r>
              <a:r>
                <a:rPr sz="912" dirty="0">
                  <a:solidFill>
                    <a:srgbClr val="002060"/>
                  </a:solidFill>
                  <a:latin typeface="Arial"/>
                </a:rPr>
                <a:t>Aligns all domains, </a:t>
              </a:r>
              <a:r>
                <a:rPr lang="en-US" sz="912" dirty="0">
                  <a:solidFill>
                    <a:srgbClr val="002060"/>
                  </a:solidFill>
                  <a:latin typeface="Arial"/>
                </a:rPr>
                <a:t>f</a:t>
              </a:r>
              <a:r>
                <a:rPr sz="912" dirty="0">
                  <a:solidFill>
                    <a:srgbClr val="002060"/>
                  </a:solidFill>
                  <a:latin typeface="Arial"/>
                </a:rPr>
                <a:t>its monthly / quarterly / yearly training data</a:t>
              </a:r>
              <a:r>
                <a:rPr lang="en-US" sz="912" dirty="0">
                  <a:solidFill>
                    <a:srgbClr val="002060"/>
                  </a:solidFill>
                  <a:latin typeface="Arial"/>
                </a:rPr>
                <a:t>, confidence + uncertainty</a:t>
              </a:r>
              <a:endParaRPr sz="912" dirty="0">
                <a:solidFill>
                  <a:srgbClr val="002060"/>
                </a:solidFill>
                <a:latin typeface="Arial"/>
              </a:endParaRPr>
            </a:p>
          </p:txBody>
        </p:sp>
      </p:grpSp>
      <p:sp>
        <p:nvSpPr>
          <p:cNvPr id="124" name="Rounded Rectangle 123">
            <a:extLst>
              <a:ext uri="{FF2B5EF4-FFF2-40B4-BE49-F238E27FC236}">
                <a16:creationId xmlns:a16="http://schemas.microsoft.com/office/drawing/2014/main" id="{47DC2CF8-8B3D-BDF2-0BC9-957EB4C60F1B}"/>
              </a:ext>
            </a:extLst>
          </p:cNvPr>
          <p:cNvSpPr/>
          <p:nvPr/>
        </p:nvSpPr>
        <p:spPr>
          <a:xfrm>
            <a:off x="4586258" y="7787338"/>
            <a:ext cx="1369456" cy="263347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17A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1946" rIns="54864" bIns="21946" rtlCol="0" anchor="ctr"/>
          <a:lstStyle/>
          <a:p>
            <a:pPr algn="ctr"/>
            <a:r>
              <a:rPr sz="996" b="1" dirty="0">
                <a:solidFill>
                  <a:srgbClr val="192337"/>
                </a:solidFill>
                <a:latin typeface="Arial"/>
              </a:rPr>
              <a:t>Waterfall Output</a:t>
            </a:r>
          </a:p>
        </p:txBody>
      </p:sp>
      <p:sp>
        <p:nvSpPr>
          <p:cNvPr id="125" name="Rounded Rectangle 124">
            <a:extLst>
              <a:ext uri="{FF2B5EF4-FFF2-40B4-BE49-F238E27FC236}">
                <a16:creationId xmlns:a16="http://schemas.microsoft.com/office/drawing/2014/main" id="{CBDEAECE-939B-200A-20E7-5D4170A8AA42}"/>
              </a:ext>
            </a:extLst>
          </p:cNvPr>
          <p:cNvSpPr/>
          <p:nvPr/>
        </p:nvSpPr>
        <p:spPr>
          <a:xfrm>
            <a:off x="6105837" y="7784003"/>
            <a:ext cx="1726890" cy="263347"/>
          </a:xfrm>
          <a:prstGeom prst="roundRect">
            <a:avLst/>
          </a:prstGeom>
          <a:solidFill>
            <a:schemeClr val="bg1">
              <a:lumMod val="50000"/>
            </a:schemeClr>
          </a:solidFill>
          <a:ln w="12700">
            <a:solidFill>
              <a:srgbClr val="717A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1946" rIns="54864" bIns="21946" rtlCol="0" anchor="ctr"/>
          <a:lstStyle/>
          <a:p>
            <a:pPr algn="ctr"/>
            <a:r>
              <a:rPr sz="996" b="1" dirty="0">
                <a:solidFill>
                  <a:srgbClr val="192337"/>
                </a:solidFill>
                <a:latin typeface="Arial"/>
              </a:rPr>
              <a:t>Domain Drill-Downs</a:t>
            </a:r>
          </a:p>
        </p:txBody>
      </p:sp>
      <p:sp>
        <p:nvSpPr>
          <p:cNvPr id="126" name="Rounded Rectangle 125">
            <a:extLst>
              <a:ext uri="{FF2B5EF4-FFF2-40B4-BE49-F238E27FC236}">
                <a16:creationId xmlns:a16="http://schemas.microsoft.com/office/drawing/2014/main" id="{57B98060-1152-7E8E-7CB3-7D190A675C7F}"/>
              </a:ext>
            </a:extLst>
          </p:cNvPr>
          <p:cNvSpPr/>
          <p:nvPr/>
        </p:nvSpPr>
        <p:spPr>
          <a:xfrm>
            <a:off x="8008732" y="7805088"/>
            <a:ext cx="1726890" cy="263347"/>
          </a:xfrm>
          <a:prstGeom prst="roundRect">
            <a:avLst/>
          </a:prstGeom>
          <a:solidFill>
            <a:schemeClr val="bg1">
              <a:lumMod val="50000"/>
            </a:schemeClr>
          </a:solidFill>
          <a:ln w="12700">
            <a:solidFill>
              <a:srgbClr val="717A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1946" rIns="54864" bIns="21946" rtlCol="0" anchor="ctr"/>
          <a:lstStyle/>
          <a:p>
            <a:pPr algn="ctr"/>
            <a:r>
              <a:rPr sz="996" b="1" dirty="0">
                <a:solidFill>
                  <a:srgbClr val="192337"/>
                </a:solidFill>
                <a:latin typeface="Arial"/>
              </a:rPr>
              <a:t>Confidence</a:t>
            </a:r>
            <a:r>
              <a:rPr lang="en-US" sz="996" b="1" dirty="0">
                <a:solidFill>
                  <a:srgbClr val="192337"/>
                </a:solidFill>
                <a:latin typeface="Arial"/>
              </a:rPr>
              <a:t> </a:t>
            </a:r>
          </a:p>
          <a:p>
            <a:pPr algn="ctr"/>
            <a:r>
              <a:rPr lang="en-US" sz="996" b="1" dirty="0">
                <a:solidFill>
                  <a:srgbClr val="192337"/>
                </a:solidFill>
                <a:latin typeface="Arial"/>
              </a:rPr>
              <a:t>Uncertainty</a:t>
            </a:r>
            <a:endParaRPr sz="996" b="1" dirty="0">
              <a:solidFill>
                <a:srgbClr val="192337"/>
              </a:solidFill>
              <a:latin typeface="Arial"/>
            </a:endParaRPr>
          </a:p>
        </p:txBody>
      </p:sp>
      <p:sp>
        <p:nvSpPr>
          <p:cNvPr id="136" name="Rounded Rectangle 6">
            <a:extLst>
              <a:ext uri="{FF2B5EF4-FFF2-40B4-BE49-F238E27FC236}">
                <a16:creationId xmlns:a16="http://schemas.microsoft.com/office/drawing/2014/main" id="{FAA43FF9-EE6F-7071-8BD4-9B5572B4B757}"/>
              </a:ext>
            </a:extLst>
          </p:cNvPr>
          <p:cNvSpPr/>
          <p:nvPr/>
        </p:nvSpPr>
        <p:spPr>
          <a:xfrm>
            <a:off x="3036253" y="1473809"/>
            <a:ext cx="510020" cy="15480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18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1946" rIns="54864" bIns="21946" rtlCol="0" anchor="ctr"/>
          <a:lstStyle/>
          <a:p>
            <a:pPr algn="ctr"/>
            <a:r>
              <a:rPr lang="en-US" sz="864" b="1" dirty="0">
                <a:solidFill>
                  <a:srgbClr val="192337"/>
                </a:solidFill>
                <a:latin typeface="Arial"/>
              </a:rPr>
              <a:t>Speed</a:t>
            </a:r>
            <a:endParaRPr sz="864" b="1" dirty="0">
              <a:solidFill>
                <a:srgbClr val="192337"/>
              </a:solidFill>
              <a:latin typeface="Arial"/>
            </a:endParaRPr>
          </a:p>
        </p:txBody>
      </p:sp>
      <p:sp>
        <p:nvSpPr>
          <p:cNvPr id="138" name="Rounded Rectangle 6">
            <a:extLst>
              <a:ext uri="{FF2B5EF4-FFF2-40B4-BE49-F238E27FC236}">
                <a16:creationId xmlns:a16="http://schemas.microsoft.com/office/drawing/2014/main" id="{C0492343-66B6-C9D2-E1BA-DCFCFA269C7F}"/>
              </a:ext>
            </a:extLst>
          </p:cNvPr>
          <p:cNvSpPr/>
          <p:nvPr/>
        </p:nvSpPr>
        <p:spPr>
          <a:xfrm>
            <a:off x="3577792" y="1473809"/>
            <a:ext cx="510020" cy="15480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18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1946" rIns="54864" bIns="21946" rtlCol="0" anchor="ctr"/>
          <a:lstStyle/>
          <a:p>
            <a:pPr algn="ctr"/>
            <a:r>
              <a:rPr lang="en-US" sz="864" b="1" dirty="0">
                <a:solidFill>
                  <a:srgbClr val="192337"/>
                </a:solidFill>
                <a:latin typeface="Arial"/>
              </a:rPr>
              <a:t>Supply</a:t>
            </a:r>
            <a:endParaRPr sz="864" b="1" dirty="0">
              <a:solidFill>
                <a:srgbClr val="192337"/>
              </a:solidFill>
              <a:latin typeface="Arial"/>
            </a:endParaRPr>
          </a:p>
        </p:txBody>
      </p:sp>
      <p:sp>
        <p:nvSpPr>
          <p:cNvPr id="140" name="Rounded Rectangle 6">
            <a:extLst>
              <a:ext uri="{FF2B5EF4-FFF2-40B4-BE49-F238E27FC236}">
                <a16:creationId xmlns:a16="http://schemas.microsoft.com/office/drawing/2014/main" id="{18AD5461-6B3A-502E-9401-18B395602FAB}"/>
              </a:ext>
            </a:extLst>
          </p:cNvPr>
          <p:cNvSpPr/>
          <p:nvPr/>
        </p:nvSpPr>
        <p:spPr>
          <a:xfrm>
            <a:off x="3048087" y="1690090"/>
            <a:ext cx="510020" cy="15480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18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1946" rIns="54864" bIns="21946" rtlCol="0" anchor="ctr"/>
          <a:lstStyle/>
          <a:p>
            <a:pPr algn="ctr"/>
            <a:r>
              <a:rPr lang="en-US" sz="864" b="1" dirty="0">
                <a:solidFill>
                  <a:srgbClr val="192337"/>
                </a:solidFill>
                <a:latin typeface="Arial"/>
              </a:rPr>
              <a:t>Tech</a:t>
            </a:r>
            <a:endParaRPr sz="864" b="1" dirty="0">
              <a:solidFill>
                <a:srgbClr val="192337"/>
              </a:solidFill>
              <a:latin typeface="Arial"/>
            </a:endParaRPr>
          </a:p>
        </p:txBody>
      </p:sp>
      <p:sp>
        <p:nvSpPr>
          <p:cNvPr id="142" name="Rounded Rectangle 6">
            <a:extLst>
              <a:ext uri="{FF2B5EF4-FFF2-40B4-BE49-F238E27FC236}">
                <a16:creationId xmlns:a16="http://schemas.microsoft.com/office/drawing/2014/main" id="{92CC7155-3B99-C165-A1F3-C25AEE123B6E}"/>
              </a:ext>
            </a:extLst>
          </p:cNvPr>
          <p:cNvSpPr/>
          <p:nvPr/>
        </p:nvSpPr>
        <p:spPr>
          <a:xfrm>
            <a:off x="3577792" y="1679095"/>
            <a:ext cx="510020" cy="15480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18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1946" rIns="54864" bIns="21946" rtlCol="0" anchor="ctr"/>
          <a:lstStyle/>
          <a:p>
            <a:pPr algn="ctr"/>
            <a:r>
              <a:rPr lang="en-US" sz="864" b="1" dirty="0">
                <a:solidFill>
                  <a:srgbClr val="192337"/>
                </a:solidFill>
                <a:latin typeface="Arial"/>
              </a:rPr>
              <a:t>CSAT</a:t>
            </a:r>
            <a:endParaRPr sz="864" b="1" dirty="0">
              <a:solidFill>
                <a:srgbClr val="192337"/>
              </a:solidFill>
              <a:latin typeface="Arial"/>
            </a:endParaRPr>
          </a:p>
        </p:txBody>
      </p:sp>
      <p:sp>
        <p:nvSpPr>
          <p:cNvPr id="144" name="Rounded Rectangle 6">
            <a:extLst>
              <a:ext uri="{FF2B5EF4-FFF2-40B4-BE49-F238E27FC236}">
                <a16:creationId xmlns:a16="http://schemas.microsoft.com/office/drawing/2014/main" id="{760F35D6-907D-AB16-7441-244E8B4A8B83}"/>
              </a:ext>
            </a:extLst>
          </p:cNvPr>
          <p:cNvSpPr/>
          <p:nvPr/>
        </p:nvSpPr>
        <p:spPr>
          <a:xfrm>
            <a:off x="3364470" y="1871279"/>
            <a:ext cx="510020" cy="15480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18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1946" rIns="54864" bIns="21946" rtlCol="0" anchor="ctr"/>
          <a:lstStyle/>
          <a:p>
            <a:pPr algn="ctr"/>
            <a:r>
              <a:rPr lang="en-US" sz="864" b="1" dirty="0">
                <a:solidFill>
                  <a:srgbClr val="192337"/>
                </a:solidFill>
                <a:latin typeface="Arial"/>
              </a:rPr>
              <a:t>Crew</a:t>
            </a:r>
            <a:endParaRPr sz="864" b="1" dirty="0">
              <a:solidFill>
                <a:srgbClr val="192337"/>
              </a:solidFill>
              <a:latin typeface="Arial"/>
            </a:endParaRPr>
          </a:p>
        </p:txBody>
      </p:sp>
      <p:sp>
        <p:nvSpPr>
          <p:cNvPr id="146" name="Rounded Rectangle 6">
            <a:extLst>
              <a:ext uri="{FF2B5EF4-FFF2-40B4-BE49-F238E27FC236}">
                <a16:creationId xmlns:a16="http://schemas.microsoft.com/office/drawing/2014/main" id="{3CF422FB-15A0-CBD9-8F86-CA70856BD3A8}"/>
              </a:ext>
            </a:extLst>
          </p:cNvPr>
          <p:cNvSpPr/>
          <p:nvPr/>
        </p:nvSpPr>
        <p:spPr>
          <a:xfrm>
            <a:off x="4253613" y="1483876"/>
            <a:ext cx="510020" cy="15480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18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1946" rIns="54864" bIns="21946" rtlCol="0" anchor="ctr"/>
          <a:lstStyle/>
          <a:p>
            <a:pPr algn="ctr"/>
            <a:r>
              <a:rPr lang="en-US" sz="864" b="1" dirty="0">
                <a:solidFill>
                  <a:srgbClr val="192337"/>
                </a:solidFill>
                <a:latin typeface="Arial"/>
              </a:rPr>
              <a:t>Pricing</a:t>
            </a:r>
            <a:endParaRPr sz="864" b="1" dirty="0">
              <a:solidFill>
                <a:srgbClr val="192337"/>
              </a:solidFill>
              <a:latin typeface="Arial"/>
            </a:endParaRPr>
          </a:p>
        </p:txBody>
      </p:sp>
      <p:sp>
        <p:nvSpPr>
          <p:cNvPr id="148" name="Rounded Rectangle 6">
            <a:extLst>
              <a:ext uri="{FF2B5EF4-FFF2-40B4-BE49-F238E27FC236}">
                <a16:creationId xmlns:a16="http://schemas.microsoft.com/office/drawing/2014/main" id="{6FBEA25E-1D75-7802-FC0F-6D8C3A124FEC}"/>
              </a:ext>
            </a:extLst>
          </p:cNvPr>
          <p:cNvSpPr/>
          <p:nvPr/>
        </p:nvSpPr>
        <p:spPr>
          <a:xfrm>
            <a:off x="4795153" y="1483876"/>
            <a:ext cx="510020" cy="15480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18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1946" rIns="54864" bIns="21946" rtlCol="0" anchor="ctr"/>
          <a:lstStyle/>
          <a:p>
            <a:pPr algn="ctr"/>
            <a:r>
              <a:rPr lang="en-US" sz="864" b="1" dirty="0">
                <a:solidFill>
                  <a:srgbClr val="192337"/>
                </a:solidFill>
                <a:latin typeface="Arial"/>
              </a:rPr>
              <a:t>Menu</a:t>
            </a:r>
            <a:endParaRPr sz="864" b="1" dirty="0">
              <a:solidFill>
                <a:srgbClr val="192337"/>
              </a:solidFill>
              <a:latin typeface="Arial"/>
            </a:endParaRPr>
          </a:p>
        </p:txBody>
      </p:sp>
      <p:sp>
        <p:nvSpPr>
          <p:cNvPr id="150" name="Rounded Rectangle 6">
            <a:extLst>
              <a:ext uri="{FF2B5EF4-FFF2-40B4-BE49-F238E27FC236}">
                <a16:creationId xmlns:a16="http://schemas.microsoft.com/office/drawing/2014/main" id="{5802E74F-2CD6-1E01-882A-956C4B2AC4A2}"/>
              </a:ext>
            </a:extLst>
          </p:cNvPr>
          <p:cNvSpPr/>
          <p:nvPr/>
        </p:nvSpPr>
        <p:spPr>
          <a:xfrm>
            <a:off x="4265448" y="1700157"/>
            <a:ext cx="510020" cy="15480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18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1946" rIns="54864" bIns="21946" rtlCol="0" anchor="ctr"/>
          <a:lstStyle/>
          <a:p>
            <a:pPr algn="ctr"/>
            <a:r>
              <a:rPr lang="en-US" sz="864" b="1" dirty="0">
                <a:solidFill>
                  <a:srgbClr val="192337"/>
                </a:solidFill>
                <a:latin typeface="Arial"/>
              </a:rPr>
              <a:t>Media</a:t>
            </a:r>
            <a:endParaRPr sz="864" b="1" dirty="0">
              <a:solidFill>
                <a:srgbClr val="192337"/>
              </a:solidFill>
              <a:latin typeface="Arial"/>
            </a:endParaRPr>
          </a:p>
        </p:txBody>
      </p:sp>
      <p:sp>
        <p:nvSpPr>
          <p:cNvPr id="152" name="Rounded Rectangle 6">
            <a:extLst>
              <a:ext uri="{FF2B5EF4-FFF2-40B4-BE49-F238E27FC236}">
                <a16:creationId xmlns:a16="http://schemas.microsoft.com/office/drawing/2014/main" id="{B7E991BD-9CF1-3231-43CD-6680632EA740}"/>
              </a:ext>
            </a:extLst>
          </p:cNvPr>
          <p:cNvSpPr/>
          <p:nvPr/>
        </p:nvSpPr>
        <p:spPr>
          <a:xfrm>
            <a:off x="4795153" y="1689161"/>
            <a:ext cx="510020" cy="15480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18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1946" rIns="54864" bIns="21946" rtlCol="0" anchor="ctr"/>
          <a:lstStyle/>
          <a:p>
            <a:pPr algn="ctr"/>
            <a:r>
              <a:rPr lang="en-US" sz="864" b="1" dirty="0">
                <a:solidFill>
                  <a:srgbClr val="192337"/>
                </a:solidFill>
                <a:latin typeface="Arial"/>
              </a:rPr>
              <a:t>Promo</a:t>
            </a:r>
            <a:endParaRPr sz="864" b="1" dirty="0">
              <a:solidFill>
                <a:srgbClr val="192337"/>
              </a:solidFill>
              <a:latin typeface="Arial"/>
            </a:endParaRPr>
          </a:p>
        </p:txBody>
      </p:sp>
      <p:sp>
        <p:nvSpPr>
          <p:cNvPr id="154" name="Rounded Rectangle 6">
            <a:extLst>
              <a:ext uri="{FF2B5EF4-FFF2-40B4-BE49-F238E27FC236}">
                <a16:creationId xmlns:a16="http://schemas.microsoft.com/office/drawing/2014/main" id="{C749A893-B436-52CB-89FB-E5A01A06F6F8}"/>
              </a:ext>
            </a:extLst>
          </p:cNvPr>
          <p:cNvSpPr/>
          <p:nvPr/>
        </p:nvSpPr>
        <p:spPr>
          <a:xfrm>
            <a:off x="4234950" y="1881346"/>
            <a:ext cx="510020" cy="15480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18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1946" rIns="54864" bIns="21946" rtlCol="0" anchor="ctr"/>
          <a:lstStyle/>
          <a:p>
            <a:pPr algn="ctr"/>
            <a:r>
              <a:rPr lang="en-US" sz="864" b="1" dirty="0">
                <a:solidFill>
                  <a:srgbClr val="192337"/>
                </a:solidFill>
                <a:latin typeface="Arial"/>
              </a:rPr>
              <a:t>Loyalty</a:t>
            </a:r>
            <a:endParaRPr sz="864" b="1" dirty="0">
              <a:solidFill>
                <a:srgbClr val="192337"/>
              </a:solidFill>
              <a:latin typeface="Arial"/>
            </a:endParaRPr>
          </a:p>
        </p:txBody>
      </p:sp>
      <p:sp>
        <p:nvSpPr>
          <p:cNvPr id="156" name="Rounded Rectangle 6">
            <a:extLst>
              <a:ext uri="{FF2B5EF4-FFF2-40B4-BE49-F238E27FC236}">
                <a16:creationId xmlns:a16="http://schemas.microsoft.com/office/drawing/2014/main" id="{4FF7705E-B4F1-7FD7-4AE3-B40200C0028A}"/>
              </a:ext>
            </a:extLst>
          </p:cNvPr>
          <p:cNvSpPr/>
          <p:nvPr/>
        </p:nvSpPr>
        <p:spPr>
          <a:xfrm>
            <a:off x="4783157" y="1888787"/>
            <a:ext cx="591377" cy="14736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18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1946" rIns="54864" bIns="21946" rtlCol="0" anchor="ctr"/>
          <a:lstStyle/>
          <a:p>
            <a:pPr algn="ctr"/>
            <a:r>
              <a:rPr lang="en-US" sz="864" b="1" dirty="0">
                <a:solidFill>
                  <a:srgbClr val="192337"/>
                </a:solidFill>
                <a:latin typeface="Arial"/>
              </a:rPr>
              <a:t>Delivery</a:t>
            </a:r>
            <a:endParaRPr sz="864" b="1" dirty="0">
              <a:solidFill>
                <a:srgbClr val="192337"/>
              </a:solidFill>
              <a:latin typeface="Arial"/>
            </a:endParaRPr>
          </a:p>
        </p:txBody>
      </p:sp>
      <p:sp>
        <p:nvSpPr>
          <p:cNvPr id="40" name="Rounded Rectangle 39">
            <a:extLst>
              <a:ext uri="{FF2B5EF4-FFF2-40B4-BE49-F238E27FC236}">
                <a16:creationId xmlns:a16="http://schemas.microsoft.com/office/drawing/2014/main" id="{7AF0AF09-BF49-DB6F-ED6A-FF52A5630F27}"/>
              </a:ext>
            </a:extLst>
          </p:cNvPr>
          <p:cNvSpPr/>
          <p:nvPr/>
        </p:nvSpPr>
        <p:spPr>
          <a:xfrm>
            <a:off x="2967286" y="2438273"/>
            <a:ext cx="6325819" cy="3291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17A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1946" rIns="54864" bIns="21946" rtlCol="0" anchor="ctr"/>
          <a:lstStyle/>
          <a:p>
            <a:pPr algn="ctr"/>
            <a:r>
              <a:rPr sz="972" dirty="0">
                <a:solidFill>
                  <a:srgbClr val="192337"/>
                </a:solidFill>
                <a:latin typeface="Arial"/>
              </a:rPr>
              <a:t>Feature</a:t>
            </a:r>
            <a:r>
              <a:rPr lang="en-US" sz="972" dirty="0">
                <a:solidFill>
                  <a:srgbClr val="192337"/>
                </a:solidFill>
                <a:latin typeface="Arial"/>
              </a:rPr>
              <a:t> </a:t>
            </a:r>
            <a:r>
              <a:rPr sz="972" dirty="0">
                <a:solidFill>
                  <a:srgbClr val="192337"/>
                </a:solidFill>
                <a:latin typeface="Arial"/>
              </a:rPr>
              <a:t>Store</a:t>
            </a:r>
            <a:endParaRPr lang="en-US" sz="972" dirty="0">
              <a:solidFill>
                <a:srgbClr val="192337"/>
              </a:solidFill>
              <a:latin typeface="Arial"/>
            </a:endParaRPr>
          </a:p>
          <a:p>
            <a:pPr algn="ctr"/>
            <a:r>
              <a:rPr lang="en-US" sz="972" dirty="0">
                <a:solidFill>
                  <a:srgbClr val="192337"/>
                </a:solidFill>
                <a:latin typeface="Arial"/>
              </a:rPr>
              <a:t>Topline KPIs + Features</a:t>
            </a:r>
            <a:endParaRPr sz="972" dirty="0">
              <a:solidFill>
                <a:srgbClr val="192337"/>
              </a:solidFill>
              <a:latin typeface="Arial"/>
            </a:endParaRPr>
          </a:p>
        </p:txBody>
      </p:sp>
      <p:sp>
        <p:nvSpPr>
          <p:cNvPr id="158" name="Rounded Rectangle 59">
            <a:extLst>
              <a:ext uri="{FF2B5EF4-FFF2-40B4-BE49-F238E27FC236}">
                <a16:creationId xmlns:a16="http://schemas.microsoft.com/office/drawing/2014/main" id="{4A66B333-764F-10CB-CA88-79CD867783C2}"/>
              </a:ext>
            </a:extLst>
          </p:cNvPr>
          <p:cNvSpPr/>
          <p:nvPr/>
        </p:nvSpPr>
        <p:spPr>
          <a:xfrm>
            <a:off x="5430412" y="2829636"/>
            <a:ext cx="653150" cy="37307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C5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1946" rIns="54864" bIns="21946" rtlCol="0" anchor="ctr"/>
          <a:lstStyle/>
          <a:p>
            <a:pPr algn="ctr"/>
            <a:r>
              <a:rPr lang="en-US" sz="852" dirty="0">
                <a:solidFill>
                  <a:srgbClr val="192337"/>
                </a:solidFill>
                <a:latin typeface="Arial"/>
              </a:rPr>
              <a:t>CSAT:</a:t>
            </a:r>
          </a:p>
          <a:p>
            <a:pPr algn="ctr"/>
            <a:r>
              <a:rPr lang="en-US" sz="852" dirty="0">
                <a:solidFill>
                  <a:srgbClr val="192337"/>
                </a:solidFill>
                <a:latin typeface="Arial"/>
              </a:rPr>
              <a:t>OSAT, sentiment</a:t>
            </a:r>
            <a:endParaRPr sz="852" dirty="0">
              <a:solidFill>
                <a:srgbClr val="192337"/>
              </a:solidFill>
              <a:latin typeface="Arial"/>
            </a:endParaRPr>
          </a:p>
        </p:txBody>
      </p:sp>
      <p:sp>
        <p:nvSpPr>
          <p:cNvPr id="160" name="Rounded Rectangle 59">
            <a:extLst>
              <a:ext uri="{FF2B5EF4-FFF2-40B4-BE49-F238E27FC236}">
                <a16:creationId xmlns:a16="http://schemas.microsoft.com/office/drawing/2014/main" id="{3659617C-208A-DC9E-8C85-0388A67B280A}"/>
              </a:ext>
            </a:extLst>
          </p:cNvPr>
          <p:cNvSpPr/>
          <p:nvPr/>
        </p:nvSpPr>
        <p:spPr>
          <a:xfrm>
            <a:off x="6137513" y="2836951"/>
            <a:ext cx="653150" cy="373075"/>
          </a:xfrm>
          <a:prstGeom prst="roundRect">
            <a:avLst/>
          </a:prstGeom>
          <a:solidFill>
            <a:schemeClr val="bg1">
              <a:lumMod val="50000"/>
            </a:schemeClr>
          </a:solidFill>
          <a:ln w="12700">
            <a:solidFill>
              <a:srgbClr val="1C5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1946" rIns="54864" bIns="21946" rtlCol="0" anchor="ctr"/>
          <a:lstStyle/>
          <a:p>
            <a:pPr algn="ctr"/>
            <a:r>
              <a:rPr lang="en-US" sz="852" dirty="0">
                <a:solidFill>
                  <a:srgbClr val="192337"/>
                </a:solidFill>
                <a:latin typeface="Arial"/>
              </a:rPr>
              <a:t>Crew:</a:t>
            </a:r>
          </a:p>
          <a:p>
            <a:pPr algn="ctr"/>
            <a:r>
              <a:rPr lang="en-US" sz="852" dirty="0">
                <a:solidFill>
                  <a:srgbClr val="192337"/>
                </a:solidFill>
                <a:latin typeface="Arial"/>
              </a:rPr>
              <a:t>OSAT</a:t>
            </a:r>
          </a:p>
          <a:p>
            <a:pPr algn="ctr"/>
            <a:r>
              <a:rPr lang="en-US" sz="852" dirty="0">
                <a:solidFill>
                  <a:srgbClr val="192337"/>
                </a:solidFill>
                <a:latin typeface="Arial"/>
              </a:rPr>
              <a:t>Coverage</a:t>
            </a:r>
            <a:endParaRPr sz="852" dirty="0">
              <a:solidFill>
                <a:srgbClr val="192337"/>
              </a:solidFill>
              <a:latin typeface="Arial"/>
            </a:endParaRPr>
          </a:p>
        </p:txBody>
      </p:sp>
      <p:sp>
        <p:nvSpPr>
          <p:cNvPr id="162" name="Rounded Rectangle 59">
            <a:extLst>
              <a:ext uri="{FF2B5EF4-FFF2-40B4-BE49-F238E27FC236}">
                <a16:creationId xmlns:a16="http://schemas.microsoft.com/office/drawing/2014/main" id="{FA983831-08AE-50AB-CB02-8B300505179D}"/>
              </a:ext>
            </a:extLst>
          </p:cNvPr>
          <p:cNvSpPr/>
          <p:nvPr/>
        </p:nvSpPr>
        <p:spPr>
          <a:xfrm>
            <a:off x="6843293" y="2833294"/>
            <a:ext cx="653150" cy="37307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C5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1946" rIns="54864" bIns="21946" rtlCol="0" anchor="ctr"/>
          <a:lstStyle/>
          <a:p>
            <a:pPr algn="ctr"/>
            <a:r>
              <a:rPr lang="en-US" sz="852" dirty="0">
                <a:solidFill>
                  <a:srgbClr val="192337"/>
                </a:solidFill>
                <a:latin typeface="Arial"/>
              </a:rPr>
              <a:t>Pricing:</a:t>
            </a:r>
          </a:p>
          <a:p>
            <a:pPr algn="ctr"/>
            <a:r>
              <a:rPr lang="en-US" sz="852" dirty="0">
                <a:solidFill>
                  <a:srgbClr val="192337"/>
                </a:solidFill>
                <a:latin typeface="Arial"/>
              </a:rPr>
              <a:t>Adoption rate</a:t>
            </a:r>
            <a:endParaRPr sz="852" dirty="0">
              <a:solidFill>
                <a:srgbClr val="192337"/>
              </a:solidFill>
              <a:latin typeface="Arial"/>
            </a:endParaRPr>
          </a:p>
        </p:txBody>
      </p:sp>
      <p:sp>
        <p:nvSpPr>
          <p:cNvPr id="164" name="Rounded Rectangle 59">
            <a:extLst>
              <a:ext uri="{FF2B5EF4-FFF2-40B4-BE49-F238E27FC236}">
                <a16:creationId xmlns:a16="http://schemas.microsoft.com/office/drawing/2014/main" id="{3FA1504A-1754-2C41-EC83-06853050DD0F}"/>
              </a:ext>
            </a:extLst>
          </p:cNvPr>
          <p:cNvSpPr/>
          <p:nvPr/>
        </p:nvSpPr>
        <p:spPr>
          <a:xfrm>
            <a:off x="7556525" y="2833294"/>
            <a:ext cx="721596" cy="37307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C5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1946" rIns="54864" bIns="21946" rtlCol="0" anchor="ctr"/>
          <a:lstStyle/>
          <a:p>
            <a:pPr algn="ctr"/>
            <a:r>
              <a:rPr lang="en-US" sz="852" dirty="0">
                <a:solidFill>
                  <a:srgbClr val="192337"/>
                </a:solidFill>
                <a:latin typeface="Arial"/>
              </a:rPr>
              <a:t>Menu:</a:t>
            </a:r>
          </a:p>
          <a:p>
            <a:pPr algn="ctr"/>
            <a:r>
              <a:rPr lang="en-US" sz="852" dirty="0">
                <a:solidFill>
                  <a:srgbClr val="192337"/>
                </a:solidFill>
                <a:latin typeface="Arial"/>
              </a:rPr>
              <a:t>Core / Value items</a:t>
            </a:r>
            <a:endParaRPr sz="852" dirty="0">
              <a:solidFill>
                <a:srgbClr val="192337"/>
              </a:solidFill>
              <a:latin typeface="Arial"/>
            </a:endParaRPr>
          </a:p>
        </p:txBody>
      </p:sp>
      <p:sp>
        <p:nvSpPr>
          <p:cNvPr id="166" name="Rounded Rectangle 59">
            <a:extLst>
              <a:ext uri="{FF2B5EF4-FFF2-40B4-BE49-F238E27FC236}">
                <a16:creationId xmlns:a16="http://schemas.microsoft.com/office/drawing/2014/main" id="{85ADAB54-F7FD-F9F5-6905-6739CB7406A6}"/>
              </a:ext>
            </a:extLst>
          </p:cNvPr>
          <p:cNvSpPr/>
          <p:nvPr/>
        </p:nvSpPr>
        <p:spPr>
          <a:xfrm>
            <a:off x="8376876" y="2814585"/>
            <a:ext cx="721596" cy="37307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C5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1946" rIns="54864" bIns="21946" rtlCol="0" anchor="ctr"/>
          <a:lstStyle/>
          <a:p>
            <a:pPr algn="ctr"/>
            <a:r>
              <a:rPr lang="en-US" sz="852" dirty="0">
                <a:solidFill>
                  <a:srgbClr val="192337"/>
                </a:solidFill>
                <a:latin typeface="Arial"/>
              </a:rPr>
              <a:t>Media:</a:t>
            </a:r>
          </a:p>
          <a:p>
            <a:pPr algn="ctr"/>
            <a:r>
              <a:rPr lang="en-US" sz="852" dirty="0">
                <a:solidFill>
                  <a:srgbClr val="192337"/>
                </a:solidFill>
                <a:latin typeface="Arial"/>
              </a:rPr>
              <a:t>Base spend</a:t>
            </a:r>
            <a:endParaRPr sz="852" dirty="0">
              <a:solidFill>
                <a:srgbClr val="192337"/>
              </a:solidFill>
              <a:latin typeface="Arial"/>
            </a:endParaRPr>
          </a:p>
        </p:txBody>
      </p:sp>
      <p:sp>
        <p:nvSpPr>
          <p:cNvPr id="168" name="TextBox 167">
            <a:extLst>
              <a:ext uri="{FF2B5EF4-FFF2-40B4-BE49-F238E27FC236}">
                <a16:creationId xmlns:a16="http://schemas.microsoft.com/office/drawing/2014/main" id="{C3213F3A-C423-4657-18EB-BA07D07D29DD}"/>
              </a:ext>
            </a:extLst>
          </p:cNvPr>
          <p:cNvSpPr txBox="1"/>
          <p:nvPr/>
        </p:nvSpPr>
        <p:spPr>
          <a:xfrm>
            <a:off x="9073649" y="2760131"/>
            <a:ext cx="438912" cy="380411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32918" tIns="32918" rIns="32918" bIns="32918" anchor="ctr">
            <a:spAutoFit/>
          </a:bodyPr>
          <a:lstStyle/>
          <a:p>
            <a:pPr algn="ctr"/>
            <a:r>
              <a:rPr sz="2040" dirty="0">
                <a:solidFill>
                  <a:srgbClr val="192337"/>
                </a:solidFill>
                <a:latin typeface="Arial"/>
              </a:rPr>
              <a:t>…</a:t>
            </a:r>
          </a:p>
        </p:txBody>
      </p:sp>
      <p:sp>
        <p:nvSpPr>
          <p:cNvPr id="170" name="Rounded Rectangle 39">
            <a:extLst>
              <a:ext uri="{FF2B5EF4-FFF2-40B4-BE49-F238E27FC236}">
                <a16:creationId xmlns:a16="http://schemas.microsoft.com/office/drawing/2014/main" id="{C5F0304E-B2EF-3116-024F-D0F82EF071C4}"/>
              </a:ext>
            </a:extLst>
          </p:cNvPr>
          <p:cNvSpPr/>
          <p:nvPr/>
        </p:nvSpPr>
        <p:spPr>
          <a:xfrm>
            <a:off x="9391051" y="2438273"/>
            <a:ext cx="3363972" cy="33512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17A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1946" rIns="54864" bIns="21946" rtlCol="0" anchor="ctr"/>
          <a:lstStyle/>
          <a:p>
            <a:pPr algn="ctr"/>
            <a:r>
              <a:rPr lang="en-US" sz="972" dirty="0">
                <a:solidFill>
                  <a:srgbClr val="192337"/>
                </a:solidFill>
                <a:latin typeface="Arial"/>
              </a:rPr>
              <a:t>Training datasets</a:t>
            </a:r>
            <a:endParaRPr sz="972" dirty="0">
              <a:solidFill>
                <a:srgbClr val="192337"/>
              </a:solidFill>
              <a:latin typeface="Arial"/>
            </a:endParaRPr>
          </a:p>
        </p:txBody>
      </p:sp>
      <p:sp>
        <p:nvSpPr>
          <p:cNvPr id="172" name="Rounded Rectangle 57">
            <a:extLst>
              <a:ext uri="{FF2B5EF4-FFF2-40B4-BE49-F238E27FC236}">
                <a16:creationId xmlns:a16="http://schemas.microsoft.com/office/drawing/2014/main" id="{CE1603E7-A97C-B65B-9E5B-00D526AFD130}"/>
              </a:ext>
            </a:extLst>
          </p:cNvPr>
          <p:cNvSpPr/>
          <p:nvPr/>
        </p:nvSpPr>
        <p:spPr>
          <a:xfrm>
            <a:off x="9569359" y="2811348"/>
            <a:ext cx="2966208" cy="373075"/>
          </a:xfrm>
          <a:prstGeom prst="roundRect">
            <a:avLst/>
          </a:prstGeom>
          <a:solidFill>
            <a:srgbClr val="FFFFFF"/>
          </a:solidFill>
          <a:ln w="12700"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1946" rIns="54864" bIns="21946" rtlCol="0" anchor="ctr"/>
          <a:lstStyle/>
          <a:p>
            <a:pPr algn="ctr"/>
            <a:r>
              <a:rPr lang="en-US" sz="852" dirty="0">
                <a:solidFill>
                  <a:srgbClr val="192337"/>
                </a:solidFill>
                <a:latin typeface="Arial"/>
              </a:rPr>
              <a:t>3-year restaurant weekly historical performance</a:t>
            </a:r>
          </a:p>
        </p:txBody>
      </p:sp>
      <p:grpSp>
        <p:nvGrpSpPr>
          <p:cNvPr id="178" name="Group 177">
            <a:extLst>
              <a:ext uri="{FF2B5EF4-FFF2-40B4-BE49-F238E27FC236}">
                <a16:creationId xmlns:a16="http://schemas.microsoft.com/office/drawing/2014/main" id="{C320363F-21C0-4DBB-CEB3-6F1C1309895F}"/>
              </a:ext>
            </a:extLst>
          </p:cNvPr>
          <p:cNvGrpSpPr/>
          <p:nvPr/>
        </p:nvGrpSpPr>
        <p:grpSpPr>
          <a:xfrm>
            <a:off x="2851728" y="3787926"/>
            <a:ext cx="827761" cy="1719062"/>
            <a:chOff x="370600" y="2916936"/>
            <a:chExt cx="810589" cy="1645920"/>
          </a:xfrm>
          <a:solidFill>
            <a:schemeClr val="bg1">
              <a:lumMod val="50000"/>
            </a:schemeClr>
          </a:solidFill>
        </p:grpSpPr>
        <p:sp>
          <p:nvSpPr>
            <p:cNvPr id="43" name="Rounded Rectangle 42">
              <a:extLst>
                <a:ext uri="{FF2B5EF4-FFF2-40B4-BE49-F238E27FC236}">
                  <a16:creationId xmlns:a16="http://schemas.microsoft.com/office/drawing/2014/main" id="{78ABD794-3D09-71D3-8E70-0F2BA45F30F0}"/>
                </a:ext>
              </a:extLst>
            </p:cNvPr>
            <p:cNvSpPr/>
            <p:nvPr/>
          </p:nvSpPr>
          <p:spPr>
            <a:xfrm>
              <a:off x="410590" y="2916936"/>
              <a:ext cx="717965" cy="1645920"/>
            </a:xfrm>
            <a:prstGeom prst="roundRect">
              <a:avLst/>
            </a:prstGeom>
            <a:grpFill/>
            <a:ln w="12700">
              <a:solidFill>
                <a:srgbClr val="717A8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160"/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52889264-8DF2-15F1-1721-96CBEE34D5F8}"/>
                </a:ext>
              </a:extLst>
            </p:cNvPr>
            <p:cNvSpPr txBox="1"/>
            <p:nvPr/>
          </p:nvSpPr>
          <p:spPr>
            <a:xfrm>
              <a:off x="370600" y="3130599"/>
              <a:ext cx="810589" cy="770886"/>
            </a:xfrm>
            <a:prstGeom prst="rect">
              <a:avLst/>
            </a:prstGeom>
            <a:grpFill/>
            <a:ln>
              <a:noFill/>
            </a:ln>
            <a:effectLst/>
          </p:spPr>
          <p:txBody>
            <a:bodyPr wrap="square" lIns="32918" tIns="32918" rIns="32918" bIns="32918" anchor="ctr">
              <a:spAutoFit/>
            </a:bodyPr>
            <a:lstStyle/>
            <a:p>
              <a:pPr algn="ctr"/>
              <a:r>
                <a:rPr sz="960" b="1" dirty="0">
                  <a:solidFill>
                    <a:srgbClr val="051F50"/>
                  </a:solidFill>
                  <a:latin typeface="Arial"/>
                </a:rPr>
                <a:t>Evidence </a:t>
              </a:r>
              <a:endParaRPr lang="en-US" sz="960" b="1" dirty="0">
                <a:solidFill>
                  <a:srgbClr val="051F50"/>
                </a:solidFill>
                <a:latin typeface="Arial"/>
              </a:endParaRPr>
            </a:p>
            <a:p>
              <a:pPr algn="ctr"/>
              <a:r>
                <a:rPr sz="960" b="1" dirty="0">
                  <a:solidFill>
                    <a:srgbClr val="051F50"/>
                  </a:solidFill>
                  <a:latin typeface="Arial"/>
                </a:rPr>
                <a:t>&amp; </a:t>
              </a:r>
              <a:endParaRPr lang="en-US" sz="960" b="1" dirty="0">
                <a:solidFill>
                  <a:srgbClr val="051F50"/>
                </a:solidFill>
                <a:latin typeface="Arial"/>
              </a:endParaRPr>
            </a:p>
            <a:p>
              <a:pPr algn="ctr"/>
              <a:r>
                <a:rPr sz="960" b="1" dirty="0">
                  <a:solidFill>
                    <a:srgbClr val="051F50"/>
                  </a:solidFill>
                  <a:latin typeface="Arial"/>
                </a:rPr>
                <a:t>Business</a:t>
              </a:r>
              <a:endParaRPr lang="en-US" sz="960" b="1" dirty="0">
                <a:solidFill>
                  <a:srgbClr val="051F50"/>
                </a:solidFill>
                <a:latin typeface="Arial"/>
              </a:endParaRPr>
            </a:p>
            <a:p>
              <a:pPr algn="ctr"/>
              <a:r>
                <a:rPr lang="en-US" sz="960" b="1" dirty="0">
                  <a:solidFill>
                    <a:srgbClr val="051F50"/>
                  </a:solidFill>
                  <a:latin typeface="Arial"/>
                </a:rPr>
                <a:t>Knowledge</a:t>
              </a:r>
              <a:r>
                <a:rPr sz="960" b="1" dirty="0">
                  <a:solidFill>
                    <a:srgbClr val="051F50"/>
                  </a:solidFill>
                  <a:latin typeface="Arial"/>
                </a:rPr>
                <a:t>
Repositories</a:t>
              </a:r>
            </a:p>
          </p:txBody>
        </p:sp>
      </p:grpSp>
      <p:cxnSp>
        <p:nvCxnSpPr>
          <p:cNvPr id="188" name="Straight Arrow Connector 187">
            <a:extLst>
              <a:ext uri="{FF2B5EF4-FFF2-40B4-BE49-F238E27FC236}">
                <a16:creationId xmlns:a16="http://schemas.microsoft.com/office/drawing/2014/main" id="{0D067883-EAAC-64D7-FAA0-8440391A64C9}"/>
              </a:ext>
            </a:extLst>
          </p:cNvPr>
          <p:cNvCxnSpPr>
            <a:cxnSpLocks/>
          </p:cNvCxnSpPr>
          <p:nvPr/>
        </p:nvCxnSpPr>
        <p:spPr>
          <a:xfrm flipH="1">
            <a:off x="6285872" y="3853764"/>
            <a:ext cx="599910" cy="0"/>
          </a:xfrm>
          <a:prstGeom prst="straightConnector1">
            <a:avLst/>
          </a:prstGeom>
          <a:ln w="6350">
            <a:solidFill>
              <a:schemeClr val="bg1">
                <a:lumMod val="50000"/>
              </a:schemeClr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1" name="Straight Arrow Connector 190">
            <a:extLst>
              <a:ext uri="{FF2B5EF4-FFF2-40B4-BE49-F238E27FC236}">
                <a16:creationId xmlns:a16="http://schemas.microsoft.com/office/drawing/2014/main" id="{351075CE-FAD9-D20A-5ED3-23E9966947AD}"/>
              </a:ext>
            </a:extLst>
          </p:cNvPr>
          <p:cNvCxnSpPr>
            <a:cxnSpLocks/>
          </p:cNvCxnSpPr>
          <p:nvPr/>
        </p:nvCxnSpPr>
        <p:spPr>
          <a:xfrm flipV="1">
            <a:off x="7733741" y="3826332"/>
            <a:ext cx="558096" cy="1829"/>
          </a:xfrm>
          <a:prstGeom prst="straightConnector1">
            <a:avLst/>
          </a:prstGeom>
          <a:ln w="6350">
            <a:solidFill>
              <a:schemeClr val="bg1">
                <a:lumMod val="50000"/>
              </a:schemeClr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2" name="Connector 85">
            <a:extLst>
              <a:ext uri="{FF2B5EF4-FFF2-40B4-BE49-F238E27FC236}">
                <a16:creationId xmlns:a16="http://schemas.microsoft.com/office/drawing/2014/main" id="{7FA0B907-298D-F81E-479B-430E6B1E1F38}"/>
              </a:ext>
            </a:extLst>
          </p:cNvPr>
          <p:cNvCxnSpPr>
            <a:cxnSpLocks/>
          </p:cNvCxnSpPr>
          <p:nvPr/>
        </p:nvCxnSpPr>
        <p:spPr>
          <a:xfrm>
            <a:off x="9015127" y="4673815"/>
            <a:ext cx="0" cy="76062"/>
          </a:xfrm>
          <a:prstGeom prst="line">
            <a:avLst/>
          </a:prstGeom>
          <a:ln w="10160">
            <a:solidFill>
              <a:srgbClr val="1C5DD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3" name="Connector 85">
            <a:extLst>
              <a:ext uri="{FF2B5EF4-FFF2-40B4-BE49-F238E27FC236}">
                <a16:creationId xmlns:a16="http://schemas.microsoft.com/office/drawing/2014/main" id="{49B4914B-5679-ED8E-3C38-0E7371395E66}"/>
              </a:ext>
            </a:extLst>
          </p:cNvPr>
          <p:cNvCxnSpPr>
            <a:cxnSpLocks/>
          </p:cNvCxnSpPr>
          <p:nvPr/>
        </p:nvCxnSpPr>
        <p:spPr>
          <a:xfrm>
            <a:off x="9015127" y="5079808"/>
            <a:ext cx="0" cy="76062"/>
          </a:xfrm>
          <a:prstGeom prst="line">
            <a:avLst/>
          </a:prstGeom>
          <a:ln w="10160">
            <a:solidFill>
              <a:srgbClr val="1C5DD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04" name="Group 203">
            <a:extLst>
              <a:ext uri="{FF2B5EF4-FFF2-40B4-BE49-F238E27FC236}">
                <a16:creationId xmlns:a16="http://schemas.microsoft.com/office/drawing/2014/main" id="{277A8F1A-0C6E-BD49-BC00-52AE3698653B}"/>
              </a:ext>
            </a:extLst>
          </p:cNvPr>
          <p:cNvGrpSpPr/>
          <p:nvPr/>
        </p:nvGrpSpPr>
        <p:grpSpPr>
          <a:xfrm>
            <a:off x="9956959" y="3979701"/>
            <a:ext cx="678398" cy="1447534"/>
            <a:chOff x="370600" y="2916936"/>
            <a:chExt cx="810589" cy="1645920"/>
          </a:xfrm>
          <a:solidFill>
            <a:schemeClr val="bg1">
              <a:lumMod val="50000"/>
            </a:schemeClr>
          </a:solidFill>
        </p:grpSpPr>
        <p:sp>
          <p:nvSpPr>
            <p:cNvPr id="205" name="Rounded Rectangle 42">
              <a:extLst>
                <a:ext uri="{FF2B5EF4-FFF2-40B4-BE49-F238E27FC236}">
                  <a16:creationId xmlns:a16="http://schemas.microsoft.com/office/drawing/2014/main" id="{2F0FE1CB-65D4-7C03-9F29-977450FCD1EE}"/>
                </a:ext>
              </a:extLst>
            </p:cNvPr>
            <p:cNvSpPr/>
            <p:nvPr/>
          </p:nvSpPr>
          <p:spPr>
            <a:xfrm>
              <a:off x="410590" y="2916936"/>
              <a:ext cx="717965" cy="1645920"/>
            </a:xfrm>
            <a:prstGeom prst="roundRect">
              <a:avLst/>
            </a:prstGeom>
            <a:grpFill/>
            <a:ln w="12700">
              <a:solidFill>
                <a:srgbClr val="717A8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160"/>
            </a:p>
          </p:txBody>
        </p:sp>
        <p:sp>
          <p:nvSpPr>
            <p:cNvPr id="206" name="TextBox 205">
              <a:extLst>
                <a:ext uri="{FF2B5EF4-FFF2-40B4-BE49-F238E27FC236}">
                  <a16:creationId xmlns:a16="http://schemas.microsoft.com/office/drawing/2014/main" id="{90918E13-C617-0C7B-F5D3-A59CD18E616A}"/>
                </a:ext>
              </a:extLst>
            </p:cNvPr>
            <p:cNvSpPr txBox="1"/>
            <p:nvPr/>
          </p:nvSpPr>
          <p:spPr>
            <a:xfrm>
              <a:off x="370600" y="3226280"/>
              <a:ext cx="810589" cy="579529"/>
            </a:xfrm>
            <a:prstGeom prst="rect">
              <a:avLst/>
            </a:prstGeom>
            <a:grpFill/>
            <a:ln>
              <a:noFill/>
            </a:ln>
            <a:effectLst/>
          </p:spPr>
          <p:txBody>
            <a:bodyPr wrap="square" lIns="32918" tIns="32918" rIns="32918" bIns="32918" anchor="ctr">
              <a:spAutoFit/>
            </a:bodyPr>
            <a:lstStyle/>
            <a:p>
              <a:pPr algn="ctr"/>
              <a:r>
                <a:rPr lang="en-US" sz="960" b="1" dirty="0">
                  <a:solidFill>
                    <a:srgbClr val="051F50"/>
                  </a:solidFill>
                  <a:latin typeface="Arial"/>
                </a:rPr>
                <a:t>Causal Inference Capability</a:t>
              </a:r>
              <a:endParaRPr sz="960" b="1" dirty="0">
                <a:solidFill>
                  <a:srgbClr val="051F50"/>
                </a:solidFill>
                <a:latin typeface="Arial"/>
              </a:endParaRPr>
            </a:p>
          </p:txBody>
        </p:sp>
      </p:grpSp>
      <p:cxnSp>
        <p:nvCxnSpPr>
          <p:cNvPr id="208" name="Connector 111">
            <a:extLst>
              <a:ext uri="{FF2B5EF4-FFF2-40B4-BE49-F238E27FC236}">
                <a16:creationId xmlns:a16="http://schemas.microsoft.com/office/drawing/2014/main" id="{E18A6B56-2D98-6ADD-A45C-7799ED9B288E}"/>
              </a:ext>
            </a:extLst>
          </p:cNvPr>
          <p:cNvCxnSpPr/>
          <p:nvPr/>
        </p:nvCxnSpPr>
        <p:spPr>
          <a:xfrm>
            <a:off x="4383458" y="2083506"/>
            <a:ext cx="0" cy="285293"/>
          </a:xfrm>
          <a:prstGeom prst="line">
            <a:avLst/>
          </a:prstGeom>
          <a:ln w="11430">
            <a:solidFill>
              <a:srgbClr val="051F5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9" name="Connector 111">
            <a:extLst>
              <a:ext uri="{FF2B5EF4-FFF2-40B4-BE49-F238E27FC236}">
                <a16:creationId xmlns:a16="http://schemas.microsoft.com/office/drawing/2014/main" id="{F488CEC8-DD33-3EE0-871B-C8257F704178}"/>
              </a:ext>
            </a:extLst>
          </p:cNvPr>
          <p:cNvCxnSpPr/>
          <p:nvPr/>
        </p:nvCxnSpPr>
        <p:spPr>
          <a:xfrm>
            <a:off x="8886299" y="2109089"/>
            <a:ext cx="0" cy="285293"/>
          </a:xfrm>
          <a:prstGeom prst="line">
            <a:avLst/>
          </a:prstGeom>
          <a:ln w="11430">
            <a:solidFill>
              <a:srgbClr val="051F5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0" name="Connector 111">
            <a:extLst>
              <a:ext uri="{FF2B5EF4-FFF2-40B4-BE49-F238E27FC236}">
                <a16:creationId xmlns:a16="http://schemas.microsoft.com/office/drawing/2014/main" id="{7EA99DC1-E0F8-238D-178D-E1643366BBC0}"/>
              </a:ext>
            </a:extLst>
          </p:cNvPr>
          <p:cNvCxnSpPr/>
          <p:nvPr/>
        </p:nvCxnSpPr>
        <p:spPr>
          <a:xfrm>
            <a:off x="11306614" y="2080720"/>
            <a:ext cx="0" cy="285293"/>
          </a:xfrm>
          <a:prstGeom prst="line">
            <a:avLst/>
          </a:prstGeom>
          <a:ln w="11430">
            <a:solidFill>
              <a:srgbClr val="051F5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4" name="Rounded Rectangle 6">
            <a:extLst>
              <a:ext uri="{FF2B5EF4-FFF2-40B4-BE49-F238E27FC236}">
                <a16:creationId xmlns:a16="http://schemas.microsoft.com/office/drawing/2014/main" id="{5A301C04-D1DA-8208-9E5C-B430EFD16CCD}"/>
              </a:ext>
            </a:extLst>
          </p:cNvPr>
          <p:cNvSpPr/>
          <p:nvPr/>
        </p:nvSpPr>
        <p:spPr>
          <a:xfrm>
            <a:off x="2997705" y="6294333"/>
            <a:ext cx="510020" cy="15480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18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1946" rIns="54864" bIns="21946" rtlCol="0" anchor="ctr"/>
          <a:lstStyle/>
          <a:p>
            <a:pPr algn="ctr"/>
            <a:r>
              <a:rPr lang="en-US" sz="864" b="1" dirty="0">
                <a:solidFill>
                  <a:srgbClr val="192337"/>
                </a:solidFill>
                <a:latin typeface="Arial"/>
              </a:rPr>
              <a:t>Speed</a:t>
            </a:r>
            <a:endParaRPr sz="864" b="1" dirty="0">
              <a:solidFill>
                <a:srgbClr val="192337"/>
              </a:solidFill>
              <a:latin typeface="Arial"/>
            </a:endParaRPr>
          </a:p>
        </p:txBody>
      </p:sp>
      <p:sp>
        <p:nvSpPr>
          <p:cNvPr id="216" name="Rounded Rectangle 6">
            <a:extLst>
              <a:ext uri="{FF2B5EF4-FFF2-40B4-BE49-F238E27FC236}">
                <a16:creationId xmlns:a16="http://schemas.microsoft.com/office/drawing/2014/main" id="{6897F304-77D1-72D7-41FB-427C2D7CB5F7}"/>
              </a:ext>
            </a:extLst>
          </p:cNvPr>
          <p:cNvSpPr/>
          <p:nvPr/>
        </p:nvSpPr>
        <p:spPr>
          <a:xfrm>
            <a:off x="3539245" y="6294333"/>
            <a:ext cx="510020" cy="15480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18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1946" rIns="54864" bIns="21946" rtlCol="0" anchor="ctr"/>
          <a:lstStyle/>
          <a:p>
            <a:pPr algn="ctr"/>
            <a:r>
              <a:rPr lang="en-US" sz="864" b="1" dirty="0">
                <a:solidFill>
                  <a:srgbClr val="192337"/>
                </a:solidFill>
                <a:latin typeface="Arial"/>
              </a:rPr>
              <a:t>Supply</a:t>
            </a:r>
            <a:endParaRPr sz="864" b="1" dirty="0">
              <a:solidFill>
                <a:srgbClr val="192337"/>
              </a:solidFill>
              <a:latin typeface="Arial"/>
            </a:endParaRPr>
          </a:p>
        </p:txBody>
      </p:sp>
      <p:sp>
        <p:nvSpPr>
          <p:cNvPr id="218" name="Rounded Rectangle 6">
            <a:extLst>
              <a:ext uri="{FF2B5EF4-FFF2-40B4-BE49-F238E27FC236}">
                <a16:creationId xmlns:a16="http://schemas.microsoft.com/office/drawing/2014/main" id="{0E04425F-E8ED-6DBA-5570-B7F68027D1F8}"/>
              </a:ext>
            </a:extLst>
          </p:cNvPr>
          <p:cNvSpPr/>
          <p:nvPr/>
        </p:nvSpPr>
        <p:spPr>
          <a:xfrm>
            <a:off x="4138958" y="6305329"/>
            <a:ext cx="510020" cy="15480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18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1946" rIns="54864" bIns="21946" rtlCol="0" anchor="ctr"/>
          <a:lstStyle/>
          <a:p>
            <a:pPr algn="ctr"/>
            <a:r>
              <a:rPr lang="en-US" sz="864" b="1" dirty="0">
                <a:solidFill>
                  <a:srgbClr val="192337"/>
                </a:solidFill>
                <a:latin typeface="Arial"/>
              </a:rPr>
              <a:t>Tech</a:t>
            </a:r>
            <a:endParaRPr sz="864" b="1" dirty="0">
              <a:solidFill>
                <a:srgbClr val="192337"/>
              </a:solidFill>
              <a:latin typeface="Arial"/>
            </a:endParaRPr>
          </a:p>
        </p:txBody>
      </p:sp>
      <p:sp>
        <p:nvSpPr>
          <p:cNvPr id="220" name="Rounded Rectangle 6">
            <a:extLst>
              <a:ext uri="{FF2B5EF4-FFF2-40B4-BE49-F238E27FC236}">
                <a16:creationId xmlns:a16="http://schemas.microsoft.com/office/drawing/2014/main" id="{B337CC5F-D438-98E4-5723-5FD59802C257}"/>
              </a:ext>
            </a:extLst>
          </p:cNvPr>
          <p:cNvSpPr/>
          <p:nvPr/>
        </p:nvSpPr>
        <p:spPr>
          <a:xfrm>
            <a:off x="4668663" y="6294333"/>
            <a:ext cx="510020" cy="15480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18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1946" rIns="54864" bIns="21946" rtlCol="0" anchor="ctr"/>
          <a:lstStyle/>
          <a:p>
            <a:pPr algn="ctr"/>
            <a:r>
              <a:rPr lang="en-US" sz="864" b="1" dirty="0">
                <a:solidFill>
                  <a:srgbClr val="192337"/>
                </a:solidFill>
                <a:latin typeface="Arial"/>
              </a:rPr>
              <a:t>CSAT</a:t>
            </a:r>
            <a:endParaRPr sz="864" b="1" dirty="0">
              <a:solidFill>
                <a:srgbClr val="192337"/>
              </a:solidFill>
              <a:latin typeface="Arial"/>
            </a:endParaRPr>
          </a:p>
        </p:txBody>
      </p:sp>
      <p:sp>
        <p:nvSpPr>
          <p:cNvPr id="222" name="Rounded Rectangle 6">
            <a:extLst>
              <a:ext uri="{FF2B5EF4-FFF2-40B4-BE49-F238E27FC236}">
                <a16:creationId xmlns:a16="http://schemas.microsoft.com/office/drawing/2014/main" id="{ADDEC40E-264A-9A3A-B2FD-2E72BFC1B776}"/>
              </a:ext>
            </a:extLst>
          </p:cNvPr>
          <p:cNvSpPr/>
          <p:nvPr/>
        </p:nvSpPr>
        <p:spPr>
          <a:xfrm>
            <a:off x="5245376" y="6287945"/>
            <a:ext cx="510020" cy="15480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18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1946" rIns="54864" bIns="21946" rtlCol="0" anchor="ctr"/>
          <a:lstStyle/>
          <a:p>
            <a:pPr algn="ctr"/>
            <a:r>
              <a:rPr lang="en-US" sz="864" b="1" dirty="0">
                <a:solidFill>
                  <a:srgbClr val="192337"/>
                </a:solidFill>
                <a:latin typeface="Arial"/>
              </a:rPr>
              <a:t>Crew</a:t>
            </a:r>
            <a:endParaRPr sz="864" b="1" dirty="0">
              <a:solidFill>
                <a:srgbClr val="192337"/>
              </a:solidFill>
              <a:latin typeface="Arial"/>
            </a:endParaRPr>
          </a:p>
        </p:txBody>
      </p:sp>
      <p:sp>
        <p:nvSpPr>
          <p:cNvPr id="224" name="Rounded Rectangle 6">
            <a:extLst>
              <a:ext uri="{FF2B5EF4-FFF2-40B4-BE49-F238E27FC236}">
                <a16:creationId xmlns:a16="http://schemas.microsoft.com/office/drawing/2014/main" id="{92D7452C-9F83-41B2-14E3-77C67219C15B}"/>
              </a:ext>
            </a:extLst>
          </p:cNvPr>
          <p:cNvSpPr/>
          <p:nvPr/>
        </p:nvSpPr>
        <p:spPr>
          <a:xfrm>
            <a:off x="3003000" y="6549260"/>
            <a:ext cx="510020" cy="15480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18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1946" rIns="54864" bIns="21946" rtlCol="0" anchor="ctr"/>
          <a:lstStyle/>
          <a:p>
            <a:pPr algn="ctr"/>
            <a:r>
              <a:rPr lang="en-US" sz="864" b="1" dirty="0">
                <a:solidFill>
                  <a:srgbClr val="192337"/>
                </a:solidFill>
                <a:latin typeface="Arial"/>
              </a:rPr>
              <a:t>Pricing</a:t>
            </a:r>
            <a:endParaRPr sz="864" b="1" dirty="0">
              <a:solidFill>
                <a:srgbClr val="192337"/>
              </a:solidFill>
              <a:latin typeface="Arial"/>
            </a:endParaRPr>
          </a:p>
        </p:txBody>
      </p:sp>
      <p:sp>
        <p:nvSpPr>
          <p:cNvPr id="226" name="Rounded Rectangle 6">
            <a:extLst>
              <a:ext uri="{FF2B5EF4-FFF2-40B4-BE49-F238E27FC236}">
                <a16:creationId xmlns:a16="http://schemas.microsoft.com/office/drawing/2014/main" id="{DAC24C1B-BE59-F3BD-CFA6-99C3336618DA}"/>
              </a:ext>
            </a:extLst>
          </p:cNvPr>
          <p:cNvSpPr/>
          <p:nvPr/>
        </p:nvSpPr>
        <p:spPr>
          <a:xfrm>
            <a:off x="3544539" y="6549260"/>
            <a:ext cx="510020" cy="15480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18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1946" rIns="54864" bIns="21946" rtlCol="0" anchor="ctr"/>
          <a:lstStyle/>
          <a:p>
            <a:pPr algn="ctr"/>
            <a:r>
              <a:rPr lang="en-US" sz="864" b="1" dirty="0">
                <a:solidFill>
                  <a:srgbClr val="192337"/>
                </a:solidFill>
                <a:latin typeface="Arial"/>
              </a:rPr>
              <a:t>Menu</a:t>
            </a:r>
            <a:endParaRPr sz="864" b="1" dirty="0">
              <a:solidFill>
                <a:srgbClr val="192337"/>
              </a:solidFill>
              <a:latin typeface="Arial"/>
            </a:endParaRPr>
          </a:p>
        </p:txBody>
      </p:sp>
      <p:sp>
        <p:nvSpPr>
          <p:cNvPr id="228" name="Rounded Rectangle 6">
            <a:extLst>
              <a:ext uri="{FF2B5EF4-FFF2-40B4-BE49-F238E27FC236}">
                <a16:creationId xmlns:a16="http://schemas.microsoft.com/office/drawing/2014/main" id="{4E109AE7-91C7-35FB-2444-039C6E8C61E3}"/>
              </a:ext>
            </a:extLst>
          </p:cNvPr>
          <p:cNvSpPr/>
          <p:nvPr/>
        </p:nvSpPr>
        <p:spPr>
          <a:xfrm>
            <a:off x="4152864" y="6540543"/>
            <a:ext cx="510020" cy="15480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18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1946" rIns="54864" bIns="21946" rtlCol="0" anchor="ctr"/>
          <a:lstStyle/>
          <a:p>
            <a:pPr algn="ctr"/>
            <a:r>
              <a:rPr lang="en-US" sz="864" b="1" dirty="0">
                <a:solidFill>
                  <a:srgbClr val="192337"/>
                </a:solidFill>
                <a:latin typeface="Arial"/>
              </a:rPr>
              <a:t>Media</a:t>
            </a:r>
            <a:endParaRPr sz="864" b="1" dirty="0">
              <a:solidFill>
                <a:srgbClr val="192337"/>
              </a:solidFill>
              <a:latin typeface="Arial"/>
            </a:endParaRPr>
          </a:p>
        </p:txBody>
      </p:sp>
      <p:sp>
        <p:nvSpPr>
          <p:cNvPr id="230" name="Rounded Rectangle 6">
            <a:extLst>
              <a:ext uri="{FF2B5EF4-FFF2-40B4-BE49-F238E27FC236}">
                <a16:creationId xmlns:a16="http://schemas.microsoft.com/office/drawing/2014/main" id="{03E295BC-949D-9ECC-4D07-43433EB83BEF}"/>
              </a:ext>
            </a:extLst>
          </p:cNvPr>
          <p:cNvSpPr/>
          <p:nvPr/>
        </p:nvSpPr>
        <p:spPr>
          <a:xfrm>
            <a:off x="4682569" y="6529547"/>
            <a:ext cx="510020" cy="15480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18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1946" rIns="54864" bIns="21946" rtlCol="0" anchor="ctr"/>
          <a:lstStyle/>
          <a:p>
            <a:pPr algn="ctr"/>
            <a:r>
              <a:rPr lang="en-US" sz="864" b="1" dirty="0">
                <a:solidFill>
                  <a:srgbClr val="192337"/>
                </a:solidFill>
                <a:latin typeface="Arial"/>
              </a:rPr>
              <a:t>Promo</a:t>
            </a:r>
            <a:endParaRPr sz="864" b="1" dirty="0">
              <a:solidFill>
                <a:srgbClr val="192337"/>
              </a:solidFill>
              <a:latin typeface="Arial"/>
            </a:endParaRPr>
          </a:p>
        </p:txBody>
      </p:sp>
      <p:sp>
        <p:nvSpPr>
          <p:cNvPr id="232" name="Rounded Rectangle 6">
            <a:extLst>
              <a:ext uri="{FF2B5EF4-FFF2-40B4-BE49-F238E27FC236}">
                <a16:creationId xmlns:a16="http://schemas.microsoft.com/office/drawing/2014/main" id="{3A6C12A8-F86A-E0AF-7740-0BA65A9F2B84}"/>
              </a:ext>
            </a:extLst>
          </p:cNvPr>
          <p:cNvSpPr/>
          <p:nvPr/>
        </p:nvSpPr>
        <p:spPr>
          <a:xfrm>
            <a:off x="5239665" y="6522106"/>
            <a:ext cx="510020" cy="15480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18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1946" rIns="54864" bIns="21946" rtlCol="0" anchor="ctr"/>
          <a:lstStyle/>
          <a:p>
            <a:pPr algn="ctr"/>
            <a:r>
              <a:rPr lang="en-US" sz="864" b="1" dirty="0">
                <a:solidFill>
                  <a:srgbClr val="192337"/>
                </a:solidFill>
                <a:latin typeface="Arial"/>
              </a:rPr>
              <a:t>Loyalty</a:t>
            </a:r>
            <a:endParaRPr sz="864" b="1" dirty="0">
              <a:solidFill>
                <a:srgbClr val="192337"/>
              </a:solidFill>
              <a:latin typeface="Arial"/>
            </a:endParaRPr>
          </a:p>
        </p:txBody>
      </p:sp>
      <p:sp>
        <p:nvSpPr>
          <p:cNvPr id="234" name="Rounded Rectangle 6">
            <a:extLst>
              <a:ext uri="{FF2B5EF4-FFF2-40B4-BE49-F238E27FC236}">
                <a16:creationId xmlns:a16="http://schemas.microsoft.com/office/drawing/2014/main" id="{16441762-2536-7927-84ED-08A8453AAA68}"/>
              </a:ext>
            </a:extLst>
          </p:cNvPr>
          <p:cNvSpPr/>
          <p:nvPr/>
        </p:nvSpPr>
        <p:spPr>
          <a:xfrm>
            <a:off x="5787872" y="6529547"/>
            <a:ext cx="591377" cy="14736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18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1946" rIns="54864" bIns="21946" rtlCol="0" anchor="ctr"/>
          <a:lstStyle/>
          <a:p>
            <a:pPr algn="ctr"/>
            <a:r>
              <a:rPr lang="en-US" sz="864" b="1" dirty="0">
                <a:solidFill>
                  <a:srgbClr val="192337"/>
                </a:solidFill>
                <a:latin typeface="Arial"/>
              </a:rPr>
              <a:t>Delivery</a:t>
            </a:r>
            <a:endParaRPr sz="864" b="1" dirty="0">
              <a:solidFill>
                <a:srgbClr val="192337"/>
              </a:solidFill>
              <a:latin typeface="Arial"/>
            </a:endParaRPr>
          </a:p>
        </p:txBody>
      </p:sp>
      <p:sp>
        <p:nvSpPr>
          <p:cNvPr id="236" name="Rounded Rectangle 10">
            <a:extLst>
              <a:ext uri="{FF2B5EF4-FFF2-40B4-BE49-F238E27FC236}">
                <a16:creationId xmlns:a16="http://schemas.microsoft.com/office/drawing/2014/main" id="{EE68F550-E736-B070-C015-AC05C6B3CB35}"/>
              </a:ext>
            </a:extLst>
          </p:cNvPr>
          <p:cNvSpPr/>
          <p:nvPr/>
        </p:nvSpPr>
        <p:spPr>
          <a:xfrm>
            <a:off x="5836914" y="6287945"/>
            <a:ext cx="596218" cy="15480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5C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1946" rIns="54864" bIns="21946" rtlCol="0" anchor="ctr"/>
          <a:lstStyle/>
          <a:p>
            <a:pPr algn="ctr"/>
            <a:r>
              <a:rPr sz="864" b="1" dirty="0">
                <a:solidFill>
                  <a:srgbClr val="192337"/>
                </a:solidFill>
                <a:latin typeface="Arial"/>
              </a:rPr>
              <a:t>Weather</a:t>
            </a:r>
          </a:p>
        </p:txBody>
      </p:sp>
      <p:sp>
        <p:nvSpPr>
          <p:cNvPr id="238" name="Rounded Rectangle 11">
            <a:extLst>
              <a:ext uri="{FF2B5EF4-FFF2-40B4-BE49-F238E27FC236}">
                <a16:creationId xmlns:a16="http://schemas.microsoft.com/office/drawing/2014/main" id="{8790F66E-1CDF-CEE6-4ED8-797090F3FEB3}"/>
              </a:ext>
            </a:extLst>
          </p:cNvPr>
          <p:cNvSpPr/>
          <p:nvPr/>
        </p:nvSpPr>
        <p:spPr>
          <a:xfrm>
            <a:off x="6490441" y="6261864"/>
            <a:ext cx="502976" cy="1808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5C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1946" rIns="54864" bIns="21946" rtlCol="0" anchor="ctr"/>
          <a:lstStyle/>
          <a:p>
            <a:pPr algn="ctr"/>
            <a:r>
              <a:rPr lang="en-US" sz="864" b="1" dirty="0">
                <a:solidFill>
                  <a:srgbClr val="192337"/>
                </a:solidFill>
                <a:latin typeface="Arial"/>
              </a:rPr>
              <a:t>Macro</a:t>
            </a:r>
            <a:endParaRPr sz="864" b="1" dirty="0">
              <a:solidFill>
                <a:srgbClr val="192337"/>
              </a:solidFill>
              <a:latin typeface="Arial"/>
            </a:endParaRPr>
          </a:p>
        </p:txBody>
      </p:sp>
      <p:sp>
        <p:nvSpPr>
          <p:cNvPr id="240" name="Rounded Rectangle 12">
            <a:extLst>
              <a:ext uri="{FF2B5EF4-FFF2-40B4-BE49-F238E27FC236}">
                <a16:creationId xmlns:a16="http://schemas.microsoft.com/office/drawing/2014/main" id="{9EB8B273-5C78-D90A-E92D-3112B38B9EC2}"/>
              </a:ext>
            </a:extLst>
          </p:cNvPr>
          <p:cNvSpPr/>
          <p:nvPr/>
        </p:nvSpPr>
        <p:spPr>
          <a:xfrm>
            <a:off x="7080658" y="6261864"/>
            <a:ext cx="777136" cy="18727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5C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1946" rIns="54864" bIns="21946" rtlCol="0" anchor="ctr"/>
          <a:lstStyle/>
          <a:p>
            <a:pPr algn="ctr"/>
            <a:r>
              <a:rPr sz="864" b="1" dirty="0">
                <a:solidFill>
                  <a:srgbClr val="192337"/>
                </a:solidFill>
                <a:latin typeface="Arial"/>
              </a:rPr>
              <a:t>Competition</a:t>
            </a:r>
          </a:p>
        </p:txBody>
      </p:sp>
      <p:sp>
        <p:nvSpPr>
          <p:cNvPr id="242" name="Rounded Rectangle 13">
            <a:extLst>
              <a:ext uri="{FF2B5EF4-FFF2-40B4-BE49-F238E27FC236}">
                <a16:creationId xmlns:a16="http://schemas.microsoft.com/office/drawing/2014/main" id="{2B8DEA96-99ED-2CA5-4305-A651A8FC40EB}"/>
              </a:ext>
            </a:extLst>
          </p:cNvPr>
          <p:cNvSpPr/>
          <p:nvPr/>
        </p:nvSpPr>
        <p:spPr>
          <a:xfrm>
            <a:off x="7899559" y="6261864"/>
            <a:ext cx="603504" cy="19826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5C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1946" rIns="54864" bIns="21946" rtlCol="0" anchor="ctr"/>
          <a:lstStyle/>
          <a:p>
            <a:pPr algn="ctr"/>
            <a:r>
              <a:rPr lang="en-US" sz="864" b="1" dirty="0">
                <a:solidFill>
                  <a:srgbClr val="192337"/>
                </a:solidFill>
                <a:latin typeface="Arial"/>
              </a:rPr>
              <a:t>Industry</a:t>
            </a:r>
            <a:endParaRPr sz="864" b="1" dirty="0">
              <a:solidFill>
                <a:srgbClr val="192337"/>
              </a:solidFill>
              <a:latin typeface="Arial"/>
            </a:endParaRPr>
          </a:p>
        </p:txBody>
      </p:sp>
      <p:sp>
        <p:nvSpPr>
          <p:cNvPr id="244" name="Rounded Rectangle 16">
            <a:extLst>
              <a:ext uri="{FF2B5EF4-FFF2-40B4-BE49-F238E27FC236}">
                <a16:creationId xmlns:a16="http://schemas.microsoft.com/office/drawing/2014/main" id="{233BAC97-F180-1324-1FDB-250DA708E5DC}"/>
              </a:ext>
            </a:extLst>
          </p:cNvPr>
          <p:cNvSpPr/>
          <p:nvPr/>
        </p:nvSpPr>
        <p:spPr>
          <a:xfrm>
            <a:off x="6415593" y="6498210"/>
            <a:ext cx="578504" cy="16235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C5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1946" rIns="54864" bIns="21946" rtlCol="0" anchor="ctr"/>
          <a:lstStyle/>
          <a:p>
            <a:pPr algn="ctr"/>
            <a:r>
              <a:rPr sz="756" b="1">
                <a:solidFill>
                  <a:srgbClr val="192337"/>
                </a:solidFill>
                <a:latin typeface="Arial"/>
              </a:rPr>
              <a:t>Pricing</a:t>
            </a:r>
          </a:p>
        </p:txBody>
      </p:sp>
      <p:sp>
        <p:nvSpPr>
          <p:cNvPr id="246" name="Rounded Rectangle 17">
            <a:extLst>
              <a:ext uri="{FF2B5EF4-FFF2-40B4-BE49-F238E27FC236}">
                <a16:creationId xmlns:a16="http://schemas.microsoft.com/office/drawing/2014/main" id="{D71ECCA9-70A2-D8F1-AA3B-39C7F894A99C}"/>
              </a:ext>
            </a:extLst>
          </p:cNvPr>
          <p:cNvSpPr/>
          <p:nvPr/>
        </p:nvSpPr>
        <p:spPr>
          <a:xfrm>
            <a:off x="7009953" y="6498210"/>
            <a:ext cx="578504" cy="16235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C5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1946" rIns="54864" bIns="21946" rtlCol="0" anchor="ctr"/>
          <a:lstStyle/>
          <a:p>
            <a:pPr algn="ctr"/>
            <a:r>
              <a:rPr sz="756" b="1">
                <a:solidFill>
                  <a:srgbClr val="192337"/>
                </a:solidFill>
                <a:latin typeface="Arial"/>
              </a:rPr>
              <a:t>Promo</a:t>
            </a:r>
          </a:p>
        </p:txBody>
      </p:sp>
      <p:sp>
        <p:nvSpPr>
          <p:cNvPr id="248" name="Rounded Rectangle 18">
            <a:extLst>
              <a:ext uri="{FF2B5EF4-FFF2-40B4-BE49-F238E27FC236}">
                <a16:creationId xmlns:a16="http://schemas.microsoft.com/office/drawing/2014/main" id="{23816DF7-DF4A-97A3-389D-E3376A4F8F33}"/>
              </a:ext>
            </a:extLst>
          </p:cNvPr>
          <p:cNvSpPr/>
          <p:nvPr/>
        </p:nvSpPr>
        <p:spPr>
          <a:xfrm>
            <a:off x="7604313" y="6498210"/>
            <a:ext cx="578504" cy="16235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C5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1946" rIns="54864" bIns="21946" rtlCol="0" anchor="ctr"/>
          <a:lstStyle/>
          <a:p>
            <a:pPr algn="ctr"/>
            <a:r>
              <a:rPr sz="756" b="1">
                <a:solidFill>
                  <a:srgbClr val="192337"/>
                </a:solidFill>
                <a:latin typeface="Arial"/>
              </a:rPr>
              <a:t>Media</a:t>
            </a:r>
          </a:p>
        </p:txBody>
      </p:sp>
      <p:sp>
        <p:nvSpPr>
          <p:cNvPr id="250" name="Rounded Rectangle 19">
            <a:extLst>
              <a:ext uri="{FF2B5EF4-FFF2-40B4-BE49-F238E27FC236}">
                <a16:creationId xmlns:a16="http://schemas.microsoft.com/office/drawing/2014/main" id="{FEEC518E-35B5-1E8F-7513-47C3DC8E5BA1}"/>
              </a:ext>
            </a:extLst>
          </p:cNvPr>
          <p:cNvSpPr/>
          <p:nvPr/>
        </p:nvSpPr>
        <p:spPr>
          <a:xfrm>
            <a:off x="8223258" y="6498210"/>
            <a:ext cx="578504" cy="16235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C5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1946" rIns="54864" bIns="21946" rtlCol="0" anchor="ctr"/>
          <a:lstStyle/>
          <a:p>
            <a:pPr algn="ctr"/>
            <a:r>
              <a:rPr sz="756" b="1" dirty="0">
                <a:solidFill>
                  <a:srgbClr val="192337"/>
                </a:solidFill>
                <a:latin typeface="Arial"/>
              </a:rPr>
              <a:t>Menu</a:t>
            </a:r>
            <a:endParaRPr lang="en-US" sz="756" b="1" dirty="0">
              <a:solidFill>
                <a:srgbClr val="192337"/>
              </a:solidFill>
              <a:latin typeface="Arial"/>
            </a:endParaRPr>
          </a:p>
          <a:p>
            <a:pPr algn="ctr"/>
            <a:r>
              <a:rPr sz="756" b="1" dirty="0">
                <a:solidFill>
                  <a:srgbClr val="192337"/>
                </a:solidFill>
                <a:latin typeface="Arial"/>
              </a:rPr>
              <a:t>/</a:t>
            </a:r>
            <a:r>
              <a:rPr lang="en-US" sz="756" b="1" dirty="0">
                <a:solidFill>
                  <a:srgbClr val="192337"/>
                </a:solidFill>
                <a:latin typeface="Arial"/>
              </a:rPr>
              <a:t> </a:t>
            </a:r>
            <a:r>
              <a:rPr sz="756" b="1" dirty="0">
                <a:solidFill>
                  <a:srgbClr val="192337"/>
                </a:solidFill>
                <a:latin typeface="Arial"/>
              </a:rPr>
              <a:t>LTO</a:t>
            </a:r>
          </a:p>
        </p:txBody>
      </p:sp>
      <p:sp>
        <p:nvSpPr>
          <p:cNvPr id="252" name="Rounded Rectangle 20">
            <a:extLst>
              <a:ext uri="{FF2B5EF4-FFF2-40B4-BE49-F238E27FC236}">
                <a16:creationId xmlns:a16="http://schemas.microsoft.com/office/drawing/2014/main" id="{2A1A4423-BB03-A6DD-B182-C3AAC655A0D2}"/>
              </a:ext>
            </a:extLst>
          </p:cNvPr>
          <p:cNvSpPr/>
          <p:nvPr/>
        </p:nvSpPr>
        <p:spPr>
          <a:xfrm>
            <a:off x="8859183" y="6486048"/>
            <a:ext cx="578503" cy="174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C5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1946" rIns="54864" bIns="21946" rtlCol="0" anchor="ctr"/>
          <a:lstStyle/>
          <a:p>
            <a:pPr algn="ctr"/>
            <a:r>
              <a:rPr lang="en-US" sz="756" b="1" dirty="0">
                <a:solidFill>
                  <a:srgbClr val="192337"/>
                </a:solidFill>
                <a:latin typeface="Arial"/>
              </a:rPr>
              <a:t>Loyalty</a:t>
            </a:r>
            <a:endParaRPr sz="756" b="1" dirty="0">
              <a:solidFill>
                <a:srgbClr val="192337"/>
              </a:solidFill>
              <a:latin typeface="Arial"/>
            </a:endParaRPr>
          </a:p>
        </p:txBody>
      </p:sp>
      <p:sp>
        <p:nvSpPr>
          <p:cNvPr id="254" name="Rounded Rectangle 21">
            <a:extLst>
              <a:ext uri="{FF2B5EF4-FFF2-40B4-BE49-F238E27FC236}">
                <a16:creationId xmlns:a16="http://schemas.microsoft.com/office/drawing/2014/main" id="{040C73EC-5748-432C-229B-A953334C245C}"/>
              </a:ext>
            </a:extLst>
          </p:cNvPr>
          <p:cNvSpPr/>
          <p:nvPr/>
        </p:nvSpPr>
        <p:spPr>
          <a:xfrm>
            <a:off x="8585829" y="6276618"/>
            <a:ext cx="603035" cy="16235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C5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1946" rIns="54864" bIns="21946" rtlCol="0" anchor="ctr"/>
          <a:lstStyle/>
          <a:p>
            <a:pPr algn="ctr"/>
            <a:r>
              <a:rPr sz="756" b="1" dirty="0">
                <a:solidFill>
                  <a:srgbClr val="192337"/>
                </a:solidFill>
                <a:latin typeface="Arial"/>
              </a:rPr>
              <a:t>Delivery</a:t>
            </a:r>
          </a:p>
        </p:txBody>
      </p:sp>
      <p:cxnSp>
        <p:nvCxnSpPr>
          <p:cNvPr id="264" name="Straight Arrow Connector 263">
            <a:extLst>
              <a:ext uri="{FF2B5EF4-FFF2-40B4-BE49-F238E27FC236}">
                <a16:creationId xmlns:a16="http://schemas.microsoft.com/office/drawing/2014/main" id="{0E9E305A-1276-345E-C53D-3D5280FFC05E}"/>
              </a:ext>
            </a:extLst>
          </p:cNvPr>
          <p:cNvCxnSpPr/>
          <p:nvPr/>
        </p:nvCxnSpPr>
        <p:spPr>
          <a:xfrm>
            <a:off x="13190382" y="3316097"/>
            <a:ext cx="0" cy="3500323"/>
          </a:xfrm>
          <a:prstGeom prst="straightConnector1">
            <a:avLst/>
          </a:prstGeom>
          <a:ln w="9525">
            <a:solidFill>
              <a:schemeClr val="bg1">
                <a:lumMod val="50000"/>
              </a:schemeClr>
            </a:solidFill>
            <a:prstDash val="dash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5" name="Connector 110">
            <a:extLst>
              <a:ext uri="{FF2B5EF4-FFF2-40B4-BE49-F238E27FC236}">
                <a16:creationId xmlns:a16="http://schemas.microsoft.com/office/drawing/2014/main" id="{B391C54B-6B40-1CE4-1B7C-3E3BD45C6A4A}"/>
              </a:ext>
            </a:extLst>
          </p:cNvPr>
          <p:cNvCxnSpPr>
            <a:cxnSpLocks/>
          </p:cNvCxnSpPr>
          <p:nvPr/>
        </p:nvCxnSpPr>
        <p:spPr>
          <a:xfrm>
            <a:off x="7233124" y="6761843"/>
            <a:ext cx="0" cy="138078"/>
          </a:xfrm>
          <a:prstGeom prst="line">
            <a:avLst/>
          </a:prstGeom>
          <a:ln w="11430">
            <a:solidFill>
              <a:srgbClr val="051F5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8" name="Rounded Rectangle 115">
            <a:extLst>
              <a:ext uri="{FF2B5EF4-FFF2-40B4-BE49-F238E27FC236}">
                <a16:creationId xmlns:a16="http://schemas.microsoft.com/office/drawing/2014/main" id="{67284A3D-C2F3-1AE0-8881-87B001CAB8DE}"/>
              </a:ext>
            </a:extLst>
          </p:cNvPr>
          <p:cNvSpPr/>
          <p:nvPr/>
        </p:nvSpPr>
        <p:spPr>
          <a:xfrm>
            <a:off x="2802695" y="7453303"/>
            <a:ext cx="10518611" cy="651119"/>
          </a:xfrm>
          <a:prstGeom prst="roundRect">
            <a:avLst/>
          </a:prstGeom>
          <a:noFill/>
          <a:ln w="12700">
            <a:solidFill>
              <a:srgbClr val="051F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160" dirty="0">
              <a:solidFill>
                <a:srgbClr val="002060"/>
              </a:solidFill>
            </a:endParaRPr>
          </a:p>
        </p:txBody>
      </p:sp>
      <p:sp>
        <p:nvSpPr>
          <p:cNvPr id="270" name="TextBox 269">
            <a:extLst>
              <a:ext uri="{FF2B5EF4-FFF2-40B4-BE49-F238E27FC236}">
                <a16:creationId xmlns:a16="http://schemas.microsoft.com/office/drawing/2014/main" id="{EE23A7CC-263C-5E4C-F6F5-7D765A3302BC}"/>
              </a:ext>
            </a:extLst>
          </p:cNvPr>
          <p:cNvSpPr txBox="1"/>
          <p:nvPr/>
        </p:nvSpPr>
        <p:spPr>
          <a:xfrm>
            <a:off x="2896173" y="7484314"/>
            <a:ext cx="9269078" cy="288078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32918" tIns="32918" rIns="32918" bIns="32918" anchor="ctr">
            <a:spAutoFit/>
          </a:bodyPr>
          <a:lstStyle/>
          <a:p>
            <a:pPr algn="ctr"/>
            <a:r>
              <a:rPr lang="en-US" sz="1440" b="1" dirty="0">
                <a:solidFill>
                  <a:srgbClr val="002060"/>
                </a:solidFill>
                <a:latin typeface="Arial"/>
              </a:rPr>
              <a:t>Final Outputs</a:t>
            </a:r>
            <a:endParaRPr sz="1440" b="1" dirty="0">
              <a:solidFill>
                <a:srgbClr val="002060"/>
              </a:solidFill>
              <a:latin typeface="Arial"/>
            </a:endParaRPr>
          </a:p>
        </p:txBody>
      </p:sp>
      <p:sp>
        <p:nvSpPr>
          <p:cNvPr id="272" name="Rounded Rectangle 125">
            <a:extLst>
              <a:ext uri="{FF2B5EF4-FFF2-40B4-BE49-F238E27FC236}">
                <a16:creationId xmlns:a16="http://schemas.microsoft.com/office/drawing/2014/main" id="{58BF44CA-870C-ADDC-C755-DA43AFCD1334}"/>
              </a:ext>
            </a:extLst>
          </p:cNvPr>
          <p:cNvSpPr/>
          <p:nvPr/>
        </p:nvSpPr>
        <p:spPr>
          <a:xfrm>
            <a:off x="9885746" y="7784003"/>
            <a:ext cx="1726890" cy="263347"/>
          </a:xfrm>
          <a:prstGeom prst="roundRect">
            <a:avLst/>
          </a:prstGeom>
          <a:solidFill>
            <a:schemeClr val="bg1">
              <a:lumMod val="50000"/>
            </a:schemeClr>
          </a:solidFill>
          <a:ln w="12700">
            <a:solidFill>
              <a:srgbClr val="717A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1946" rIns="54864" bIns="21946" rtlCol="0" anchor="ctr"/>
          <a:lstStyle/>
          <a:p>
            <a:pPr algn="ctr"/>
            <a:r>
              <a:rPr lang="en-US" sz="996" b="1" dirty="0">
                <a:solidFill>
                  <a:srgbClr val="192337"/>
                </a:solidFill>
                <a:latin typeface="Arial"/>
              </a:rPr>
              <a:t>Results Alignment</a:t>
            </a:r>
            <a:endParaRPr sz="996" b="1" dirty="0">
              <a:solidFill>
                <a:srgbClr val="192337"/>
              </a:solidFill>
              <a:latin typeface="Arial"/>
            </a:endParaRPr>
          </a:p>
        </p:txBody>
      </p:sp>
      <p:cxnSp>
        <p:nvCxnSpPr>
          <p:cNvPr id="273" name="Connector 110">
            <a:extLst>
              <a:ext uri="{FF2B5EF4-FFF2-40B4-BE49-F238E27FC236}">
                <a16:creationId xmlns:a16="http://schemas.microsoft.com/office/drawing/2014/main" id="{77704E2B-D5FF-902A-0E8C-B85CCAD1343A}"/>
              </a:ext>
            </a:extLst>
          </p:cNvPr>
          <p:cNvCxnSpPr>
            <a:cxnSpLocks/>
          </p:cNvCxnSpPr>
          <p:nvPr/>
        </p:nvCxnSpPr>
        <p:spPr>
          <a:xfrm>
            <a:off x="7245551" y="7296286"/>
            <a:ext cx="0" cy="138078"/>
          </a:xfrm>
          <a:prstGeom prst="line">
            <a:avLst/>
          </a:prstGeom>
          <a:ln w="11430">
            <a:solidFill>
              <a:srgbClr val="051F5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94" name="Group 293">
            <a:extLst>
              <a:ext uri="{FF2B5EF4-FFF2-40B4-BE49-F238E27FC236}">
                <a16:creationId xmlns:a16="http://schemas.microsoft.com/office/drawing/2014/main" id="{EE655DDE-6420-E349-3BAD-E8DF51E88653}"/>
              </a:ext>
            </a:extLst>
          </p:cNvPr>
          <p:cNvGrpSpPr/>
          <p:nvPr/>
        </p:nvGrpSpPr>
        <p:grpSpPr>
          <a:xfrm>
            <a:off x="405515" y="4445038"/>
            <a:ext cx="1952094" cy="2330933"/>
            <a:chOff x="64010" y="4030018"/>
            <a:chExt cx="1626745" cy="2188145"/>
          </a:xfrm>
          <a:solidFill>
            <a:schemeClr val="bg1">
              <a:lumMod val="50000"/>
            </a:schemeClr>
          </a:solidFill>
        </p:grpSpPr>
        <p:grpSp>
          <p:nvGrpSpPr>
            <p:cNvPr id="274" name="Group 273">
              <a:extLst>
                <a:ext uri="{FF2B5EF4-FFF2-40B4-BE49-F238E27FC236}">
                  <a16:creationId xmlns:a16="http://schemas.microsoft.com/office/drawing/2014/main" id="{1DBA133C-60D9-CD0C-7170-B45D6C489C53}"/>
                </a:ext>
              </a:extLst>
            </p:cNvPr>
            <p:cNvGrpSpPr/>
            <p:nvPr/>
          </p:nvGrpSpPr>
          <p:grpSpPr>
            <a:xfrm>
              <a:off x="64010" y="4030018"/>
              <a:ext cx="1626745" cy="2188145"/>
              <a:chOff x="8887968" y="2816352"/>
              <a:chExt cx="1755649" cy="1833728"/>
            </a:xfrm>
            <a:grpFill/>
          </p:grpSpPr>
          <p:sp>
            <p:nvSpPr>
              <p:cNvPr id="275" name="Rounded Rectangle 91">
                <a:extLst>
                  <a:ext uri="{FF2B5EF4-FFF2-40B4-BE49-F238E27FC236}">
                    <a16:creationId xmlns:a16="http://schemas.microsoft.com/office/drawing/2014/main" id="{1D2FFF6C-2411-EBC3-8109-BF0D0E5EE89B}"/>
                  </a:ext>
                </a:extLst>
              </p:cNvPr>
              <p:cNvSpPr/>
              <p:nvPr/>
            </p:nvSpPr>
            <p:spPr>
              <a:xfrm>
                <a:off x="8887968" y="2816352"/>
                <a:ext cx="1755649" cy="1833728"/>
              </a:xfrm>
              <a:prstGeom prst="roundRect">
                <a:avLst/>
              </a:prstGeom>
              <a:grpFill/>
              <a:ln w="12700">
                <a:solidFill>
                  <a:srgbClr val="1C5DD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160"/>
              </a:p>
            </p:txBody>
          </p:sp>
          <p:sp>
            <p:nvSpPr>
              <p:cNvPr id="276" name="TextBox 275">
                <a:extLst>
                  <a:ext uri="{FF2B5EF4-FFF2-40B4-BE49-F238E27FC236}">
                    <a16:creationId xmlns:a16="http://schemas.microsoft.com/office/drawing/2014/main" id="{2E36E97F-3764-0386-B0F5-57095063B868}"/>
                  </a:ext>
                </a:extLst>
              </p:cNvPr>
              <p:cNvSpPr txBox="1"/>
              <p:nvPr/>
            </p:nvSpPr>
            <p:spPr>
              <a:xfrm>
                <a:off x="9015984" y="2844473"/>
                <a:ext cx="1627632" cy="400959"/>
              </a:xfrm>
              <a:prstGeom prst="rect">
                <a:avLst/>
              </a:prstGeom>
              <a:grpFill/>
              <a:ln>
                <a:noFill/>
              </a:ln>
              <a:effectLst/>
            </p:spPr>
            <p:txBody>
              <a:bodyPr wrap="square" lIns="32918" tIns="32918" rIns="32918" bIns="32918" anchor="ctr">
                <a:spAutoFit/>
              </a:bodyPr>
              <a:lstStyle/>
              <a:p>
                <a:pPr algn="ctr"/>
                <a:r>
                  <a:rPr lang="en-US" sz="1440" b="1" dirty="0">
                    <a:solidFill>
                      <a:srgbClr val="051F50"/>
                    </a:solidFill>
                    <a:latin typeface="Arial"/>
                  </a:rPr>
                  <a:t>Business Domain Alignment</a:t>
                </a:r>
                <a:endParaRPr sz="1440" b="1" dirty="0">
                  <a:solidFill>
                    <a:srgbClr val="051F50"/>
                  </a:solidFill>
                  <a:latin typeface="Arial"/>
                </a:endParaRPr>
              </a:p>
            </p:txBody>
          </p:sp>
          <p:sp>
            <p:nvSpPr>
              <p:cNvPr id="277" name="TextBox 276">
                <a:extLst>
                  <a:ext uri="{FF2B5EF4-FFF2-40B4-BE49-F238E27FC236}">
                    <a16:creationId xmlns:a16="http://schemas.microsoft.com/office/drawing/2014/main" id="{AAAE2E49-8BDA-0A3A-5A1F-31180EA9A4AC}"/>
                  </a:ext>
                </a:extLst>
              </p:cNvPr>
              <p:cNvSpPr txBox="1"/>
              <p:nvPr/>
            </p:nvSpPr>
            <p:spPr>
              <a:xfrm>
                <a:off x="9034273" y="3218863"/>
                <a:ext cx="1609344" cy="255684"/>
              </a:xfrm>
              <a:prstGeom prst="rect">
                <a:avLst/>
              </a:prstGeom>
              <a:grpFill/>
              <a:ln>
                <a:noFill/>
              </a:ln>
              <a:effectLst/>
            </p:spPr>
            <p:txBody>
              <a:bodyPr wrap="square" lIns="32918" tIns="32918" rIns="32918" bIns="32918" anchor="ctr">
                <a:spAutoFit/>
              </a:bodyPr>
              <a:lstStyle/>
              <a:p>
                <a:pPr algn="ctr"/>
                <a:r>
                  <a:rPr lang="en-US" sz="840" dirty="0">
                    <a:solidFill>
                      <a:srgbClr val="192337"/>
                    </a:solidFill>
                    <a:latin typeface="Arial"/>
                  </a:rPr>
                  <a:t>Business domain teams need to agree on the attribution estimation</a:t>
                </a:r>
                <a:endParaRPr sz="840" dirty="0">
                  <a:solidFill>
                    <a:srgbClr val="192337"/>
                  </a:solidFill>
                  <a:latin typeface="Arial"/>
                </a:endParaRPr>
              </a:p>
            </p:txBody>
          </p:sp>
          <p:sp>
            <p:nvSpPr>
              <p:cNvPr id="278" name="Rounded Rectangle 94">
                <a:extLst>
                  <a:ext uri="{FF2B5EF4-FFF2-40B4-BE49-F238E27FC236}">
                    <a16:creationId xmlns:a16="http://schemas.microsoft.com/office/drawing/2014/main" id="{A92400D5-F183-EBA4-5EE6-7226E0D27B63}"/>
                  </a:ext>
                </a:extLst>
              </p:cNvPr>
              <p:cNvSpPr/>
              <p:nvPr/>
            </p:nvSpPr>
            <p:spPr>
              <a:xfrm>
                <a:off x="9034273" y="3573584"/>
                <a:ext cx="690657" cy="175456"/>
              </a:xfrm>
              <a:prstGeom prst="roundRect">
                <a:avLst/>
              </a:prstGeom>
              <a:grpFill/>
              <a:ln w="12700">
                <a:solidFill>
                  <a:srgbClr val="1C5DD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54864" tIns="21946" rIns="54864" bIns="21946" rtlCol="0" anchor="ctr"/>
              <a:lstStyle/>
              <a:p>
                <a:pPr algn="ctr"/>
                <a:r>
                  <a:rPr sz="732" b="1" dirty="0">
                    <a:solidFill>
                      <a:srgbClr val="051F50"/>
                    </a:solidFill>
                    <a:latin typeface="Arial"/>
                  </a:rPr>
                  <a:t>Menu</a:t>
                </a:r>
              </a:p>
            </p:txBody>
          </p:sp>
          <p:sp>
            <p:nvSpPr>
              <p:cNvPr id="280" name="Rounded Rectangle 96">
                <a:extLst>
                  <a:ext uri="{FF2B5EF4-FFF2-40B4-BE49-F238E27FC236}">
                    <a16:creationId xmlns:a16="http://schemas.microsoft.com/office/drawing/2014/main" id="{24F6557D-3BE1-BB73-8C2A-65976A384619}"/>
                  </a:ext>
                </a:extLst>
              </p:cNvPr>
              <p:cNvSpPr/>
              <p:nvPr/>
            </p:nvSpPr>
            <p:spPr>
              <a:xfrm>
                <a:off x="9809345" y="3584448"/>
                <a:ext cx="566928" cy="164592"/>
              </a:xfrm>
              <a:prstGeom prst="roundRect">
                <a:avLst/>
              </a:prstGeom>
              <a:grpFill/>
              <a:ln w="12700">
                <a:solidFill>
                  <a:srgbClr val="1C5DD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54864" tIns="21946" rIns="54864" bIns="21946" rtlCol="0" anchor="ctr"/>
              <a:lstStyle/>
              <a:p>
                <a:pPr algn="ctr"/>
                <a:r>
                  <a:rPr lang="en-US" sz="732" b="1" dirty="0">
                    <a:solidFill>
                      <a:srgbClr val="051F50"/>
                    </a:solidFill>
                    <a:latin typeface="Arial"/>
                  </a:rPr>
                  <a:t>RGM</a:t>
                </a:r>
                <a:endParaRPr sz="732" b="1" dirty="0">
                  <a:solidFill>
                    <a:srgbClr val="051F50"/>
                  </a:solidFill>
                  <a:latin typeface="Arial"/>
                </a:endParaRPr>
              </a:p>
            </p:txBody>
          </p:sp>
          <p:sp>
            <p:nvSpPr>
              <p:cNvPr id="282" name="Rounded Rectangle 98">
                <a:extLst>
                  <a:ext uri="{FF2B5EF4-FFF2-40B4-BE49-F238E27FC236}">
                    <a16:creationId xmlns:a16="http://schemas.microsoft.com/office/drawing/2014/main" id="{BADA3987-7191-21DD-BF2F-E7F873E72908}"/>
                  </a:ext>
                </a:extLst>
              </p:cNvPr>
              <p:cNvSpPr/>
              <p:nvPr/>
            </p:nvSpPr>
            <p:spPr>
              <a:xfrm>
                <a:off x="9034273" y="3838934"/>
                <a:ext cx="690657" cy="164592"/>
              </a:xfrm>
              <a:prstGeom prst="roundRect">
                <a:avLst/>
              </a:prstGeom>
              <a:grpFill/>
              <a:ln w="12700">
                <a:solidFill>
                  <a:srgbClr val="1C5DD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54864" tIns="21946" rIns="54864" bIns="21946" rtlCol="0" anchor="ctr"/>
              <a:lstStyle/>
              <a:p>
                <a:pPr algn="ctr"/>
                <a:r>
                  <a:rPr lang="en-US" sz="732" b="1" dirty="0">
                    <a:solidFill>
                      <a:srgbClr val="051F50"/>
                    </a:solidFill>
                    <a:latin typeface="Arial"/>
                  </a:rPr>
                  <a:t>Marketing</a:t>
                </a:r>
                <a:endParaRPr sz="732" b="1" dirty="0">
                  <a:solidFill>
                    <a:srgbClr val="051F50"/>
                  </a:solidFill>
                  <a:latin typeface="Arial"/>
                </a:endParaRPr>
              </a:p>
            </p:txBody>
          </p:sp>
          <p:sp>
            <p:nvSpPr>
              <p:cNvPr id="284" name="Rounded Rectangle 100">
                <a:extLst>
                  <a:ext uri="{FF2B5EF4-FFF2-40B4-BE49-F238E27FC236}">
                    <a16:creationId xmlns:a16="http://schemas.microsoft.com/office/drawing/2014/main" id="{5D6660ED-55B7-E3BF-92B1-8943C8BA2F33}"/>
                  </a:ext>
                </a:extLst>
              </p:cNvPr>
              <p:cNvSpPr/>
              <p:nvPr/>
            </p:nvSpPr>
            <p:spPr>
              <a:xfrm>
                <a:off x="9809345" y="3838934"/>
                <a:ext cx="566928" cy="164592"/>
              </a:xfrm>
              <a:prstGeom prst="roundRect">
                <a:avLst/>
              </a:prstGeom>
              <a:grpFill/>
              <a:ln w="12700">
                <a:solidFill>
                  <a:srgbClr val="1C5DD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54864" tIns="21946" rIns="54864" bIns="21946" rtlCol="0" anchor="ctr"/>
              <a:lstStyle/>
              <a:p>
                <a:pPr algn="ctr"/>
                <a:r>
                  <a:rPr lang="en-US" sz="732" b="1" dirty="0">
                    <a:solidFill>
                      <a:srgbClr val="051F50"/>
                    </a:solidFill>
                    <a:latin typeface="Arial"/>
                  </a:rPr>
                  <a:t>Ops</a:t>
                </a:r>
                <a:endParaRPr sz="732" b="1" dirty="0">
                  <a:solidFill>
                    <a:srgbClr val="051F50"/>
                  </a:solidFill>
                  <a:latin typeface="Arial"/>
                </a:endParaRPr>
              </a:p>
            </p:txBody>
          </p:sp>
          <p:sp>
            <p:nvSpPr>
              <p:cNvPr id="286" name="Rounded Rectangle 102">
                <a:extLst>
                  <a:ext uri="{FF2B5EF4-FFF2-40B4-BE49-F238E27FC236}">
                    <a16:creationId xmlns:a16="http://schemas.microsoft.com/office/drawing/2014/main" id="{A9086B48-4BAF-D413-5881-DB5C42A8C8F1}"/>
                  </a:ext>
                </a:extLst>
              </p:cNvPr>
              <p:cNvSpPr/>
              <p:nvPr/>
            </p:nvSpPr>
            <p:spPr>
              <a:xfrm>
                <a:off x="9034271" y="4102903"/>
                <a:ext cx="690658" cy="164592"/>
              </a:xfrm>
              <a:prstGeom prst="roundRect">
                <a:avLst/>
              </a:prstGeom>
              <a:grpFill/>
              <a:ln w="12700">
                <a:solidFill>
                  <a:srgbClr val="1C5DD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54864" tIns="21946" rIns="54864" bIns="21946" rtlCol="0" anchor="ctr"/>
              <a:lstStyle/>
              <a:p>
                <a:pPr algn="ctr"/>
                <a:r>
                  <a:rPr lang="en-US" sz="732" b="1" dirty="0">
                    <a:solidFill>
                      <a:srgbClr val="051F50"/>
                    </a:solidFill>
                    <a:latin typeface="Arial"/>
                  </a:rPr>
                  <a:t>Technology</a:t>
                </a:r>
                <a:endParaRPr sz="732" b="1" dirty="0">
                  <a:solidFill>
                    <a:srgbClr val="051F50"/>
                  </a:solidFill>
                  <a:latin typeface="Arial"/>
                </a:endParaRPr>
              </a:p>
            </p:txBody>
          </p:sp>
        </p:grpSp>
        <p:sp>
          <p:nvSpPr>
            <p:cNvPr id="289" name="Rounded Rectangle 102">
              <a:extLst>
                <a:ext uri="{FF2B5EF4-FFF2-40B4-BE49-F238E27FC236}">
                  <a16:creationId xmlns:a16="http://schemas.microsoft.com/office/drawing/2014/main" id="{21C3F45B-ED2C-EF90-9BD7-066E74219C5A}"/>
                </a:ext>
              </a:extLst>
            </p:cNvPr>
            <p:cNvSpPr/>
            <p:nvPr/>
          </p:nvSpPr>
          <p:spPr>
            <a:xfrm>
              <a:off x="946776" y="5567889"/>
              <a:ext cx="529526" cy="193745"/>
            </a:xfrm>
            <a:prstGeom prst="roundRect">
              <a:avLst/>
            </a:prstGeom>
            <a:grpFill/>
            <a:ln w="12700">
              <a:solidFill>
                <a:srgbClr val="1C5D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54864" tIns="21946" rIns="54864" bIns="21946" rtlCol="0" anchor="ctr"/>
            <a:lstStyle/>
            <a:p>
              <a:pPr algn="ctr"/>
              <a:r>
                <a:rPr lang="en-US" sz="732" b="1" dirty="0">
                  <a:solidFill>
                    <a:srgbClr val="051F50"/>
                  </a:solidFill>
                  <a:latin typeface="Arial"/>
                </a:rPr>
                <a:t>People</a:t>
              </a:r>
              <a:endParaRPr sz="732" b="1" dirty="0">
                <a:solidFill>
                  <a:srgbClr val="051F50"/>
                </a:solidFill>
                <a:latin typeface="Arial"/>
              </a:endParaRPr>
            </a:p>
          </p:txBody>
        </p:sp>
        <p:sp>
          <p:nvSpPr>
            <p:cNvPr id="291" name="Rounded Rectangle 102">
              <a:extLst>
                <a:ext uri="{FF2B5EF4-FFF2-40B4-BE49-F238E27FC236}">
                  <a16:creationId xmlns:a16="http://schemas.microsoft.com/office/drawing/2014/main" id="{46485FB7-0BE4-8171-B6E1-0DF3314A3F6D}"/>
                </a:ext>
              </a:extLst>
            </p:cNvPr>
            <p:cNvSpPr/>
            <p:nvPr/>
          </p:nvSpPr>
          <p:spPr>
            <a:xfrm>
              <a:off x="199572" y="5875423"/>
              <a:ext cx="665824" cy="193745"/>
            </a:xfrm>
            <a:prstGeom prst="roundRect">
              <a:avLst/>
            </a:prstGeom>
            <a:grpFill/>
            <a:ln w="12700">
              <a:solidFill>
                <a:srgbClr val="1C5D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54864" tIns="21946" rIns="54864" bIns="21946" rtlCol="0" anchor="ctr"/>
            <a:lstStyle/>
            <a:p>
              <a:pPr algn="ctr"/>
              <a:r>
                <a:rPr lang="en-US" sz="732" b="1" dirty="0">
                  <a:solidFill>
                    <a:srgbClr val="051F50"/>
                  </a:solidFill>
                  <a:latin typeface="Arial"/>
                </a:rPr>
                <a:t>Supply Chain</a:t>
              </a:r>
              <a:endParaRPr sz="732" b="1" dirty="0">
                <a:solidFill>
                  <a:srgbClr val="051F50"/>
                </a:solidFill>
                <a:latin typeface="Arial"/>
              </a:endParaRPr>
            </a:p>
          </p:txBody>
        </p:sp>
        <p:sp>
          <p:nvSpPr>
            <p:cNvPr id="293" name="Rounded Rectangle 102">
              <a:extLst>
                <a:ext uri="{FF2B5EF4-FFF2-40B4-BE49-F238E27FC236}">
                  <a16:creationId xmlns:a16="http://schemas.microsoft.com/office/drawing/2014/main" id="{60B7C619-C3F9-7EFF-D527-903F48282542}"/>
                </a:ext>
              </a:extLst>
            </p:cNvPr>
            <p:cNvSpPr/>
            <p:nvPr/>
          </p:nvSpPr>
          <p:spPr>
            <a:xfrm>
              <a:off x="946776" y="5875423"/>
              <a:ext cx="529526" cy="193745"/>
            </a:xfrm>
            <a:prstGeom prst="roundRect">
              <a:avLst/>
            </a:prstGeom>
            <a:grpFill/>
            <a:ln w="12700">
              <a:solidFill>
                <a:srgbClr val="1C5D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54864" tIns="21946" rIns="54864" bIns="21946" rtlCol="0" anchor="ctr"/>
            <a:lstStyle/>
            <a:p>
              <a:pPr algn="ctr"/>
              <a:r>
                <a:rPr lang="en-US" sz="732" b="1" dirty="0">
                  <a:solidFill>
                    <a:srgbClr val="051F50"/>
                  </a:solidFill>
                  <a:latin typeface="Arial"/>
                </a:rPr>
                <a:t>Finance</a:t>
              </a:r>
              <a:endParaRPr sz="732" b="1" dirty="0">
                <a:solidFill>
                  <a:srgbClr val="051F50"/>
                </a:solidFill>
                <a:latin typeface="Arial"/>
              </a:endParaRPr>
            </a:p>
          </p:txBody>
        </p:sp>
      </p:grpSp>
      <p:cxnSp>
        <p:nvCxnSpPr>
          <p:cNvPr id="296" name="Straight Arrow Connector 295">
            <a:extLst>
              <a:ext uri="{FF2B5EF4-FFF2-40B4-BE49-F238E27FC236}">
                <a16:creationId xmlns:a16="http://schemas.microsoft.com/office/drawing/2014/main" id="{C010E121-CF9D-105B-3A8E-144D3E2D0790}"/>
              </a:ext>
            </a:extLst>
          </p:cNvPr>
          <p:cNvCxnSpPr>
            <a:cxnSpLocks/>
          </p:cNvCxnSpPr>
          <p:nvPr/>
        </p:nvCxnSpPr>
        <p:spPr>
          <a:xfrm>
            <a:off x="10033771" y="6289724"/>
            <a:ext cx="834036" cy="4608"/>
          </a:xfrm>
          <a:prstGeom prst="straightConnector1">
            <a:avLst/>
          </a:prstGeom>
          <a:ln w="9525">
            <a:solidFill>
              <a:schemeClr val="bg1">
                <a:lumMod val="50000"/>
              </a:schemeClr>
            </a:solidFill>
            <a:prstDash val="dash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9" name="Straight Arrow Connector 298">
            <a:extLst>
              <a:ext uri="{FF2B5EF4-FFF2-40B4-BE49-F238E27FC236}">
                <a16:creationId xmlns:a16="http://schemas.microsoft.com/office/drawing/2014/main" id="{EF218F7E-EFF3-FB19-49BD-6CF10E349A77}"/>
              </a:ext>
            </a:extLst>
          </p:cNvPr>
          <p:cNvCxnSpPr>
            <a:cxnSpLocks/>
          </p:cNvCxnSpPr>
          <p:nvPr/>
        </p:nvCxnSpPr>
        <p:spPr>
          <a:xfrm flipH="1" flipV="1">
            <a:off x="2357608" y="6069811"/>
            <a:ext cx="412168" cy="13452"/>
          </a:xfrm>
          <a:prstGeom prst="straightConnector1">
            <a:avLst/>
          </a:prstGeom>
          <a:ln w="9525">
            <a:solidFill>
              <a:schemeClr val="bg1">
                <a:lumMod val="50000"/>
              </a:schemeClr>
            </a:solidFill>
            <a:prstDash val="dash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8" name="Connector 110">
            <a:extLst>
              <a:ext uri="{FF2B5EF4-FFF2-40B4-BE49-F238E27FC236}">
                <a16:creationId xmlns:a16="http://schemas.microsoft.com/office/drawing/2014/main" id="{46C6BDB6-B71D-D535-17CD-8AB1AFCAB905}"/>
              </a:ext>
            </a:extLst>
          </p:cNvPr>
          <p:cNvCxnSpPr>
            <a:cxnSpLocks/>
          </p:cNvCxnSpPr>
          <p:nvPr/>
        </p:nvCxnSpPr>
        <p:spPr>
          <a:xfrm>
            <a:off x="7428431" y="3324411"/>
            <a:ext cx="0" cy="138078"/>
          </a:xfrm>
          <a:prstGeom prst="line">
            <a:avLst/>
          </a:prstGeom>
          <a:ln w="11430">
            <a:solidFill>
              <a:srgbClr val="051F5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8">
            <a:extLst>
              <a:ext uri="{FF2B5EF4-FFF2-40B4-BE49-F238E27FC236}">
                <a16:creationId xmlns:a16="http://schemas.microsoft.com/office/drawing/2014/main" id="{B0DB2EEE-403A-C53C-A64C-1150743B3CB4}"/>
              </a:ext>
            </a:extLst>
          </p:cNvPr>
          <p:cNvSpPr/>
          <p:nvPr/>
        </p:nvSpPr>
        <p:spPr>
          <a:xfrm>
            <a:off x="5684988" y="495309"/>
            <a:ext cx="3752698" cy="1559828"/>
          </a:xfrm>
          <a:prstGeom prst="roundRect">
            <a:avLst/>
          </a:prstGeom>
          <a:solidFill>
            <a:srgbClr val="FFF6EE"/>
          </a:solidFill>
          <a:ln w="12700">
            <a:solidFill>
              <a:srgbClr val="E85C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160"/>
          </a:p>
        </p:txBody>
      </p:sp>
      <p:sp>
        <p:nvSpPr>
          <p:cNvPr id="26" name="Rounded Rectangle 9">
            <a:extLst>
              <a:ext uri="{FF2B5EF4-FFF2-40B4-BE49-F238E27FC236}">
                <a16:creationId xmlns:a16="http://schemas.microsoft.com/office/drawing/2014/main" id="{7C5A636B-7266-CF3A-7205-53547F3D9F89}"/>
              </a:ext>
            </a:extLst>
          </p:cNvPr>
          <p:cNvSpPr/>
          <p:nvPr/>
        </p:nvSpPr>
        <p:spPr>
          <a:xfrm>
            <a:off x="5772770" y="583092"/>
            <a:ext cx="3577133" cy="395021"/>
          </a:xfrm>
          <a:prstGeom prst="roundRect">
            <a:avLst/>
          </a:prstGeom>
          <a:solidFill>
            <a:srgbClr val="E85C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1946" rIns="54864" bIns="21946" rtlCol="0" anchor="ctr"/>
          <a:lstStyle/>
          <a:p>
            <a:pPr algn="ctr"/>
            <a:r>
              <a:rPr sz="1440" b="1">
                <a:solidFill>
                  <a:srgbClr val="FFFFFF"/>
                </a:solidFill>
                <a:latin typeface="Arial"/>
              </a:rPr>
              <a:t>External Context</a:t>
            </a:r>
          </a:p>
        </p:txBody>
      </p:sp>
      <p:sp>
        <p:nvSpPr>
          <p:cNvPr id="28" name="Rounded Rectangle 10">
            <a:extLst>
              <a:ext uri="{FF2B5EF4-FFF2-40B4-BE49-F238E27FC236}">
                <a16:creationId xmlns:a16="http://schemas.microsoft.com/office/drawing/2014/main" id="{D79AB29D-06AD-33B8-65E7-6A1DDD24F5A6}"/>
              </a:ext>
            </a:extLst>
          </p:cNvPr>
          <p:cNvSpPr/>
          <p:nvPr/>
        </p:nvSpPr>
        <p:spPr>
          <a:xfrm>
            <a:off x="5794715" y="1109787"/>
            <a:ext cx="825703" cy="47183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5C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1946" rIns="54864" bIns="21946" rtlCol="0" anchor="ctr"/>
          <a:lstStyle/>
          <a:p>
            <a:pPr algn="ctr"/>
            <a:r>
              <a:rPr sz="864" b="1" dirty="0">
                <a:solidFill>
                  <a:srgbClr val="192337"/>
                </a:solidFill>
                <a:latin typeface="Arial"/>
              </a:rPr>
              <a:t>Weather</a:t>
            </a:r>
          </a:p>
        </p:txBody>
      </p:sp>
      <p:sp>
        <p:nvSpPr>
          <p:cNvPr id="30" name="Rounded Rectangle 11">
            <a:extLst>
              <a:ext uri="{FF2B5EF4-FFF2-40B4-BE49-F238E27FC236}">
                <a16:creationId xmlns:a16="http://schemas.microsoft.com/office/drawing/2014/main" id="{BAEEC82B-5B57-879A-BDA9-8620FF7A72E0}"/>
              </a:ext>
            </a:extLst>
          </p:cNvPr>
          <p:cNvSpPr/>
          <p:nvPr/>
        </p:nvSpPr>
        <p:spPr>
          <a:xfrm>
            <a:off x="6697228" y="1109787"/>
            <a:ext cx="825703" cy="47183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5C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1946" rIns="54864" bIns="21946" rtlCol="0" anchor="ctr"/>
          <a:lstStyle/>
          <a:p>
            <a:pPr algn="ctr"/>
            <a:r>
              <a:rPr lang="en-US" sz="864" b="1" dirty="0">
                <a:solidFill>
                  <a:srgbClr val="192337"/>
                </a:solidFill>
                <a:latin typeface="Arial"/>
              </a:rPr>
              <a:t>Macro</a:t>
            </a:r>
            <a:endParaRPr sz="864" b="1" dirty="0">
              <a:solidFill>
                <a:srgbClr val="192337"/>
              </a:solidFill>
              <a:latin typeface="Arial"/>
            </a:endParaRPr>
          </a:p>
        </p:txBody>
      </p:sp>
      <p:sp>
        <p:nvSpPr>
          <p:cNvPr id="32" name="Rounded Rectangle 12">
            <a:extLst>
              <a:ext uri="{FF2B5EF4-FFF2-40B4-BE49-F238E27FC236}">
                <a16:creationId xmlns:a16="http://schemas.microsoft.com/office/drawing/2014/main" id="{C5EAE4E3-FB05-F3EE-83E5-89630CF49562}"/>
              </a:ext>
            </a:extLst>
          </p:cNvPr>
          <p:cNvSpPr/>
          <p:nvPr/>
        </p:nvSpPr>
        <p:spPr>
          <a:xfrm>
            <a:off x="7599741" y="1109787"/>
            <a:ext cx="825703" cy="47183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5C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1946" rIns="54864" bIns="21946" rtlCol="0" anchor="ctr"/>
          <a:lstStyle/>
          <a:p>
            <a:pPr algn="ctr"/>
            <a:r>
              <a:rPr sz="864" b="1">
                <a:solidFill>
                  <a:srgbClr val="192337"/>
                </a:solidFill>
                <a:latin typeface="Arial"/>
              </a:rPr>
              <a:t>Competition</a:t>
            </a:r>
          </a:p>
        </p:txBody>
      </p:sp>
      <p:sp>
        <p:nvSpPr>
          <p:cNvPr id="34" name="Rounded Rectangle 13">
            <a:extLst>
              <a:ext uri="{FF2B5EF4-FFF2-40B4-BE49-F238E27FC236}">
                <a16:creationId xmlns:a16="http://schemas.microsoft.com/office/drawing/2014/main" id="{C534A499-D3AB-F9C4-D7DF-14D8919849A1}"/>
              </a:ext>
            </a:extLst>
          </p:cNvPr>
          <p:cNvSpPr/>
          <p:nvPr/>
        </p:nvSpPr>
        <p:spPr>
          <a:xfrm>
            <a:off x="8502255" y="1109787"/>
            <a:ext cx="825703" cy="47183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5C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1946" rIns="54864" bIns="21946" rtlCol="0" anchor="ctr"/>
          <a:lstStyle/>
          <a:p>
            <a:pPr algn="ctr"/>
            <a:r>
              <a:rPr lang="en-US" sz="864" b="1" dirty="0">
                <a:solidFill>
                  <a:srgbClr val="192337"/>
                </a:solidFill>
                <a:latin typeface="Arial"/>
              </a:rPr>
              <a:t>Industry</a:t>
            </a:r>
            <a:endParaRPr sz="864" b="1" dirty="0">
              <a:solidFill>
                <a:srgbClr val="192337"/>
              </a:solidFill>
              <a:latin typeface="Arial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B56A547-CE17-686E-547B-309E9C9D6357}"/>
              </a:ext>
            </a:extLst>
          </p:cNvPr>
          <p:cNvSpPr txBox="1"/>
          <p:nvPr/>
        </p:nvSpPr>
        <p:spPr>
          <a:xfrm>
            <a:off x="405515" y="558949"/>
            <a:ext cx="562975" cy="369332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Gap</a:t>
            </a:r>
          </a:p>
        </p:txBody>
      </p:sp>
    </p:spTree>
    <p:extLst>
      <p:ext uri="{BB962C8B-B14F-4D97-AF65-F5344CB8AC3E}">
        <p14:creationId xmlns:p14="http://schemas.microsoft.com/office/powerpoint/2010/main" val="25884561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552239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1347</TotalTime>
  <Words>2656</Words>
  <Application>Microsoft Office PowerPoint</Application>
  <PresentationFormat>Custom</PresentationFormat>
  <Paragraphs>778</Paragraphs>
  <Slides>12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Aptos</vt:lpstr>
      <vt:lpstr>Aptos Display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Cheng Qian</cp:lastModifiedBy>
  <cp:revision>4</cp:revision>
  <dcterms:created xsi:type="dcterms:W3CDTF">2013-01-27T09:14:16Z</dcterms:created>
  <dcterms:modified xsi:type="dcterms:W3CDTF">2026-08-17T02:57:11Z</dcterms:modified>
  <cp:category/>
</cp:coreProperties>
</file>