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  <p:sldId id="264" r:id="rId9"/>
    <p:sldId id="265" r:id="rId10"/>
    <p:sldId id="261" r:id="rId11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666" y="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308505-95DB-4EC1-A208-44E63DDCA883}" type="datetimeFigureOut">
              <a:rPr lang="en-US" smtClean="0"/>
              <a:t>8/11/2026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5479A9-D7F9-4F02-96EF-4AC8725F53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8920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835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6032" y="164592"/>
            <a:ext cx="8503920" cy="34747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lnSpcReduction="10000"/>
          </a:bodyPr>
          <a:lstStyle/>
          <a:p>
            <a:pPr algn="l"/>
            <a:r>
              <a:rPr sz="2200" b="1" i="0">
                <a:solidFill>
                  <a:srgbClr val="0A1C36"/>
                </a:solidFill>
                <a:latin typeface="Calibri"/>
              </a:rPr>
              <a:t>GC Decomposition – Protected Base + Growth Movement Waterfall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530352"/>
            <a:ext cx="10698480" cy="21945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880" b="0" i="0">
                <a:solidFill>
                  <a:srgbClr val="5D636D"/>
                </a:solidFill>
                <a:latin typeface="Calibri"/>
              </a:rPr>
              <a:t>Counterfactual weak foundation base → protected BAU base → actual foundation movement → external context → commercial actions → gap / residual → actual outcome</a:t>
            </a:r>
          </a:p>
        </p:txBody>
      </p:sp>
      <p:sp>
        <p:nvSpPr>
          <p:cNvPr id="4" name="Rectangle 3"/>
          <p:cNvSpPr/>
          <p:nvPr/>
        </p:nvSpPr>
        <p:spPr>
          <a:xfrm>
            <a:off x="10561320" y="182880"/>
            <a:ext cx="109728" cy="109728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07076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/ BAU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32920" y="182880"/>
            <a:ext cx="109728" cy="10972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20792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Foundation Movement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04520" y="182880"/>
            <a:ext cx="109728" cy="109728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450824" y="155448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External Context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61320" y="420624"/>
            <a:ext cx="109728" cy="109728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7076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Commercial Actions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932920" y="420624"/>
            <a:ext cx="109728" cy="10972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0792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Enablement / Bottleneck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420624"/>
            <a:ext cx="109728" cy="109728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3450824" y="393192"/>
            <a:ext cx="1143000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580" b="0" i="0">
                <a:solidFill>
                  <a:srgbClr val="1F2937"/>
                </a:solidFill>
                <a:latin typeface="Calibri"/>
              </a:rPr>
              <a:t>Gap / Residual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960120"/>
            <a:ext cx="10515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1. Counterfactual</a:t>
            </a:r>
            <a:br/>
            <a:r>
              <a:rPr sz="850" b="1" i="0">
                <a:solidFill>
                  <a:srgbClr val="666666"/>
                </a:solidFill>
                <a:latin typeface="Calibri"/>
              </a:rPr>
              <a:t>Weak Foundation Base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60120" y="1261872"/>
            <a:ext cx="1051560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965960" y="960120"/>
            <a:ext cx="26060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228B37"/>
                </a:solidFill>
                <a:latin typeface="Calibri"/>
              </a:rPr>
              <a:t>2. Foundation Protection / BAU Base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965960" y="1261872"/>
            <a:ext cx="2606040" cy="0"/>
          </a:xfrm>
          <a:prstGeom prst="line">
            <a:avLst/>
          </a:prstGeom>
          <a:ln w="15240">
            <a:solidFill>
              <a:srgbClr val="228B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800600" y="960120"/>
            <a:ext cx="26974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008997"/>
                </a:solidFill>
                <a:latin typeface="Calibri"/>
              </a:rPr>
              <a:t>3. Foundation Movement</a:t>
            </a:r>
            <a:br/>
            <a:r>
              <a:rPr sz="850" b="1" i="0">
                <a:solidFill>
                  <a:srgbClr val="008997"/>
                </a:solidFill>
                <a:latin typeface="Calibri"/>
              </a:rPr>
              <a:t>vs BAU / LY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800600" y="1261872"/>
            <a:ext cx="2697479" cy="0"/>
          </a:xfrm>
          <a:prstGeom prst="line">
            <a:avLst/>
          </a:prstGeom>
          <a:ln w="15240">
            <a:solidFill>
              <a:srgbClr val="00899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635240" y="960120"/>
            <a:ext cx="16916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F16924"/>
                </a:solidFill>
                <a:latin typeface="Calibri"/>
              </a:rPr>
              <a:t>4. External Context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35240" y="1261872"/>
            <a:ext cx="1691640" cy="0"/>
          </a:xfrm>
          <a:prstGeom prst="line">
            <a:avLst/>
          </a:prstGeom>
          <a:ln w="15240">
            <a:solidFill>
              <a:srgbClr val="F1692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646920" y="960120"/>
            <a:ext cx="19659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276AD2"/>
                </a:solidFill>
                <a:latin typeface="Calibri"/>
              </a:rPr>
              <a:t>5. Commercial /</a:t>
            </a:r>
            <a:br/>
            <a:r>
              <a:rPr sz="850" b="1" i="0">
                <a:solidFill>
                  <a:srgbClr val="276AD2"/>
                </a:solidFill>
                <a:latin typeface="Calibri"/>
              </a:rPr>
              <a:t>Campaign Actions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646920" y="1261872"/>
            <a:ext cx="1965960" cy="0"/>
          </a:xfrm>
          <a:prstGeom prst="line">
            <a:avLst/>
          </a:prstGeom>
          <a:ln w="15240">
            <a:solidFill>
              <a:srgbClr val="276A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1932920" y="960120"/>
            <a:ext cx="100584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 fontScale="92500" lnSpcReduction="10000"/>
          </a:bodyPr>
          <a:lstStyle/>
          <a:p>
            <a:pPr algn="ctr"/>
            <a:r>
              <a:rPr sz="850" b="1" i="0">
                <a:solidFill>
                  <a:srgbClr val="744DA6"/>
                </a:solidFill>
                <a:latin typeface="Calibri"/>
              </a:rPr>
              <a:t>6. Enablement /</a:t>
            </a:r>
            <a:br/>
            <a:r>
              <a:rPr sz="850" b="1" i="0">
                <a:solidFill>
                  <a:srgbClr val="744DA6"/>
                </a:solidFill>
                <a:latin typeface="Calibri"/>
              </a:rPr>
              <a:t>Bottleneck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1932920" y="1261872"/>
            <a:ext cx="1005840" cy="0"/>
          </a:xfrm>
          <a:prstGeom prst="line">
            <a:avLst/>
          </a:prstGeom>
          <a:ln w="15240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3121640" y="960120"/>
            <a:ext cx="109728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50" b="1" i="0">
                <a:solidFill>
                  <a:srgbClr val="666666"/>
                </a:solidFill>
                <a:latin typeface="Calibri"/>
              </a:rPr>
              <a:t>7. Gap / Residual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13121640" y="1261872"/>
            <a:ext cx="1097279" cy="0"/>
          </a:xfrm>
          <a:prstGeom prst="line">
            <a:avLst/>
          </a:prstGeom>
          <a:ln w="15240">
            <a:solidFill>
              <a:srgbClr val="6666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9326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90195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468172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571231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52804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1832336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3048488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4154912" y="868680"/>
            <a:ext cx="0" cy="5577840"/>
          </a:xfrm>
          <a:prstGeom prst="line">
            <a:avLst/>
          </a:prstGeom>
          <a:ln w="6985">
            <a:solidFill>
              <a:srgbClr val="D7D7D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228600" y="6172200"/>
            <a:ext cx="14173200" cy="0"/>
          </a:xfrm>
          <a:prstGeom prst="line">
            <a:avLst/>
          </a:prstGeom>
          <a:ln w="8890">
            <a:solidFill>
              <a:srgbClr val="DCDC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182880" y="1536192"/>
            <a:ext cx="594360" cy="32004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l"/>
            <a:r>
              <a:rPr sz="620" b="0" i="0">
                <a:solidFill>
                  <a:srgbClr val="5D636D"/>
                </a:solidFill>
                <a:latin typeface="Calibri"/>
              </a:rPr>
              <a:t>GC</a:t>
            </a:r>
            <a:br/>
            <a:r>
              <a:rPr sz="620" b="0" i="0">
                <a:solidFill>
                  <a:srgbClr val="5D636D"/>
                </a:solidFill>
                <a:latin typeface="Calibri"/>
              </a:rPr>
              <a:t>(Millions)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3977639"/>
            <a:ext cx="402336" cy="2194560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256031" y="3749039"/>
            <a:ext cx="530352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330M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311" y="6263640"/>
            <a:ext cx="621792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1F2937"/>
                </a:solidFill>
                <a:latin typeface="Calibri"/>
              </a:rPr>
              <a:t>2024 Actual GC</a:t>
            </a:r>
            <a:br/>
            <a:r>
              <a:rPr sz="550" b="1" i="0">
                <a:solidFill>
                  <a:srgbClr val="1F2937"/>
                </a:solidFill>
                <a:latin typeface="Calibri"/>
              </a:rPr>
              <a:t>(reference)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722376" y="3977639"/>
            <a:ext cx="301752" cy="1254035"/>
          </a:xfrm>
          <a:prstGeom prst="line">
            <a:avLst/>
          </a:prstGeom>
          <a:ln w="8255">
            <a:solidFill>
              <a:srgbClr val="B9B9B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228600" y="7040880"/>
            <a:ext cx="73152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59" b="0" i="0">
                <a:solidFill>
                  <a:srgbClr val="5D636D"/>
                </a:solidFill>
                <a:latin typeface="Calibri"/>
              </a:rPr>
              <a:t>Reference only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15568" y="5231674"/>
            <a:ext cx="384048" cy="94052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051560" y="500307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310M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0584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Weak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Foundation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6" y="6675120"/>
            <a:ext cx="713232" cy="29260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50" b="0" i="0">
                <a:solidFill>
                  <a:srgbClr val="5D636D"/>
                </a:solidFill>
                <a:latin typeface="Calibri"/>
              </a:rPr>
              <a:t>Counterfactual</a:t>
            </a:r>
            <a:br/>
            <a:r>
              <a:rPr sz="450" b="0" i="0">
                <a:solidFill>
                  <a:srgbClr val="5D636D"/>
                </a:solidFill>
                <a:latin typeface="Calibri"/>
              </a:rPr>
              <a:t>scenario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499616" y="5231674"/>
            <a:ext cx="4206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920240" y="4730060"/>
            <a:ext cx="310896" cy="50161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1847088" y="452889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105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Ops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2231136" y="473006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ectangle 53"/>
          <p:cNvSpPr/>
          <p:nvPr/>
        </p:nvSpPr>
        <p:spPr>
          <a:xfrm>
            <a:off x="2359152" y="4353850"/>
            <a:ext cx="310896" cy="376210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2286000" y="415268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+6M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2494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Availability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670048" y="435385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2798064" y="4165745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2724912" y="39645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883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Technology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Reliability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3108960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3236976" y="4040341"/>
            <a:ext cx="310896" cy="125403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3163824" y="383917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272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 / CX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547872" y="4040341"/>
            <a:ext cx="128015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ectangle 65"/>
          <p:cNvSpPr/>
          <p:nvPr/>
        </p:nvSpPr>
        <p:spPr>
          <a:xfrm>
            <a:off x="3675887" y="3977639"/>
            <a:ext cx="310896" cy="62701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602735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566159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People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986783" y="3977639"/>
            <a:ext cx="128017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Rectangle 69"/>
          <p:cNvSpPr/>
          <p:nvPr/>
        </p:nvSpPr>
        <p:spPr>
          <a:xfrm>
            <a:off x="4114800" y="3789534"/>
            <a:ext cx="310896" cy="188105"/>
          </a:xfrm>
          <a:prstGeom prst="rect">
            <a:avLst/>
          </a:prstGeom>
          <a:solidFill>
            <a:srgbClr val="228B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041648" y="358836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0050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Base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4425696" y="3789534"/>
            <a:ext cx="19202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ectangle 73"/>
          <p:cNvSpPr/>
          <p:nvPr/>
        </p:nvSpPr>
        <p:spPr>
          <a:xfrm>
            <a:off x="4617720" y="3789534"/>
            <a:ext cx="384048" cy="2382665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4553712" y="3560934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333M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07992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Protected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BAU Base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5001768" y="3789534"/>
            <a:ext cx="28346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Rectangle 77"/>
          <p:cNvSpPr/>
          <p:nvPr/>
        </p:nvSpPr>
        <p:spPr>
          <a:xfrm>
            <a:off x="5285232" y="3476026"/>
            <a:ext cx="310896" cy="313508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5212080" y="327485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+5M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17550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Speed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5596128" y="3476026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Rectangle 81"/>
          <p:cNvSpPr/>
          <p:nvPr/>
        </p:nvSpPr>
        <p:spPr>
          <a:xfrm>
            <a:off x="5724144" y="3476026"/>
            <a:ext cx="310896" cy="188105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5650992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1441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Supply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035040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Rectangle 85"/>
          <p:cNvSpPr/>
          <p:nvPr/>
        </p:nvSpPr>
        <p:spPr>
          <a:xfrm>
            <a:off x="6163056" y="3538728"/>
            <a:ext cx="310896" cy="125403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089904" y="3337560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+2M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5332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Tech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6473952" y="353872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/>
          <p:cNvSpPr/>
          <p:nvPr/>
        </p:nvSpPr>
        <p:spPr>
          <a:xfrm>
            <a:off x="6601968" y="3538728"/>
            <a:ext cx="310896" cy="125403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6528816" y="36915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49224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CSAT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6912864" y="3664131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4" name="Rectangle 93"/>
          <p:cNvSpPr/>
          <p:nvPr/>
        </p:nvSpPr>
        <p:spPr>
          <a:xfrm>
            <a:off x="7040880" y="3664131"/>
            <a:ext cx="310896" cy="62701"/>
          </a:xfrm>
          <a:prstGeom prst="rect">
            <a:avLst/>
          </a:prstGeom>
          <a:solidFill>
            <a:srgbClr val="CF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6967728" y="3754265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-1M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9311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Hours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7351776" y="3726833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7479792" y="3664131"/>
            <a:ext cx="310896" cy="62701"/>
          </a:xfrm>
          <a:prstGeom prst="rect">
            <a:avLst/>
          </a:prstGeom>
          <a:solidFill>
            <a:srgbClr val="00899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7406640" y="3462963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+1M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3700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Loyalty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Change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7790688" y="3664131"/>
            <a:ext cx="301752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/>
          <p:cNvSpPr/>
          <p:nvPr/>
        </p:nvSpPr>
        <p:spPr>
          <a:xfrm>
            <a:off x="8092440" y="3664131"/>
            <a:ext cx="310896" cy="501613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8019288" y="419317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-8M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98271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Weather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403336" y="4165745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ectangle 105"/>
          <p:cNvSpPr/>
          <p:nvPr/>
        </p:nvSpPr>
        <p:spPr>
          <a:xfrm>
            <a:off x="8531352" y="4165745"/>
            <a:ext cx="310896" cy="250806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8458200" y="444398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-4M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4216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Macro</a:t>
            </a:r>
          </a:p>
        </p:txBody>
      </p:sp>
      <p:cxnSp>
        <p:nvCxnSpPr>
          <p:cNvPr id="109" name="Connector 108"/>
          <p:cNvCxnSpPr/>
          <p:nvPr/>
        </p:nvCxnSpPr>
        <p:spPr>
          <a:xfrm>
            <a:off x="8842248" y="441655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/>
          <p:cNvSpPr/>
          <p:nvPr/>
        </p:nvSpPr>
        <p:spPr>
          <a:xfrm>
            <a:off x="8970264" y="4416552"/>
            <a:ext cx="310896" cy="188105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8897112" y="46320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-3M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88605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Competition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9281160" y="4604657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ectangle 113"/>
          <p:cNvSpPr/>
          <p:nvPr/>
        </p:nvSpPr>
        <p:spPr>
          <a:xfrm>
            <a:off x="9409176" y="4604657"/>
            <a:ext cx="310896" cy="22860"/>
          </a:xfrm>
          <a:prstGeom prst="rect">
            <a:avLst/>
          </a:prstGeom>
          <a:solidFill>
            <a:srgbClr val="F169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9336024" y="4403489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+0M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29944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Calendar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Footprint</a:t>
            </a:r>
          </a:p>
        </p:txBody>
      </p:sp>
      <p:cxnSp>
        <p:nvCxnSpPr>
          <p:cNvPr id="117" name="Connector 116"/>
          <p:cNvCxnSpPr/>
          <p:nvPr/>
        </p:nvCxnSpPr>
        <p:spPr>
          <a:xfrm>
            <a:off x="9720072" y="4604657"/>
            <a:ext cx="292608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ectangle 117"/>
          <p:cNvSpPr/>
          <p:nvPr/>
        </p:nvSpPr>
        <p:spPr>
          <a:xfrm>
            <a:off x="10012680" y="3977639"/>
            <a:ext cx="310896" cy="627017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9939528" y="377647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+10M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90295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Pricing</a:t>
            </a:r>
          </a:p>
        </p:txBody>
      </p:sp>
      <p:cxnSp>
        <p:nvCxnSpPr>
          <p:cNvPr id="121" name="Connector 120"/>
          <p:cNvCxnSpPr/>
          <p:nvPr/>
        </p:nvCxnSpPr>
        <p:spPr>
          <a:xfrm>
            <a:off x="10323576" y="3977639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Rectangle 121"/>
          <p:cNvSpPr/>
          <p:nvPr/>
        </p:nvSpPr>
        <p:spPr>
          <a:xfrm>
            <a:off x="10451592" y="3413324"/>
            <a:ext cx="310896" cy="56431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10378440" y="321215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+9M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34186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Promo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Value</a:t>
            </a:r>
          </a:p>
        </p:txBody>
      </p:sp>
      <p:cxnSp>
        <p:nvCxnSpPr>
          <p:cNvPr id="125" name="Connector 124"/>
          <p:cNvCxnSpPr/>
          <p:nvPr/>
        </p:nvCxnSpPr>
        <p:spPr>
          <a:xfrm>
            <a:off x="10762488" y="341332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ctangle 125"/>
          <p:cNvSpPr/>
          <p:nvPr/>
        </p:nvSpPr>
        <p:spPr>
          <a:xfrm>
            <a:off x="10890504" y="2660904"/>
            <a:ext cx="310896" cy="752420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10817352" y="2459736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+12M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078077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Media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11201400" y="2660904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ectangle 129"/>
          <p:cNvSpPr/>
          <p:nvPr/>
        </p:nvSpPr>
        <p:spPr>
          <a:xfrm>
            <a:off x="11329416" y="2159290"/>
            <a:ext cx="310896" cy="501613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11256264" y="195812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+8M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1219688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LTO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Menu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11640312" y="2159290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Rectangle 133"/>
          <p:cNvSpPr/>
          <p:nvPr/>
        </p:nvSpPr>
        <p:spPr>
          <a:xfrm>
            <a:off x="11768328" y="1971185"/>
            <a:ext cx="310896" cy="188105"/>
          </a:xfrm>
          <a:prstGeom prst="rect">
            <a:avLst/>
          </a:prstGeom>
          <a:solidFill>
            <a:srgbClr val="276A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11695176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+3M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658600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Digital /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CRM</a:t>
            </a:r>
          </a:p>
        </p:txBody>
      </p:sp>
      <p:cxnSp>
        <p:nvCxnSpPr>
          <p:cNvPr id="137" name="Connector 136"/>
          <p:cNvCxnSpPr/>
          <p:nvPr/>
        </p:nvCxnSpPr>
        <p:spPr>
          <a:xfrm>
            <a:off x="12079224" y="1971185"/>
            <a:ext cx="26517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8" name="Rectangle 137"/>
          <p:cNvSpPr/>
          <p:nvPr/>
        </p:nvSpPr>
        <p:spPr>
          <a:xfrm>
            <a:off x="12344400" y="1720378"/>
            <a:ext cx="310896" cy="250806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12271248" y="1810512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+4M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234672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Foundation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Enablement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12655296" y="1720378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ectangle 141"/>
          <p:cNvSpPr/>
          <p:nvPr/>
        </p:nvSpPr>
        <p:spPr>
          <a:xfrm>
            <a:off x="12783312" y="1720378"/>
            <a:ext cx="310896" cy="313508"/>
          </a:xfrm>
          <a:prstGeom prst="rect">
            <a:avLst/>
          </a:prstGeom>
          <a:solidFill>
            <a:srgbClr val="744D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43" name="Connector 142"/>
          <p:cNvCxnSpPr/>
          <p:nvPr/>
        </p:nvCxnSpPr>
        <p:spPr>
          <a:xfrm flipV="1">
            <a:off x="12801600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 flipV="1">
            <a:off x="12879324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V="1">
            <a:off x="12957048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V="1">
            <a:off x="13034772" y="1729522"/>
            <a:ext cx="146304" cy="295220"/>
          </a:xfrm>
          <a:prstGeom prst="line">
            <a:avLst/>
          </a:prstGeom>
          <a:ln w="5715">
            <a:solidFill>
              <a:srgbClr val="744D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TextBox 146"/>
          <p:cNvSpPr txBox="1"/>
          <p:nvPr/>
        </p:nvSpPr>
        <p:spPr>
          <a:xfrm>
            <a:off x="12710160" y="2061318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-5M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1267358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Bottleneck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Drag</a:t>
            </a:r>
          </a:p>
        </p:txBody>
      </p:sp>
      <p:cxnSp>
        <p:nvCxnSpPr>
          <p:cNvPr id="149" name="Connector 148"/>
          <p:cNvCxnSpPr/>
          <p:nvPr/>
        </p:nvCxnSpPr>
        <p:spPr>
          <a:xfrm>
            <a:off x="13094208" y="2033886"/>
            <a:ext cx="237744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ctangle 149"/>
          <p:cNvSpPr/>
          <p:nvPr/>
        </p:nvSpPr>
        <p:spPr>
          <a:xfrm>
            <a:off x="13331952" y="2033886"/>
            <a:ext cx="310896" cy="564315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1" name="Connector 150"/>
          <p:cNvCxnSpPr/>
          <p:nvPr/>
        </p:nvCxnSpPr>
        <p:spPr>
          <a:xfrm flipV="1">
            <a:off x="13350240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2" name="Connector 151"/>
          <p:cNvCxnSpPr/>
          <p:nvPr/>
        </p:nvCxnSpPr>
        <p:spPr>
          <a:xfrm flipV="1">
            <a:off x="13427964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 152"/>
          <p:cNvCxnSpPr/>
          <p:nvPr/>
        </p:nvCxnSpPr>
        <p:spPr>
          <a:xfrm flipV="1">
            <a:off x="13505688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 153"/>
          <p:cNvCxnSpPr/>
          <p:nvPr/>
        </p:nvCxnSpPr>
        <p:spPr>
          <a:xfrm flipV="1">
            <a:off x="13583412" y="2043030"/>
            <a:ext cx="146304" cy="546028"/>
          </a:xfrm>
          <a:prstGeom prst="line">
            <a:avLst/>
          </a:prstGeom>
          <a:ln w="5715">
            <a:solidFill>
              <a:srgbClr val="AAAA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TextBox 154"/>
          <p:cNvSpPr txBox="1"/>
          <p:nvPr/>
        </p:nvSpPr>
        <p:spPr>
          <a:xfrm>
            <a:off x="13258800" y="2625634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-9M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13222224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Known</a:t>
            </a:r>
            <a:br/>
            <a:r>
              <a:rPr sz="480" b="0" i="0">
                <a:solidFill>
                  <a:srgbClr val="1F2937"/>
                </a:solidFill>
                <a:latin typeface="Calibri"/>
              </a:rPr>
              <a:t>Data Gap</a:t>
            </a:r>
          </a:p>
        </p:txBody>
      </p:sp>
      <p:cxnSp>
        <p:nvCxnSpPr>
          <p:cNvPr id="157" name="Connector 156"/>
          <p:cNvCxnSpPr/>
          <p:nvPr/>
        </p:nvCxnSpPr>
        <p:spPr>
          <a:xfrm>
            <a:off x="13642848" y="2598202"/>
            <a:ext cx="128016" cy="0"/>
          </a:xfrm>
          <a:prstGeom prst="line">
            <a:avLst/>
          </a:prstGeom>
          <a:ln w="8255">
            <a:solidFill>
              <a:srgbClr val="66666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8" name="Rectangle 157"/>
          <p:cNvSpPr/>
          <p:nvPr/>
        </p:nvSpPr>
        <p:spPr>
          <a:xfrm>
            <a:off x="13770864" y="2598202"/>
            <a:ext cx="310896" cy="125403"/>
          </a:xfrm>
          <a:prstGeom prst="rect">
            <a:avLst/>
          </a:prstGeom>
          <a:solidFill>
            <a:srgbClr val="AAAA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13697712" y="2751037"/>
            <a:ext cx="457200" cy="155448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80" b="1" i="0">
                <a:solidFill>
                  <a:srgbClr val="1F2937"/>
                </a:solidFill>
                <a:latin typeface="Calibri"/>
              </a:rPr>
              <a:t>-2M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13661136" y="6263640"/>
            <a:ext cx="530352" cy="402336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480" b="0" i="0">
                <a:solidFill>
                  <a:srgbClr val="1F2937"/>
                </a:solidFill>
                <a:latin typeface="Calibri"/>
              </a:rPr>
              <a:t>Residual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14191488" y="2723605"/>
            <a:ext cx="384048" cy="3448594"/>
          </a:xfrm>
          <a:prstGeom prst="rect">
            <a:avLst/>
          </a:prstGeom>
          <a:solidFill>
            <a:srgbClr val="0A1C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2" name="TextBox 161"/>
          <p:cNvSpPr txBox="1"/>
          <p:nvPr/>
        </p:nvSpPr>
        <p:spPr>
          <a:xfrm>
            <a:off x="14127480" y="2495005"/>
            <a:ext cx="512064" cy="18288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800" b="1" i="0">
                <a:solidFill>
                  <a:srgbClr val="1F2937"/>
                </a:solidFill>
                <a:latin typeface="Calibri"/>
              </a:rPr>
              <a:t>350M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4081760" y="6263640"/>
            <a:ext cx="603503" cy="365760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1" i="0">
                <a:solidFill>
                  <a:srgbClr val="1F2937"/>
                </a:solidFill>
                <a:latin typeface="Calibri"/>
              </a:rPr>
              <a:t>2025 Actual</a:t>
            </a:r>
            <a:br/>
            <a:r>
              <a:rPr sz="530" b="1" i="0">
                <a:solidFill>
                  <a:srgbClr val="1F2937"/>
                </a:solidFill>
                <a:latin typeface="Calibri"/>
              </a:rPr>
              <a:t>GC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2331720" y="6903720"/>
            <a:ext cx="2057400" cy="320040"/>
          </a:xfrm>
          <a:prstGeom prst="rect">
            <a:avLst/>
          </a:prstGeom>
          <a:solidFill>
            <a:srgbClr val="ECF7EF"/>
          </a:solidFill>
          <a:ln w="6350">
            <a:solidFill>
              <a:srgbClr val="B4DCBE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30" b="1" i="0">
                <a:solidFill>
                  <a:srgbClr val="228B37"/>
                </a:solidFill>
                <a:latin typeface="Calibri"/>
              </a:rPr>
              <a:t>+23M protected GC</a:t>
            </a:r>
            <a:br/>
            <a:r>
              <a:rPr sz="630" b="1" i="0">
                <a:solidFill>
                  <a:srgbClr val="228B37"/>
                </a:solidFill>
                <a:latin typeface="Calibri"/>
              </a:rPr>
              <a:t>Maintains base vs degraded foundation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349240" y="6903720"/>
            <a:ext cx="1965960" cy="320040"/>
          </a:xfrm>
          <a:prstGeom prst="rect">
            <a:avLst/>
          </a:prstGeom>
          <a:solidFill>
            <a:srgbClr val="EAF8FA"/>
          </a:solidFill>
          <a:ln w="6350">
            <a:solidFill>
              <a:srgbClr val="AFDCE1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008997"/>
                </a:solidFill>
                <a:latin typeface="Calibri"/>
              </a:rPr>
              <a:t>+2M net foundation movement</a:t>
            </a:r>
            <a:br/>
            <a:r>
              <a:rPr sz="600" b="1" i="0">
                <a:solidFill>
                  <a:srgbClr val="008997"/>
                </a:solidFill>
                <a:latin typeface="Calibri"/>
              </a:rPr>
              <a:t>Actual changes vs BAU / LY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8001000" y="6903720"/>
            <a:ext cx="1783080" cy="320040"/>
          </a:xfrm>
          <a:prstGeom prst="rect">
            <a:avLst/>
          </a:prstGeom>
          <a:solidFill>
            <a:srgbClr val="FFF3ED"/>
          </a:solidFill>
          <a:ln w="6350">
            <a:solidFill>
              <a:srgbClr val="F0C8B4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F16924"/>
                </a:solidFill>
                <a:latin typeface="Calibri"/>
              </a:rPr>
              <a:t>-15M external context</a:t>
            </a:r>
            <a:br/>
            <a:r>
              <a:rPr sz="600" b="1" i="0">
                <a:solidFill>
                  <a:srgbClr val="F16924"/>
                </a:solidFill>
                <a:latin typeface="Calibri"/>
              </a:rPr>
              <a:t>Weather, macro, competition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0104120" y="6903720"/>
            <a:ext cx="1920240" cy="320040"/>
          </a:xfrm>
          <a:prstGeom prst="rect">
            <a:avLst/>
          </a:prstGeom>
          <a:solidFill>
            <a:srgbClr val="EDF4FF"/>
          </a:solidFill>
          <a:ln w="6350">
            <a:solidFill>
              <a:srgbClr val="B4CDF0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00" b="1" i="0">
                <a:solidFill>
                  <a:srgbClr val="276AD2"/>
                </a:solidFill>
                <a:latin typeface="Calibri"/>
              </a:rPr>
              <a:t>+42M commercial movement</a:t>
            </a:r>
            <a:br/>
            <a:r>
              <a:rPr sz="600" b="1" i="0">
                <a:solidFill>
                  <a:srgbClr val="276AD2"/>
                </a:solidFill>
                <a:latin typeface="Calibri"/>
              </a:rPr>
              <a:t>Pricing, promo, media, LTO, digital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1932920" y="6903720"/>
            <a:ext cx="1143000" cy="320040"/>
          </a:xfrm>
          <a:prstGeom prst="rect">
            <a:avLst/>
          </a:prstGeom>
          <a:solidFill>
            <a:srgbClr val="F6F1FC"/>
          </a:solidFill>
          <a:ln w="6350">
            <a:solidFill>
              <a:srgbClr val="CDB9E6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744DA6"/>
                </a:solidFill>
                <a:latin typeface="Calibri"/>
              </a:rPr>
              <a:t>-1M net enablement</a:t>
            </a:r>
            <a:br/>
            <a:r>
              <a:rPr sz="550" b="1" i="0">
                <a:solidFill>
                  <a:srgbClr val="744DA6"/>
                </a:solidFill>
                <a:latin typeface="Calibri"/>
              </a:rPr>
              <a:t>Readiness lift less bottleneck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13194792" y="6903720"/>
            <a:ext cx="1051560" cy="320040"/>
          </a:xfrm>
          <a:prstGeom prst="rect">
            <a:avLst/>
          </a:prstGeom>
          <a:solidFill>
            <a:srgbClr val="F5F5F5"/>
          </a:solidFill>
          <a:ln w="6350">
            <a:solidFill>
              <a:srgbClr val="C8C8C8"/>
            </a:solidFill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50" b="1" i="0">
                <a:solidFill>
                  <a:srgbClr val="666666"/>
                </a:solidFill>
                <a:latin typeface="Calibri"/>
              </a:rPr>
              <a:t>-11M gap / residual</a:t>
            </a:r>
            <a:br/>
            <a:r>
              <a:rPr sz="550" b="1" i="0">
                <a:solidFill>
                  <a:srgbClr val="666666"/>
                </a:solidFill>
                <a:latin typeface="Calibri"/>
              </a:rPr>
              <a:t>Still not fully measured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274320" y="7635240"/>
            <a:ext cx="14081760" cy="25603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620" b="0" i="1">
                <a:solidFill>
                  <a:srgbClr val="5D636D"/>
                </a:solidFill>
                <a:latin typeface="Calibri"/>
              </a:rPr>
              <a:t>Method note: foundation domains appear twice with different meanings — (1) protected base / avoided loss versus degraded counterfactual, and (2) actual movement versus BAU or last year. Values shown are illustrative placeholders.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274320" y="7936992"/>
            <a:ext cx="14081760" cy="164592"/>
          </a:xfrm>
          <a:prstGeom prst="rect">
            <a:avLst/>
          </a:prstGeom>
          <a:noFill/>
          <a:ln>
            <a:noFill/>
          </a:ln>
        </p:spPr>
        <p:txBody>
          <a:bodyPr wrap="none" lIns="27432" tIns="18288" rIns="27432" bIns="18288" anchor="ctr">
            <a:normAutofit/>
          </a:bodyPr>
          <a:lstStyle/>
          <a:p>
            <a:pPr algn="ctr"/>
            <a:r>
              <a:rPr sz="530" b="0" i="0">
                <a:solidFill>
                  <a:srgbClr val="5D636D"/>
                </a:solidFill>
                <a:latin typeface="Calibri"/>
              </a:rPr>
              <a:t>Counterfactual base is a scenario, not last year actual. 2024 actual is shown only as reference.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c_decomposition_waterfa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0"/>
            <a:ext cx="14630034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" y="0"/>
            <a:ext cx="14630034" cy="82296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" name="TextBox 2"/>
          <p:cNvSpPr txBox="1"/>
          <p:nvPr/>
        </p:nvSpPr>
        <p:spPr>
          <a:xfrm>
            <a:off x="274320" y="175566"/>
            <a:ext cx="13716000" cy="487519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2880" b="1">
                <a:solidFill>
                  <a:srgbClr val="081B49"/>
                </a:solidFill>
                <a:latin typeface="Aptos"/>
              </a:rPr>
              <a:t>GC Decomposition: Protected Base + Growth Movement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293" y="625449"/>
            <a:ext cx="12893040" cy="243734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296">
                <a:solidFill>
                  <a:srgbClr val="4D5054"/>
                </a:solidFill>
                <a:latin typeface="Aptos"/>
              </a:rPr>
              <a:t>From a counterfactual weak foundation to 2025 actuals through foundation protection, external context, and commercial actions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307239" y="1130199"/>
            <a:ext cx="307238" cy="307238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" name="TextBox 5"/>
          <p:cNvSpPr txBox="1"/>
          <p:nvPr/>
        </p:nvSpPr>
        <p:spPr>
          <a:xfrm>
            <a:off x="312725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119226"/>
            <a:ext cx="1854403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Counterfactual
Weak Foundation Base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07238" y="1547165"/>
            <a:ext cx="2249424" cy="0"/>
          </a:xfrm>
          <a:prstGeom prst="line">
            <a:avLst/>
          </a:prstGeom>
          <a:ln w="13970">
            <a:solidFill>
              <a:srgbClr val="081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07239" y="1656893"/>
            <a:ext cx="2249423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Weak GC scenario
if the business foundation
performed at a degraded level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98064" y="1130199"/>
            <a:ext cx="307238" cy="307238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1" name="TextBox 10"/>
          <p:cNvSpPr txBox="1"/>
          <p:nvPr/>
        </p:nvSpPr>
        <p:spPr>
          <a:xfrm>
            <a:off x="2803549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4057" y="1119226"/>
            <a:ext cx="2545690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Foundation Protection /
BAU Base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98064" y="1547165"/>
            <a:ext cx="2940710" cy="0"/>
          </a:xfrm>
          <a:prstGeom prst="line">
            <a:avLst/>
          </a:prstGeom>
          <a:ln w="13970">
            <a:solidFill>
              <a:srgbClr val="1489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2798064" y="1656893"/>
            <a:ext cx="2940710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Credit for maintaining the business engine,
protecting the GC base, and capturing
incremental BAU improvements.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44444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980176" y="1130199"/>
            <a:ext cx="307238" cy="307238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7" name="TextBox 16"/>
          <p:cNvSpPr txBox="1"/>
          <p:nvPr/>
        </p:nvSpPr>
        <p:spPr>
          <a:xfrm>
            <a:off x="5985662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6169" y="1119226"/>
            <a:ext cx="1777594" cy="214047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External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80176" y="1547165"/>
            <a:ext cx="2172614" cy="0"/>
          </a:xfrm>
          <a:prstGeom prst="line">
            <a:avLst/>
          </a:prstGeom>
          <a:ln w="13970">
            <a:solidFill>
              <a:srgbClr val="EC5C1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980176" y="1656893"/>
            <a:ext cx="2172614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External context
not controlled by the business
moves GC above or below base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26557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449056" y="1130199"/>
            <a:ext cx="307238" cy="307238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3" name="TextBox 22"/>
          <p:cNvSpPr txBox="1"/>
          <p:nvPr/>
        </p:nvSpPr>
        <p:spPr>
          <a:xfrm>
            <a:off x="8454542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5049" y="1119226"/>
            <a:ext cx="1997050" cy="38377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Growth Movement /
Campaign Actions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49056" y="1547165"/>
            <a:ext cx="2392070" cy="0"/>
          </a:xfrm>
          <a:prstGeom prst="line">
            <a:avLst/>
          </a:prstGeom>
          <a:ln w="13970">
            <a:solidFill>
              <a:srgbClr val="1C65D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449056" y="1656893"/>
            <a:ext cx="2392070" cy="45424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Commercial movement
moves GC above the
protected base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295437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/>
          <p:cNvSpPr/>
          <p:nvPr/>
        </p:nvSpPr>
        <p:spPr>
          <a:xfrm>
            <a:off x="11104474" y="1130199"/>
            <a:ext cx="307238" cy="307238"/>
          </a:xfrm>
          <a:prstGeom prst="rect">
            <a:avLst/>
          </a:prstGeom>
          <a:solidFill>
            <a:srgbClr val="4D50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9" name="TextBox 28"/>
          <p:cNvSpPr txBox="1"/>
          <p:nvPr/>
        </p:nvSpPr>
        <p:spPr>
          <a:xfrm>
            <a:off x="11109960" y="1157631"/>
            <a:ext cx="296266" cy="20313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2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510466" y="1119226"/>
            <a:ext cx="1305763" cy="214047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1103" b="1">
                <a:solidFill>
                  <a:srgbClr val="000000"/>
                </a:solidFill>
                <a:latin typeface="Aptos"/>
              </a:rPr>
              <a:t>Gap / Residual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104474" y="1547165"/>
            <a:ext cx="1700784" cy="0"/>
          </a:xfrm>
          <a:prstGeom prst="line">
            <a:avLst/>
          </a:prstGeom>
          <a:ln w="13970">
            <a:solidFill>
              <a:srgbClr val="4D5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1104474" y="1656893"/>
            <a:ext cx="1700784" cy="3176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888">
                <a:solidFill>
                  <a:srgbClr val="4D5054"/>
                </a:solidFill>
                <a:latin typeface="Aptos"/>
              </a:rPr>
              <a:t>Remaining gap
not fully measured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50853" y="1097280"/>
            <a:ext cx="0" cy="1119226"/>
          </a:xfrm>
          <a:prstGeom prst="line">
            <a:avLst/>
          </a:prstGeom>
          <a:ln w="762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274320" y="4800600"/>
            <a:ext cx="373075" cy="1102766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5" name="TextBox 34"/>
          <p:cNvSpPr txBox="1"/>
          <p:nvPr/>
        </p:nvSpPr>
        <p:spPr>
          <a:xfrm>
            <a:off x="142647" y="4471417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330M
(100.0%)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" y="5952745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2024
Actual GC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28954" y="5535778"/>
            <a:ext cx="373075" cy="367589"/>
          </a:xfrm>
          <a:prstGeom prst="rect">
            <a:avLst/>
          </a:prstGeom>
          <a:solidFill>
            <a:srgbClr val="909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8" name="TextBox 37"/>
          <p:cNvSpPr txBox="1"/>
          <p:nvPr/>
        </p:nvSpPr>
        <p:spPr>
          <a:xfrm>
            <a:off x="1097280" y="5206594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310M
(93.9%)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19226" y="5952745"/>
            <a:ext cx="592531" cy="65378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Weak
Foundation
Base
(counterfactual)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7395" y="4800600"/>
            <a:ext cx="581558" cy="735178"/>
          </a:xfrm>
          <a:prstGeom prst="line">
            <a:avLst/>
          </a:prstGeom>
          <a:ln w="10795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997050" y="5315224"/>
            <a:ext cx="373075" cy="220553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2" name="TextBox 41"/>
          <p:cNvSpPr txBox="1"/>
          <p:nvPr/>
        </p:nvSpPr>
        <p:spPr>
          <a:xfrm>
            <a:off x="1887322" y="500798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+6M
(+1.8%)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09267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Speed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5021153"/>
            <a:ext cx="373075" cy="294071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5" name="TextBox 44"/>
          <p:cNvSpPr txBox="1"/>
          <p:nvPr/>
        </p:nvSpPr>
        <p:spPr>
          <a:xfrm>
            <a:off x="2359152" y="471391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+8M
(+2.4%)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8109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Supply
Chain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40711" y="4910877"/>
            <a:ext cx="373075" cy="110276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8" name="TextBox 47"/>
          <p:cNvSpPr txBox="1"/>
          <p:nvPr/>
        </p:nvSpPr>
        <p:spPr>
          <a:xfrm>
            <a:off x="2830983" y="460363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85292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CSAT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12541" y="4837358"/>
            <a:ext cx="373075" cy="73517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1" name="TextBox 50"/>
          <p:cNvSpPr txBox="1"/>
          <p:nvPr/>
        </p:nvSpPr>
        <p:spPr>
          <a:xfrm>
            <a:off x="3302813" y="453012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+2M
(+0.6%)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2475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Tech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884371" y="4800600"/>
            <a:ext cx="373075" cy="43891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4" name="TextBox 53"/>
          <p:cNvSpPr txBox="1"/>
          <p:nvPr/>
        </p:nvSpPr>
        <p:spPr>
          <a:xfrm>
            <a:off x="3774643" y="4493362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+1M
(+0.3%)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796589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People /
Hours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56202" y="4690323"/>
            <a:ext cx="373075" cy="110276"/>
          </a:xfrm>
          <a:prstGeom prst="rect">
            <a:avLst/>
          </a:prstGeom>
          <a:solidFill>
            <a:srgbClr val="1489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7" name="TextBox 56"/>
          <p:cNvSpPr txBox="1"/>
          <p:nvPr/>
        </p:nvSpPr>
        <p:spPr>
          <a:xfrm>
            <a:off x="4246474" y="4383084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8419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Loyalty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28032" y="4690323"/>
            <a:ext cx="373075" cy="1213043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0" name="TextBox 59"/>
          <p:cNvSpPr txBox="1"/>
          <p:nvPr/>
        </p:nvSpPr>
        <p:spPr>
          <a:xfrm>
            <a:off x="4696359" y="4361139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333M
(100.9%)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18304" y="5952744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Protected
BAU Base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729277" y="4690322"/>
            <a:ext cx="98755" cy="0"/>
          </a:xfrm>
          <a:prstGeom prst="line">
            <a:avLst/>
          </a:prstGeom>
          <a:ln w="10160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1821485" y="2721254"/>
            <a:ext cx="3708806" cy="77906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489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148943"/>
                </a:solidFill>
                <a:latin typeface="Aptos"/>
              </a:rPr>
              <a:t>+23M protected + improved GC
(+7.0%)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Includes base protection vs. weak foundation
plus incremental BAU improvements
(speed, supply, CSAT, tech, people / hours, loyalty).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1700784" y="3621024"/>
            <a:ext cx="0" cy="768096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1700784" y="3621024"/>
            <a:ext cx="3642970" cy="0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5343754" y="3621024"/>
            <a:ext cx="0" cy="822960"/>
          </a:xfrm>
          <a:prstGeom prst="line">
            <a:avLst/>
          </a:prstGeom>
          <a:ln w="13335">
            <a:solidFill>
              <a:srgbClr val="14894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ectangle 66"/>
          <p:cNvSpPr/>
          <p:nvPr/>
        </p:nvSpPr>
        <p:spPr>
          <a:xfrm>
            <a:off x="6089904" y="4690322"/>
            <a:ext cx="373075" cy="220553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8" name="TextBox 67"/>
          <p:cNvSpPr txBox="1"/>
          <p:nvPr/>
        </p:nvSpPr>
        <p:spPr>
          <a:xfrm>
            <a:off x="5980176" y="4383084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-6M
(-1.8%)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002122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Weather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561735" y="4910877"/>
            <a:ext cx="373075" cy="147035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1" name="TextBox 70"/>
          <p:cNvSpPr txBox="1"/>
          <p:nvPr/>
        </p:nvSpPr>
        <p:spPr>
          <a:xfrm>
            <a:off x="6452007" y="460363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-4M
(-1.2%)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473951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Macro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33564" y="5057912"/>
            <a:ext cx="373075" cy="110276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4" name="TextBox 73"/>
          <p:cNvSpPr txBox="1"/>
          <p:nvPr/>
        </p:nvSpPr>
        <p:spPr>
          <a:xfrm>
            <a:off x="6923837" y="4750673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-3M
(-0.9%)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45781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Competition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505394" y="5168189"/>
            <a:ext cx="373075" cy="43891"/>
          </a:xfrm>
          <a:prstGeom prst="rect">
            <a:avLst/>
          </a:prstGeom>
          <a:solidFill>
            <a:srgbClr val="EC5C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7" name="TextBox 76"/>
          <p:cNvSpPr txBox="1"/>
          <p:nvPr/>
        </p:nvSpPr>
        <p:spPr>
          <a:xfrm>
            <a:off x="7395666" y="4860949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-1M
(-0.3%)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417612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Footprint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760721" y="2874874"/>
            <a:ext cx="2249423" cy="614477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5C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EC5C17"/>
                </a:solidFill>
                <a:latin typeface="Aptos"/>
              </a:rPr>
              <a:t>-14M external
context
(-4.2%)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(Weather, macro,
competition)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6858000" y="3489350"/>
            <a:ext cx="0" cy="899770"/>
          </a:xfrm>
          <a:prstGeom prst="line">
            <a:avLst/>
          </a:prstGeom>
          <a:ln w="13335">
            <a:solidFill>
              <a:srgbClr val="EC5C17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Rectangle 80"/>
          <p:cNvSpPr/>
          <p:nvPr/>
        </p:nvSpPr>
        <p:spPr>
          <a:xfrm>
            <a:off x="8383219" y="4837358"/>
            <a:ext cx="373075" cy="367589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2" name="TextBox 81"/>
          <p:cNvSpPr txBox="1"/>
          <p:nvPr/>
        </p:nvSpPr>
        <p:spPr>
          <a:xfrm>
            <a:off x="8273491" y="453012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+10M
(+3.0%)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295437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Pricing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55050" y="4506529"/>
            <a:ext cx="373075" cy="330829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5" name="TextBox 84"/>
          <p:cNvSpPr txBox="1"/>
          <p:nvPr/>
        </p:nvSpPr>
        <p:spPr>
          <a:xfrm>
            <a:off x="8745322" y="4199290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+9M
(+2.7%)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767267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Promo /
Value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326880" y="4249216"/>
            <a:ext cx="373075" cy="257311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88" name="TextBox 87"/>
          <p:cNvSpPr txBox="1"/>
          <p:nvPr/>
        </p:nvSpPr>
        <p:spPr>
          <a:xfrm>
            <a:off x="9217152" y="3941977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+7M
(+2.1%)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239098" y="5952744"/>
            <a:ext cx="548640" cy="15326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Media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798711" y="4028663"/>
            <a:ext cx="373075" cy="220553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1" name="TextBox 90"/>
          <p:cNvSpPr txBox="1"/>
          <p:nvPr/>
        </p:nvSpPr>
        <p:spPr>
          <a:xfrm>
            <a:off x="9688983" y="3721425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+6M
(+1.8%)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71092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LTO /
Innovation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0270541" y="3918387"/>
            <a:ext cx="373075" cy="110276"/>
          </a:xfrm>
          <a:prstGeom prst="rect">
            <a:avLst/>
          </a:prstGeom>
          <a:solidFill>
            <a:srgbClr val="1C65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4" name="TextBox 93"/>
          <p:cNvSpPr txBox="1"/>
          <p:nvPr/>
        </p:nvSpPr>
        <p:spPr>
          <a:xfrm>
            <a:off x="10160813" y="361114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+3M
(+0.9%)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182758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Digital /
CRM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8317382" y="2820010"/>
            <a:ext cx="2743200" cy="6364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C6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87782" rIns="87782" rtlCol="0" anchor="ctr"/>
          <a:lstStyle/>
          <a:p>
            <a:pPr algn="ctr"/>
            <a:r>
              <a:rPr sz="1392" b="1">
                <a:solidFill>
                  <a:srgbClr val="1C65D5"/>
                </a:solidFill>
                <a:latin typeface="Aptos"/>
              </a:rPr>
              <a:t>+35M commercial
movement
(+10.6%)</a:t>
            </a:r>
          </a:p>
          <a:p>
            <a:pPr algn="ctr">
              <a:spcBef>
                <a:spcPts val="120"/>
              </a:spcBef>
            </a:pPr>
            <a:r>
              <a:rPr sz="864">
                <a:solidFill>
                  <a:srgbClr val="4D5054"/>
                </a:solidFill>
                <a:latin typeface="Aptos"/>
              </a:rPr>
              <a:t>(Pricing, promo, media, LTO, digital)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9678010" y="3467405"/>
            <a:ext cx="0" cy="921715"/>
          </a:xfrm>
          <a:prstGeom prst="line">
            <a:avLst/>
          </a:prstGeom>
          <a:ln w="13335">
            <a:solidFill>
              <a:srgbClr val="1C65D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Rectangle 97"/>
          <p:cNvSpPr/>
          <p:nvPr/>
        </p:nvSpPr>
        <p:spPr>
          <a:xfrm>
            <a:off x="11038637" y="3918387"/>
            <a:ext cx="373075" cy="147035"/>
          </a:xfrm>
          <a:prstGeom prst="rect">
            <a:avLst/>
          </a:prstGeom>
          <a:solidFill>
            <a:srgbClr val="9094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99" name="TextBox 98"/>
          <p:cNvSpPr txBox="1"/>
          <p:nvPr/>
        </p:nvSpPr>
        <p:spPr>
          <a:xfrm>
            <a:off x="10928909" y="3611148"/>
            <a:ext cx="592531" cy="3028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840" b="1">
                <a:solidFill>
                  <a:srgbClr val="000000"/>
                </a:solidFill>
                <a:latin typeface="Aptos"/>
              </a:rPr>
              <a:t>-4M
(-1.2%)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0950854" y="5952744"/>
            <a:ext cx="548640" cy="262201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08">
                <a:solidFill>
                  <a:srgbClr val="000000"/>
                </a:solidFill>
                <a:latin typeface="Aptos"/>
              </a:rPr>
              <a:t>Gap /
Residual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1982298" y="4065422"/>
            <a:ext cx="373075" cy="1837944"/>
          </a:xfrm>
          <a:prstGeom prst="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02" name="TextBox 101"/>
          <p:cNvSpPr txBox="1"/>
          <p:nvPr/>
        </p:nvSpPr>
        <p:spPr>
          <a:xfrm>
            <a:off x="11850624" y="3736239"/>
            <a:ext cx="636422" cy="35081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996" b="1">
                <a:solidFill>
                  <a:srgbClr val="000000"/>
                </a:solidFill>
                <a:latin typeface="Aptos"/>
              </a:rPr>
              <a:t>350M
(106.1%)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1872570" y="5952745"/>
            <a:ext cx="592531" cy="288105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ctr"/>
            <a:r>
              <a:rPr sz="792" b="1">
                <a:solidFill>
                  <a:srgbClr val="000000"/>
                </a:solidFill>
                <a:latin typeface="Aptos"/>
              </a:rPr>
              <a:t>2025
Actual GC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11411712" y="4065422"/>
            <a:ext cx="570586" cy="0"/>
          </a:xfrm>
          <a:prstGeom prst="line">
            <a:avLst/>
          </a:prstGeom>
          <a:ln w="10795">
            <a:solidFill>
              <a:srgbClr val="4D505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 104"/>
          <p:cNvCxnSpPr/>
          <p:nvPr/>
        </p:nvCxnSpPr>
        <p:spPr>
          <a:xfrm>
            <a:off x="219456" y="5903366"/>
            <a:ext cx="12322454" cy="0"/>
          </a:xfrm>
          <a:prstGeom prst="line">
            <a:avLst/>
          </a:prstGeom>
          <a:ln w="9525">
            <a:solidFill>
              <a:srgbClr val="4D505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6" name="Rounded Rectangle 105"/>
          <p:cNvSpPr/>
          <p:nvPr/>
        </p:nvSpPr>
        <p:spPr>
          <a:xfrm>
            <a:off x="12563856" y="1887322"/>
            <a:ext cx="1645920" cy="4663440"/>
          </a:xfrm>
          <a:prstGeom prst="roundRect">
            <a:avLst/>
          </a:prstGeom>
          <a:solidFill>
            <a:srgbClr val="F6F8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07" name="TextBox 106"/>
          <p:cNvSpPr txBox="1"/>
          <p:nvPr/>
        </p:nvSpPr>
        <p:spPr>
          <a:xfrm>
            <a:off x="12739421" y="2139696"/>
            <a:ext cx="127284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>
                <a:solidFill>
                  <a:srgbClr val="081B49"/>
                </a:solidFill>
                <a:latin typeface="Aptos"/>
              </a:rPr>
              <a:t>KEY
TAKEAWAYS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12673584" y="2545690"/>
            <a:ext cx="1349654" cy="0"/>
          </a:xfrm>
          <a:prstGeom prst="line">
            <a:avLst/>
          </a:prstGeom>
          <a:ln w="12700">
            <a:solidFill>
              <a:srgbClr val="081B4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12706502" y="2798064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148943"/>
                </a:solidFill>
                <a:latin typeface="Aptos"/>
              </a:rPr>
              <a:t>1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3035686" y="2830982"/>
            <a:ext cx="954634" cy="4537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148943"/>
                </a:solidFill>
                <a:latin typeface="Aptos"/>
              </a:rPr>
              <a:t>Foundation
protects the base.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3035686" y="3258922"/>
            <a:ext cx="987552" cy="25109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Adds +23M (+7.0%)
and prevents erosion.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12673584" y="3950207"/>
            <a:ext cx="1349654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TextBox 112"/>
          <p:cNvSpPr txBox="1"/>
          <p:nvPr/>
        </p:nvSpPr>
        <p:spPr>
          <a:xfrm>
            <a:off x="12706502" y="4037989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1C65D5"/>
                </a:solidFill>
                <a:latin typeface="Aptos"/>
              </a:rPr>
              <a:t>2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3035686" y="4070908"/>
            <a:ext cx="954634" cy="4537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1C65D5"/>
                </a:solidFill>
                <a:latin typeface="Aptos"/>
              </a:rPr>
              <a:t>Commercial actions
move growth.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35686" y="4498847"/>
            <a:ext cx="987552" cy="3766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Delivers +35M
(+10.6%) above the
protected base.</a:t>
            </a:r>
          </a:p>
        </p:txBody>
      </p:sp>
      <p:cxnSp>
        <p:nvCxnSpPr>
          <p:cNvPr id="116" name="Connector 115"/>
          <p:cNvCxnSpPr/>
          <p:nvPr/>
        </p:nvCxnSpPr>
        <p:spPr>
          <a:xfrm>
            <a:off x="12673584" y="5190134"/>
            <a:ext cx="1349654" cy="0"/>
          </a:xfrm>
          <a:prstGeom prst="line">
            <a:avLst/>
          </a:prstGeom>
          <a:ln w="8890">
            <a:solidFill>
              <a:srgbClr val="D9DDE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TextBox 116"/>
          <p:cNvSpPr txBox="1"/>
          <p:nvPr/>
        </p:nvSpPr>
        <p:spPr>
          <a:xfrm>
            <a:off x="12706502" y="5277917"/>
            <a:ext cx="219456" cy="2954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920" b="1">
                <a:solidFill>
                  <a:srgbClr val="4D5054"/>
                </a:solidFill>
                <a:latin typeface="Aptos"/>
              </a:rPr>
              <a:t>3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3035686" y="5310836"/>
            <a:ext cx="954634" cy="3025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83" b="1">
                <a:solidFill>
                  <a:srgbClr val="4D5054"/>
                </a:solidFill>
                <a:latin typeface="Aptos"/>
              </a:rPr>
              <a:t>Data gaps
remain visible.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3035686" y="5738775"/>
            <a:ext cx="987552" cy="50218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16">
                <a:solidFill>
                  <a:srgbClr val="4D5054"/>
                </a:solidFill>
                <a:latin typeface="Aptos"/>
              </a:rPr>
              <a:t>-4M (-1.2%) remains
unmeasured; close with
better data capture.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1887322" y="7132320"/>
            <a:ext cx="2249423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1" name="TextBox 120"/>
          <p:cNvSpPr txBox="1"/>
          <p:nvPr/>
        </p:nvSpPr>
        <p:spPr>
          <a:xfrm>
            <a:off x="1920241" y="7231076"/>
            <a:ext cx="218358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148943"/>
                </a:solidFill>
                <a:latin typeface="Aptos"/>
              </a:rPr>
              <a:t>+23M (+7.0%)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920241" y="7472477"/>
            <a:ext cx="218358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148943"/>
                </a:solidFill>
                <a:latin typeface="Aptos"/>
              </a:rPr>
              <a:t>Foundation / BAU
Protects base / improves BAU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4136745" y="7132320"/>
            <a:ext cx="2249423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4" name="TextBox 123"/>
          <p:cNvSpPr txBox="1"/>
          <p:nvPr/>
        </p:nvSpPr>
        <p:spPr>
          <a:xfrm>
            <a:off x="4169663" y="7231076"/>
            <a:ext cx="2183586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EC5C17"/>
                </a:solidFill>
                <a:latin typeface="Aptos"/>
              </a:rPr>
              <a:t>-14M (-4.2%)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169663" y="7472477"/>
            <a:ext cx="2183586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EC5C17"/>
                </a:solidFill>
                <a:latin typeface="Aptos"/>
              </a:rPr>
              <a:t>External Context
Headwinds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6386168" y="7132320"/>
            <a:ext cx="2468880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27" name="TextBox 126"/>
          <p:cNvSpPr txBox="1"/>
          <p:nvPr/>
        </p:nvSpPr>
        <p:spPr>
          <a:xfrm>
            <a:off x="6419088" y="7231076"/>
            <a:ext cx="2403043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1C65D5"/>
                </a:solidFill>
                <a:latin typeface="Aptos"/>
              </a:rPr>
              <a:t>+35M (+10.6%)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419088" y="7472477"/>
            <a:ext cx="2403043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1C65D5"/>
                </a:solidFill>
                <a:latin typeface="Aptos"/>
              </a:rPr>
              <a:t>Commercial Actions
Drive Growth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8855050" y="7132320"/>
            <a:ext cx="1898294" cy="68031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DD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30" name="TextBox 129"/>
          <p:cNvSpPr txBox="1"/>
          <p:nvPr/>
        </p:nvSpPr>
        <p:spPr>
          <a:xfrm>
            <a:off x="8887968" y="7231076"/>
            <a:ext cx="1832458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4D5054"/>
                </a:solidFill>
                <a:latin typeface="Aptos"/>
              </a:rPr>
              <a:t>-4M (-1.2%)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8887968" y="7472477"/>
            <a:ext cx="1832458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4D5054"/>
                </a:solidFill>
                <a:latin typeface="Aptos"/>
              </a:rPr>
              <a:t>Gap / Residual
Unmeasured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10753344" y="7132320"/>
            <a:ext cx="1975104" cy="680314"/>
          </a:xfrm>
          <a:prstGeom prst="roundRect">
            <a:avLst/>
          </a:prstGeom>
          <a:solidFill>
            <a:srgbClr val="081B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33" name="TextBox 132"/>
          <p:cNvSpPr txBox="1"/>
          <p:nvPr/>
        </p:nvSpPr>
        <p:spPr>
          <a:xfrm>
            <a:off x="10786263" y="7231076"/>
            <a:ext cx="1909267" cy="1957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72" b="1">
                <a:solidFill>
                  <a:srgbClr val="FFFFFF"/>
                </a:solidFill>
                <a:latin typeface="Aptos"/>
              </a:rPr>
              <a:t>+20M (+6.1%)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0786263" y="7472477"/>
            <a:ext cx="1909267" cy="2769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Aptos"/>
              </a:rPr>
              <a:t>Net Change
vs. 2024 Actual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74320" y="7878471"/>
            <a:ext cx="8339328" cy="164353"/>
          </a:xfrm>
          <a:prstGeom prst="rect">
            <a:avLst/>
          </a:prstGeom>
          <a:noFill/>
        </p:spPr>
        <p:txBody>
          <a:bodyPr wrap="square" lIns="21946" tIns="21946" rIns="21946" bIns="21946" anchor="t">
            <a:spAutoFit/>
          </a:bodyPr>
          <a:lstStyle/>
          <a:p>
            <a:pPr algn="l"/>
            <a:r>
              <a:rPr sz="780">
                <a:solidFill>
                  <a:srgbClr val="4D5054"/>
                </a:solidFill>
                <a:latin typeface="Aptos"/>
              </a:rPr>
              <a:t>Note: Percentages shown vs. 2024 Actual GC (330M). Numbers may not sum due to rounding.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B06B05-3721-4679-3164-8B90CF4AA3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" y="0"/>
            <a:ext cx="1462262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7038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63D3E4-AEAF-C55B-68A3-A432A29719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7" y="0"/>
            <a:ext cx="1462262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84433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9456" y="131674"/>
            <a:ext cx="12563856" cy="39502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r>
              <a:rPr lang="en-US" sz="2700" b="1" dirty="0">
                <a:solidFill>
                  <a:srgbClr val="061641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GC Performance Overview: Protected Base + Growth Momentum + External Context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241402" y="636422"/>
            <a:ext cx="12673584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1272" dirty="0">
                <a:solidFill>
                  <a:srgbClr val="525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leadership view of whether the business base was protected, how external context shaped the starting point, and what created incremental growth.</a:t>
            </a:r>
            <a:endParaRPr lang="en-US" sz="1272" dirty="0"/>
          </a:p>
        </p:txBody>
      </p:sp>
      <p:sp>
        <p:nvSpPr>
          <p:cNvPr id="4" name="Shape 2"/>
          <p:cNvSpPr/>
          <p:nvPr/>
        </p:nvSpPr>
        <p:spPr>
          <a:xfrm>
            <a:off x="13573354" y="142646"/>
            <a:ext cx="801014" cy="340157"/>
          </a:xfrm>
          <a:prstGeom prst="roundRect">
            <a:avLst>
              <a:gd name="adj" fmla="val 32258"/>
            </a:avLst>
          </a:prstGeom>
          <a:solidFill>
            <a:srgbClr val="061641"/>
          </a:solidFill>
          <a:ln w="12700">
            <a:solidFill>
              <a:srgbClr val="061641">
                <a:alpha val="0"/>
              </a:srgbClr>
            </a:solidFill>
            <a:prstDash val="solid"/>
          </a:ln>
          <a:effectLst>
            <a:outerShdw blurRad="19050" dist="50800" dir="2700000" algn="bl" rotWithShape="0">
              <a:srgbClr val="B5B5B5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3628217" y="197510"/>
            <a:ext cx="680314" cy="186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 lnSpcReduction="10000"/>
          </a:bodyPr>
          <a:lstStyle/>
          <a:p>
            <a:pPr algn="ctr"/>
            <a:r>
              <a:rPr lang="en-US" sz="13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OF 4</a:t>
            </a:r>
            <a:endParaRPr lang="en-US" sz="1320" dirty="0"/>
          </a:p>
        </p:txBody>
      </p:sp>
      <p:sp>
        <p:nvSpPr>
          <p:cNvPr id="6" name="Shape 4"/>
          <p:cNvSpPr/>
          <p:nvPr/>
        </p:nvSpPr>
        <p:spPr>
          <a:xfrm>
            <a:off x="153619" y="1042416"/>
            <a:ext cx="14319504" cy="4334256"/>
          </a:xfrm>
          <a:prstGeom prst="roundRect">
            <a:avLst>
              <a:gd name="adj" fmla="val 2785"/>
            </a:avLst>
          </a:prstGeom>
          <a:solidFill>
            <a:srgbClr val="FFFFFF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92070" y="1349655"/>
            <a:ext cx="3950208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56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 Base</a:t>
            </a:r>
            <a:endParaRPr lang="en-US" sz="1356" dirty="0"/>
          </a:p>
        </p:txBody>
      </p:sp>
      <p:sp>
        <p:nvSpPr>
          <p:cNvPr id="8" name="Shape 6"/>
          <p:cNvSpPr/>
          <p:nvPr/>
        </p:nvSpPr>
        <p:spPr>
          <a:xfrm>
            <a:off x="2392070" y="1591056"/>
            <a:ext cx="3950208" cy="0"/>
          </a:xfrm>
          <a:prstGeom prst="line">
            <a:avLst/>
          </a:prstGeom>
          <a:noFill/>
          <a:ln w="13970">
            <a:solidFill>
              <a:srgbClr val="0B7F2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392070" y="1591056"/>
            <a:ext cx="0" cy="76810"/>
          </a:xfrm>
          <a:prstGeom prst="line">
            <a:avLst/>
          </a:prstGeom>
          <a:noFill/>
          <a:ln w="13970">
            <a:solidFill>
              <a:srgbClr val="0B7F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342278" y="1591056"/>
            <a:ext cx="0" cy="76810"/>
          </a:xfrm>
          <a:prstGeom prst="line">
            <a:avLst/>
          </a:prstGeom>
          <a:noFill/>
          <a:ln w="13970">
            <a:solidFill>
              <a:srgbClr val="0B7F2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367174" y="1569111"/>
            <a:ext cx="0" cy="43891"/>
          </a:xfrm>
          <a:prstGeom prst="line">
            <a:avLst/>
          </a:prstGeom>
          <a:noFill/>
          <a:ln w="13970">
            <a:solidFill>
              <a:srgbClr val="0B7F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06640" y="1349655"/>
            <a:ext cx="1700784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56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Context</a:t>
            </a:r>
            <a:endParaRPr lang="en-US" sz="1356" dirty="0"/>
          </a:p>
        </p:txBody>
      </p:sp>
      <p:sp>
        <p:nvSpPr>
          <p:cNvPr id="13" name="Shape 11"/>
          <p:cNvSpPr/>
          <p:nvPr/>
        </p:nvSpPr>
        <p:spPr>
          <a:xfrm>
            <a:off x="7406640" y="1591056"/>
            <a:ext cx="1700784" cy="0"/>
          </a:xfrm>
          <a:prstGeom prst="line">
            <a:avLst/>
          </a:prstGeom>
          <a:noFill/>
          <a:ln w="13970">
            <a:solidFill>
              <a:srgbClr val="F2541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06640" y="1591056"/>
            <a:ext cx="0" cy="76810"/>
          </a:xfrm>
          <a:prstGeom prst="line">
            <a:avLst/>
          </a:prstGeom>
          <a:noFill/>
          <a:ln w="13970">
            <a:solidFill>
              <a:srgbClr val="F254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07424" y="1591056"/>
            <a:ext cx="0" cy="76810"/>
          </a:xfrm>
          <a:prstGeom prst="line">
            <a:avLst/>
          </a:prstGeom>
          <a:noFill/>
          <a:ln w="13970">
            <a:solidFill>
              <a:srgbClr val="F254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57032" y="1569111"/>
            <a:ext cx="0" cy="43891"/>
          </a:xfrm>
          <a:prstGeom prst="line">
            <a:avLst/>
          </a:prstGeom>
          <a:noFill/>
          <a:ln w="13970">
            <a:solidFill>
              <a:srgbClr val="F254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59568" y="1349655"/>
            <a:ext cx="2249424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56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Momentum</a:t>
            </a:r>
            <a:endParaRPr lang="en-US" sz="1356" dirty="0"/>
          </a:p>
        </p:txBody>
      </p:sp>
      <p:sp>
        <p:nvSpPr>
          <p:cNvPr id="18" name="Shape 16"/>
          <p:cNvSpPr/>
          <p:nvPr/>
        </p:nvSpPr>
        <p:spPr>
          <a:xfrm>
            <a:off x="10259568" y="1591056"/>
            <a:ext cx="2249424" cy="0"/>
          </a:xfrm>
          <a:prstGeom prst="line">
            <a:avLst/>
          </a:prstGeom>
          <a:noFill/>
          <a:ln w="13970">
            <a:solidFill>
              <a:srgbClr val="0759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259568" y="1591056"/>
            <a:ext cx="0" cy="76810"/>
          </a:xfrm>
          <a:prstGeom prst="line">
            <a:avLst/>
          </a:prstGeom>
          <a:noFill/>
          <a:ln w="13970">
            <a:solidFill>
              <a:srgbClr val="0759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08992" y="1591056"/>
            <a:ext cx="0" cy="76810"/>
          </a:xfrm>
          <a:prstGeom prst="line">
            <a:avLst/>
          </a:prstGeom>
          <a:noFill/>
          <a:ln w="13970">
            <a:solidFill>
              <a:srgbClr val="0759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384280" y="1569111"/>
            <a:ext cx="0" cy="43891"/>
          </a:xfrm>
          <a:prstGeom prst="line">
            <a:avLst/>
          </a:prstGeom>
          <a:noFill/>
          <a:ln w="13970">
            <a:solidFill>
              <a:srgbClr val="0759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" y="2249424"/>
            <a:ext cx="658368" cy="2249424"/>
          </a:xfrm>
          <a:prstGeom prst="rect">
            <a:avLst/>
          </a:prstGeom>
          <a:solidFill>
            <a:srgbClr val="061641"/>
          </a:solidFill>
          <a:ln w="12700">
            <a:solidFill>
              <a:srgbClr val="061641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05994" y="1931213"/>
            <a:ext cx="822960" cy="21945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464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330M</a:t>
            </a:r>
            <a:endParaRPr lang="en-US" sz="1464" dirty="0"/>
          </a:p>
        </p:txBody>
      </p:sp>
      <p:sp>
        <p:nvSpPr>
          <p:cNvPr id="24" name="Text 22"/>
          <p:cNvSpPr/>
          <p:nvPr/>
        </p:nvSpPr>
        <p:spPr>
          <a:xfrm>
            <a:off x="471830" y="4718304"/>
            <a:ext cx="713232" cy="438912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2024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GC</a:t>
            </a:r>
            <a:endParaRPr lang="en-US" sz="960" dirty="0"/>
          </a:p>
        </p:txBody>
      </p:sp>
      <p:sp>
        <p:nvSpPr>
          <p:cNvPr id="25" name="Shape 23"/>
          <p:cNvSpPr/>
          <p:nvPr/>
        </p:nvSpPr>
        <p:spPr>
          <a:xfrm>
            <a:off x="2029968" y="3313786"/>
            <a:ext cx="658368" cy="1185062"/>
          </a:xfrm>
          <a:prstGeom prst="rect">
            <a:avLst/>
          </a:prstGeom>
          <a:solidFill>
            <a:srgbClr val="9C9C9C"/>
          </a:solidFill>
          <a:ln w="12700">
            <a:solidFill>
              <a:srgbClr val="9C9C9C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920240" y="2995574"/>
            <a:ext cx="877824" cy="21945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440" b="1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310M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1777594" y="4718304"/>
            <a:ext cx="1152144" cy="46085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12" b="1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Weak Foundation Base</a:t>
            </a:r>
            <a:endParaRPr lang="en-US" sz="912" dirty="0"/>
          </a:p>
          <a:p>
            <a:pPr algn="ctr"/>
            <a:r>
              <a:rPr lang="en-US" sz="912" b="1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(counterfactual)</a:t>
            </a:r>
            <a:endParaRPr lang="en-US" sz="912" dirty="0"/>
          </a:p>
        </p:txBody>
      </p:sp>
      <p:sp>
        <p:nvSpPr>
          <p:cNvPr id="28" name="Shape 26"/>
          <p:cNvSpPr/>
          <p:nvPr/>
        </p:nvSpPr>
        <p:spPr>
          <a:xfrm>
            <a:off x="1152144" y="2249424"/>
            <a:ext cx="548640" cy="1064362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700784" y="3313786"/>
            <a:ext cx="329184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42969" y="2688336"/>
            <a:ext cx="899770" cy="416966"/>
          </a:xfrm>
          <a:prstGeom prst="rect">
            <a:avLst/>
          </a:prstGeom>
          <a:solidFill>
            <a:srgbClr val="0B7F2A"/>
          </a:solidFill>
          <a:ln w="12700">
            <a:solidFill>
              <a:srgbClr val="0B7F2A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664915" y="2249424"/>
            <a:ext cx="855878" cy="38404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8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+14M</a:t>
            </a:r>
            <a:endParaRPr lang="en-US" sz="1380" dirty="0"/>
          </a:p>
          <a:p>
            <a:pPr algn="ctr"/>
            <a:r>
              <a:rPr lang="en-US" sz="138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(+4.2%)</a:t>
            </a:r>
            <a:endParaRPr lang="en-US" sz="1380" dirty="0"/>
          </a:p>
        </p:txBody>
      </p:sp>
      <p:sp>
        <p:nvSpPr>
          <p:cNvPr id="32" name="Text 30"/>
          <p:cNvSpPr/>
          <p:nvPr/>
        </p:nvSpPr>
        <p:spPr>
          <a:xfrm>
            <a:off x="3599078" y="4729277"/>
            <a:ext cx="1009498" cy="40599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Restaurant</a:t>
            </a:r>
            <a:endParaRPr lang="en-US" sz="948" dirty="0"/>
          </a:p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Foundation</a:t>
            </a:r>
            <a:endParaRPr lang="en-US" sz="948" dirty="0"/>
          </a:p>
        </p:txBody>
      </p:sp>
      <p:sp>
        <p:nvSpPr>
          <p:cNvPr id="33" name="Shape 31"/>
          <p:cNvSpPr/>
          <p:nvPr/>
        </p:nvSpPr>
        <p:spPr>
          <a:xfrm>
            <a:off x="2688336" y="3313786"/>
            <a:ext cx="954634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542739" y="2688336"/>
            <a:ext cx="592531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35270" y="2501798"/>
            <a:ext cx="899770" cy="296266"/>
          </a:xfrm>
          <a:prstGeom prst="rect">
            <a:avLst/>
          </a:prstGeom>
          <a:solidFill>
            <a:srgbClr val="0E9A36"/>
          </a:solidFill>
          <a:ln w="12700">
            <a:solidFill>
              <a:srgbClr val="0E9A36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5146243" y="2106778"/>
            <a:ext cx="855878" cy="38404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8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+9M</a:t>
            </a:r>
            <a:endParaRPr lang="en-US" sz="1380" dirty="0"/>
          </a:p>
          <a:p>
            <a:pPr algn="ctr"/>
            <a:r>
              <a:rPr lang="en-US" sz="138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(+2.7%)</a:t>
            </a:r>
            <a:endParaRPr lang="en-US" sz="1380" dirty="0"/>
          </a:p>
        </p:txBody>
      </p:sp>
      <p:sp>
        <p:nvSpPr>
          <p:cNvPr id="37" name="Text 35"/>
          <p:cNvSpPr/>
          <p:nvPr/>
        </p:nvSpPr>
        <p:spPr>
          <a:xfrm>
            <a:off x="5080406" y="4729277"/>
            <a:ext cx="1042416" cy="40599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</a:t>
            </a:r>
            <a:endParaRPr lang="en-US" sz="948" dirty="0"/>
          </a:p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</a:t>
            </a:r>
            <a:endParaRPr lang="en-US" sz="948" dirty="0"/>
          </a:p>
        </p:txBody>
      </p:sp>
      <p:sp>
        <p:nvSpPr>
          <p:cNvPr id="38" name="Shape 36"/>
          <p:cNvSpPr/>
          <p:nvPr/>
        </p:nvSpPr>
        <p:spPr>
          <a:xfrm>
            <a:off x="6035040" y="2501798"/>
            <a:ext cx="680314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715354" y="2040941"/>
            <a:ext cx="746150" cy="2457907"/>
          </a:xfrm>
          <a:prstGeom prst="rect">
            <a:avLst/>
          </a:prstGeom>
          <a:solidFill>
            <a:srgbClr val="061641"/>
          </a:solidFill>
          <a:ln w="12700">
            <a:solidFill>
              <a:srgbClr val="061641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671462" y="1722730"/>
            <a:ext cx="844906" cy="21945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44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333M</a:t>
            </a:r>
            <a:endParaRPr lang="en-US" sz="1440" dirty="0"/>
          </a:p>
        </p:txBody>
      </p:sp>
      <p:sp>
        <p:nvSpPr>
          <p:cNvPr id="41" name="Text 39"/>
          <p:cNvSpPr/>
          <p:nvPr/>
        </p:nvSpPr>
        <p:spPr>
          <a:xfrm>
            <a:off x="6627571" y="4718304"/>
            <a:ext cx="932688" cy="46085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Protected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BAU Base</a:t>
            </a:r>
            <a:endParaRPr lang="en-US" sz="960" dirty="0"/>
          </a:p>
        </p:txBody>
      </p:sp>
      <p:sp>
        <p:nvSpPr>
          <p:cNvPr id="42" name="Shape 40"/>
          <p:cNvSpPr/>
          <p:nvPr/>
        </p:nvSpPr>
        <p:spPr>
          <a:xfrm>
            <a:off x="7922361" y="2392071"/>
            <a:ext cx="899770" cy="373075"/>
          </a:xfrm>
          <a:prstGeom prst="rect">
            <a:avLst/>
          </a:prstGeom>
          <a:solidFill>
            <a:srgbClr val="F25416"/>
          </a:solidFill>
          <a:ln w="12700">
            <a:solidFill>
              <a:srgbClr val="F25416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7955280" y="3017520"/>
            <a:ext cx="833933" cy="395021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380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-14M</a:t>
            </a:r>
            <a:endParaRPr lang="en-US" sz="1380" dirty="0"/>
          </a:p>
          <a:p>
            <a:pPr algn="ctr"/>
            <a:r>
              <a:rPr lang="en-US" sz="1380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(-4.2%)</a:t>
            </a:r>
            <a:endParaRPr lang="en-US" sz="1380" dirty="0"/>
          </a:p>
        </p:txBody>
      </p:sp>
      <p:sp>
        <p:nvSpPr>
          <p:cNvPr id="44" name="Text 42"/>
          <p:cNvSpPr/>
          <p:nvPr/>
        </p:nvSpPr>
        <p:spPr>
          <a:xfrm>
            <a:off x="7878470" y="4718304"/>
            <a:ext cx="987552" cy="41696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</a:t>
            </a:r>
            <a:endParaRPr lang="en-US" sz="948" dirty="0"/>
          </a:p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</a:t>
            </a:r>
            <a:endParaRPr lang="en-US" sz="948" dirty="0"/>
          </a:p>
        </p:txBody>
      </p:sp>
      <p:sp>
        <p:nvSpPr>
          <p:cNvPr id="45" name="Shape 43"/>
          <p:cNvSpPr/>
          <p:nvPr/>
        </p:nvSpPr>
        <p:spPr>
          <a:xfrm>
            <a:off x="7461504" y="2040941"/>
            <a:ext cx="460858" cy="35113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822131" y="2765146"/>
            <a:ext cx="592531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14663" y="2765146"/>
            <a:ext cx="746150" cy="1733702"/>
          </a:xfrm>
          <a:prstGeom prst="rect">
            <a:avLst/>
          </a:prstGeom>
          <a:solidFill>
            <a:srgbClr val="061641"/>
          </a:solidFill>
          <a:ln w="12700">
            <a:solidFill>
              <a:srgbClr val="061641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9381744" y="2457907"/>
            <a:ext cx="822960" cy="21945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44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319M</a:t>
            </a:r>
            <a:endParaRPr lang="en-US" sz="1440" dirty="0"/>
          </a:p>
        </p:txBody>
      </p:sp>
      <p:sp>
        <p:nvSpPr>
          <p:cNvPr id="49" name="Text 47"/>
          <p:cNvSpPr/>
          <p:nvPr/>
        </p:nvSpPr>
        <p:spPr>
          <a:xfrm>
            <a:off x="9326880" y="4718304"/>
            <a:ext cx="987552" cy="46085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Context-Adjusted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</a:t>
            </a:r>
            <a:endParaRPr lang="en-US" sz="960" dirty="0"/>
          </a:p>
        </p:txBody>
      </p:sp>
      <p:sp>
        <p:nvSpPr>
          <p:cNvPr id="50" name="Shape 48"/>
          <p:cNvSpPr/>
          <p:nvPr/>
        </p:nvSpPr>
        <p:spPr>
          <a:xfrm>
            <a:off x="10588752" y="2139696"/>
            <a:ext cx="965606" cy="460858"/>
          </a:xfrm>
          <a:prstGeom prst="rect">
            <a:avLst/>
          </a:prstGeom>
          <a:solidFill>
            <a:srgbClr val="0759D9"/>
          </a:solidFill>
          <a:ln w="12700">
            <a:solidFill>
              <a:srgbClr val="0759D9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10621670" y="1591056"/>
            <a:ext cx="899770" cy="395021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 lnSpcReduction="10000"/>
          </a:bodyPr>
          <a:lstStyle/>
          <a:p>
            <a:pPr algn="ctr"/>
            <a:r>
              <a:rPr lang="en-US" sz="1440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+33M</a:t>
            </a:r>
            <a:endParaRPr lang="en-US" sz="1440" dirty="0"/>
          </a:p>
          <a:p>
            <a:pPr algn="ctr"/>
            <a:r>
              <a:rPr lang="en-US" sz="1440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(+10.0%)</a:t>
            </a:r>
            <a:endParaRPr lang="en-US" sz="1440" dirty="0"/>
          </a:p>
        </p:txBody>
      </p:sp>
      <p:sp>
        <p:nvSpPr>
          <p:cNvPr id="52" name="Text 50"/>
          <p:cNvSpPr/>
          <p:nvPr/>
        </p:nvSpPr>
        <p:spPr>
          <a:xfrm>
            <a:off x="10533888" y="4718304"/>
            <a:ext cx="1075334" cy="41696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</a:t>
            </a:r>
            <a:endParaRPr lang="en-US" sz="948" dirty="0"/>
          </a:p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Momentum</a:t>
            </a:r>
            <a:endParaRPr lang="en-US" sz="948" dirty="0"/>
          </a:p>
        </p:txBody>
      </p:sp>
      <p:sp>
        <p:nvSpPr>
          <p:cNvPr id="53" name="Shape 51"/>
          <p:cNvSpPr/>
          <p:nvPr/>
        </p:nvSpPr>
        <p:spPr>
          <a:xfrm>
            <a:off x="10160813" y="2765146"/>
            <a:ext cx="427939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1554359" y="2139696"/>
            <a:ext cx="581558" cy="252374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2135917" y="2392070"/>
            <a:ext cx="636422" cy="186538"/>
          </a:xfrm>
          <a:prstGeom prst="rect">
            <a:avLst/>
          </a:prstGeom>
          <a:solidFill>
            <a:srgbClr val="9C9C9C"/>
          </a:solidFill>
          <a:ln w="12700">
            <a:solidFill>
              <a:srgbClr val="9C9C9C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12070080" y="2798064"/>
            <a:ext cx="768096" cy="384048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296" b="1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-4M</a:t>
            </a:r>
            <a:endParaRPr lang="en-US" sz="1296" dirty="0"/>
          </a:p>
          <a:p>
            <a:pPr algn="ctr"/>
            <a:r>
              <a:rPr lang="en-US" sz="1296" b="1" dirty="0">
                <a:solidFill>
                  <a:srgbClr val="4A4A4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(-1.2%)</a:t>
            </a:r>
            <a:endParaRPr lang="en-US" sz="1296" dirty="0"/>
          </a:p>
        </p:txBody>
      </p:sp>
      <p:sp>
        <p:nvSpPr>
          <p:cNvPr id="57" name="Text 55"/>
          <p:cNvSpPr/>
          <p:nvPr/>
        </p:nvSpPr>
        <p:spPr>
          <a:xfrm>
            <a:off x="12037162" y="4718304"/>
            <a:ext cx="811987" cy="41696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Gap /</a:t>
            </a:r>
            <a:endParaRPr lang="en-US" sz="948" dirty="0"/>
          </a:p>
          <a:p>
            <a:pPr algn="ctr"/>
            <a:r>
              <a:rPr lang="en-US" sz="948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Residual</a:t>
            </a:r>
            <a:endParaRPr lang="en-US" sz="948" dirty="0"/>
          </a:p>
        </p:txBody>
      </p:sp>
      <p:sp>
        <p:nvSpPr>
          <p:cNvPr id="58" name="Shape 56"/>
          <p:cNvSpPr/>
          <p:nvPr/>
        </p:nvSpPr>
        <p:spPr>
          <a:xfrm>
            <a:off x="12772339" y="2578608"/>
            <a:ext cx="592531" cy="0"/>
          </a:xfrm>
          <a:prstGeom prst="line">
            <a:avLst/>
          </a:prstGeom>
          <a:noFill/>
          <a:ln w="11430">
            <a:solidFill>
              <a:srgbClr val="061641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3364871" y="2117750"/>
            <a:ext cx="702259" cy="2381098"/>
          </a:xfrm>
          <a:prstGeom prst="rect">
            <a:avLst/>
          </a:prstGeom>
          <a:solidFill>
            <a:srgbClr val="061641"/>
          </a:solidFill>
          <a:ln w="12700">
            <a:solidFill>
              <a:srgbClr val="061641">
                <a:alpha val="0"/>
              </a:srgbClr>
            </a:solidFill>
            <a:prstDash val="solid"/>
          </a:ln>
          <a:effectLst>
            <a:outerShdw blurRad="17780" dist="50800" dir="2700000" algn="bl" rotWithShape="0">
              <a:srgbClr val="B5B5B5">
                <a:alpha val="16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13299033" y="1788566"/>
            <a:ext cx="844906" cy="219456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lnSpcReduction="10000"/>
          </a:bodyPr>
          <a:lstStyle/>
          <a:p>
            <a:pPr algn="ctr"/>
            <a:r>
              <a:rPr lang="en-US" sz="144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350M</a:t>
            </a:r>
            <a:endParaRPr lang="en-US" sz="1440" dirty="0"/>
          </a:p>
        </p:txBody>
      </p:sp>
      <p:sp>
        <p:nvSpPr>
          <p:cNvPr id="61" name="Text 59"/>
          <p:cNvSpPr/>
          <p:nvPr/>
        </p:nvSpPr>
        <p:spPr>
          <a:xfrm>
            <a:off x="13156387" y="4685386"/>
            <a:ext cx="1152144" cy="60350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0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2025</a:t>
            </a:r>
            <a:endParaRPr lang="en-US" sz="900" dirty="0"/>
          </a:p>
          <a:p>
            <a:pPr algn="ctr"/>
            <a:r>
              <a:rPr lang="en-US" sz="90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Actual GC</a:t>
            </a:r>
            <a:endParaRPr lang="en-US" sz="900" dirty="0"/>
          </a:p>
          <a:p>
            <a:pPr algn="ctr"/>
            <a:r>
              <a:rPr lang="en-US" sz="900" b="1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+6.1% vs 2024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329184" y="4498848"/>
            <a:ext cx="13880592" cy="0"/>
          </a:xfrm>
          <a:prstGeom prst="line">
            <a:avLst/>
          </a:prstGeom>
          <a:noFill/>
          <a:ln w="13970">
            <a:solidFill>
              <a:srgbClr val="06164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75565" y="5574182"/>
            <a:ext cx="3434486" cy="2326234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0B7F2A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51130" y="5683911"/>
            <a:ext cx="3083357" cy="263347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62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Restaurant Foundation</a:t>
            </a:r>
            <a:endParaRPr lang="en-US" sz="1620" dirty="0"/>
          </a:p>
        </p:txBody>
      </p:sp>
      <p:sp>
        <p:nvSpPr>
          <p:cNvPr id="65" name="Shape 63"/>
          <p:cNvSpPr/>
          <p:nvPr/>
        </p:nvSpPr>
        <p:spPr>
          <a:xfrm>
            <a:off x="395021" y="6067958"/>
            <a:ext cx="2995574" cy="0"/>
          </a:xfrm>
          <a:prstGeom prst="line">
            <a:avLst/>
          </a:prstGeom>
          <a:noFill/>
          <a:ln w="15240">
            <a:solidFill>
              <a:srgbClr val="0B7F2A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6967" y="6155741"/>
            <a:ext cx="2951683" cy="32918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operating signals that must</a:t>
            </a:r>
            <a:endParaRPr lang="en-US" sz="1008" dirty="0"/>
          </a:p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remain healthy to protect the base.</a:t>
            </a:r>
            <a:endParaRPr lang="en-US" sz="1008" dirty="0"/>
          </a:p>
        </p:txBody>
      </p:sp>
      <p:sp>
        <p:nvSpPr>
          <p:cNvPr id="67" name="Text 65"/>
          <p:cNvSpPr/>
          <p:nvPr/>
        </p:nvSpPr>
        <p:spPr>
          <a:xfrm>
            <a:off x="416967" y="6550762"/>
            <a:ext cx="2951683" cy="362102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Expectation: should remain stable;</a:t>
            </a:r>
            <a:endParaRPr lang="en-US" sz="984" dirty="0"/>
          </a:p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deterioration is a red signal.</a:t>
            </a:r>
            <a:endParaRPr lang="en-US" sz="984" dirty="0"/>
          </a:p>
        </p:txBody>
      </p:sp>
      <p:sp>
        <p:nvSpPr>
          <p:cNvPr id="68" name="Text 66"/>
          <p:cNvSpPr/>
          <p:nvPr/>
        </p:nvSpPr>
        <p:spPr>
          <a:xfrm>
            <a:off x="351130" y="7077456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 of service</a:t>
            </a:r>
            <a:endParaRPr lang="en-US" sz="876" dirty="0"/>
          </a:p>
        </p:txBody>
      </p:sp>
      <p:sp>
        <p:nvSpPr>
          <p:cNvPr id="69" name="Text 67"/>
          <p:cNvSpPr/>
          <p:nvPr/>
        </p:nvSpPr>
        <p:spPr>
          <a:xfrm>
            <a:off x="2030188" y="7077456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85000" lnSpcReduction="10000"/>
          </a:bodyPr>
          <a:lstStyle/>
          <a:p>
            <a:pPr algn="ctr"/>
            <a:r>
              <a:rPr lang="en-US" sz="94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+18 sec vs target</a:t>
            </a:r>
            <a:endParaRPr lang="en-US" sz="948" dirty="0"/>
          </a:p>
        </p:txBody>
      </p:sp>
      <p:sp>
        <p:nvSpPr>
          <p:cNvPr id="70" name="Shape 68"/>
          <p:cNvSpPr/>
          <p:nvPr/>
        </p:nvSpPr>
        <p:spPr>
          <a:xfrm>
            <a:off x="2951683" y="7060997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E8002A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984601" y="7077456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88" dirty="0"/>
          </a:p>
        </p:txBody>
      </p:sp>
      <p:sp>
        <p:nvSpPr>
          <p:cNvPr id="72" name="Text 70"/>
          <p:cNvSpPr/>
          <p:nvPr/>
        </p:nvSpPr>
        <p:spPr>
          <a:xfrm>
            <a:off x="351130" y="7384695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Supply availability / OOS</a:t>
            </a:r>
            <a:endParaRPr lang="en-US" sz="876" dirty="0"/>
          </a:p>
        </p:txBody>
      </p:sp>
      <p:sp>
        <p:nvSpPr>
          <p:cNvPr id="73" name="Text 71"/>
          <p:cNvSpPr/>
          <p:nvPr/>
        </p:nvSpPr>
        <p:spPr>
          <a:xfrm>
            <a:off x="2030188" y="7384695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+2.1pp</a:t>
            </a:r>
            <a:endParaRPr lang="en-US" sz="948" dirty="0"/>
          </a:p>
        </p:txBody>
      </p:sp>
      <p:sp>
        <p:nvSpPr>
          <p:cNvPr id="74" name="Shape 72"/>
          <p:cNvSpPr/>
          <p:nvPr/>
        </p:nvSpPr>
        <p:spPr>
          <a:xfrm>
            <a:off x="2951683" y="7368235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E8002A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984601" y="7384694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</a:t>
            </a:r>
            <a:endParaRPr lang="en-US" sz="888" dirty="0"/>
          </a:p>
        </p:txBody>
      </p:sp>
      <p:sp>
        <p:nvSpPr>
          <p:cNvPr id="76" name="Text 74"/>
          <p:cNvSpPr/>
          <p:nvPr/>
        </p:nvSpPr>
        <p:spPr>
          <a:xfrm>
            <a:off x="351130" y="7691933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Technology uptime</a:t>
            </a:r>
            <a:endParaRPr lang="en-US" sz="876" dirty="0"/>
          </a:p>
        </p:txBody>
      </p:sp>
      <p:sp>
        <p:nvSpPr>
          <p:cNvPr id="77" name="Text 75"/>
          <p:cNvSpPr/>
          <p:nvPr/>
        </p:nvSpPr>
        <p:spPr>
          <a:xfrm>
            <a:off x="2030188" y="7691933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99.6% stable</a:t>
            </a:r>
            <a:endParaRPr lang="en-US" sz="948" dirty="0"/>
          </a:p>
        </p:txBody>
      </p:sp>
      <p:sp>
        <p:nvSpPr>
          <p:cNvPr id="78" name="Shape 76"/>
          <p:cNvSpPr/>
          <p:nvPr/>
        </p:nvSpPr>
        <p:spPr>
          <a:xfrm>
            <a:off x="2951683" y="7675474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B7F2A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2984601" y="7691933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888" dirty="0"/>
          </a:p>
        </p:txBody>
      </p:sp>
      <p:sp>
        <p:nvSpPr>
          <p:cNvPr id="80" name="Shape 78"/>
          <p:cNvSpPr/>
          <p:nvPr/>
        </p:nvSpPr>
        <p:spPr>
          <a:xfrm>
            <a:off x="3785616" y="5574182"/>
            <a:ext cx="3434486" cy="2326234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0B7F2A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961181" y="5683911"/>
            <a:ext cx="3083357" cy="263347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620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Commercial BAU</a:t>
            </a:r>
            <a:endParaRPr lang="en-US" sz="1620" dirty="0"/>
          </a:p>
        </p:txBody>
      </p:sp>
      <p:sp>
        <p:nvSpPr>
          <p:cNvPr id="82" name="Shape 80"/>
          <p:cNvSpPr/>
          <p:nvPr/>
        </p:nvSpPr>
        <p:spPr>
          <a:xfrm>
            <a:off x="4005072" y="6067958"/>
            <a:ext cx="2995574" cy="0"/>
          </a:xfrm>
          <a:prstGeom prst="line">
            <a:avLst/>
          </a:prstGeom>
          <a:noFill/>
          <a:ln w="15240">
            <a:solidFill>
              <a:srgbClr val="0B7F2A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027018" y="6155741"/>
            <a:ext cx="2951683" cy="32918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Always-on commercial platforms that</a:t>
            </a:r>
            <a:endParaRPr lang="en-US" sz="1008" dirty="0"/>
          </a:p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protect baseline demand.</a:t>
            </a:r>
            <a:endParaRPr lang="en-US" sz="1008" dirty="0"/>
          </a:p>
        </p:txBody>
      </p:sp>
      <p:sp>
        <p:nvSpPr>
          <p:cNvPr id="84" name="Text 82"/>
          <p:cNvSpPr/>
          <p:nvPr/>
        </p:nvSpPr>
        <p:spPr>
          <a:xfrm>
            <a:off x="4027018" y="6550762"/>
            <a:ext cx="2951683" cy="362102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Expectation: broad adoption and stable</a:t>
            </a:r>
            <a:endParaRPr lang="en-US" sz="984" dirty="0"/>
          </a:p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coverage; weak execution is a warning sign.</a:t>
            </a:r>
            <a:endParaRPr lang="en-US" sz="984" dirty="0"/>
          </a:p>
        </p:txBody>
      </p:sp>
      <p:sp>
        <p:nvSpPr>
          <p:cNvPr id="85" name="Text 83"/>
          <p:cNvSpPr/>
          <p:nvPr/>
        </p:nvSpPr>
        <p:spPr>
          <a:xfrm>
            <a:off x="3961182" y="7077456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Pricing adoption</a:t>
            </a:r>
            <a:endParaRPr lang="en-US" sz="876" dirty="0"/>
          </a:p>
        </p:txBody>
      </p:sp>
      <p:sp>
        <p:nvSpPr>
          <p:cNvPr id="86" name="Text 84"/>
          <p:cNvSpPr/>
          <p:nvPr/>
        </p:nvSpPr>
        <p:spPr>
          <a:xfrm>
            <a:off x="5640240" y="7077456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77500" lnSpcReduction="20000"/>
          </a:bodyPr>
          <a:lstStyle/>
          <a:p>
            <a:pPr algn="ctr"/>
            <a:r>
              <a:rPr lang="en-US" sz="948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72% vs 85% target</a:t>
            </a:r>
            <a:endParaRPr lang="en-US" sz="948" dirty="0"/>
          </a:p>
        </p:txBody>
      </p:sp>
      <p:sp>
        <p:nvSpPr>
          <p:cNvPr id="87" name="Shape 85"/>
          <p:cNvSpPr/>
          <p:nvPr/>
        </p:nvSpPr>
        <p:spPr>
          <a:xfrm>
            <a:off x="6561735" y="7060997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F25416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594653" y="7077456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WATCH</a:t>
            </a:r>
            <a:endParaRPr lang="en-US" sz="888" dirty="0"/>
          </a:p>
        </p:txBody>
      </p:sp>
      <p:sp>
        <p:nvSpPr>
          <p:cNvPr id="89" name="Text 87"/>
          <p:cNvSpPr/>
          <p:nvPr/>
        </p:nvSpPr>
        <p:spPr>
          <a:xfrm>
            <a:off x="3961182" y="7384695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Core / value menu coverage</a:t>
            </a:r>
            <a:endParaRPr lang="en-US" sz="876" dirty="0"/>
          </a:p>
        </p:txBody>
      </p:sp>
      <p:sp>
        <p:nvSpPr>
          <p:cNvPr id="90" name="Text 88"/>
          <p:cNvSpPr/>
          <p:nvPr/>
        </p:nvSpPr>
        <p:spPr>
          <a:xfrm>
            <a:off x="5640240" y="7384695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98%</a:t>
            </a:r>
            <a:endParaRPr lang="en-US" sz="948" dirty="0"/>
          </a:p>
        </p:txBody>
      </p:sp>
      <p:sp>
        <p:nvSpPr>
          <p:cNvPr id="91" name="Shape 89"/>
          <p:cNvSpPr/>
          <p:nvPr/>
        </p:nvSpPr>
        <p:spPr>
          <a:xfrm>
            <a:off x="6561735" y="7368235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B7F2A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594653" y="7384694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888" dirty="0"/>
          </a:p>
        </p:txBody>
      </p:sp>
      <p:sp>
        <p:nvSpPr>
          <p:cNvPr id="93" name="Text 91"/>
          <p:cNvSpPr/>
          <p:nvPr/>
        </p:nvSpPr>
        <p:spPr>
          <a:xfrm>
            <a:off x="3961182" y="7691933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Base media spend</a:t>
            </a:r>
            <a:endParaRPr lang="en-US" sz="876" dirty="0"/>
          </a:p>
        </p:txBody>
      </p:sp>
      <p:sp>
        <p:nvSpPr>
          <p:cNvPr id="94" name="Text 92"/>
          <p:cNvSpPr/>
          <p:nvPr/>
        </p:nvSpPr>
        <p:spPr>
          <a:xfrm>
            <a:off x="5640240" y="7691933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plan</a:t>
            </a:r>
            <a:endParaRPr lang="en-US" sz="948" dirty="0"/>
          </a:p>
        </p:txBody>
      </p:sp>
      <p:sp>
        <p:nvSpPr>
          <p:cNvPr id="95" name="Shape 93"/>
          <p:cNvSpPr/>
          <p:nvPr/>
        </p:nvSpPr>
        <p:spPr>
          <a:xfrm>
            <a:off x="6561735" y="7675474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B7F2A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594653" y="7691933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888" b="1" dirty="0">
                <a:solidFill>
                  <a:srgbClr val="0B7F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GOOD</a:t>
            </a:r>
            <a:endParaRPr lang="en-US" sz="888" dirty="0"/>
          </a:p>
        </p:txBody>
      </p:sp>
      <p:sp>
        <p:nvSpPr>
          <p:cNvPr id="97" name="Shape 95"/>
          <p:cNvSpPr/>
          <p:nvPr/>
        </p:nvSpPr>
        <p:spPr>
          <a:xfrm>
            <a:off x="7395667" y="5574182"/>
            <a:ext cx="3434486" cy="2326234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F25416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571232" y="5683911"/>
            <a:ext cx="3083357" cy="263347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620" b="1" dirty="0">
                <a:solidFill>
                  <a:srgbClr val="F2541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External Context</a:t>
            </a:r>
            <a:endParaRPr lang="en-US" sz="1620" dirty="0"/>
          </a:p>
        </p:txBody>
      </p:sp>
      <p:sp>
        <p:nvSpPr>
          <p:cNvPr id="99" name="Shape 97"/>
          <p:cNvSpPr/>
          <p:nvPr/>
        </p:nvSpPr>
        <p:spPr>
          <a:xfrm>
            <a:off x="7615123" y="6067958"/>
            <a:ext cx="2995574" cy="0"/>
          </a:xfrm>
          <a:prstGeom prst="line">
            <a:avLst/>
          </a:prstGeom>
          <a:noFill/>
          <a:ln w="15240">
            <a:solidFill>
              <a:srgbClr val="F25416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637069" y="6155741"/>
            <a:ext cx="2951683" cy="32918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Forces outside direct control that shaped</a:t>
            </a:r>
            <a:endParaRPr lang="en-US" sz="1008" dirty="0"/>
          </a:p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starting point.</a:t>
            </a:r>
            <a:endParaRPr lang="en-US" sz="1008" dirty="0"/>
          </a:p>
        </p:txBody>
      </p:sp>
      <p:sp>
        <p:nvSpPr>
          <p:cNvPr id="101" name="Text 99"/>
          <p:cNvSpPr/>
          <p:nvPr/>
        </p:nvSpPr>
        <p:spPr>
          <a:xfrm>
            <a:off x="7637069" y="6550762"/>
            <a:ext cx="2951683" cy="362102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Expectation: not controllable; used to</a:t>
            </a:r>
            <a:endParaRPr lang="en-US" sz="984" dirty="0"/>
          </a:p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pressure or support.</a:t>
            </a:r>
            <a:endParaRPr lang="en-US" sz="984" dirty="0"/>
          </a:p>
        </p:txBody>
      </p:sp>
      <p:sp>
        <p:nvSpPr>
          <p:cNvPr id="102" name="Text 100"/>
          <p:cNvSpPr/>
          <p:nvPr/>
        </p:nvSpPr>
        <p:spPr>
          <a:xfrm>
            <a:off x="7571233" y="7077456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Weather disruption</a:t>
            </a:r>
            <a:endParaRPr lang="en-US" sz="876" dirty="0"/>
          </a:p>
        </p:txBody>
      </p:sp>
      <p:sp>
        <p:nvSpPr>
          <p:cNvPr id="103" name="Text 101"/>
          <p:cNvSpPr/>
          <p:nvPr/>
        </p:nvSpPr>
        <p:spPr>
          <a:xfrm>
            <a:off x="9250291" y="7077456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elevated</a:t>
            </a:r>
            <a:endParaRPr lang="en-US" sz="948" dirty="0"/>
          </a:p>
        </p:txBody>
      </p:sp>
      <p:sp>
        <p:nvSpPr>
          <p:cNvPr id="104" name="Shape 102"/>
          <p:cNvSpPr/>
          <p:nvPr/>
        </p:nvSpPr>
        <p:spPr>
          <a:xfrm>
            <a:off x="10171786" y="7060997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E8002A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10204704" y="7077456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77500" lnSpcReduction="20000"/>
          </a:bodyPr>
          <a:lstStyle/>
          <a:p>
            <a:pPr algn="ctr"/>
            <a:r>
              <a:rPr lang="en-US" sz="88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</a:t>
            </a:r>
            <a:endParaRPr lang="en-US" sz="888" dirty="0"/>
          </a:p>
        </p:txBody>
      </p:sp>
      <p:sp>
        <p:nvSpPr>
          <p:cNvPr id="106" name="Text 104"/>
          <p:cNvSpPr/>
          <p:nvPr/>
        </p:nvSpPr>
        <p:spPr>
          <a:xfrm>
            <a:off x="7571233" y="7384695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Macro / consumer pressure</a:t>
            </a:r>
            <a:endParaRPr lang="en-US" sz="876" dirty="0"/>
          </a:p>
        </p:txBody>
      </p:sp>
      <p:sp>
        <p:nvSpPr>
          <p:cNvPr id="107" name="Text 105"/>
          <p:cNvSpPr/>
          <p:nvPr/>
        </p:nvSpPr>
        <p:spPr>
          <a:xfrm>
            <a:off x="9250291" y="7384695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soft</a:t>
            </a:r>
            <a:endParaRPr lang="en-US" sz="948" dirty="0"/>
          </a:p>
        </p:txBody>
      </p:sp>
      <p:sp>
        <p:nvSpPr>
          <p:cNvPr id="108" name="Shape 106"/>
          <p:cNvSpPr/>
          <p:nvPr/>
        </p:nvSpPr>
        <p:spPr>
          <a:xfrm>
            <a:off x="10171786" y="7368235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E8002A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10204704" y="7384694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77500" lnSpcReduction="20000"/>
          </a:bodyPr>
          <a:lstStyle/>
          <a:p>
            <a:pPr algn="ctr"/>
            <a:r>
              <a:rPr lang="en-US" sz="88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</a:t>
            </a:r>
            <a:endParaRPr lang="en-US" sz="888" dirty="0"/>
          </a:p>
        </p:txBody>
      </p:sp>
      <p:sp>
        <p:nvSpPr>
          <p:cNvPr id="110" name="Text 108"/>
          <p:cNvSpPr/>
          <p:nvPr/>
        </p:nvSpPr>
        <p:spPr>
          <a:xfrm>
            <a:off x="7571233" y="7691933"/>
            <a:ext cx="127076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Competition promo intensity</a:t>
            </a:r>
            <a:endParaRPr lang="en-US" sz="876" dirty="0"/>
          </a:p>
        </p:txBody>
      </p:sp>
      <p:sp>
        <p:nvSpPr>
          <p:cNvPr id="111" name="Text 109"/>
          <p:cNvSpPr/>
          <p:nvPr/>
        </p:nvSpPr>
        <p:spPr>
          <a:xfrm>
            <a:off x="9250291" y="7691933"/>
            <a:ext cx="824276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high</a:t>
            </a:r>
            <a:endParaRPr lang="en-US" sz="948" dirty="0"/>
          </a:p>
        </p:txBody>
      </p:sp>
      <p:sp>
        <p:nvSpPr>
          <p:cNvPr id="112" name="Shape 110"/>
          <p:cNvSpPr/>
          <p:nvPr/>
        </p:nvSpPr>
        <p:spPr>
          <a:xfrm>
            <a:off x="10171786" y="7675474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E8002A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0204704" y="7691933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77500" lnSpcReduction="20000"/>
          </a:bodyPr>
          <a:lstStyle/>
          <a:p>
            <a:pPr algn="ctr"/>
            <a:r>
              <a:rPr lang="en-US" sz="888" b="1" dirty="0">
                <a:solidFill>
                  <a:srgbClr val="E800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NEGATIVE</a:t>
            </a:r>
            <a:endParaRPr lang="en-US" sz="888" dirty="0"/>
          </a:p>
        </p:txBody>
      </p:sp>
      <p:sp>
        <p:nvSpPr>
          <p:cNvPr id="114" name="Shape 112"/>
          <p:cNvSpPr/>
          <p:nvPr/>
        </p:nvSpPr>
        <p:spPr>
          <a:xfrm>
            <a:off x="11005718" y="5574182"/>
            <a:ext cx="3456432" cy="2326234"/>
          </a:xfrm>
          <a:prstGeom prst="roundRect">
            <a:avLst>
              <a:gd name="adj" fmla="val 5189"/>
            </a:avLst>
          </a:prstGeom>
          <a:solidFill>
            <a:srgbClr val="FFFFFF"/>
          </a:solidFill>
          <a:ln w="12700">
            <a:solidFill>
              <a:srgbClr val="0759D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181283" y="5683911"/>
            <a:ext cx="3105302" cy="263347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620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Momentum</a:t>
            </a:r>
            <a:endParaRPr lang="en-US" sz="1620" dirty="0"/>
          </a:p>
        </p:txBody>
      </p:sp>
      <p:sp>
        <p:nvSpPr>
          <p:cNvPr id="116" name="Shape 114"/>
          <p:cNvSpPr/>
          <p:nvPr/>
        </p:nvSpPr>
        <p:spPr>
          <a:xfrm>
            <a:off x="11225174" y="6067958"/>
            <a:ext cx="3017520" cy="0"/>
          </a:xfrm>
          <a:prstGeom prst="line">
            <a:avLst/>
          </a:prstGeom>
          <a:noFill/>
          <a:ln w="15240">
            <a:solidFill>
              <a:srgbClr val="0759D9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11247120" y="6155741"/>
            <a:ext cx="2973629" cy="329184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levers that lifted GC above</a:t>
            </a:r>
            <a:endParaRPr lang="en-US" sz="1008" dirty="0"/>
          </a:p>
          <a:p>
            <a:pPr algn="ctr"/>
            <a:r>
              <a:rPr lang="en-US" sz="1008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context-adjusted base.</a:t>
            </a:r>
            <a:endParaRPr lang="en-US" sz="1008" dirty="0"/>
          </a:p>
        </p:txBody>
      </p:sp>
      <p:sp>
        <p:nvSpPr>
          <p:cNvPr id="118" name="Text 116"/>
          <p:cNvSpPr/>
          <p:nvPr/>
        </p:nvSpPr>
        <p:spPr>
          <a:xfrm>
            <a:off x="11247120" y="6550762"/>
            <a:ext cx="2973629" cy="362102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Expectation: should create flat-to-positive</a:t>
            </a:r>
            <a:endParaRPr lang="en-US" sz="984" dirty="0"/>
          </a:p>
          <a:p>
            <a:r>
              <a:rPr lang="en-US" sz="984" dirty="0">
                <a:solidFill>
                  <a:srgbClr val="11111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change, with stronger actions driving lift.</a:t>
            </a:r>
            <a:endParaRPr lang="en-US" sz="984" dirty="0"/>
          </a:p>
        </p:txBody>
      </p:sp>
      <p:sp>
        <p:nvSpPr>
          <p:cNvPr id="119" name="Text 117"/>
          <p:cNvSpPr/>
          <p:nvPr/>
        </p:nvSpPr>
        <p:spPr>
          <a:xfrm>
            <a:off x="11181284" y="7077456"/>
            <a:ext cx="127888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Realized price change</a:t>
            </a:r>
            <a:endParaRPr lang="en-US" sz="876" dirty="0"/>
          </a:p>
        </p:txBody>
      </p:sp>
      <p:sp>
        <p:nvSpPr>
          <p:cNvPr id="120" name="Text 118"/>
          <p:cNvSpPr/>
          <p:nvPr/>
        </p:nvSpPr>
        <p:spPr>
          <a:xfrm>
            <a:off x="12872191" y="7077456"/>
            <a:ext cx="829543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+4.0%</a:t>
            </a:r>
            <a:endParaRPr lang="en-US" sz="948" dirty="0"/>
          </a:p>
        </p:txBody>
      </p:sp>
      <p:sp>
        <p:nvSpPr>
          <p:cNvPr id="121" name="Shape 119"/>
          <p:cNvSpPr/>
          <p:nvPr/>
        </p:nvSpPr>
        <p:spPr>
          <a:xfrm>
            <a:off x="13803783" y="7060997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75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13836701" y="7077456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pPr algn="ctr"/>
            <a:r>
              <a:rPr lang="en-US" sz="88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</a:t>
            </a:r>
            <a:endParaRPr lang="en-US" sz="888" dirty="0"/>
          </a:p>
        </p:txBody>
      </p:sp>
      <p:sp>
        <p:nvSpPr>
          <p:cNvPr id="123" name="Text 121"/>
          <p:cNvSpPr/>
          <p:nvPr/>
        </p:nvSpPr>
        <p:spPr>
          <a:xfrm>
            <a:off x="11181284" y="7384695"/>
            <a:ext cx="127888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/ value intensity</a:t>
            </a:r>
            <a:endParaRPr lang="en-US" sz="876" dirty="0"/>
          </a:p>
        </p:txBody>
      </p:sp>
      <p:sp>
        <p:nvSpPr>
          <p:cNvPr id="124" name="Text 122"/>
          <p:cNvSpPr/>
          <p:nvPr/>
        </p:nvSpPr>
        <p:spPr>
          <a:xfrm>
            <a:off x="12872191" y="7384695"/>
            <a:ext cx="829543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+2.0pp</a:t>
            </a:r>
            <a:endParaRPr lang="en-US" sz="948" dirty="0"/>
          </a:p>
        </p:txBody>
      </p:sp>
      <p:sp>
        <p:nvSpPr>
          <p:cNvPr id="125" name="Shape 123"/>
          <p:cNvSpPr/>
          <p:nvPr/>
        </p:nvSpPr>
        <p:spPr>
          <a:xfrm>
            <a:off x="13803783" y="7368235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759D9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3836701" y="7384694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pPr algn="ctr"/>
            <a:r>
              <a:rPr lang="en-US" sz="88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</a:t>
            </a:r>
            <a:endParaRPr lang="en-US" sz="888" dirty="0"/>
          </a:p>
        </p:txBody>
      </p:sp>
      <p:sp>
        <p:nvSpPr>
          <p:cNvPr id="127" name="Text 125"/>
          <p:cNvSpPr/>
          <p:nvPr/>
        </p:nvSpPr>
        <p:spPr>
          <a:xfrm>
            <a:off x="11181284" y="7691933"/>
            <a:ext cx="1278880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r>
              <a:rPr lang="en-US" sz="876" dirty="0">
                <a:solidFill>
                  <a:srgbClr val="06164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LTO / menu innovation</a:t>
            </a:r>
            <a:endParaRPr lang="en-US" sz="876" dirty="0"/>
          </a:p>
        </p:txBody>
      </p:sp>
      <p:sp>
        <p:nvSpPr>
          <p:cNvPr id="128" name="Text 126"/>
          <p:cNvSpPr/>
          <p:nvPr/>
        </p:nvSpPr>
        <p:spPr>
          <a:xfrm>
            <a:off x="12872191" y="7691933"/>
            <a:ext cx="829543" cy="197510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/>
          </a:bodyPr>
          <a:lstStyle/>
          <a:p>
            <a:pPr algn="ctr"/>
            <a:r>
              <a:rPr lang="en-US" sz="94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+15% support</a:t>
            </a:r>
            <a:endParaRPr lang="en-US" sz="948" dirty="0"/>
          </a:p>
        </p:txBody>
      </p:sp>
      <p:sp>
        <p:nvSpPr>
          <p:cNvPr id="129" name="Shape 127"/>
          <p:cNvSpPr/>
          <p:nvPr/>
        </p:nvSpPr>
        <p:spPr>
          <a:xfrm>
            <a:off x="13803783" y="7675474"/>
            <a:ext cx="526694" cy="208483"/>
          </a:xfrm>
          <a:prstGeom prst="roundRect">
            <a:avLst>
              <a:gd name="adj" fmla="val 36842"/>
            </a:avLst>
          </a:prstGeom>
          <a:solidFill>
            <a:srgbClr val="FFFFFF"/>
          </a:solidFill>
          <a:ln w="12700">
            <a:solidFill>
              <a:srgbClr val="0759D9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3836701" y="7691933"/>
            <a:ext cx="460858" cy="175565"/>
          </a:xfrm>
          <a:prstGeom prst="rect">
            <a:avLst/>
          </a:prstGeom>
          <a:noFill/>
          <a:ln/>
        </p:spPr>
        <p:txBody>
          <a:bodyPr wrap="square" lIns="305" tIns="305" rIns="305" bIns="305" rtlCol="0" anchor="ctr">
            <a:normAutofit fontScale="92500"/>
          </a:bodyPr>
          <a:lstStyle/>
          <a:p>
            <a:pPr algn="ctr"/>
            <a:r>
              <a:rPr lang="en-US" sz="888" b="1" dirty="0">
                <a:solidFill>
                  <a:srgbClr val="0759D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POSITIVE</a:t>
            </a:r>
            <a:endParaRPr lang="en-US" sz="888" dirty="0"/>
          </a:p>
        </p:txBody>
      </p:sp>
      <p:sp>
        <p:nvSpPr>
          <p:cNvPr id="131" name="Text 129"/>
          <p:cNvSpPr/>
          <p:nvPr/>
        </p:nvSpPr>
        <p:spPr>
          <a:xfrm>
            <a:off x="230429" y="7977226"/>
            <a:ext cx="6144768" cy="14264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r>
              <a:rPr lang="en-US" sz="900" i="1" dirty="0">
                <a:solidFill>
                  <a:srgbClr val="525A6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Note: Illustrative values; percentages shown vs. 2024 Actual GC.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97510" y="87783"/>
            <a:ext cx="12728448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 lang="en-US" sz="288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 Foundation Overview: Restaurant Foundation + Commercial BAU</a:t>
            </a:r>
            <a:endParaRPr lang="en-US" sz="2880" dirty="0"/>
          </a:p>
        </p:txBody>
      </p:sp>
      <p:sp>
        <p:nvSpPr>
          <p:cNvPr id="3" name="Text 1"/>
          <p:cNvSpPr/>
          <p:nvPr/>
        </p:nvSpPr>
        <p:spPr>
          <a:xfrm>
            <a:off x="208483" y="570585"/>
            <a:ext cx="11740896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380" dirty="0">
                <a:solidFill>
                  <a:srgbClr val="52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core operating systems and always-on commercial platforms protect the GC base versus a degraded-foundation scenario.</a:t>
            </a:r>
            <a:endParaRPr lang="en-US" sz="1380" dirty="0"/>
          </a:p>
        </p:txBody>
      </p:sp>
      <p:sp>
        <p:nvSpPr>
          <p:cNvPr id="4" name="Shape 2"/>
          <p:cNvSpPr/>
          <p:nvPr/>
        </p:nvSpPr>
        <p:spPr>
          <a:xfrm>
            <a:off x="13562381" y="252375"/>
            <a:ext cx="680314" cy="307238"/>
          </a:xfrm>
          <a:prstGeom prst="roundRect">
            <a:avLst/>
          </a:prstGeom>
          <a:solidFill>
            <a:srgbClr val="071943"/>
          </a:solidFill>
          <a:ln w="10160">
            <a:solidFill>
              <a:srgbClr val="0719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562381" y="312725"/>
            <a:ext cx="680314" cy="12070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77500" lnSpcReduction="20000"/>
          </a:bodyPr>
          <a:lstStyle/>
          <a:p>
            <a:pPr algn="ctr"/>
            <a:r>
              <a:rPr lang="en-US" sz="112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OF 4</a:t>
            </a:r>
            <a:endParaRPr lang="en-US" sz="1128" dirty="0"/>
          </a:p>
        </p:txBody>
      </p:sp>
      <p:sp>
        <p:nvSpPr>
          <p:cNvPr id="6" name="Shape 4"/>
          <p:cNvSpPr/>
          <p:nvPr/>
        </p:nvSpPr>
        <p:spPr>
          <a:xfrm>
            <a:off x="197511" y="1009498"/>
            <a:ext cx="14242694" cy="2962656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3075" y="3313786"/>
            <a:ext cx="13836701" cy="0"/>
          </a:xfrm>
          <a:prstGeom prst="line">
            <a:avLst/>
          </a:prstGeom>
          <a:noFill/>
          <a:ln w="13970">
            <a:solidFill>
              <a:srgbClr val="07194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70586" y="1700784"/>
            <a:ext cx="658368" cy="1613002"/>
          </a:xfrm>
          <a:prstGeom prst="rect">
            <a:avLst/>
          </a:prstGeom>
          <a:solidFill>
            <a:srgbClr val="071943"/>
          </a:solidFill>
          <a:ln w="12700">
            <a:solidFill>
              <a:srgbClr val="071943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5722" y="1459382"/>
            <a:ext cx="76809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38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330M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460858" y="3368649"/>
            <a:ext cx="877824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2024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 GC</a:t>
            </a:r>
            <a:endParaRPr lang="en-US" sz="960" dirty="0"/>
          </a:p>
        </p:txBody>
      </p:sp>
      <p:sp>
        <p:nvSpPr>
          <p:cNvPr id="11" name="Shape 9"/>
          <p:cNvSpPr/>
          <p:nvPr/>
        </p:nvSpPr>
        <p:spPr>
          <a:xfrm>
            <a:off x="1821485" y="2249424"/>
            <a:ext cx="658368" cy="1064362"/>
          </a:xfrm>
          <a:prstGeom prst="rect">
            <a:avLst/>
          </a:prstGeom>
          <a:solidFill>
            <a:srgbClr val="9D9D9D"/>
          </a:solidFill>
          <a:ln w="12700">
            <a:solidFill>
              <a:srgbClr val="9D9D9D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766621" y="2008022"/>
            <a:ext cx="76809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38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310M</a:t>
            </a:r>
            <a:endParaRPr lang="en-US" sz="1380" dirty="0"/>
          </a:p>
        </p:txBody>
      </p:sp>
      <p:sp>
        <p:nvSpPr>
          <p:cNvPr id="13" name="Text 11"/>
          <p:cNvSpPr/>
          <p:nvPr/>
        </p:nvSpPr>
        <p:spPr>
          <a:xfrm>
            <a:off x="1711757" y="3368649"/>
            <a:ext cx="877824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Base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(counterfactual)</a:t>
            </a:r>
            <a:endParaRPr lang="en-US" sz="960" dirty="0"/>
          </a:p>
        </p:txBody>
      </p:sp>
      <p:sp>
        <p:nvSpPr>
          <p:cNvPr id="14" name="Shape 12"/>
          <p:cNvSpPr/>
          <p:nvPr/>
        </p:nvSpPr>
        <p:spPr>
          <a:xfrm>
            <a:off x="2479853" y="2249424"/>
            <a:ext cx="395021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4874" y="2128723"/>
            <a:ext cx="658368" cy="120701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0010" y="1942185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+3M</a:t>
            </a:r>
            <a:endParaRPr lang="en-US" sz="1116" dirty="0"/>
          </a:p>
        </p:txBody>
      </p:sp>
      <p:sp>
        <p:nvSpPr>
          <p:cNvPr id="17" name="Text 15"/>
          <p:cNvSpPr/>
          <p:nvPr/>
        </p:nvSpPr>
        <p:spPr>
          <a:xfrm>
            <a:off x="2743200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</a:t>
            </a:r>
            <a:endParaRPr lang="en-US" sz="948" dirty="0"/>
          </a:p>
        </p:txBody>
      </p:sp>
      <p:sp>
        <p:nvSpPr>
          <p:cNvPr id="18" name="Shape 16"/>
          <p:cNvSpPr/>
          <p:nvPr/>
        </p:nvSpPr>
        <p:spPr>
          <a:xfrm>
            <a:off x="3533242" y="2128723"/>
            <a:ext cx="230429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63670" y="2008022"/>
            <a:ext cx="658368" cy="120701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708806" y="1821485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+3M</a:t>
            </a:r>
            <a:endParaRPr lang="en-US" sz="1116" dirty="0"/>
          </a:p>
        </p:txBody>
      </p:sp>
      <p:sp>
        <p:nvSpPr>
          <p:cNvPr id="21" name="Text 19"/>
          <p:cNvSpPr/>
          <p:nvPr/>
        </p:nvSpPr>
        <p:spPr>
          <a:xfrm>
            <a:off x="3631997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OOS</a:t>
            </a:r>
            <a:endParaRPr lang="en-US" sz="948" dirty="0"/>
          </a:p>
        </p:txBody>
      </p:sp>
      <p:sp>
        <p:nvSpPr>
          <p:cNvPr id="22" name="Shape 20"/>
          <p:cNvSpPr/>
          <p:nvPr/>
        </p:nvSpPr>
        <p:spPr>
          <a:xfrm>
            <a:off x="4422038" y="2008022"/>
            <a:ext cx="241402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920240"/>
            <a:ext cx="658368" cy="87782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08576" y="1733702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+2M</a:t>
            </a:r>
            <a:endParaRPr lang="en-US" sz="1116" dirty="0"/>
          </a:p>
        </p:txBody>
      </p:sp>
      <p:sp>
        <p:nvSpPr>
          <p:cNvPr id="25" name="Text 23"/>
          <p:cNvSpPr/>
          <p:nvPr/>
        </p:nvSpPr>
        <p:spPr>
          <a:xfrm>
            <a:off x="4531767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</a:t>
            </a:r>
            <a:endParaRPr lang="en-US" sz="948" dirty="0"/>
          </a:p>
        </p:txBody>
      </p:sp>
      <p:sp>
        <p:nvSpPr>
          <p:cNvPr id="26" name="Shape 24"/>
          <p:cNvSpPr/>
          <p:nvPr/>
        </p:nvSpPr>
        <p:spPr>
          <a:xfrm>
            <a:off x="5321808" y="1920240"/>
            <a:ext cx="241402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63210" y="1788566"/>
            <a:ext cx="658368" cy="131674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08346" y="1602029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+3M</a:t>
            </a:r>
            <a:endParaRPr lang="en-US" sz="1116" dirty="0"/>
          </a:p>
        </p:txBody>
      </p:sp>
      <p:sp>
        <p:nvSpPr>
          <p:cNvPr id="29" name="Text 27"/>
          <p:cNvSpPr/>
          <p:nvPr/>
        </p:nvSpPr>
        <p:spPr>
          <a:xfrm>
            <a:off x="5431536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CX</a:t>
            </a:r>
            <a:endParaRPr lang="en-US" sz="948" dirty="0"/>
          </a:p>
        </p:txBody>
      </p:sp>
      <p:sp>
        <p:nvSpPr>
          <p:cNvPr id="30" name="Shape 28"/>
          <p:cNvSpPr/>
          <p:nvPr/>
        </p:nvSpPr>
        <p:spPr>
          <a:xfrm>
            <a:off x="6221577" y="1788566"/>
            <a:ext cx="241402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62979" y="1645920"/>
            <a:ext cx="658368" cy="142646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8115" y="1459382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+3M</a:t>
            </a:r>
            <a:endParaRPr lang="en-US" sz="1116" dirty="0"/>
          </a:p>
        </p:txBody>
      </p:sp>
      <p:sp>
        <p:nvSpPr>
          <p:cNvPr id="33" name="Text 31"/>
          <p:cNvSpPr/>
          <p:nvPr/>
        </p:nvSpPr>
        <p:spPr>
          <a:xfrm>
            <a:off x="6331306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</a:t>
            </a:r>
            <a:endParaRPr lang="en-US" sz="948" dirty="0"/>
          </a:p>
        </p:txBody>
      </p:sp>
      <p:sp>
        <p:nvSpPr>
          <p:cNvPr id="34" name="Shape 32"/>
          <p:cNvSpPr/>
          <p:nvPr/>
        </p:nvSpPr>
        <p:spPr>
          <a:xfrm>
            <a:off x="7121347" y="1645920"/>
            <a:ext cx="252374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373722" y="1645920"/>
            <a:ext cx="658368" cy="1667866"/>
          </a:xfrm>
          <a:prstGeom prst="rect">
            <a:avLst/>
          </a:prstGeom>
          <a:solidFill>
            <a:srgbClr val="071943"/>
          </a:solidFill>
          <a:ln w="12700">
            <a:solidFill>
              <a:srgbClr val="071943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8858" y="1404518"/>
            <a:ext cx="76809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38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324M</a:t>
            </a:r>
            <a:endParaRPr lang="en-US" sz="1380" dirty="0"/>
          </a:p>
        </p:txBody>
      </p:sp>
      <p:sp>
        <p:nvSpPr>
          <p:cNvPr id="37" name="Text 35"/>
          <p:cNvSpPr/>
          <p:nvPr/>
        </p:nvSpPr>
        <p:spPr>
          <a:xfrm>
            <a:off x="7263994" y="3368649"/>
            <a:ext cx="877824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960" dirty="0"/>
          </a:p>
        </p:txBody>
      </p:sp>
      <p:sp>
        <p:nvSpPr>
          <p:cNvPr id="38" name="Shape 36"/>
          <p:cNvSpPr/>
          <p:nvPr/>
        </p:nvSpPr>
        <p:spPr>
          <a:xfrm>
            <a:off x="8032090" y="1645920"/>
            <a:ext cx="416966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449056" y="1569110"/>
            <a:ext cx="658368" cy="76810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394192" y="1382573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+2M</a:t>
            </a:r>
            <a:endParaRPr lang="en-US" sz="1116" dirty="0"/>
          </a:p>
        </p:txBody>
      </p:sp>
      <p:sp>
        <p:nvSpPr>
          <p:cNvPr id="41" name="Text 39"/>
          <p:cNvSpPr/>
          <p:nvPr/>
        </p:nvSpPr>
        <p:spPr>
          <a:xfrm>
            <a:off x="8317383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948" dirty="0"/>
          </a:p>
        </p:txBody>
      </p:sp>
      <p:sp>
        <p:nvSpPr>
          <p:cNvPr id="42" name="Shape 40"/>
          <p:cNvSpPr/>
          <p:nvPr/>
        </p:nvSpPr>
        <p:spPr>
          <a:xfrm>
            <a:off x="9107424" y="1569110"/>
            <a:ext cx="219456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326880" y="1492301"/>
            <a:ext cx="658368" cy="76810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72016" y="1305763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+2M</a:t>
            </a:r>
            <a:endParaRPr lang="en-US" sz="1116" dirty="0"/>
          </a:p>
        </p:txBody>
      </p:sp>
      <p:sp>
        <p:nvSpPr>
          <p:cNvPr id="45" name="Text 43"/>
          <p:cNvSpPr/>
          <p:nvPr/>
        </p:nvSpPr>
        <p:spPr>
          <a:xfrm>
            <a:off x="9195207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Menu</a:t>
            </a:r>
            <a:endParaRPr lang="en-US" sz="948" dirty="0"/>
          </a:p>
        </p:txBody>
      </p:sp>
      <p:sp>
        <p:nvSpPr>
          <p:cNvPr id="46" name="Shape 44"/>
          <p:cNvSpPr/>
          <p:nvPr/>
        </p:nvSpPr>
        <p:spPr>
          <a:xfrm>
            <a:off x="9985248" y="1492301"/>
            <a:ext cx="208483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0193731" y="1448410"/>
            <a:ext cx="658368" cy="43891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0138867" y="1261872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+1M</a:t>
            </a:r>
            <a:endParaRPr lang="en-US" sz="1116" dirty="0"/>
          </a:p>
        </p:txBody>
      </p:sp>
      <p:sp>
        <p:nvSpPr>
          <p:cNvPr id="49" name="Text 47"/>
          <p:cNvSpPr/>
          <p:nvPr/>
        </p:nvSpPr>
        <p:spPr>
          <a:xfrm>
            <a:off x="10062058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</a:t>
            </a:r>
            <a:endParaRPr lang="en-US" sz="948" dirty="0"/>
          </a:p>
        </p:txBody>
      </p:sp>
      <p:sp>
        <p:nvSpPr>
          <p:cNvPr id="50" name="Shape 48"/>
          <p:cNvSpPr/>
          <p:nvPr/>
        </p:nvSpPr>
        <p:spPr>
          <a:xfrm>
            <a:off x="10852099" y="1448410"/>
            <a:ext cx="208483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060582" y="1360627"/>
            <a:ext cx="658368" cy="87782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1005718" y="1174089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+2M</a:t>
            </a:r>
            <a:endParaRPr lang="en-US" sz="1116" dirty="0"/>
          </a:p>
        </p:txBody>
      </p:sp>
      <p:sp>
        <p:nvSpPr>
          <p:cNvPr id="53" name="Text 51"/>
          <p:cNvSpPr/>
          <p:nvPr/>
        </p:nvSpPr>
        <p:spPr>
          <a:xfrm>
            <a:off x="10928909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948" dirty="0"/>
          </a:p>
        </p:txBody>
      </p:sp>
      <p:sp>
        <p:nvSpPr>
          <p:cNvPr id="54" name="Shape 52"/>
          <p:cNvSpPr/>
          <p:nvPr/>
        </p:nvSpPr>
        <p:spPr>
          <a:xfrm>
            <a:off x="11718950" y="1360627"/>
            <a:ext cx="219456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1938406" y="1316736"/>
            <a:ext cx="658368" cy="43891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1883542" y="1130198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+1M</a:t>
            </a:r>
            <a:endParaRPr lang="en-US" sz="1116" dirty="0"/>
          </a:p>
        </p:txBody>
      </p:sp>
      <p:sp>
        <p:nvSpPr>
          <p:cNvPr id="57" name="Text 55"/>
          <p:cNvSpPr/>
          <p:nvPr/>
        </p:nvSpPr>
        <p:spPr>
          <a:xfrm>
            <a:off x="11806733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/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CRM</a:t>
            </a:r>
            <a:endParaRPr lang="en-US" sz="948" dirty="0"/>
          </a:p>
        </p:txBody>
      </p:sp>
      <p:sp>
        <p:nvSpPr>
          <p:cNvPr id="58" name="Shape 56"/>
          <p:cNvSpPr/>
          <p:nvPr/>
        </p:nvSpPr>
        <p:spPr>
          <a:xfrm>
            <a:off x="12596775" y="1316736"/>
            <a:ext cx="208483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2805258" y="1316736"/>
            <a:ext cx="658368" cy="208483"/>
          </a:xfrm>
          <a:prstGeom prst="rect">
            <a:avLst/>
          </a:prstGeom>
          <a:solidFill>
            <a:srgbClr val="12913D"/>
          </a:solidFill>
          <a:ln w="12700">
            <a:solidFill>
              <a:srgbClr val="12913D">
                <a:alpha val="0"/>
              </a:srgbClr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2750394" y="1130198"/>
            <a:ext cx="768096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116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+1M</a:t>
            </a:r>
            <a:endParaRPr lang="en-US" sz="1116" dirty="0"/>
          </a:p>
        </p:txBody>
      </p:sp>
      <p:sp>
        <p:nvSpPr>
          <p:cNvPr id="61" name="Text 59"/>
          <p:cNvSpPr/>
          <p:nvPr/>
        </p:nvSpPr>
        <p:spPr>
          <a:xfrm>
            <a:off x="12673584" y="3368650"/>
            <a:ext cx="921715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</a:t>
            </a:r>
            <a:endParaRPr lang="en-US" sz="948" dirty="0"/>
          </a:p>
          <a:p>
            <a:pPr algn="ctr"/>
            <a:r>
              <a:rPr lang="en-US" sz="94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Availability</a:t>
            </a:r>
            <a:endParaRPr lang="en-US" sz="948" dirty="0"/>
          </a:p>
        </p:txBody>
      </p:sp>
      <p:sp>
        <p:nvSpPr>
          <p:cNvPr id="62" name="Shape 60"/>
          <p:cNvSpPr/>
          <p:nvPr/>
        </p:nvSpPr>
        <p:spPr>
          <a:xfrm>
            <a:off x="13463626" y="1525219"/>
            <a:ext cx="120701" cy="0"/>
          </a:xfrm>
          <a:prstGeom prst="line">
            <a:avLst/>
          </a:prstGeom>
          <a:noFill/>
          <a:ln w="10160">
            <a:solidFill>
              <a:srgbClr val="071943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13584326" y="1525219"/>
            <a:ext cx="658368" cy="1788566"/>
          </a:xfrm>
          <a:prstGeom prst="rect">
            <a:avLst/>
          </a:prstGeom>
          <a:solidFill>
            <a:srgbClr val="071943"/>
          </a:solidFill>
          <a:ln w="12700">
            <a:solidFill>
              <a:srgbClr val="071943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3529462" y="1283818"/>
            <a:ext cx="768096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38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333M</a:t>
            </a:r>
            <a:endParaRPr lang="en-US" sz="1380" dirty="0"/>
          </a:p>
        </p:txBody>
      </p:sp>
      <p:sp>
        <p:nvSpPr>
          <p:cNvPr id="65" name="Text 63"/>
          <p:cNvSpPr/>
          <p:nvPr/>
        </p:nvSpPr>
        <p:spPr>
          <a:xfrm>
            <a:off x="13474598" y="3368649"/>
            <a:ext cx="877824" cy="4608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Protected</a:t>
            </a:r>
            <a:endParaRPr lang="en-US" sz="960" dirty="0"/>
          </a:p>
          <a:p>
            <a:pPr algn="ctr"/>
            <a:r>
              <a:rPr lang="en-US" sz="96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BAU Base</a:t>
            </a:r>
            <a:endParaRPr lang="en-US" sz="960" dirty="0"/>
          </a:p>
        </p:txBody>
      </p:sp>
      <p:sp>
        <p:nvSpPr>
          <p:cNvPr id="66" name="Shape 64"/>
          <p:cNvSpPr/>
          <p:nvPr/>
        </p:nvSpPr>
        <p:spPr>
          <a:xfrm>
            <a:off x="2874873" y="1294790"/>
            <a:ext cx="4246474" cy="0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2874874" y="1294791"/>
            <a:ext cx="0" cy="87782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121347" y="1294791"/>
            <a:ext cx="0" cy="87782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91102" y="1042416"/>
            <a:ext cx="2414016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ctr"/>
            <a:r>
              <a:rPr lang="en-US" sz="132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Foundation</a:t>
            </a:r>
            <a:endParaRPr lang="en-US" sz="1320" dirty="0"/>
          </a:p>
        </p:txBody>
      </p:sp>
      <p:sp>
        <p:nvSpPr>
          <p:cNvPr id="70" name="Shape 68"/>
          <p:cNvSpPr/>
          <p:nvPr/>
        </p:nvSpPr>
        <p:spPr>
          <a:xfrm>
            <a:off x="8449056" y="1294790"/>
            <a:ext cx="5014570" cy="0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449056" y="1294791"/>
            <a:ext cx="0" cy="87782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3463626" y="1294791"/>
            <a:ext cx="0" cy="87782"/>
          </a:xfrm>
          <a:prstGeom prst="line">
            <a:avLst/>
          </a:prstGeom>
          <a:noFill/>
          <a:ln w="15240">
            <a:solidFill>
              <a:srgbClr val="0B7A2A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749333" y="1042416"/>
            <a:ext cx="2414016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algn="ctr"/>
            <a:r>
              <a:rPr lang="en-US" sz="132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BAU</a:t>
            </a:r>
            <a:endParaRPr lang="en-US" sz="1320" dirty="0"/>
          </a:p>
        </p:txBody>
      </p:sp>
      <p:sp>
        <p:nvSpPr>
          <p:cNvPr id="74" name="Text 72"/>
          <p:cNvSpPr/>
          <p:nvPr/>
        </p:nvSpPr>
        <p:spPr>
          <a:xfrm>
            <a:off x="7395667" y="1119226"/>
            <a:ext cx="76809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44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+14M</a:t>
            </a:r>
            <a:endParaRPr lang="en-US" sz="1440" dirty="0"/>
          </a:p>
          <a:p>
            <a:pPr algn="ctr"/>
            <a:r>
              <a:rPr lang="en-US" sz="144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(+4.2%)</a:t>
            </a:r>
            <a:endParaRPr lang="en-US" sz="1440" dirty="0"/>
          </a:p>
        </p:txBody>
      </p:sp>
      <p:sp>
        <p:nvSpPr>
          <p:cNvPr id="75" name="Text 73"/>
          <p:cNvSpPr/>
          <p:nvPr/>
        </p:nvSpPr>
        <p:spPr>
          <a:xfrm>
            <a:off x="13694054" y="1119226"/>
            <a:ext cx="603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pPr algn="ctr"/>
            <a:r>
              <a:rPr lang="en-US" sz="144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+9M</a:t>
            </a:r>
            <a:endParaRPr lang="en-US" sz="1440" dirty="0"/>
          </a:p>
          <a:p>
            <a:pPr algn="ctr"/>
            <a:r>
              <a:rPr lang="en-US" sz="144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(+2.7%)</a:t>
            </a:r>
            <a:endParaRPr lang="en-US" sz="1440" dirty="0"/>
          </a:p>
        </p:txBody>
      </p:sp>
      <p:sp>
        <p:nvSpPr>
          <p:cNvPr id="76" name="Shape 74"/>
          <p:cNvSpPr/>
          <p:nvPr/>
        </p:nvSpPr>
        <p:spPr>
          <a:xfrm>
            <a:off x="197511" y="4103827"/>
            <a:ext cx="14242694" cy="482803"/>
          </a:xfrm>
          <a:prstGeom prst="roundRect">
            <a:avLst/>
          </a:prstGeom>
          <a:solidFill>
            <a:srgbClr val="F6F8FB"/>
          </a:solidFill>
          <a:ln w="10160">
            <a:solidFill>
              <a:srgbClr val="D9DEE8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359152" y="4240987"/>
            <a:ext cx="1623974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85000" lnSpcReduction="20000"/>
          </a:bodyPr>
          <a:lstStyle/>
          <a:p>
            <a:pPr algn="r"/>
            <a:r>
              <a:rPr lang="en-US" sz="1140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this slide:</a:t>
            </a:r>
            <a:endParaRPr lang="en-US" sz="1140" dirty="0"/>
          </a:p>
        </p:txBody>
      </p:sp>
      <p:sp>
        <p:nvSpPr>
          <p:cNvPr id="78" name="Text 76"/>
          <p:cNvSpPr/>
          <p:nvPr/>
        </p:nvSpPr>
        <p:spPr>
          <a:xfrm>
            <a:off x="4027018" y="4169664"/>
            <a:ext cx="8613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r>
              <a:rPr lang="en-US" sz="108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 KPIs are expected to remain healthy and stable. Deterioration is a red signal because it puts the GC base at risk.</a:t>
            </a:r>
            <a:endParaRPr lang="en-US" sz="1080" dirty="0"/>
          </a:p>
          <a:p>
            <a:r>
              <a:rPr lang="en-US" sz="108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Foundation protects demand capture; Commercial BAU protects baseline demand.</a:t>
            </a:r>
            <a:endParaRPr lang="en-US" sz="1080" dirty="0"/>
          </a:p>
        </p:txBody>
      </p:sp>
      <p:sp>
        <p:nvSpPr>
          <p:cNvPr id="79" name="Shape 77"/>
          <p:cNvSpPr/>
          <p:nvPr/>
        </p:nvSpPr>
        <p:spPr>
          <a:xfrm>
            <a:off x="197511" y="4652467"/>
            <a:ext cx="7000646" cy="3072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B7A2A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5021" y="4784141"/>
            <a:ext cx="6605626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r>
              <a:rPr lang="en-US" sz="162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Restaurant Foundation</a:t>
            </a:r>
            <a:endParaRPr lang="en-US" sz="1620" dirty="0"/>
          </a:p>
        </p:txBody>
      </p:sp>
      <p:sp>
        <p:nvSpPr>
          <p:cNvPr id="81" name="Text 79"/>
          <p:cNvSpPr/>
          <p:nvPr/>
        </p:nvSpPr>
        <p:spPr>
          <a:xfrm>
            <a:off x="395021" y="5014570"/>
            <a:ext cx="6605626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44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operating signals that must remain healthy to protect the base.</a:t>
            </a:r>
            <a:endParaRPr lang="en-US" sz="1044" dirty="0"/>
          </a:p>
        </p:txBody>
      </p:sp>
      <p:sp>
        <p:nvSpPr>
          <p:cNvPr id="82" name="Text 80"/>
          <p:cNvSpPr/>
          <p:nvPr/>
        </p:nvSpPr>
        <p:spPr>
          <a:xfrm>
            <a:off x="395021" y="5266944"/>
            <a:ext cx="746150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 lang="en-US" sz="984" b="1" i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Expectation:</a:t>
            </a:r>
            <a:endParaRPr lang="en-US" sz="984" dirty="0"/>
          </a:p>
        </p:txBody>
      </p:sp>
      <p:sp>
        <p:nvSpPr>
          <p:cNvPr id="83" name="Text 81"/>
          <p:cNvSpPr/>
          <p:nvPr/>
        </p:nvSpPr>
        <p:spPr>
          <a:xfrm>
            <a:off x="1152144" y="5266944"/>
            <a:ext cx="584850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84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should remain stable; deterioration is a red signal.</a:t>
            </a:r>
            <a:endParaRPr lang="en-US" sz="984" dirty="0"/>
          </a:p>
        </p:txBody>
      </p:sp>
      <p:sp>
        <p:nvSpPr>
          <p:cNvPr id="84" name="Shape 82"/>
          <p:cNvSpPr/>
          <p:nvPr/>
        </p:nvSpPr>
        <p:spPr>
          <a:xfrm>
            <a:off x="395021" y="5552237"/>
            <a:ext cx="6605626" cy="0"/>
          </a:xfrm>
          <a:prstGeom prst="line">
            <a:avLst/>
          </a:prstGeom>
          <a:noFill/>
          <a:ln w="13970">
            <a:solidFill>
              <a:srgbClr val="0B7A2A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95021" y="5650992"/>
            <a:ext cx="20848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1008" dirty="0"/>
          </a:p>
        </p:txBody>
      </p:sp>
      <p:sp>
        <p:nvSpPr>
          <p:cNvPr id="86" name="Text 84"/>
          <p:cNvSpPr/>
          <p:nvPr/>
        </p:nvSpPr>
        <p:spPr>
          <a:xfrm>
            <a:off x="3741725" y="5650992"/>
            <a:ext cx="1700784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/ change</a:t>
            </a:r>
            <a:endParaRPr lang="en-US" sz="1008" dirty="0"/>
          </a:p>
        </p:txBody>
      </p:sp>
      <p:sp>
        <p:nvSpPr>
          <p:cNvPr id="87" name="Text 85"/>
          <p:cNvSpPr/>
          <p:nvPr/>
        </p:nvSpPr>
        <p:spPr>
          <a:xfrm>
            <a:off x="5969203" y="5650992"/>
            <a:ext cx="822960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008" dirty="0"/>
          </a:p>
        </p:txBody>
      </p:sp>
      <p:sp>
        <p:nvSpPr>
          <p:cNvPr id="88" name="Text 86"/>
          <p:cNvSpPr/>
          <p:nvPr/>
        </p:nvSpPr>
        <p:spPr>
          <a:xfrm>
            <a:off x="395021" y="5958231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Speed of service</a:t>
            </a:r>
            <a:endParaRPr lang="en-US" sz="978" dirty="0"/>
          </a:p>
        </p:txBody>
      </p:sp>
      <p:sp>
        <p:nvSpPr>
          <p:cNvPr id="89" name="Text 87"/>
          <p:cNvSpPr/>
          <p:nvPr/>
        </p:nvSpPr>
        <p:spPr>
          <a:xfrm>
            <a:off x="3851453" y="5958231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-18 sec vs benchmark</a:t>
            </a:r>
            <a:endParaRPr lang="en-US" sz="960" dirty="0"/>
          </a:p>
        </p:txBody>
      </p:sp>
      <p:sp>
        <p:nvSpPr>
          <p:cNvPr id="90" name="Shape 88"/>
          <p:cNvSpPr/>
          <p:nvPr/>
        </p:nvSpPr>
        <p:spPr>
          <a:xfrm>
            <a:off x="6046013" y="5930798"/>
            <a:ext cx="768096" cy="219456"/>
          </a:xfrm>
          <a:prstGeom prst="roundRect">
            <a:avLst/>
          </a:prstGeom>
          <a:solidFill>
            <a:srgbClr val="C00000"/>
          </a:solidFill>
          <a:ln w="10160">
            <a:solidFill>
              <a:srgbClr val="C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046013" y="5965912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864" dirty="0"/>
          </a:p>
        </p:txBody>
      </p:sp>
      <p:sp>
        <p:nvSpPr>
          <p:cNvPr id="92" name="Shape 90"/>
          <p:cNvSpPr/>
          <p:nvPr/>
        </p:nvSpPr>
        <p:spPr>
          <a:xfrm>
            <a:off x="395021" y="6227064"/>
            <a:ext cx="6605626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95021" y="627095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Supply availability / OOS</a:t>
            </a:r>
            <a:endParaRPr lang="en-US" sz="978" dirty="0"/>
          </a:p>
        </p:txBody>
      </p:sp>
      <p:sp>
        <p:nvSpPr>
          <p:cNvPr id="94" name="Text 92"/>
          <p:cNvSpPr/>
          <p:nvPr/>
        </p:nvSpPr>
        <p:spPr>
          <a:xfrm>
            <a:off x="3851453" y="627095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+2.1pp</a:t>
            </a:r>
            <a:endParaRPr lang="en-US" sz="960" dirty="0"/>
          </a:p>
        </p:txBody>
      </p:sp>
      <p:sp>
        <p:nvSpPr>
          <p:cNvPr id="95" name="Shape 93"/>
          <p:cNvSpPr/>
          <p:nvPr/>
        </p:nvSpPr>
        <p:spPr>
          <a:xfrm>
            <a:off x="6046013" y="6243523"/>
            <a:ext cx="768096" cy="219456"/>
          </a:xfrm>
          <a:prstGeom prst="roundRect">
            <a:avLst/>
          </a:prstGeom>
          <a:solidFill>
            <a:srgbClr val="C00000"/>
          </a:solidFill>
          <a:ln w="10160">
            <a:solidFill>
              <a:srgbClr val="C0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046013" y="627863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864" dirty="0"/>
          </a:p>
        </p:txBody>
      </p:sp>
      <p:sp>
        <p:nvSpPr>
          <p:cNvPr id="97" name="Shape 95"/>
          <p:cNvSpPr/>
          <p:nvPr/>
        </p:nvSpPr>
        <p:spPr>
          <a:xfrm>
            <a:off x="395021" y="6539789"/>
            <a:ext cx="6605626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395021" y="6583680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uptime</a:t>
            </a:r>
            <a:endParaRPr lang="en-US" sz="978" dirty="0"/>
          </a:p>
        </p:txBody>
      </p:sp>
      <p:sp>
        <p:nvSpPr>
          <p:cNvPr id="99" name="Text 97"/>
          <p:cNvSpPr/>
          <p:nvPr/>
        </p:nvSpPr>
        <p:spPr>
          <a:xfrm>
            <a:off x="3851453" y="6583680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99.6% stable</a:t>
            </a:r>
            <a:endParaRPr lang="en-US" sz="960" dirty="0"/>
          </a:p>
        </p:txBody>
      </p:sp>
      <p:sp>
        <p:nvSpPr>
          <p:cNvPr id="100" name="Shape 98"/>
          <p:cNvSpPr/>
          <p:nvPr/>
        </p:nvSpPr>
        <p:spPr>
          <a:xfrm>
            <a:off x="6046013" y="6556248"/>
            <a:ext cx="768096" cy="219456"/>
          </a:xfrm>
          <a:prstGeom prst="roundRect">
            <a:avLst/>
          </a:prstGeom>
          <a:solidFill>
            <a:srgbClr val="0B7A2A"/>
          </a:solidFill>
          <a:ln w="10160">
            <a:solidFill>
              <a:srgbClr val="0B7A2A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046013" y="6591361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864" dirty="0"/>
          </a:p>
        </p:txBody>
      </p:sp>
      <p:sp>
        <p:nvSpPr>
          <p:cNvPr id="102" name="Shape 100"/>
          <p:cNvSpPr/>
          <p:nvPr/>
        </p:nvSpPr>
        <p:spPr>
          <a:xfrm>
            <a:off x="395021" y="6852514"/>
            <a:ext cx="6605626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395021" y="689640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CSAT</a:t>
            </a:r>
            <a:endParaRPr lang="en-US" sz="978" dirty="0"/>
          </a:p>
        </p:txBody>
      </p:sp>
      <p:sp>
        <p:nvSpPr>
          <p:cNvPr id="104" name="Text 102"/>
          <p:cNvSpPr/>
          <p:nvPr/>
        </p:nvSpPr>
        <p:spPr>
          <a:xfrm>
            <a:off x="3851453" y="689640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4.3 vs 4.5 target</a:t>
            </a:r>
            <a:endParaRPr lang="en-US" sz="960" dirty="0"/>
          </a:p>
        </p:txBody>
      </p:sp>
      <p:sp>
        <p:nvSpPr>
          <p:cNvPr id="105" name="Shape 103"/>
          <p:cNvSpPr/>
          <p:nvPr/>
        </p:nvSpPr>
        <p:spPr>
          <a:xfrm>
            <a:off x="6046013" y="6868973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046013" y="690408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07" name="Shape 105"/>
          <p:cNvSpPr/>
          <p:nvPr/>
        </p:nvSpPr>
        <p:spPr>
          <a:xfrm>
            <a:off x="395021" y="7165238"/>
            <a:ext cx="6605626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95021" y="7209130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Staffing coverage</a:t>
            </a:r>
            <a:endParaRPr lang="en-US" sz="978" dirty="0"/>
          </a:p>
        </p:txBody>
      </p:sp>
      <p:sp>
        <p:nvSpPr>
          <p:cNvPr id="109" name="Text 107"/>
          <p:cNvSpPr/>
          <p:nvPr/>
        </p:nvSpPr>
        <p:spPr>
          <a:xfrm>
            <a:off x="3851453" y="7209130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 vs 97% target</a:t>
            </a:r>
            <a:endParaRPr lang="en-US" sz="960" dirty="0"/>
          </a:p>
        </p:txBody>
      </p:sp>
      <p:sp>
        <p:nvSpPr>
          <p:cNvPr id="110" name="Shape 108"/>
          <p:cNvSpPr/>
          <p:nvPr/>
        </p:nvSpPr>
        <p:spPr>
          <a:xfrm>
            <a:off x="6046013" y="7181698"/>
            <a:ext cx="768096" cy="219456"/>
          </a:xfrm>
          <a:prstGeom prst="roundRect">
            <a:avLst/>
          </a:prstGeom>
          <a:solidFill>
            <a:srgbClr val="C00000"/>
          </a:solidFill>
          <a:ln w="10160">
            <a:solidFill>
              <a:srgbClr val="C00000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046013" y="7216811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864" dirty="0"/>
          </a:p>
        </p:txBody>
      </p:sp>
      <p:sp>
        <p:nvSpPr>
          <p:cNvPr id="112" name="Shape 110"/>
          <p:cNvSpPr/>
          <p:nvPr/>
        </p:nvSpPr>
        <p:spPr>
          <a:xfrm>
            <a:off x="395021" y="7477963"/>
            <a:ext cx="6605626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395021" y="752185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hours compliance</a:t>
            </a:r>
            <a:endParaRPr lang="en-US" sz="978" dirty="0"/>
          </a:p>
        </p:txBody>
      </p:sp>
      <p:sp>
        <p:nvSpPr>
          <p:cNvPr id="114" name="Text 112"/>
          <p:cNvSpPr/>
          <p:nvPr/>
        </p:nvSpPr>
        <p:spPr>
          <a:xfrm>
            <a:off x="3851453" y="752185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 maintained</a:t>
            </a:r>
            <a:endParaRPr lang="en-US" sz="960" dirty="0"/>
          </a:p>
        </p:txBody>
      </p:sp>
      <p:sp>
        <p:nvSpPr>
          <p:cNvPr id="115" name="Shape 113"/>
          <p:cNvSpPr/>
          <p:nvPr/>
        </p:nvSpPr>
        <p:spPr>
          <a:xfrm>
            <a:off x="6046013" y="7494422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6046013" y="752953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17" name="Shape 115"/>
          <p:cNvSpPr/>
          <p:nvPr/>
        </p:nvSpPr>
        <p:spPr>
          <a:xfrm>
            <a:off x="7395667" y="4652467"/>
            <a:ext cx="7044538" cy="307238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0B7A2A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7593178" y="4784141"/>
            <a:ext cx="6649517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20000"/>
          </a:bodyPr>
          <a:lstStyle/>
          <a:p>
            <a:r>
              <a:rPr lang="en-US" sz="1620" b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BAU</a:t>
            </a:r>
            <a:endParaRPr lang="en-US" sz="1620" dirty="0"/>
          </a:p>
        </p:txBody>
      </p:sp>
      <p:sp>
        <p:nvSpPr>
          <p:cNvPr id="119" name="Text 117"/>
          <p:cNvSpPr/>
          <p:nvPr/>
        </p:nvSpPr>
        <p:spPr>
          <a:xfrm>
            <a:off x="7593178" y="5014570"/>
            <a:ext cx="6649517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44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Always-on commercial platforms that protect baseline demand.</a:t>
            </a:r>
            <a:endParaRPr lang="en-US" sz="1044" dirty="0"/>
          </a:p>
        </p:txBody>
      </p:sp>
      <p:sp>
        <p:nvSpPr>
          <p:cNvPr id="120" name="Text 118"/>
          <p:cNvSpPr/>
          <p:nvPr/>
        </p:nvSpPr>
        <p:spPr>
          <a:xfrm>
            <a:off x="7593178" y="5266944"/>
            <a:ext cx="746150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r>
              <a:rPr lang="en-US" sz="984" b="1" i="1" dirty="0">
                <a:solidFill>
                  <a:srgbClr val="0B7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Expectation:</a:t>
            </a:r>
            <a:endParaRPr lang="en-US" sz="984" dirty="0"/>
          </a:p>
        </p:txBody>
      </p:sp>
      <p:sp>
        <p:nvSpPr>
          <p:cNvPr id="121" name="Text 119"/>
          <p:cNvSpPr/>
          <p:nvPr/>
        </p:nvSpPr>
        <p:spPr>
          <a:xfrm>
            <a:off x="8350301" y="5266944"/>
            <a:ext cx="589239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84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broad adoption and stable coverage; weak execution is a warning sign.</a:t>
            </a:r>
            <a:endParaRPr lang="en-US" sz="984" dirty="0"/>
          </a:p>
        </p:txBody>
      </p:sp>
      <p:sp>
        <p:nvSpPr>
          <p:cNvPr id="122" name="Shape 120"/>
          <p:cNvSpPr/>
          <p:nvPr/>
        </p:nvSpPr>
        <p:spPr>
          <a:xfrm>
            <a:off x="7593178" y="5552237"/>
            <a:ext cx="6649517" cy="0"/>
          </a:xfrm>
          <a:prstGeom prst="line">
            <a:avLst/>
          </a:prstGeom>
          <a:noFill/>
          <a:ln w="13970">
            <a:solidFill>
              <a:srgbClr val="0B7A2A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593178" y="5650992"/>
            <a:ext cx="208483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1008" dirty="0"/>
          </a:p>
        </p:txBody>
      </p:sp>
      <p:sp>
        <p:nvSpPr>
          <p:cNvPr id="124" name="Text 122"/>
          <p:cNvSpPr/>
          <p:nvPr/>
        </p:nvSpPr>
        <p:spPr>
          <a:xfrm>
            <a:off x="10983773" y="5650992"/>
            <a:ext cx="1700784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/ change</a:t>
            </a:r>
            <a:endParaRPr lang="en-US" sz="1008" dirty="0"/>
          </a:p>
        </p:txBody>
      </p:sp>
      <p:sp>
        <p:nvSpPr>
          <p:cNvPr id="125" name="Text 123"/>
          <p:cNvSpPr/>
          <p:nvPr/>
        </p:nvSpPr>
        <p:spPr>
          <a:xfrm>
            <a:off x="13211251" y="5650992"/>
            <a:ext cx="822960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1008" b="1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Signal</a:t>
            </a:r>
            <a:endParaRPr lang="en-US" sz="1008" dirty="0"/>
          </a:p>
        </p:txBody>
      </p:sp>
      <p:sp>
        <p:nvSpPr>
          <p:cNvPr id="126" name="Text 124"/>
          <p:cNvSpPr/>
          <p:nvPr/>
        </p:nvSpPr>
        <p:spPr>
          <a:xfrm>
            <a:off x="7593178" y="5958231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adoption</a:t>
            </a:r>
            <a:endParaRPr lang="en-US" sz="978" dirty="0"/>
          </a:p>
        </p:txBody>
      </p:sp>
      <p:sp>
        <p:nvSpPr>
          <p:cNvPr id="127" name="Text 125"/>
          <p:cNvSpPr/>
          <p:nvPr/>
        </p:nvSpPr>
        <p:spPr>
          <a:xfrm>
            <a:off x="11093501" y="5958231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vs 85% target</a:t>
            </a:r>
            <a:endParaRPr lang="en-US" sz="960" dirty="0"/>
          </a:p>
        </p:txBody>
      </p:sp>
      <p:sp>
        <p:nvSpPr>
          <p:cNvPr id="128" name="Shape 126"/>
          <p:cNvSpPr/>
          <p:nvPr/>
        </p:nvSpPr>
        <p:spPr>
          <a:xfrm>
            <a:off x="13288061" y="5930798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13288061" y="5965912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30" name="Shape 128"/>
          <p:cNvSpPr/>
          <p:nvPr/>
        </p:nvSpPr>
        <p:spPr>
          <a:xfrm>
            <a:off x="7593178" y="6227064"/>
            <a:ext cx="6649517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593178" y="627095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/ value menu coverage</a:t>
            </a:r>
            <a:endParaRPr lang="en-US" sz="978" dirty="0"/>
          </a:p>
        </p:txBody>
      </p:sp>
      <p:sp>
        <p:nvSpPr>
          <p:cNvPr id="132" name="Text 130"/>
          <p:cNvSpPr/>
          <p:nvPr/>
        </p:nvSpPr>
        <p:spPr>
          <a:xfrm>
            <a:off x="11093501" y="627095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960" dirty="0"/>
          </a:p>
        </p:txBody>
      </p:sp>
      <p:sp>
        <p:nvSpPr>
          <p:cNvPr id="133" name="Shape 131"/>
          <p:cNvSpPr/>
          <p:nvPr/>
        </p:nvSpPr>
        <p:spPr>
          <a:xfrm>
            <a:off x="13288061" y="6243523"/>
            <a:ext cx="768096" cy="219456"/>
          </a:xfrm>
          <a:prstGeom prst="roundRect">
            <a:avLst/>
          </a:prstGeom>
          <a:solidFill>
            <a:srgbClr val="0B7A2A"/>
          </a:solidFill>
          <a:ln w="10160">
            <a:solidFill>
              <a:srgbClr val="0B7A2A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13288061" y="627863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864" dirty="0"/>
          </a:p>
        </p:txBody>
      </p:sp>
      <p:sp>
        <p:nvSpPr>
          <p:cNvPr id="135" name="Shape 133"/>
          <p:cNvSpPr/>
          <p:nvPr/>
        </p:nvSpPr>
        <p:spPr>
          <a:xfrm>
            <a:off x="7593178" y="6539789"/>
            <a:ext cx="6649517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7593178" y="6583680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media spend</a:t>
            </a:r>
            <a:endParaRPr lang="en-US" sz="978" dirty="0"/>
          </a:p>
        </p:txBody>
      </p:sp>
      <p:sp>
        <p:nvSpPr>
          <p:cNvPr id="137" name="Text 135"/>
          <p:cNvSpPr/>
          <p:nvPr/>
        </p:nvSpPr>
        <p:spPr>
          <a:xfrm>
            <a:off x="11093501" y="6583680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plan</a:t>
            </a:r>
            <a:endParaRPr lang="en-US" sz="960" dirty="0"/>
          </a:p>
        </p:txBody>
      </p:sp>
      <p:sp>
        <p:nvSpPr>
          <p:cNvPr id="138" name="Shape 136"/>
          <p:cNvSpPr/>
          <p:nvPr/>
        </p:nvSpPr>
        <p:spPr>
          <a:xfrm>
            <a:off x="13288061" y="6556248"/>
            <a:ext cx="768096" cy="219456"/>
          </a:xfrm>
          <a:prstGeom prst="roundRect">
            <a:avLst/>
          </a:prstGeom>
          <a:solidFill>
            <a:srgbClr val="0B7A2A"/>
          </a:solidFill>
          <a:ln w="10160">
            <a:solidFill>
              <a:srgbClr val="0B7A2A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13288061" y="6591361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GOOD</a:t>
            </a:r>
            <a:endParaRPr lang="en-US" sz="864" dirty="0"/>
          </a:p>
        </p:txBody>
      </p:sp>
      <p:sp>
        <p:nvSpPr>
          <p:cNvPr id="140" name="Shape 138"/>
          <p:cNvSpPr/>
          <p:nvPr/>
        </p:nvSpPr>
        <p:spPr>
          <a:xfrm>
            <a:off x="7593178" y="6852514"/>
            <a:ext cx="6649517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7593178" y="689640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 / value platform</a:t>
            </a:r>
            <a:endParaRPr lang="en-US" sz="978" dirty="0"/>
          </a:p>
        </p:txBody>
      </p:sp>
      <p:sp>
        <p:nvSpPr>
          <p:cNvPr id="142" name="Text 140"/>
          <p:cNvSpPr/>
          <p:nvPr/>
        </p:nvSpPr>
        <p:spPr>
          <a:xfrm>
            <a:off x="11093501" y="689640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coverage</a:t>
            </a:r>
            <a:endParaRPr lang="en-US" sz="960" dirty="0"/>
          </a:p>
        </p:txBody>
      </p:sp>
      <p:sp>
        <p:nvSpPr>
          <p:cNvPr id="143" name="Shape 141"/>
          <p:cNvSpPr/>
          <p:nvPr/>
        </p:nvSpPr>
        <p:spPr>
          <a:xfrm>
            <a:off x="13288061" y="6868973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13288061" y="690408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45" name="Shape 143"/>
          <p:cNvSpPr/>
          <p:nvPr/>
        </p:nvSpPr>
        <p:spPr>
          <a:xfrm>
            <a:off x="7593178" y="7165238"/>
            <a:ext cx="6649517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593178" y="7209130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Loyalty active base</a:t>
            </a:r>
            <a:endParaRPr lang="en-US" sz="978" dirty="0"/>
          </a:p>
        </p:txBody>
      </p:sp>
      <p:sp>
        <p:nvSpPr>
          <p:cNvPr id="147" name="Text 145"/>
          <p:cNvSpPr/>
          <p:nvPr/>
        </p:nvSpPr>
        <p:spPr>
          <a:xfrm>
            <a:off x="11093501" y="7209130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 index vs 100 baseline</a:t>
            </a:r>
            <a:endParaRPr lang="en-US" sz="960" dirty="0"/>
          </a:p>
        </p:txBody>
      </p:sp>
      <p:sp>
        <p:nvSpPr>
          <p:cNvPr id="148" name="Shape 146"/>
          <p:cNvSpPr/>
          <p:nvPr/>
        </p:nvSpPr>
        <p:spPr>
          <a:xfrm>
            <a:off x="13288061" y="7181698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3288061" y="7216811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50" name="Shape 148"/>
          <p:cNvSpPr/>
          <p:nvPr/>
        </p:nvSpPr>
        <p:spPr>
          <a:xfrm>
            <a:off x="7593178" y="7477963"/>
            <a:ext cx="6649517" cy="0"/>
          </a:xfrm>
          <a:prstGeom prst="line">
            <a:avLst/>
          </a:prstGeom>
          <a:noFill/>
          <a:ln w="6985">
            <a:solidFill>
              <a:srgbClr val="D9DEE8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7593178" y="7521855"/>
            <a:ext cx="2578608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r>
              <a:rPr lang="en-US" sz="978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availability</a:t>
            </a:r>
            <a:endParaRPr lang="en-US" sz="978" dirty="0"/>
          </a:p>
        </p:txBody>
      </p:sp>
      <p:sp>
        <p:nvSpPr>
          <p:cNvPr id="152" name="Text 150"/>
          <p:cNvSpPr/>
          <p:nvPr/>
        </p:nvSpPr>
        <p:spPr>
          <a:xfrm>
            <a:off x="11093501" y="7521855"/>
            <a:ext cx="1887322" cy="1536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/>
            <a:r>
              <a:rPr lang="en-US" sz="960" dirty="0">
                <a:solidFill>
                  <a:srgbClr val="0719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 coverage</a:t>
            </a:r>
            <a:endParaRPr lang="en-US" sz="960" dirty="0"/>
          </a:p>
        </p:txBody>
      </p:sp>
      <p:sp>
        <p:nvSpPr>
          <p:cNvPr id="153" name="Shape 151"/>
          <p:cNvSpPr/>
          <p:nvPr/>
        </p:nvSpPr>
        <p:spPr>
          <a:xfrm>
            <a:off x="13288061" y="7494422"/>
            <a:ext cx="768096" cy="219456"/>
          </a:xfrm>
          <a:prstGeom prst="roundRect">
            <a:avLst/>
          </a:prstGeom>
          <a:solidFill>
            <a:srgbClr val="F4A300"/>
          </a:solidFill>
          <a:ln w="10160">
            <a:solidFill>
              <a:srgbClr val="F4A3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13288061" y="7529536"/>
            <a:ext cx="76809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 lnSpcReduction="10000"/>
          </a:bodyPr>
          <a:lstStyle/>
          <a:p>
            <a:pPr algn="ctr"/>
            <a:r>
              <a:rPr lang="en-US" sz="864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864" dirty="0"/>
          </a:p>
        </p:txBody>
      </p:sp>
      <p:sp>
        <p:nvSpPr>
          <p:cNvPr id="155" name="Text 153"/>
          <p:cNvSpPr/>
          <p:nvPr/>
        </p:nvSpPr>
        <p:spPr>
          <a:xfrm>
            <a:off x="219456" y="7878470"/>
            <a:ext cx="9107424" cy="1316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r>
              <a:rPr lang="en-US" sz="888" i="1" dirty="0">
                <a:solidFill>
                  <a:srgbClr val="526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Note: Illustrative values; percentages shown vs. 2024 Actual GC. Status labels highlight standout KPIs only.</a:t>
            </a:r>
            <a:endParaRPr lang="en-US" sz="88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7510" y="131674"/>
            <a:ext cx="12673584" cy="528144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3000" b="1">
                <a:solidFill>
                  <a:srgbClr val="081846"/>
                </a:solidFill>
                <a:latin typeface="Arial"/>
              </a:rPr>
              <a:t>External Context Overview: Conditions Shaping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08483" y="603504"/>
            <a:ext cx="12673584" cy="27884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1380">
                <a:solidFill>
                  <a:srgbClr val="4A4E59"/>
                </a:solidFill>
                <a:latin typeface="Arial"/>
              </a:rPr>
              <a:t>Factors outside direct control can lower or raise the context-adjusted base before incremental growth levers are evaluated.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222224" y="175565"/>
            <a:ext cx="899770" cy="329184"/>
          </a:xfrm>
          <a:prstGeom prst="roundRect">
            <a:avLst/>
          </a:prstGeom>
          <a:solidFill>
            <a:srgbClr val="081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" name="TextBox 4"/>
          <p:cNvSpPr txBox="1"/>
          <p:nvPr/>
        </p:nvSpPr>
        <p:spPr>
          <a:xfrm>
            <a:off x="13288061" y="213970"/>
            <a:ext cx="768096" cy="2419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40" b="1">
                <a:solidFill>
                  <a:srgbClr val="FFFFFF"/>
                </a:solidFill>
                <a:latin typeface="Arial"/>
              </a:rPr>
              <a:t>4 OF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7510" y="1009498"/>
            <a:ext cx="14209776" cy="337962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" name="TextBox 6"/>
          <p:cNvSpPr txBox="1"/>
          <p:nvPr/>
        </p:nvSpPr>
        <p:spPr>
          <a:xfrm>
            <a:off x="5738774" y="1185063"/>
            <a:ext cx="3236976" cy="301030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524" b="1">
                <a:solidFill>
                  <a:srgbClr val="EC5514"/>
                </a:solidFill>
                <a:latin typeface="Arial"/>
              </a:rPr>
              <a:t>EXTERNAL CONTEXT DRIVERS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962656" y="1459382"/>
            <a:ext cx="8646566" cy="0"/>
          </a:xfrm>
          <a:prstGeom prst="line">
            <a:avLst/>
          </a:prstGeom>
          <a:ln w="13970">
            <a:solidFill>
              <a:srgbClr val="EC55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962656" y="1426464"/>
            <a:ext cx="0" cy="76810"/>
          </a:xfrm>
          <a:prstGeom prst="line">
            <a:avLst/>
          </a:prstGeom>
          <a:ln w="12700">
            <a:solidFill>
              <a:srgbClr val="EC55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1609222" y="1426464"/>
            <a:ext cx="0" cy="76810"/>
          </a:xfrm>
          <a:prstGeom prst="line">
            <a:avLst/>
          </a:prstGeom>
          <a:ln w="12700">
            <a:solidFill>
              <a:srgbClr val="EC55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603504" y="3752698"/>
            <a:ext cx="12947904" cy="0"/>
          </a:xfrm>
          <a:prstGeom prst="line">
            <a:avLst/>
          </a:prstGeom>
          <a:ln w="15240">
            <a:solidFill>
              <a:srgbClr val="0818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84048" y="1942186"/>
            <a:ext cx="1152144" cy="391440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1056" b="1">
                <a:solidFill>
                  <a:srgbClr val="081846"/>
                </a:solidFill>
                <a:latin typeface="Arial"/>
              </a:rPr>
              <a:t>Impact on GC
(Millions)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591056" y="2249423"/>
            <a:ext cx="548640" cy="1503274"/>
          </a:xfrm>
          <a:prstGeom prst="rect">
            <a:avLst/>
          </a:prstGeom>
          <a:solidFill>
            <a:srgbClr val="081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4" name="TextBox 13"/>
          <p:cNvSpPr txBox="1"/>
          <p:nvPr/>
        </p:nvSpPr>
        <p:spPr>
          <a:xfrm>
            <a:off x="1481327" y="1942185"/>
            <a:ext cx="768096" cy="29731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500" b="1">
                <a:solidFill>
                  <a:srgbClr val="081846"/>
                </a:solidFill>
                <a:latin typeface="Arial"/>
              </a:rPr>
              <a:t>333M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3546" y="3840481"/>
            <a:ext cx="932688" cy="361944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081846"/>
                </a:solidFill>
                <a:latin typeface="Arial"/>
              </a:rPr>
              <a:t>Protected
BAU Base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39696" y="2249423"/>
            <a:ext cx="1261872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3401568" y="2249423"/>
            <a:ext cx="548640" cy="342350"/>
          </a:xfrm>
          <a:prstGeom prst="rect">
            <a:avLst/>
          </a:prstGeom>
          <a:solidFill>
            <a:srgbClr val="EC5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18" name="TextBox 17"/>
          <p:cNvSpPr txBox="1"/>
          <p:nvPr/>
        </p:nvSpPr>
        <p:spPr>
          <a:xfrm>
            <a:off x="3357677" y="2635666"/>
            <a:ext cx="636422" cy="40593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03" b="1">
                <a:solidFill>
                  <a:srgbClr val="EC5514"/>
                </a:solidFill>
                <a:latin typeface="Arial"/>
              </a:rPr>
              <a:t>-6M
(-1.8%)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4058" y="3840480"/>
            <a:ext cx="943661" cy="210493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36" b="1">
                <a:solidFill>
                  <a:srgbClr val="081846"/>
                </a:solidFill>
                <a:latin typeface="Arial"/>
              </a:rPr>
              <a:t>Weather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50208" y="2591774"/>
            <a:ext cx="768096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718304" y="2591775"/>
            <a:ext cx="548640" cy="228234"/>
          </a:xfrm>
          <a:prstGeom prst="rect">
            <a:avLst/>
          </a:prstGeom>
          <a:solidFill>
            <a:srgbClr val="EC5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2" name="TextBox 21"/>
          <p:cNvSpPr txBox="1"/>
          <p:nvPr/>
        </p:nvSpPr>
        <p:spPr>
          <a:xfrm>
            <a:off x="4674413" y="2863901"/>
            <a:ext cx="636422" cy="40593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03" b="1">
                <a:solidFill>
                  <a:srgbClr val="EC5514"/>
                </a:solidFill>
                <a:latin typeface="Arial"/>
              </a:rPr>
              <a:t>-4M
(-1.2%)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0794" y="3840481"/>
            <a:ext cx="943661" cy="354506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36" b="1">
                <a:solidFill>
                  <a:srgbClr val="081846"/>
                </a:solidFill>
                <a:latin typeface="Arial"/>
              </a:rPr>
              <a:t>Macro /
Consumer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266944" y="2820010"/>
            <a:ext cx="768096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6035040" y="2820010"/>
            <a:ext cx="548640" cy="171175"/>
          </a:xfrm>
          <a:prstGeom prst="rect">
            <a:avLst/>
          </a:prstGeom>
          <a:solidFill>
            <a:srgbClr val="EC5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26" name="TextBox 25"/>
          <p:cNvSpPr txBox="1"/>
          <p:nvPr/>
        </p:nvSpPr>
        <p:spPr>
          <a:xfrm>
            <a:off x="5991149" y="3035076"/>
            <a:ext cx="636422" cy="40593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03" b="1">
                <a:solidFill>
                  <a:srgbClr val="EC5514"/>
                </a:solidFill>
                <a:latin typeface="Arial"/>
              </a:rPr>
              <a:t>-3M
(-0.9%)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37530" y="3840480"/>
            <a:ext cx="943661" cy="210493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36" b="1">
                <a:solidFill>
                  <a:srgbClr val="081846"/>
                </a:solidFill>
                <a:latin typeface="Arial"/>
              </a:rPr>
              <a:t>Competition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0" y="2991185"/>
            <a:ext cx="768096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351776" y="2991185"/>
            <a:ext cx="548640" cy="57058"/>
          </a:xfrm>
          <a:prstGeom prst="rect">
            <a:avLst/>
          </a:prstGeom>
          <a:solidFill>
            <a:srgbClr val="EC55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0" name="TextBox 29"/>
          <p:cNvSpPr txBox="1"/>
          <p:nvPr/>
        </p:nvSpPr>
        <p:spPr>
          <a:xfrm>
            <a:off x="7307885" y="3092135"/>
            <a:ext cx="636422" cy="40593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03" b="1">
                <a:solidFill>
                  <a:srgbClr val="EC5514"/>
                </a:solidFill>
                <a:latin typeface="Arial"/>
              </a:rPr>
              <a:t>-1M
(-0.3%)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54266" y="3840481"/>
            <a:ext cx="943661" cy="354506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36" b="1">
                <a:solidFill>
                  <a:srgbClr val="081846"/>
                </a:solidFill>
                <a:latin typeface="Arial"/>
              </a:rPr>
              <a:t>Industry /
Category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900416" y="3048244"/>
            <a:ext cx="768096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668512" y="3035077"/>
            <a:ext cx="548640" cy="26334"/>
          </a:xfrm>
          <a:prstGeom prst="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4" name="TextBox 33"/>
          <p:cNvSpPr txBox="1"/>
          <p:nvPr/>
        </p:nvSpPr>
        <p:spPr>
          <a:xfrm>
            <a:off x="8624621" y="2806842"/>
            <a:ext cx="636422" cy="398878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80" b="1">
                <a:solidFill>
                  <a:srgbClr val="4A4E59"/>
                </a:solidFill>
                <a:latin typeface="Arial"/>
              </a:rPr>
              <a:t>0M
(0.0%)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71002" y="3840481"/>
            <a:ext cx="943661" cy="354506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36" b="1">
                <a:solidFill>
                  <a:srgbClr val="081846"/>
                </a:solidFill>
                <a:latin typeface="Arial"/>
              </a:rPr>
              <a:t>Footprint /
Calendar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217152" y="3048244"/>
            <a:ext cx="1261872" cy="0"/>
          </a:xfrm>
          <a:prstGeom prst="line">
            <a:avLst/>
          </a:prstGeom>
          <a:ln w="11430">
            <a:solidFill>
              <a:srgbClr val="4A4E5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10479024" y="3048244"/>
            <a:ext cx="548640" cy="704453"/>
          </a:xfrm>
          <a:prstGeom prst="rect">
            <a:avLst/>
          </a:prstGeom>
          <a:solidFill>
            <a:srgbClr val="0818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38" name="TextBox 37"/>
          <p:cNvSpPr txBox="1"/>
          <p:nvPr/>
        </p:nvSpPr>
        <p:spPr>
          <a:xfrm>
            <a:off x="10314432" y="2741005"/>
            <a:ext cx="877824" cy="297311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500" b="1">
                <a:solidFill>
                  <a:srgbClr val="081846"/>
                </a:solidFill>
                <a:latin typeface="Arial"/>
              </a:rPr>
              <a:t>319M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04704" y="3840480"/>
            <a:ext cx="1097280" cy="361944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081846"/>
                </a:solidFill>
                <a:latin typeface="Arial"/>
              </a:rPr>
              <a:t>Context-Adjusted
Base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850624" y="1920240"/>
            <a:ext cx="1481328" cy="96560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55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1" name="TextBox 40"/>
          <p:cNvSpPr txBox="1"/>
          <p:nvPr/>
        </p:nvSpPr>
        <p:spPr>
          <a:xfrm>
            <a:off x="11938407" y="2073859"/>
            <a:ext cx="1294790" cy="62047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b="1">
                <a:solidFill>
                  <a:srgbClr val="EC5514"/>
                </a:solidFill>
                <a:latin typeface="Arial"/>
              </a:rPr>
              <a:t>-14M
(-4.2%)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2015216" y="2545690"/>
            <a:ext cx="1152144" cy="0"/>
          </a:xfrm>
          <a:prstGeom prst="line">
            <a:avLst/>
          </a:prstGeom>
          <a:ln w="12700">
            <a:solidFill>
              <a:srgbClr val="EC55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2004243" y="2655418"/>
            <a:ext cx="1141171" cy="22344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20" b="1">
                <a:solidFill>
                  <a:srgbClr val="EC5514"/>
                </a:solidFill>
                <a:latin typeface="Arial"/>
              </a:rPr>
              <a:t>external context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97510" y="4531767"/>
            <a:ext cx="14209776" cy="41696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5" name="TextBox 44"/>
          <p:cNvSpPr txBox="1"/>
          <p:nvPr/>
        </p:nvSpPr>
        <p:spPr>
          <a:xfrm>
            <a:off x="526694" y="4630522"/>
            <a:ext cx="13551408" cy="2419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140">
                <a:solidFill>
                  <a:srgbClr val="081846"/>
                </a:solidFill>
                <a:latin typeface="Arial"/>
              </a:rPr>
              <a:t>How to read this slide: External context is outside direct control; it calibrates the starting point after protected base and helps set realistic expectations for growth momentum.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97510" y="5091379"/>
            <a:ext cx="14209776" cy="268833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7" name="TextBox 46"/>
          <p:cNvSpPr txBox="1"/>
          <p:nvPr/>
        </p:nvSpPr>
        <p:spPr>
          <a:xfrm>
            <a:off x="384048" y="5255972"/>
            <a:ext cx="13825728" cy="288078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440" b="1">
                <a:solidFill>
                  <a:srgbClr val="EC5514"/>
                </a:solidFill>
                <a:latin typeface="Arial"/>
              </a:rPr>
              <a:t>EXTERNAL CONTEXT DETAIL — standout signals only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60858" y="5585155"/>
            <a:ext cx="13562381" cy="0"/>
          </a:xfrm>
          <a:prstGeom prst="line">
            <a:avLst/>
          </a:prstGeom>
          <a:ln w="12700">
            <a:solidFill>
              <a:srgbClr val="EC551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548640" y="5727802"/>
            <a:ext cx="1481328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Area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94560" y="5727802"/>
            <a:ext cx="3017520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Example KPI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31536" y="5727802"/>
            <a:ext cx="1700784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Current / change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26096" y="5727802"/>
            <a:ext cx="1591056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Benchmark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436608" y="5727802"/>
            <a:ext cx="1810512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Implication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44630" y="5727802"/>
            <a:ext cx="1700784" cy="225305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1032" b="1">
                <a:solidFill>
                  <a:srgbClr val="081846"/>
                </a:solidFill>
                <a:latin typeface="Arial"/>
              </a:rPr>
              <a:t>Signal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460858" y="6024067"/>
            <a:ext cx="13562381" cy="0"/>
          </a:xfrm>
          <a:prstGeom prst="line">
            <a:avLst/>
          </a:prstGeom>
          <a:ln w="11430">
            <a:solidFill>
              <a:srgbClr val="08184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548640" y="6111850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Weather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94560" y="6111849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Severe weather days / mobility disruption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31536" y="6111850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CE1126"/>
                </a:solidFill>
                <a:latin typeface="Arial"/>
              </a:rPr>
              <a:t>Elevated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26096" y="6111850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Normal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436608" y="6111850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Mobility pressure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1664086" y="6117336"/>
            <a:ext cx="1009498" cy="241402"/>
          </a:xfrm>
          <a:prstGeom prst="roundRect">
            <a:avLst/>
          </a:prstGeom>
          <a:solidFill>
            <a:srgbClr val="CE1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NEGATIVE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460858" y="6369710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548640" y="6391656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Macro / Consumer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94560" y="6391656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Consumer confidence, inflation pressure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31536" y="6391656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CE1126"/>
                </a:solidFill>
                <a:latin typeface="Arial"/>
              </a:rPr>
              <a:t>Soft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626096" y="6391656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Neutral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436608" y="6391656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Traffic pressure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664086" y="6397142"/>
            <a:ext cx="1009498" cy="241402"/>
          </a:xfrm>
          <a:prstGeom prst="roundRect">
            <a:avLst/>
          </a:prstGeom>
          <a:solidFill>
            <a:srgbClr val="CE1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NEGATIVE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460858" y="6649517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548640" y="6671463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Competition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194560" y="6671462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Competitor promo intensity / price gap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31536" y="6671463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CE1126"/>
                </a:solidFill>
                <a:latin typeface="Arial"/>
              </a:rPr>
              <a:t>High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626096" y="6671463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Average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436608" y="6671463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Share pressure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664086" y="6676949"/>
            <a:ext cx="1009498" cy="241402"/>
          </a:xfrm>
          <a:prstGeom prst="roundRect">
            <a:avLst/>
          </a:prstGeom>
          <a:solidFill>
            <a:srgbClr val="CE1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NEGATIVE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460858" y="6929323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TextBox 76"/>
          <p:cNvSpPr txBox="1"/>
          <p:nvPr/>
        </p:nvSpPr>
        <p:spPr>
          <a:xfrm>
            <a:off x="548640" y="6951269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Industry / Category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194560" y="6951269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QSR traffic trend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31536" y="6951269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EC5514"/>
                </a:solidFill>
                <a:latin typeface="Arial"/>
              </a:rPr>
              <a:t>Flat / down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26096" y="6951269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Positive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436608" y="6951269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Category headwind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1664086" y="6956755"/>
            <a:ext cx="1009498" cy="24140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60858" y="7209130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548640" y="7231076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Footprint / Calendar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2194560" y="7231075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Comparable day mix, closures, calendar shift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31536" y="7231076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4A4E59"/>
                </a:solidFill>
                <a:latin typeface="Arial"/>
              </a:rPr>
              <a:t>Stable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626096" y="7231076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Stable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436608" y="7231076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Neutral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1664086" y="7236561"/>
            <a:ext cx="1009498" cy="241402"/>
          </a:xfrm>
          <a:prstGeom prst="roundRect">
            <a:avLst/>
          </a:prstGeom>
          <a:solidFill>
            <a:srgbClr val="A0A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NEUTRAL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460858" y="7488936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1" name="TextBox 90"/>
          <p:cNvSpPr txBox="1"/>
          <p:nvPr/>
        </p:nvSpPr>
        <p:spPr>
          <a:xfrm>
            <a:off x="548640" y="7510882"/>
            <a:ext cx="1481328" cy="21607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72" b="1">
                <a:solidFill>
                  <a:srgbClr val="081846"/>
                </a:solidFill>
                <a:latin typeface="Arial"/>
              </a:rPr>
              <a:t>Local Events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194560" y="7510882"/>
            <a:ext cx="3017520" cy="208697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24">
                <a:solidFill>
                  <a:srgbClr val="4A4E59"/>
                </a:solidFill>
                <a:latin typeface="Arial"/>
              </a:rPr>
              <a:t>Market disruptions, events, strikes, local demand shocks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431536" y="7510882"/>
            <a:ext cx="1700784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 b="1">
                <a:solidFill>
                  <a:srgbClr val="EC5514"/>
                </a:solidFill>
                <a:latin typeface="Arial"/>
              </a:rPr>
              <a:t>Selective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626096" y="7510882"/>
            <a:ext cx="1591056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Normal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7510882"/>
            <a:ext cx="1810512" cy="214212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ctr"/>
            <a:r>
              <a:rPr sz="960">
                <a:solidFill>
                  <a:srgbClr val="4A4E59"/>
                </a:solidFill>
                <a:latin typeface="Arial"/>
              </a:rPr>
              <a:t>Localized impact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11664086" y="7516368"/>
            <a:ext cx="1009498" cy="241402"/>
          </a:xfrm>
          <a:prstGeom prst="round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0973" tIns="0" rIns="10973" bIns="0" rtlCol="0" anchor="ctr"/>
          <a:lstStyle/>
          <a:p>
            <a:pPr algn="ctr"/>
            <a:r>
              <a:rPr sz="924" b="1">
                <a:solidFill>
                  <a:srgbClr val="FFFFFF"/>
                </a:solidFill>
                <a:latin typeface="Arial"/>
              </a:rPr>
              <a:t>WATCH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460858" y="7768742"/>
            <a:ext cx="13562381" cy="0"/>
          </a:xfrm>
          <a:prstGeom prst="line">
            <a:avLst/>
          </a:prstGeom>
          <a:ln w="7620">
            <a:solidFill>
              <a:srgbClr val="DAE0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8" name="TextBox 97"/>
          <p:cNvSpPr txBox="1"/>
          <p:nvPr/>
        </p:nvSpPr>
        <p:spPr>
          <a:xfrm>
            <a:off x="274320" y="7922362"/>
            <a:ext cx="11850624" cy="204978"/>
          </a:xfrm>
          <a:prstGeom prst="rect">
            <a:avLst/>
          </a:prstGeom>
          <a:noFill/>
          <a:ln>
            <a:noFill/>
          </a:ln>
        </p:spPr>
        <p:txBody>
          <a:bodyPr wrap="square" lIns="32918" tIns="32918" rIns="32918" bIns="32918" anchor="t">
            <a:spAutoFit/>
          </a:bodyPr>
          <a:lstStyle/>
          <a:p>
            <a:pPr algn="l"/>
            <a:r>
              <a:rPr sz="900">
                <a:solidFill>
                  <a:srgbClr val="4A4E59"/>
                </a:solidFill>
                <a:latin typeface="Arial"/>
              </a:rPr>
              <a:t>Note: External context separates uncontrollable headwinds/tailwinds from internal execution and helps calibrate targets and narrative.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6538" y="-61424"/>
            <a:ext cx="10314432" cy="97872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2880" b="1">
                <a:solidFill>
                  <a:srgbClr val="0A1850"/>
                </a:solidFill>
                <a:latin typeface="Arial"/>
              </a:rPr>
              <a:t>Growth Momentum Overview: Signals That Create Incremental GC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97510" y="667941"/>
            <a:ext cx="9765792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72">
                <a:solidFill>
                  <a:srgbClr val="67748F"/>
                </a:solidFill>
                <a:latin typeface="Arial"/>
              </a:rPr>
              <a:t>These signals are expected to create incremental lift and explain why GC moved above or below the protected base.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353898" y="142646"/>
            <a:ext cx="877824" cy="395021"/>
          </a:xfrm>
          <a:prstGeom prst="roundRect">
            <a:avLst/>
          </a:prstGeom>
          <a:solidFill>
            <a:srgbClr val="081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20" b="1">
                <a:solidFill>
                  <a:srgbClr val="FFFFFF"/>
                </a:solidFill>
                <a:latin typeface="Arial"/>
              </a:rPr>
              <a:t>3 OF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7" y="1075335"/>
            <a:ext cx="11565331" cy="277611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E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" name="Rounded Rectangle 5"/>
          <p:cNvSpPr/>
          <p:nvPr/>
        </p:nvSpPr>
        <p:spPr>
          <a:xfrm>
            <a:off x="3511296" y="1163117"/>
            <a:ext cx="3533242" cy="57058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4E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7" name="TextBox 6"/>
          <p:cNvSpPr txBox="1"/>
          <p:nvPr/>
        </p:nvSpPr>
        <p:spPr>
          <a:xfrm>
            <a:off x="3675888" y="1017791"/>
            <a:ext cx="3236976" cy="553998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104EDC"/>
                </a:solidFill>
                <a:latin typeface="Arial"/>
              </a:rPr>
              <a:t>+33M commercial movement (+10.0%)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3440" y="1303741"/>
            <a:ext cx="1207008" cy="42101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68" i="1">
                <a:solidFill>
                  <a:srgbClr val="28334D"/>
                </a:solidFill>
                <a:latin typeface="Arial"/>
              </a:rPr>
              <a:t>Illustrative example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119226" y="2907792"/>
            <a:ext cx="9612173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64592" y="1758352"/>
            <a:ext cx="680314" cy="9601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28" b="1">
                <a:solidFill>
                  <a:srgbClr val="104EDC"/>
                </a:solidFill>
                <a:latin typeface="Arial"/>
              </a:rPr>
              <a:t>Growth
Momentum
Drivers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3619" y="2859306"/>
            <a:ext cx="724205" cy="57977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056" b="1">
                <a:solidFill>
                  <a:srgbClr val="28334D"/>
                </a:solidFill>
                <a:latin typeface="Arial"/>
              </a:rPr>
              <a:t>Contribution
(M)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6736" y="2414017"/>
            <a:ext cx="504749" cy="493775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13" name="Connector 12"/>
          <p:cNvCxnSpPr/>
          <p:nvPr/>
        </p:nvCxnSpPr>
        <p:spPr>
          <a:xfrm>
            <a:off x="1821485" y="2414016"/>
            <a:ext cx="537667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228952" y="2200691"/>
            <a:ext cx="680314" cy="26205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Pricing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3818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+10M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(+3.0%)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59152" y="2463394"/>
            <a:ext cx="504749" cy="444398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18" name="Connector 17"/>
          <p:cNvCxnSpPr/>
          <p:nvPr/>
        </p:nvCxnSpPr>
        <p:spPr>
          <a:xfrm>
            <a:off x="2863901" y="1969618"/>
            <a:ext cx="537667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271368" y="2030966"/>
            <a:ext cx="680314" cy="60151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Promo /
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26234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+9M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04288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(+2.7%)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01568" y="2562149"/>
            <a:ext cx="504749" cy="345643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23" name="Connector 22"/>
          <p:cNvCxnSpPr/>
          <p:nvPr/>
        </p:nvCxnSpPr>
        <p:spPr>
          <a:xfrm>
            <a:off x="3906317" y="1623974"/>
            <a:ext cx="537667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313785" y="2200691"/>
            <a:ext cx="680314" cy="26205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Media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68650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+7M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6704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(+2.1%)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4" y="2710282"/>
            <a:ext cx="504749" cy="197510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28" name="Connector 27"/>
          <p:cNvCxnSpPr/>
          <p:nvPr/>
        </p:nvCxnSpPr>
        <p:spPr>
          <a:xfrm>
            <a:off x="4948733" y="1426464"/>
            <a:ext cx="515722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356201" y="1946102"/>
            <a:ext cx="680314" cy="77123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LTO /
Menu
Innovation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11064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+4M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(+1.2%)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64454" y="2759658"/>
            <a:ext cx="504749" cy="148133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33" name="Connector 32"/>
          <p:cNvCxnSpPr/>
          <p:nvPr/>
        </p:nvCxnSpPr>
        <p:spPr>
          <a:xfrm>
            <a:off x="5969203" y="1278331"/>
            <a:ext cx="526694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376672" y="2030966"/>
            <a:ext cx="680314" cy="60151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Digital /
CRM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31536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+3M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09591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(+0.9%)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95898" y="2809037"/>
            <a:ext cx="504749" cy="98755"/>
          </a:xfrm>
          <a:prstGeom prst="rect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38" name="Connector 37"/>
          <p:cNvCxnSpPr/>
          <p:nvPr/>
        </p:nvCxnSpPr>
        <p:spPr>
          <a:xfrm>
            <a:off x="7000646" y="1179576"/>
            <a:ext cx="570586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6408115" y="2115828"/>
            <a:ext cx="680314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Delivery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62979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104EDC"/>
                </a:solidFill>
                <a:latin typeface="Arial"/>
              </a:rPr>
              <a:t>+2M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1034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104EDC"/>
                </a:solidFill>
                <a:latin typeface="Arial"/>
              </a:rPr>
              <a:t>(+0.6%)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571232" y="2907792"/>
            <a:ext cx="504749" cy="49378"/>
          </a:xfrm>
          <a:prstGeom prst="rect">
            <a:avLst/>
          </a:prstGeom>
          <a:solidFill>
            <a:srgbClr val="EE5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cxnSp>
        <p:nvCxnSpPr>
          <p:cNvPr id="43" name="Connector 42"/>
          <p:cNvCxnSpPr/>
          <p:nvPr/>
        </p:nvCxnSpPr>
        <p:spPr>
          <a:xfrm>
            <a:off x="8075981" y="1228952"/>
            <a:ext cx="548640" cy="0"/>
          </a:xfrm>
          <a:prstGeom prst="line">
            <a:avLst/>
          </a:prstGeom>
          <a:ln w="16510">
            <a:solidFill>
              <a:srgbClr val="6E7891"/>
            </a:solidFill>
            <a:prstDash val="soli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7483449" y="1946103"/>
            <a:ext cx="680314" cy="77123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Operations
Improvement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38314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EB622A"/>
                </a:solidFill>
                <a:latin typeface="Arial"/>
              </a:rPr>
              <a:t>-1M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16368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EB622A"/>
                </a:solidFill>
                <a:latin typeface="Arial"/>
              </a:rPr>
              <a:t>(-0.3%)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24621" y="2907792"/>
            <a:ext cx="504749" cy="49378"/>
          </a:xfrm>
          <a:prstGeom prst="rect">
            <a:avLst/>
          </a:prstGeom>
          <a:solidFill>
            <a:srgbClr val="EE5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48" name="TextBox 47"/>
          <p:cNvSpPr txBox="1"/>
          <p:nvPr/>
        </p:nvSpPr>
        <p:spPr>
          <a:xfrm>
            <a:off x="8536838" y="2030965"/>
            <a:ext cx="680314" cy="601511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0A1850"/>
                </a:solidFill>
                <a:latin typeface="Arial"/>
              </a:rPr>
              <a:t>Supply
Improvement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591702" y="3016120"/>
            <a:ext cx="603504" cy="288092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272" b="1">
                <a:solidFill>
                  <a:srgbClr val="EB622A"/>
                </a:solidFill>
                <a:latin typeface="Arial"/>
              </a:rPr>
              <a:t>-1M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69757" y="3152758"/>
            <a:ext cx="636422" cy="431785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03" b="1">
                <a:solidFill>
                  <a:srgbClr val="EB622A"/>
                </a:solidFill>
                <a:latin typeface="Arial"/>
              </a:rPr>
              <a:t>(-0.3%)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773814" y="1174089"/>
            <a:ext cx="2765146" cy="5288890"/>
          </a:xfrm>
          <a:prstGeom prst="roundRect">
            <a:avLst/>
          </a:prstGeom>
          <a:solidFill>
            <a:srgbClr val="F9FAFC"/>
          </a:solidFill>
          <a:ln w="12700">
            <a:solidFill>
              <a:srgbClr val="DEE2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52" name="TextBox 51"/>
          <p:cNvSpPr txBox="1"/>
          <p:nvPr/>
        </p:nvSpPr>
        <p:spPr>
          <a:xfrm>
            <a:off x="12421210" y="1195096"/>
            <a:ext cx="1481328" cy="572464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560" b="1">
                <a:solidFill>
                  <a:srgbClr val="0A1850"/>
                </a:solidFill>
                <a:latin typeface="Arial"/>
              </a:rPr>
              <a:t>KEY TAKEAWAYS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12037162" y="1667866"/>
            <a:ext cx="2205533" cy="0"/>
          </a:xfrm>
          <a:prstGeom prst="line">
            <a:avLst/>
          </a:prstGeom>
          <a:ln w="13970">
            <a:solidFill>
              <a:srgbClr val="0A18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Oval 53"/>
          <p:cNvSpPr/>
          <p:nvPr/>
        </p:nvSpPr>
        <p:spPr>
          <a:xfrm>
            <a:off x="11982297" y="1997049"/>
            <a:ext cx="460858" cy="460858"/>
          </a:xfrm>
          <a:prstGeom prst="ellipse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2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563856" y="1872667"/>
            <a:ext cx="1591056" cy="112659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44" b="1">
                <a:solidFill>
                  <a:srgbClr val="28334D"/>
                </a:solidFill>
                <a:latin typeface="Arial"/>
              </a:rPr>
              <a:t>Growth momentum
is about change,
not just stable health.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11993270" y="2787091"/>
            <a:ext cx="2205533" cy="0"/>
          </a:xfrm>
          <a:prstGeom prst="line">
            <a:avLst/>
          </a:prstGeom>
          <a:ln w="1270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Oval 56"/>
          <p:cNvSpPr/>
          <p:nvPr/>
        </p:nvSpPr>
        <p:spPr>
          <a:xfrm>
            <a:off x="11982297" y="3456432"/>
            <a:ext cx="460858" cy="460858"/>
          </a:xfrm>
          <a:prstGeom prst="ellipse">
            <a:avLst/>
          </a:prstGeom>
          <a:solidFill>
            <a:srgbClr val="104E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2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2563856" y="2918346"/>
            <a:ext cx="1591056" cy="1953996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44" b="1">
                <a:solidFill>
                  <a:srgbClr val="28334D"/>
                </a:solidFill>
                <a:latin typeface="Arial"/>
              </a:rPr>
              <a:t>Commercial levers
such as pricing, media,
promo, LTO, digital,
and delivery should
create lift.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1993270" y="4246474"/>
            <a:ext cx="2205533" cy="0"/>
          </a:xfrm>
          <a:prstGeom prst="line">
            <a:avLst/>
          </a:prstGeom>
          <a:ln w="1270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Oval 59"/>
          <p:cNvSpPr/>
          <p:nvPr/>
        </p:nvSpPr>
        <p:spPr>
          <a:xfrm>
            <a:off x="11982297" y="5288889"/>
            <a:ext cx="460858" cy="460858"/>
          </a:xfrm>
          <a:prstGeom prst="ellipse">
            <a:avLst/>
          </a:prstGeom>
          <a:solidFill>
            <a:srgbClr val="EE5E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2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563856" y="4957656"/>
            <a:ext cx="1591056" cy="1540293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344" b="1">
                <a:solidFill>
                  <a:srgbClr val="28334D"/>
                </a:solidFill>
                <a:latin typeface="Arial"/>
              </a:rPr>
              <a:t>Some operational
or supply changes
may help or
constrain
momentum.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5837" y="3983126"/>
            <a:ext cx="11565331" cy="2754173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AD2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160"/>
          </a:p>
        </p:txBody>
      </p:sp>
      <p:sp>
        <p:nvSpPr>
          <p:cNvPr id="63" name="TextBox 62"/>
          <p:cNvSpPr txBox="1"/>
          <p:nvPr/>
        </p:nvSpPr>
        <p:spPr>
          <a:xfrm>
            <a:off x="274320" y="4162839"/>
            <a:ext cx="1700784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04EDC"/>
                </a:solidFill>
                <a:latin typeface="Arial"/>
              </a:rPr>
              <a:t>Driver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249423" y="4162839"/>
            <a:ext cx="159105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04EDC"/>
                </a:solidFill>
                <a:latin typeface="Arial"/>
              </a:rPr>
              <a:t>KPI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01338" y="4162839"/>
            <a:ext cx="1207008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04EDC"/>
                </a:solidFill>
                <a:latin typeface="Arial"/>
              </a:rPr>
              <a:t>YoY Change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41264" y="4162839"/>
            <a:ext cx="2084832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04EDC"/>
                </a:solidFill>
                <a:latin typeface="Arial"/>
              </a:rPr>
              <a:t>Expected Role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988198" y="4162839"/>
            <a:ext cx="2688336" cy="27699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104EDC"/>
                </a:solidFill>
                <a:latin typeface="Arial"/>
              </a:rPr>
              <a:t>Comment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252375" y="4454956"/>
            <a:ext cx="11115446" cy="0"/>
          </a:xfrm>
          <a:prstGeom prst="line">
            <a:avLst/>
          </a:prstGeom>
          <a:ln w="12700">
            <a:solidFill>
              <a:srgbClr val="92A0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274320" y="4542390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Pricing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194560" y="4542390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Effective price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301338" y="4542390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+4%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519318" y="4542390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Drive pricing realization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010144" y="4542390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Affordability must be monitored</a:t>
            </a:r>
          </a:p>
        </p:txBody>
      </p:sp>
      <p:cxnSp>
        <p:nvCxnSpPr>
          <p:cNvPr id="74" name="Connector 73"/>
          <p:cNvCxnSpPr/>
          <p:nvPr/>
        </p:nvCxnSpPr>
        <p:spPr>
          <a:xfrm>
            <a:off x="252375" y="4877410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TextBox 74"/>
          <p:cNvSpPr txBox="1"/>
          <p:nvPr/>
        </p:nvSpPr>
        <p:spPr>
          <a:xfrm>
            <a:off x="274320" y="4899006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Promo / Value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194560" y="4899006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Discount depth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301338" y="4899006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+2pp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519318" y="4899006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Drive volume and traffic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010144" y="4899006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Balance lift with margin impact</a:t>
            </a:r>
          </a:p>
        </p:txBody>
      </p:sp>
      <p:cxnSp>
        <p:nvCxnSpPr>
          <p:cNvPr id="80" name="Connector 79"/>
          <p:cNvCxnSpPr/>
          <p:nvPr/>
        </p:nvCxnSpPr>
        <p:spPr>
          <a:xfrm>
            <a:off x="252375" y="5234026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1" name="TextBox 80"/>
          <p:cNvSpPr txBox="1"/>
          <p:nvPr/>
        </p:nvSpPr>
        <p:spPr>
          <a:xfrm>
            <a:off x="274320" y="5255622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Media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94560" y="5255622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Media spend ROI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301338" y="5255622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+10%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519318" y="5255621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Drive awareness and traffic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010144" y="5255622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Focus on efficient channels</a:t>
            </a:r>
          </a:p>
        </p:txBody>
      </p:sp>
      <p:cxnSp>
        <p:nvCxnSpPr>
          <p:cNvPr id="86" name="Connector 85"/>
          <p:cNvCxnSpPr/>
          <p:nvPr/>
        </p:nvCxnSpPr>
        <p:spPr>
          <a:xfrm>
            <a:off x="252375" y="5590642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TextBox 86"/>
          <p:cNvSpPr txBox="1"/>
          <p:nvPr/>
        </p:nvSpPr>
        <p:spPr>
          <a:xfrm>
            <a:off x="274320" y="5612237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LTO / Menu Innovation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194560" y="5612237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LTO sales contribution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301338" y="5612238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+15%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19318" y="5526381"/>
            <a:ext cx="2194560" cy="43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Drive trial and incremental sales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010144" y="5612238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Sustain novelty and relevance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252375" y="5947258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274320" y="5968854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Digital / CRM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194560" y="5968854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Active members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301338" y="5968854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+8%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19318" y="5882997"/>
            <a:ext cx="2194560" cy="43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Increase engagement and frequency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010144" y="5968854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Grow and retain active base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252375" y="6303874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TextBox 98"/>
          <p:cNvSpPr txBox="1"/>
          <p:nvPr/>
        </p:nvSpPr>
        <p:spPr>
          <a:xfrm>
            <a:off x="274320" y="6325470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Delivery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194560" y="6325470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Delivery sales mix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301338" y="6325470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+1pp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519318" y="6325469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Expand accessible demand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010144" y="6325470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Manage profitability and fees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252375" y="6660490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274320" y="6596229"/>
            <a:ext cx="1755648" cy="435760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Operations Improvement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82086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Restaurant margin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301338" y="6682086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+1%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519318" y="6682086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Unlock margin to reinvest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010144" y="6682086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Efficiency gains may vary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252375" y="7017106"/>
            <a:ext cx="11115446" cy="0"/>
          </a:xfrm>
          <a:prstGeom prst="line">
            <a:avLst/>
          </a:prstGeom>
          <a:ln w="10160">
            <a:solidFill>
              <a:srgbClr val="DEE2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274320" y="7038701"/>
            <a:ext cx="175564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 b="1">
                <a:solidFill>
                  <a:srgbClr val="28334D"/>
                </a:solidFill>
                <a:latin typeface="Arial"/>
              </a:rPr>
              <a:t>Supply Improvement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2194560" y="7038702"/>
            <a:ext cx="1777594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COGS per unit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4301338" y="7038702"/>
            <a:ext cx="93268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ctr"/>
            <a:r>
              <a:rPr sz="1116">
                <a:solidFill>
                  <a:srgbClr val="28334D"/>
                </a:solidFill>
                <a:latin typeface="Arial"/>
              </a:rPr>
              <a:t>-1%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519318" y="7038701"/>
            <a:ext cx="2194560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Lower cost to support margin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8010144" y="7038702"/>
            <a:ext cx="3050438" cy="264047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116">
                <a:solidFill>
                  <a:srgbClr val="28334D"/>
                </a:solidFill>
                <a:latin typeface="Arial"/>
              </a:rPr>
              <a:t>Commodity and supplier driven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41402" y="6814717"/>
            <a:ext cx="6693408" cy="251159"/>
          </a:xfrm>
          <a:prstGeom prst="rect">
            <a:avLst/>
          </a:prstGeom>
          <a:noFill/>
          <a:ln>
            <a:noFill/>
          </a:ln>
        </p:spPr>
        <p:txBody>
          <a:bodyPr wrap="square" anchor="ctr">
            <a:spAutoFit/>
          </a:bodyPr>
          <a:lstStyle/>
          <a:p>
            <a:pPr algn="l"/>
            <a:r>
              <a:rPr sz="1032" i="1">
                <a:solidFill>
                  <a:srgbClr val="67748F"/>
                </a:solidFill>
                <a:latin typeface="Arial"/>
              </a:rPr>
              <a:t>Positive movement is expected here; weak or negative movement signals lost incremental opportunity.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52239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1290</TotalTime>
  <Words>2069</Words>
  <Application>Microsoft Office PowerPoint</Application>
  <PresentationFormat>Custom</PresentationFormat>
  <Paragraphs>528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Cheng Qian</cp:lastModifiedBy>
  <cp:revision>3</cp:revision>
  <dcterms:created xsi:type="dcterms:W3CDTF">2013-01-27T09:14:16Z</dcterms:created>
  <dcterms:modified xsi:type="dcterms:W3CDTF">2026-08-11T13:44:29Z</dcterms:modified>
  <cp:category/>
</cp:coreProperties>
</file>