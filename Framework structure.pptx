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2" r:id="rId4"/>
    <p:sldId id="258" r:id="rId5"/>
    <p:sldId id="259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2F2F2"/>
    <a:srgbClr val="787800"/>
    <a:srgbClr val="388600"/>
    <a:srgbClr val="A665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5799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27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F1081D-2906-4A23-A959-004D9FECFA2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4F7BDE7-199C-4243-BC64-A90F6164FEC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339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4F7BDE7-199C-4243-BC64-A90F6164FEC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413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51C67-CA5A-2294-EF07-EFF43FBE48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FA51F3F-EFB3-AD21-D5BF-3BA51D45F3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21BBE1-B005-51B3-2DC5-A5F99708D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72087B0-784C-5876-AFF5-DF3BA2B14B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EFF55-514F-B38E-CD55-72304698F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4041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9F911-D725-4C05-FBFB-76C4521C7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1539F-379E-81E9-FD1D-284109BFD2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4C7070-B479-64B0-A22A-CBB8F7A04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FBB42-A46F-178E-2F94-19F3D67B84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718AA3-75BF-86A6-54CB-ECECB1BF32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537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CB0E-34ED-D94B-4FF9-73A7086D94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03807D-48F8-5080-859C-AB6DA10186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412CC3-E8EA-C614-5FC1-4F65F710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53743-7FFE-F102-7CA7-13D0D9434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12B3C5-04A4-DE04-4058-54BB8F087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733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E05E1-926E-5215-FF8C-C42DD472F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B53DC-6E27-C0C3-6FE8-E1C4057775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285335-1212-794E-8098-FFA2FAA71E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428C81-4A2A-4E6A-6503-917ABD8818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A54F42-A46B-9CC3-DC6F-5B75CE939D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0A915-D149-8300-8AD7-C8B322D6B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4992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7BB0F9-2507-FE66-B22D-A68B3078A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FF4D0-3540-3FDB-E689-FE42C09F5F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FA6A7C-5B63-B155-3DC1-5B525F1D0E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D338E13-39FC-817F-A98B-1D668BE6D4C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7054E9-6AE9-817E-A2E9-B535DDFF481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8F8A778-CF9A-57CF-4F46-75300AE5B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792C0C-418D-B296-1BB2-7B052C769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AEAEA12-116C-AC4D-C62E-19DC3C149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38648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DF0F3-5C68-9887-7C71-D7585E3CD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6E70AB-36F1-9BE2-A622-C7C86E6CB0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A0FC13-19CA-53A7-A258-9A0754497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2EFBD3A-514C-1F1D-7A72-F6351D604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86227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2A5F4EC-A41A-C15C-425A-219C513182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1CCE64-FB51-3B4E-D60F-CBA4BD777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A6FED9-7EE4-3A1E-DC4C-16A839D18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040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29E518-BB0A-28C4-1B1B-CBC29268B5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68CC51-644C-7600-6F41-CCB93DD4DE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B587FC2-B9AA-91C5-CD06-D76092B8C3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4FD627C-8DA3-5E13-D84F-92EEEBD5F5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BDC44-1BC8-7E25-5FEB-AB07A233DB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48641C-ED45-92FC-AF93-47D47A0E9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312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1AB8-79F9-3400-3039-1ABF0BA7E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67DF49D-BDAB-55E6-82DA-7930893BE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5C6D79E-A2F7-AD06-1AE4-0DB7ADA77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3E4D6CA-763C-1167-57D7-D67329DFC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E1E654-4344-28F9-950F-65AEDDA36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AD606F-8763-4D04-460E-EE0ED967B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064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0118E-FB3E-8A3D-0FA3-75CA4F2FD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61E251-7542-ED3B-0D81-C5ACC74CEB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713E6B-B34C-E2CE-AB86-7880B9A41E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C81B08-38D3-04CF-6418-43C745F5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316423-40F4-0F7A-2A2C-721D13FB37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83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62A487-8DD8-1318-423B-60ECAE6E293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2D4AE1-C123-2260-818C-D2C83F7BB6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0C89D6-4368-EEF6-82E3-94F4D920CE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6E4CD3-7A9B-5EF5-9F5C-67E262A72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2A67B5-6A83-4FF3-B46F-2D7CCA6D4A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0156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A06CF4B-1D81-D1DC-FEB5-13E39FEF42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E5C72D-A9FE-CF9D-F696-BD80C7864D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0C7027-CC21-6596-DC5F-33AABE28A53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D6254E-72E3-4886-86DD-DF8A6D3008E3}" type="datetimeFigureOut">
              <a:rPr lang="en-US" smtClean="0"/>
              <a:t>1/12/2026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0CBCF4-804F-F314-DB1E-BF87FB3222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846568-6A40-BDCD-2E21-FDA3BF59D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698875-7F81-4017-B503-837084E5C9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519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Rectangle 141">
            <a:extLst>
              <a:ext uri="{FF2B5EF4-FFF2-40B4-BE49-F238E27FC236}">
                <a16:creationId xmlns:a16="http://schemas.microsoft.com/office/drawing/2014/main" id="{10DE6EBF-5EA5-9DD1-E624-2A6120193C60}"/>
              </a:ext>
            </a:extLst>
          </p:cNvPr>
          <p:cNvSpPr/>
          <p:nvPr/>
        </p:nvSpPr>
        <p:spPr>
          <a:xfrm>
            <a:off x="2456955" y="3581421"/>
            <a:ext cx="9197162" cy="24123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65F1499-9CF5-F70A-1B93-40F075F25129}"/>
              </a:ext>
            </a:extLst>
          </p:cNvPr>
          <p:cNvSpPr/>
          <p:nvPr/>
        </p:nvSpPr>
        <p:spPr>
          <a:xfrm>
            <a:off x="2473832" y="806824"/>
            <a:ext cx="9180285" cy="2748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6ED076-91EB-4BB1-5399-3D3AF5F39D1C}"/>
              </a:ext>
            </a:extLst>
          </p:cNvPr>
          <p:cNvSpPr txBox="1"/>
          <p:nvPr/>
        </p:nvSpPr>
        <p:spPr>
          <a:xfrm>
            <a:off x="3929155" y="884766"/>
            <a:ext cx="31735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Layer 1: Growth Accounting (Structure/ What)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416D15C-3C22-5B01-6F31-01D5D6B0B1DC}"/>
              </a:ext>
            </a:extLst>
          </p:cNvPr>
          <p:cNvSpPr txBox="1"/>
          <p:nvPr/>
        </p:nvSpPr>
        <p:spPr>
          <a:xfrm>
            <a:off x="68788" y="1653741"/>
            <a:ext cx="27163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</a:rPr>
              <a:t>WHAT happened</a:t>
            </a:r>
            <a:r>
              <a:rPr lang="en-US" sz="1200" i="1" dirty="0">
                <a:solidFill>
                  <a:schemeClr val="tx1"/>
                </a:solidFill>
              </a:rPr>
              <a:t> (</a:t>
            </a:r>
            <a:r>
              <a:rPr lang="en-US" sz="1200" i="1" dirty="0"/>
              <a:t>Reconciles 100%)</a:t>
            </a:r>
            <a:endParaRPr lang="en-US" sz="1200" i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“Where did growth land”</a:t>
            </a:r>
          </a:p>
          <a:p>
            <a:endParaRPr lang="en-US" sz="1200" i="1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5BC3CE4-5345-9A2E-7374-B199E1E13546}"/>
              </a:ext>
            </a:extLst>
          </p:cNvPr>
          <p:cNvGrpSpPr/>
          <p:nvPr/>
        </p:nvGrpSpPr>
        <p:grpSpPr>
          <a:xfrm>
            <a:off x="2661945" y="1436674"/>
            <a:ext cx="2519752" cy="1082832"/>
            <a:chOff x="4069403" y="631558"/>
            <a:chExt cx="2519752" cy="92412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FB79C69-A482-0454-005C-C87A98DD8507}"/>
                </a:ext>
              </a:extLst>
            </p:cNvPr>
            <p:cNvSpPr txBox="1"/>
            <p:nvPr/>
          </p:nvSpPr>
          <p:spPr>
            <a:xfrm>
              <a:off x="4069403" y="979020"/>
              <a:ext cx="53735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</a:t>
              </a:r>
            </a:p>
          </p:txBody>
        </p:sp>
        <p:sp>
          <p:nvSpPr>
            <p:cNvPr id="7" name="Left Brace 6">
              <a:extLst>
                <a:ext uri="{FF2B5EF4-FFF2-40B4-BE49-F238E27FC236}">
                  <a16:creationId xmlns:a16="http://schemas.microsoft.com/office/drawing/2014/main" id="{C2DD92FA-02A2-2028-3BF5-2165E7995D90}"/>
                </a:ext>
              </a:extLst>
            </p:cNvPr>
            <p:cNvSpPr/>
            <p:nvPr/>
          </p:nvSpPr>
          <p:spPr>
            <a:xfrm>
              <a:off x="4607896" y="743163"/>
              <a:ext cx="240979" cy="689838"/>
            </a:xfrm>
            <a:prstGeom prst="leftBrace">
              <a:avLst/>
            </a:prstGeom>
            <a:ln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41F1A95-2DDE-B2DE-BE69-C880527CEAA8}"/>
                </a:ext>
              </a:extLst>
            </p:cNvPr>
            <p:cNvSpPr txBox="1"/>
            <p:nvPr/>
          </p:nvSpPr>
          <p:spPr>
            <a:xfrm>
              <a:off x="4849906" y="631558"/>
              <a:ext cx="139820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Guest Counts (GCS)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B7E0CBF-351B-5CA3-1E1A-0CA2FA6FAAC5}"/>
                </a:ext>
              </a:extLst>
            </p:cNvPr>
            <p:cNvSpPr txBox="1"/>
            <p:nvPr/>
          </p:nvSpPr>
          <p:spPr>
            <a:xfrm>
              <a:off x="4846947" y="1278683"/>
              <a:ext cx="1742208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Average Check Size (ACS)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C3F4589-0E07-A7AD-9DD4-638BF40ACDC0}"/>
                </a:ext>
              </a:extLst>
            </p:cNvPr>
            <p:cNvSpPr txBox="1"/>
            <p:nvPr/>
          </p:nvSpPr>
          <p:spPr>
            <a:xfrm>
              <a:off x="5314670" y="951306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A9E130D-9F37-4B54-C6BC-C67125E9BC19}"/>
              </a:ext>
            </a:extLst>
          </p:cNvPr>
          <p:cNvGrpSpPr/>
          <p:nvPr/>
        </p:nvGrpSpPr>
        <p:grpSpPr>
          <a:xfrm>
            <a:off x="6325439" y="1159075"/>
            <a:ext cx="1976572" cy="788350"/>
            <a:chOff x="7439250" y="406656"/>
            <a:chExt cx="1976572" cy="672803"/>
          </a:xfrm>
        </p:grpSpPr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5263EF4B-5BDA-0687-F001-61ED93FC2D2F}"/>
                </a:ext>
              </a:extLst>
            </p:cNvPr>
            <p:cNvGrpSpPr/>
            <p:nvPr/>
          </p:nvGrpSpPr>
          <p:grpSpPr>
            <a:xfrm>
              <a:off x="7697535" y="406656"/>
              <a:ext cx="1718287" cy="672803"/>
              <a:chOff x="7663525" y="559953"/>
              <a:chExt cx="1718287" cy="672803"/>
            </a:xfrm>
          </p:grpSpPr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2CD779F-F95D-2B0D-8B0F-6159B3328F6A}"/>
                  </a:ext>
                </a:extLst>
              </p:cNvPr>
              <p:cNvSpPr txBox="1"/>
              <p:nvPr/>
            </p:nvSpPr>
            <p:spPr>
              <a:xfrm>
                <a:off x="8012719" y="559953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28" name="Group 27">
                <a:extLst>
                  <a:ext uri="{FF2B5EF4-FFF2-40B4-BE49-F238E27FC236}">
                    <a16:creationId xmlns:a16="http://schemas.microsoft.com/office/drawing/2014/main" id="{C52255B8-4F04-252E-686C-7417DBEA5559}"/>
                  </a:ext>
                </a:extLst>
              </p:cNvPr>
              <p:cNvGrpSpPr/>
              <p:nvPr/>
            </p:nvGrpSpPr>
            <p:grpSpPr>
              <a:xfrm>
                <a:off x="7663525" y="669955"/>
                <a:ext cx="1103354" cy="562801"/>
                <a:chOff x="7624126" y="655157"/>
                <a:chExt cx="1103354" cy="562801"/>
              </a:xfrm>
            </p:grpSpPr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F998B87-CAA6-C1DC-2D5D-D112494619E5}"/>
                    </a:ext>
                  </a:extLst>
                </p:cNvPr>
                <p:cNvSpPr txBox="1"/>
                <p:nvPr/>
              </p:nvSpPr>
              <p:spPr>
                <a:xfrm>
                  <a:off x="7973748" y="940959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0E6A8382-44B6-F9BB-FCC1-EA75D6912CDE}"/>
                    </a:ext>
                  </a:extLst>
                </p:cNvPr>
                <p:cNvSpPr txBox="1"/>
                <p:nvPr/>
              </p:nvSpPr>
              <p:spPr>
                <a:xfrm>
                  <a:off x="7965097" y="739761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8A9AFA48-896A-48CE-C9CB-3211A7315B50}"/>
                    </a:ext>
                  </a:extLst>
                </p:cNvPr>
                <p:cNvCxnSpPr/>
                <p:nvPr/>
              </p:nvCxnSpPr>
              <p:spPr>
                <a:xfrm>
                  <a:off x="7633381" y="676099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CF5AD8AC-B5CE-855A-65B4-BB8B0DBE6417}"/>
                    </a:ext>
                  </a:extLst>
                </p:cNvPr>
                <p:cNvCxnSpPr/>
                <p:nvPr/>
              </p:nvCxnSpPr>
              <p:spPr>
                <a:xfrm>
                  <a:off x="7633381" y="889566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D8D55737-6BBE-16AD-C493-85B6191EA5A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4126" y="1092030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CD3D39F0-78FC-001E-EE1B-3631D4DCE53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7624126" y="655157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DE1E084-2EC4-B331-9650-7C4E2017F750}"/>
                </a:ext>
              </a:extLst>
            </p:cNvPr>
            <p:cNvCxnSpPr>
              <a:cxnSpLocks/>
            </p:cNvCxnSpPr>
            <p:nvPr/>
          </p:nvCxnSpPr>
          <p:spPr>
            <a:xfrm>
              <a:off x="7439250" y="680603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6890AF6C-F5C6-5B0F-FA57-9D2E739DF160}"/>
              </a:ext>
            </a:extLst>
          </p:cNvPr>
          <p:cNvGrpSpPr/>
          <p:nvPr/>
        </p:nvGrpSpPr>
        <p:grpSpPr>
          <a:xfrm>
            <a:off x="5115408" y="2107053"/>
            <a:ext cx="3256986" cy="984982"/>
            <a:chOff x="5901869" y="424392"/>
            <a:chExt cx="3256986" cy="840615"/>
          </a:xfrm>
        </p:grpSpPr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B7DD74C1-0F9D-4671-728D-D2BDD592F8CA}"/>
                </a:ext>
              </a:extLst>
            </p:cNvPr>
            <p:cNvGrpSpPr/>
            <p:nvPr/>
          </p:nvGrpSpPr>
          <p:grpSpPr>
            <a:xfrm>
              <a:off x="6160154" y="424392"/>
              <a:ext cx="2998701" cy="840615"/>
              <a:chOff x="6126144" y="577689"/>
              <a:chExt cx="2998701" cy="840615"/>
            </a:xfrm>
          </p:grpSpPr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42FFC4E-0362-FC0B-8418-01480FF6C3F6}"/>
                  </a:ext>
                </a:extLst>
              </p:cNvPr>
              <p:cNvSpPr txBox="1"/>
              <p:nvPr/>
            </p:nvSpPr>
            <p:spPr>
              <a:xfrm>
                <a:off x="6475338" y="577689"/>
                <a:ext cx="2624821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Mix effect (share change, prices fixed)</a:t>
                </a:r>
              </a:p>
            </p:txBody>
          </p:sp>
          <p:grpSp>
            <p:nvGrpSpPr>
              <p:cNvPr id="37" name="Group 36">
                <a:extLst>
                  <a:ext uri="{FF2B5EF4-FFF2-40B4-BE49-F238E27FC236}">
                    <a16:creationId xmlns:a16="http://schemas.microsoft.com/office/drawing/2014/main" id="{863952B9-B02F-6FDA-D7E3-9194C9B5231C}"/>
                  </a:ext>
                </a:extLst>
              </p:cNvPr>
              <p:cNvGrpSpPr/>
              <p:nvPr/>
            </p:nvGrpSpPr>
            <p:grpSpPr>
              <a:xfrm>
                <a:off x="6126144" y="687691"/>
                <a:ext cx="2998701" cy="730613"/>
                <a:chOff x="6086745" y="672893"/>
                <a:chExt cx="2998701" cy="730613"/>
              </a:xfrm>
            </p:grpSpPr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8CAFB424-0CCB-A8A6-ABAF-8E6ACEAACFB5}"/>
                    </a:ext>
                  </a:extLst>
                </p:cNvPr>
                <p:cNvSpPr txBox="1"/>
                <p:nvPr/>
              </p:nvSpPr>
              <p:spPr>
                <a:xfrm>
                  <a:off x="6411252" y="1126507"/>
                  <a:ext cx="267419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Within-channel effect (prices changed)</a:t>
                  </a:r>
                </a:p>
              </p:txBody>
            </p: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AECD0212-FE99-170F-CFD5-1EB6EF86C44A}"/>
                    </a:ext>
                  </a:extLst>
                </p:cNvPr>
                <p:cNvCxnSpPr/>
                <p:nvPr/>
              </p:nvCxnSpPr>
              <p:spPr>
                <a:xfrm>
                  <a:off x="6096000" y="693835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38830C1A-81B9-AE24-7A12-4C31722F8586}"/>
                    </a:ext>
                  </a:extLst>
                </p:cNvPr>
                <p:cNvCxnSpPr/>
                <p:nvPr/>
              </p:nvCxnSpPr>
              <p:spPr>
                <a:xfrm>
                  <a:off x="6114122" y="1260764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1D1BC252-51E3-0E8E-694A-8C49AFE49DA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672893"/>
                  <a:ext cx="8224" cy="675194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026D2E8-0C99-0472-E1A2-1FBD8B199EE8}"/>
                </a:ext>
              </a:extLst>
            </p:cNvPr>
            <p:cNvCxnSpPr>
              <a:cxnSpLocks/>
            </p:cNvCxnSpPr>
            <p:nvPr/>
          </p:nvCxnSpPr>
          <p:spPr>
            <a:xfrm>
              <a:off x="5901869" y="698339"/>
              <a:ext cx="250263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FA299BD-EFB2-45C7-C4E7-7B8EA59E84EF}"/>
              </a:ext>
            </a:extLst>
          </p:cNvPr>
          <p:cNvGrpSpPr/>
          <p:nvPr/>
        </p:nvGrpSpPr>
        <p:grpSpPr>
          <a:xfrm>
            <a:off x="8186753" y="1911977"/>
            <a:ext cx="1976572" cy="788350"/>
            <a:chOff x="5901869" y="424392"/>
            <a:chExt cx="1976572" cy="672803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C39A70F7-DCFC-49C6-B267-EAFBE09972D6}"/>
                </a:ext>
              </a:extLst>
            </p:cNvPr>
            <p:cNvGrpSpPr/>
            <p:nvPr/>
          </p:nvGrpSpPr>
          <p:grpSpPr>
            <a:xfrm>
              <a:off x="6160154" y="424392"/>
              <a:ext cx="1718287" cy="672803"/>
              <a:chOff x="6126144" y="577689"/>
              <a:chExt cx="1718287" cy="672803"/>
            </a:xfrm>
          </p:grpSpPr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899677F-1373-82A2-D171-F27F031D3C4B}"/>
                  </a:ext>
                </a:extLst>
              </p:cNvPr>
              <p:cNvSpPr txBox="1"/>
              <p:nvPr/>
            </p:nvSpPr>
            <p:spPr>
              <a:xfrm>
                <a:off x="6475338" y="577689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51" name="Group 50">
                <a:extLst>
                  <a:ext uri="{FF2B5EF4-FFF2-40B4-BE49-F238E27FC236}">
                    <a16:creationId xmlns:a16="http://schemas.microsoft.com/office/drawing/2014/main" id="{2ADEA557-86B9-ED9D-D440-6692C040B347}"/>
                  </a:ext>
                </a:extLst>
              </p:cNvPr>
              <p:cNvGrpSpPr/>
              <p:nvPr/>
            </p:nvGrpSpPr>
            <p:grpSpPr>
              <a:xfrm>
                <a:off x="6126144" y="687691"/>
                <a:ext cx="1103354" cy="562801"/>
                <a:chOff x="6086745" y="672893"/>
                <a:chExt cx="1103354" cy="562801"/>
              </a:xfrm>
            </p:grpSpPr>
            <p:sp>
              <p:nvSpPr>
                <p:cNvPr id="52" name="TextBox 51">
                  <a:extLst>
                    <a:ext uri="{FF2B5EF4-FFF2-40B4-BE49-F238E27FC236}">
                      <a16:creationId xmlns:a16="http://schemas.microsoft.com/office/drawing/2014/main" id="{2DB66E65-B89B-BAF1-71CC-B2CFC57302C9}"/>
                    </a:ext>
                  </a:extLst>
                </p:cNvPr>
                <p:cNvSpPr txBox="1"/>
                <p:nvPr/>
              </p:nvSpPr>
              <p:spPr>
                <a:xfrm>
                  <a:off x="6436367" y="958695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53" name="TextBox 52">
                  <a:extLst>
                    <a:ext uri="{FF2B5EF4-FFF2-40B4-BE49-F238E27FC236}">
                      <a16:creationId xmlns:a16="http://schemas.microsoft.com/office/drawing/2014/main" id="{95A576E9-A7E4-2550-EA4A-8E36CF4B5B11}"/>
                    </a:ext>
                  </a:extLst>
                </p:cNvPr>
                <p:cNvSpPr txBox="1"/>
                <p:nvPr/>
              </p:nvSpPr>
              <p:spPr>
                <a:xfrm>
                  <a:off x="6427716" y="757497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1C600924-29CA-154D-8120-FB0C3363DCEF}"/>
                    </a:ext>
                  </a:extLst>
                </p:cNvPr>
                <p:cNvCxnSpPr/>
                <p:nvPr/>
              </p:nvCxnSpPr>
              <p:spPr>
                <a:xfrm>
                  <a:off x="6096000" y="693835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5" name="Straight Connector 54">
                  <a:extLst>
                    <a:ext uri="{FF2B5EF4-FFF2-40B4-BE49-F238E27FC236}">
                      <a16:creationId xmlns:a16="http://schemas.microsoft.com/office/drawing/2014/main" id="{1A4B1769-5304-9F02-BF95-E947AC7D6EEB}"/>
                    </a:ext>
                  </a:extLst>
                </p:cNvPr>
                <p:cNvCxnSpPr/>
                <p:nvPr/>
              </p:nvCxnSpPr>
              <p:spPr>
                <a:xfrm>
                  <a:off x="6096000" y="907302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Straight Connector 55">
                  <a:extLst>
                    <a:ext uri="{FF2B5EF4-FFF2-40B4-BE49-F238E27FC236}">
                      <a16:creationId xmlns:a16="http://schemas.microsoft.com/office/drawing/2014/main" id="{D8C98174-77EE-4301-120B-2A35F548A0C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1109766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57" name="Straight Connector 56">
                  <a:extLst>
                    <a:ext uri="{FF2B5EF4-FFF2-40B4-BE49-F238E27FC236}">
                      <a16:creationId xmlns:a16="http://schemas.microsoft.com/office/drawing/2014/main" id="{F58DADA0-FF61-56E5-20AD-1FAD78AA401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86745" y="672893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458DDC24-57BD-1132-04C2-0580F792743F}"/>
                </a:ext>
              </a:extLst>
            </p:cNvPr>
            <p:cNvCxnSpPr>
              <a:cxnSpLocks/>
            </p:cNvCxnSpPr>
            <p:nvPr/>
          </p:nvCxnSpPr>
          <p:spPr>
            <a:xfrm>
              <a:off x="5901869" y="698339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DA898669-109D-B5ED-F7D8-A1F4DAA276B5}"/>
              </a:ext>
            </a:extLst>
          </p:cNvPr>
          <p:cNvGrpSpPr/>
          <p:nvPr/>
        </p:nvGrpSpPr>
        <p:grpSpPr>
          <a:xfrm>
            <a:off x="8217350" y="2603783"/>
            <a:ext cx="1976572" cy="825216"/>
            <a:chOff x="5867624" y="354466"/>
            <a:chExt cx="1976572" cy="704266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A3445A70-6440-C693-F469-6B92991B56F2}"/>
                </a:ext>
              </a:extLst>
            </p:cNvPr>
            <p:cNvGrpSpPr/>
            <p:nvPr/>
          </p:nvGrpSpPr>
          <p:grpSpPr>
            <a:xfrm>
              <a:off x="6125909" y="354466"/>
              <a:ext cx="1718287" cy="704266"/>
              <a:chOff x="6091899" y="507763"/>
              <a:chExt cx="1718287" cy="704266"/>
            </a:xfrm>
          </p:grpSpPr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9226DA65-D153-2FA4-6BCE-06DE3765A066}"/>
                  </a:ext>
                </a:extLst>
              </p:cNvPr>
              <p:cNvSpPr txBox="1"/>
              <p:nvPr/>
            </p:nvSpPr>
            <p:spPr>
              <a:xfrm>
                <a:off x="6441093" y="507763"/>
                <a:ext cx="136909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Product Categories</a:t>
                </a:r>
              </a:p>
            </p:txBody>
          </p:sp>
          <p:grpSp>
            <p:nvGrpSpPr>
              <p:cNvPr id="62" name="Group 61">
                <a:extLst>
                  <a:ext uri="{FF2B5EF4-FFF2-40B4-BE49-F238E27FC236}">
                    <a16:creationId xmlns:a16="http://schemas.microsoft.com/office/drawing/2014/main" id="{6734A818-5C42-71C7-B81B-E68999778B64}"/>
                  </a:ext>
                </a:extLst>
              </p:cNvPr>
              <p:cNvGrpSpPr/>
              <p:nvPr/>
            </p:nvGrpSpPr>
            <p:grpSpPr>
              <a:xfrm>
                <a:off x="6091899" y="617765"/>
                <a:ext cx="1097182" cy="594264"/>
                <a:chOff x="6052500" y="602967"/>
                <a:chExt cx="1097182" cy="594264"/>
              </a:xfrm>
            </p:grpSpPr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C9A0220D-4BBA-A37A-9474-E226C9473844}"/>
                    </a:ext>
                  </a:extLst>
                </p:cNvPr>
                <p:cNvSpPr txBox="1"/>
                <p:nvPr/>
              </p:nvSpPr>
              <p:spPr>
                <a:xfrm>
                  <a:off x="6395950" y="920232"/>
                  <a:ext cx="75373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Channels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FB840236-A570-A32D-F3F7-1C2EFB0C9272}"/>
                    </a:ext>
                  </a:extLst>
                </p:cNvPr>
                <p:cNvSpPr txBox="1"/>
                <p:nvPr/>
              </p:nvSpPr>
              <p:spPr>
                <a:xfrm>
                  <a:off x="6388291" y="711792"/>
                  <a:ext cx="738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Dayparts</a:t>
                  </a:r>
                </a:p>
              </p:txBody>
            </p: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4D062446-0D33-3C5A-7E01-27F752CD9CA7}"/>
                    </a:ext>
                  </a:extLst>
                </p:cNvPr>
                <p:cNvCxnSpPr/>
                <p:nvPr/>
              </p:nvCxnSpPr>
              <p:spPr>
                <a:xfrm>
                  <a:off x="6061755" y="623909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0621BE49-0F15-103A-7046-2E6B0C888E15}"/>
                    </a:ext>
                  </a:extLst>
                </p:cNvPr>
                <p:cNvCxnSpPr/>
                <p:nvPr/>
              </p:nvCxnSpPr>
              <p:spPr>
                <a:xfrm>
                  <a:off x="6061755" y="837376"/>
                  <a:ext cx="340367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5DF84EED-719D-FBD8-A53E-01DDE189595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52500" y="1039840"/>
                  <a:ext cx="376370" cy="0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970E1BF2-42CF-9012-8A49-89C4CA47FAC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052500" y="602967"/>
                  <a:ext cx="0" cy="468817"/>
                </a:xfrm>
                <a:prstGeom prst="line">
                  <a:avLst/>
                </a:prstGeom>
              </p:spPr>
              <p:style>
                <a:lnRef idx="1">
                  <a:schemeClr val="accent3"/>
                </a:lnRef>
                <a:fillRef idx="0">
                  <a:schemeClr val="accent3"/>
                </a:fillRef>
                <a:effectRef idx="0">
                  <a:schemeClr val="accent3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34B11D84-2A9B-1C19-83DA-31B2DD73FF26}"/>
                </a:ext>
              </a:extLst>
            </p:cNvPr>
            <p:cNvCxnSpPr>
              <a:cxnSpLocks/>
            </p:cNvCxnSpPr>
            <p:nvPr/>
          </p:nvCxnSpPr>
          <p:spPr>
            <a:xfrm>
              <a:off x="5867624" y="628413"/>
              <a:ext cx="26754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5AA81B39-3D68-7AA8-7B49-BDEA7D4BA602}"/>
              </a:ext>
            </a:extLst>
          </p:cNvPr>
          <p:cNvCxnSpPr>
            <a:stCxn id="10" idx="1"/>
            <a:endCxn id="122" idx="1"/>
          </p:cNvCxnSpPr>
          <p:nvPr/>
        </p:nvCxnSpPr>
        <p:spPr>
          <a:xfrm rot="10800000" flipH="1" flipV="1">
            <a:off x="3442448" y="1598958"/>
            <a:ext cx="85896" cy="2749269"/>
          </a:xfrm>
          <a:prstGeom prst="bentConnector3">
            <a:avLst>
              <a:gd name="adj1" fmla="val -266136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0F9CD2DF-A047-3F08-A57A-A4AA94BB37D8}"/>
              </a:ext>
            </a:extLst>
          </p:cNvPr>
          <p:cNvCxnSpPr>
            <a:cxnSpLocks/>
            <a:endCxn id="123" idx="1"/>
          </p:cNvCxnSpPr>
          <p:nvPr/>
        </p:nvCxnSpPr>
        <p:spPr>
          <a:xfrm rot="5400000">
            <a:off x="2357880" y="3598515"/>
            <a:ext cx="2347448" cy="6519"/>
          </a:xfrm>
          <a:prstGeom prst="bentConnector4">
            <a:avLst>
              <a:gd name="adj1" fmla="val 47050"/>
              <a:gd name="adj2" fmla="val 3606673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9C4E025-C0BA-8300-DF46-D327F2B2D47D}"/>
              </a:ext>
            </a:extLst>
          </p:cNvPr>
          <p:cNvGrpSpPr/>
          <p:nvPr/>
        </p:nvGrpSpPr>
        <p:grpSpPr>
          <a:xfrm>
            <a:off x="3439489" y="3842184"/>
            <a:ext cx="7731600" cy="2011769"/>
            <a:chOff x="3430524" y="2232064"/>
            <a:chExt cx="7583451" cy="2011769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693D45F-347D-B758-D242-B95925862099}"/>
                </a:ext>
              </a:extLst>
            </p:cNvPr>
            <p:cNvSpPr txBox="1"/>
            <p:nvPr/>
          </p:nvSpPr>
          <p:spPr>
            <a:xfrm>
              <a:off x="3430524" y="2232064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2: ML Decomposition (Clarity / Why, Overall)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657E0528-DECA-2C33-0424-10CD93259AE0}"/>
                </a:ext>
              </a:extLst>
            </p:cNvPr>
            <p:cNvSpPr txBox="1"/>
            <p:nvPr/>
          </p:nvSpPr>
          <p:spPr>
            <a:xfrm>
              <a:off x="3517676" y="2599608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GC Model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7F869927-EAC4-253C-41D5-623022C4A445}"/>
                </a:ext>
              </a:extLst>
            </p:cNvPr>
            <p:cNvSpPr txBox="1"/>
            <p:nvPr/>
          </p:nvSpPr>
          <p:spPr>
            <a:xfrm>
              <a:off x="3517676" y="3026878"/>
              <a:ext cx="936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ACS Model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1C638772-B3D6-9CF0-8A11-2E279AFE840C}"/>
                </a:ext>
              </a:extLst>
            </p:cNvPr>
            <p:cNvSpPr txBox="1"/>
            <p:nvPr/>
          </p:nvSpPr>
          <p:spPr>
            <a:xfrm>
              <a:off x="3745854" y="2797854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745C89A7-6A21-0E5E-0F22-210B4F7DBA6E}"/>
                </a:ext>
              </a:extLst>
            </p:cNvPr>
            <p:cNvSpPr txBox="1"/>
            <p:nvPr/>
          </p:nvSpPr>
          <p:spPr>
            <a:xfrm>
              <a:off x="3501041" y="3716917"/>
              <a:ext cx="10543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 Model</a:t>
              </a:r>
            </a:p>
          </p:txBody>
        </p: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DFACA874-3CF6-00F4-93F2-108F555108E1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54253" y="3508375"/>
              <a:ext cx="486959" cy="103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AAF94422-CCE2-FF40-0404-F0D854CA5BFE}"/>
                </a:ext>
              </a:extLst>
            </p:cNvPr>
            <p:cNvGrpSpPr/>
            <p:nvPr/>
          </p:nvGrpSpPr>
          <p:grpSpPr>
            <a:xfrm>
              <a:off x="4482971" y="2519330"/>
              <a:ext cx="6531004" cy="1724503"/>
              <a:chOff x="5231575" y="2626955"/>
              <a:chExt cx="6531004" cy="1724503"/>
            </a:xfrm>
          </p:grpSpPr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CC80CAB8-4BB1-AC5D-6801-194C16FE640B}"/>
                  </a:ext>
                </a:extLst>
              </p:cNvPr>
              <p:cNvSpPr txBox="1"/>
              <p:nvPr/>
            </p:nvSpPr>
            <p:spPr>
              <a:xfrm>
                <a:off x="8597420" y="2902513"/>
                <a:ext cx="316515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Structural features as fixed effects</a:t>
                </a:r>
              </a:p>
              <a:p>
                <a:r>
                  <a:rPr lang="en-US" dirty="0"/>
                  <a:t>• Channel / Daypart / Product Category</a:t>
                </a:r>
              </a:p>
              <a:p>
                <a:r>
                  <a:rPr lang="en-US" dirty="0"/>
                  <a:t>• Region / Store cluster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7DE316A5-05E2-7617-A3D1-A59ED2379A03}"/>
                  </a:ext>
                </a:extLst>
              </p:cNvPr>
              <p:cNvSpPr txBox="1"/>
              <p:nvPr/>
            </p:nvSpPr>
            <p:spPr>
              <a:xfrm>
                <a:off x="5651625" y="2626955"/>
                <a:ext cx="219067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Business levers (“Controllable”):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Media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Promo depth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Price index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CSAT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LTO flag 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D2FDAAF5-023B-BD11-074F-723866F53E7D}"/>
                  </a:ext>
                </a:extLst>
              </p:cNvPr>
              <p:cNvSpPr txBox="1"/>
              <p:nvPr/>
            </p:nvSpPr>
            <p:spPr>
              <a:xfrm>
                <a:off x="8145872" y="3017697"/>
                <a:ext cx="5557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+</a:t>
                </a:r>
              </a:p>
            </p:txBody>
          </p:sp>
          <p:sp>
            <p:nvSpPr>
              <p:cNvPr id="138" name="Left Brace 137">
                <a:extLst>
                  <a:ext uri="{FF2B5EF4-FFF2-40B4-BE49-F238E27FC236}">
                    <a16:creationId xmlns:a16="http://schemas.microsoft.com/office/drawing/2014/main" id="{159E82B6-4FC1-D147-D7E3-A2EFD3993FF6}"/>
                  </a:ext>
                </a:extLst>
              </p:cNvPr>
              <p:cNvSpPr/>
              <p:nvPr/>
            </p:nvSpPr>
            <p:spPr>
              <a:xfrm>
                <a:off x="5231575" y="2739162"/>
                <a:ext cx="291316" cy="1612296"/>
              </a:xfrm>
              <a:prstGeom prst="leftBrace">
                <a:avLst>
                  <a:gd name="adj1" fmla="val 8333"/>
                  <a:gd name="adj2" fmla="val 15601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Left Brace 138">
                <a:extLst>
                  <a:ext uri="{FF2B5EF4-FFF2-40B4-BE49-F238E27FC236}">
                    <a16:creationId xmlns:a16="http://schemas.microsoft.com/office/drawing/2014/main" id="{FCE65CD2-0CB8-D220-ED61-40314BD9A417}"/>
                  </a:ext>
                </a:extLst>
              </p:cNvPr>
              <p:cNvSpPr/>
              <p:nvPr/>
            </p:nvSpPr>
            <p:spPr>
              <a:xfrm>
                <a:off x="5237003" y="2742854"/>
                <a:ext cx="286922" cy="1608604"/>
              </a:xfrm>
              <a:prstGeom prst="leftBrace">
                <a:avLst>
                  <a:gd name="adj1" fmla="val 8333"/>
                  <a:gd name="adj2" fmla="val 50905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00E0C77C-ABF3-891B-B885-E0EEC7D15A66}"/>
              </a:ext>
            </a:extLst>
          </p:cNvPr>
          <p:cNvSpPr txBox="1"/>
          <p:nvPr/>
        </p:nvSpPr>
        <p:spPr>
          <a:xfrm>
            <a:off x="109630" y="3810031"/>
            <a:ext cx="212107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b="1" dirty="0"/>
              <a:t>WHY it happened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“Which drivers explain GCS / AOV / Sales growth”</a:t>
            </a:r>
          </a:p>
        </p:txBody>
      </p:sp>
      <p:sp>
        <p:nvSpPr>
          <p:cNvPr id="191" name="TextBox 190">
            <a:extLst>
              <a:ext uri="{FF2B5EF4-FFF2-40B4-BE49-F238E27FC236}">
                <a16:creationId xmlns:a16="http://schemas.microsoft.com/office/drawing/2014/main" id="{20B7F79C-552C-AA49-AF07-01E5BBCD9AD6}"/>
              </a:ext>
            </a:extLst>
          </p:cNvPr>
          <p:cNvSpPr txBox="1"/>
          <p:nvPr/>
        </p:nvSpPr>
        <p:spPr>
          <a:xfrm>
            <a:off x="5248070" y="1339130"/>
            <a:ext cx="1193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Mix effect (share change)</a:t>
            </a: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D2DEDFF1-EA21-F3E5-A9FC-681334EDD3E4}"/>
              </a:ext>
            </a:extLst>
          </p:cNvPr>
          <p:cNvCxnSpPr>
            <a:cxnSpLocks/>
          </p:cNvCxnSpPr>
          <p:nvPr/>
        </p:nvCxnSpPr>
        <p:spPr>
          <a:xfrm>
            <a:off x="4863468" y="1555981"/>
            <a:ext cx="250263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75F24126-0A49-F5EB-092F-3622AAD2FEB5}"/>
              </a:ext>
            </a:extLst>
          </p:cNvPr>
          <p:cNvGrpSpPr/>
          <p:nvPr/>
        </p:nvGrpSpPr>
        <p:grpSpPr>
          <a:xfrm>
            <a:off x="8196377" y="1065901"/>
            <a:ext cx="1403335" cy="875836"/>
            <a:chOff x="8196377" y="1065901"/>
            <a:chExt cx="1403335" cy="875836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4A84CE5-2F01-F3A1-E61D-20C809AFCBAD}"/>
                </a:ext>
              </a:extLst>
            </p:cNvPr>
            <p:cNvSpPr txBox="1"/>
            <p:nvPr/>
          </p:nvSpPr>
          <p:spPr>
            <a:xfrm>
              <a:off x="8535710" y="1065901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7BD482CF-33F3-744C-74E9-F0F68D467FBE}"/>
                </a:ext>
              </a:extLst>
            </p:cNvPr>
            <p:cNvSpPr txBox="1"/>
            <p:nvPr/>
          </p:nvSpPr>
          <p:spPr>
            <a:xfrm>
              <a:off x="8544407" y="1333998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527AA4D-4F65-DE80-DD51-77E14263EEF4}"/>
                </a:ext>
              </a:extLst>
            </p:cNvPr>
            <p:cNvSpPr txBox="1"/>
            <p:nvPr/>
          </p:nvSpPr>
          <p:spPr>
            <a:xfrm>
              <a:off x="8552630" y="1603183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538776FF-F590-8132-510F-B3BCE02682B8}"/>
                </a:ext>
              </a:extLst>
            </p:cNvPr>
            <p:cNvGrpSpPr/>
            <p:nvPr/>
          </p:nvGrpSpPr>
          <p:grpSpPr>
            <a:xfrm>
              <a:off x="8217350" y="1159075"/>
              <a:ext cx="365861" cy="174923"/>
              <a:chOff x="8217350" y="1159075"/>
              <a:chExt cx="365861" cy="174923"/>
            </a:xfrm>
          </p:grpSpPr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882B10F-F123-8600-5B12-70E78F9600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124D412E-0E8A-1C6C-CDB7-4437AA53E40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790806F4-32C3-2BAA-040E-2F4A14E1CD6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EADBCC2C-C2A5-0509-1AEC-59F3A02B971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7741D89F-D1A4-0242-A4F6-F5368431D794}"/>
                </a:ext>
              </a:extLst>
            </p:cNvPr>
            <p:cNvGrpSpPr/>
            <p:nvPr/>
          </p:nvGrpSpPr>
          <p:grpSpPr>
            <a:xfrm>
              <a:off x="8196377" y="1697473"/>
              <a:ext cx="365861" cy="174923"/>
              <a:chOff x="8217350" y="1159075"/>
              <a:chExt cx="365861" cy="174923"/>
            </a:xfrm>
          </p:grpSpPr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019EFB60-2093-501A-D6F0-A44C86EFF5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5C3CDB25-5079-9F52-E866-0F8FCE67FAC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>
                <a:extLst>
                  <a:ext uri="{FF2B5EF4-FFF2-40B4-BE49-F238E27FC236}">
                    <a16:creationId xmlns:a16="http://schemas.microsoft.com/office/drawing/2014/main" id="{F1024AAE-3C51-004E-2F1E-BC336F4366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>
                <a:extLst>
                  <a:ext uri="{FF2B5EF4-FFF2-40B4-BE49-F238E27FC236}">
                    <a16:creationId xmlns:a16="http://schemas.microsoft.com/office/drawing/2014/main" id="{214BF623-CBCF-077E-EC7C-D16A1C405B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980CDB99-8409-694B-80B1-7215ACE42813}"/>
                </a:ext>
              </a:extLst>
            </p:cNvPr>
            <p:cNvGrpSpPr/>
            <p:nvPr/>
          </p:nvGrpSpPr>
          <p:grpSpPr>
            <a:xfrm>
              <a:off x="8217350" y="1410944"/>
              <a:ext cx="365861" cy="174923"/>
              <a:chOff x="8217350" y="1159075"/>
              <a:chExt cx="365861" cy="174923"/>
            </a:xfrm>
          </p:grpSpPr>
          <p:cxnSp>
            <p:nvCxnSpPr>
              <p:cNvPr id="74" name="Straight Connector 73">
                <a:extLst>
                  <a:ext uri="{FF2B5EF4-FFF2-40B4-BE49-F238E27FC236}">
                    <a16:creationId xmlns:a16="http://schemas.microsoft.com/office/drawing/2014/main" id="{FA54D8A2-A26E-9F11-8C87-29CC5EB658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5" name="Straight Connector 74">
                <a:extLst>
                  <a:ext uri="{FF2B5EF4-FFF2-40B4-BE49-F238E27FC236}">
                    <a16:creationId xmlns:a16="http://schemas.microsoft.com/office/drawing/2014/main" id="{30786902-F9A6-955B-6544-450B02EC70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6" name="Straight Connector 75">
                <a:extLst>
                  <a:ext uri="{FF2B5EF4-FFF2-40B4-BE49-F238E27FC236}">
                    <a16:creationId xmlns:a16="http://schemas.microsoft.com/office/drawing/2014/main" id="{D4DD924E-6130-6D71-F8E3-D66DE5EB587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77" name="Straight Connector 76">
                <a:extLst>
                  <a:ext uri="{FF2B5EF4-FFF2-40B4-BE49-F238E27FC236}">
                    <a16:creationId xmlns:a16="http://schemas.microsoft.com/office/drawing/2014/main" id="{99F81C67-B0C8-56D5-2DED-A145B2A1A6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1" name="Group 150">
            <a:extLst>
              <a:ext uri="{FF2B5EF4-FFF2-40B4-BE49-F238E27FC236}">
                <a16:creationId xmlns:a16="http://schemas.microsoft.com/office/drawing/2014/main" id="{CA45B032-8143-D8EE-DCD7-BF534EEA640B}"/>
              </a:ext>
            </a:extLst>
          </p:cNvPr>
          <p:cNvGrpSpPr/>
          <p:nvPr/>
        </p:nvGrpSpPr>
        <p:grpSpPr>
          <a:xfrm>
            <a:off x="10125931" y="1826640"/>
            <a:ext cx="1403335" cy="875836"/>
            <a:chOff x="10125931" y="1826640"/>
            <a:chExt cx="1403335" cy="875836"/>
          </a:xfrm>
        </p:grpSpPr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68ECE9B7-D8F2-829C-6ABC-206830884AC4}"/>
                </a:ext>
              </a:extLst>
            </p:cNvPr>
            <p:cNvSpPr txBox="1"/>
            <p:nvPr/>
          </p:nvSpPr>
          <p:spPr>
            <a:xfrm>
              <a:off x="10465264" y="1826640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C0E9275-3AF0-7A3E-47D5-E71D4EFB04F7}"/>
                </a:ext>
              </a:extLst>
            </p:cNvPr>
            <p:cNvSpPr txBox="1"/>
            <p:nvPr/>
          </p:nvSpPr>
          <p:spPr>
            <a:xfrm>
              <a:off x="10473961" y="2094737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904C7663-4C84-870F-DF6C-099B59F3C40F}"/>
                </a:ext>
              </a:extLst>
            </p:cNvPr>
            <p:cNvSpPr txBox="1"/>
            <p:nvPr/>
          </p:nvSpPr>
          <p:spPr>
            <a:xfrm>
              <a:off x="10482184" y="2363922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81" name="Group 80">
              <a:extLst>
                <a:ext uri="{FF2B5EF4-FFF2-40B4-BE49-F238E27FC236}">
                  <a16:creationId xmlns:a16="http://schemas.microsoft.com/office/drawing/2014/main" id="{138A6707-AF67-E348-AE11-8388BD1287E8}"/>
                </a:ext>
              </a:extLst>
            </p:cNvPr>
            <p:cNvGrpSpPr/>
            <p:nvPr/>
          </p:nvGrpSpPr>
          <p:grpSpPr>
            <a:xfrm>
              <a:off x="10146904" y="1919814"/>
              <a:ext cx="365861" cy="174923"/>
              <a:chOff x="8217350" y="1159075"/>
              <a:chExt cx="365861" cy="174923"/>
            </a:xfrm>
          </p:grpSpPr>
          <p:cxnSp>
            <p:nvCxnSpPr>
              <p:cNvPr id="82" name="Straight Connector 81">
                <a:extLst>
                  <a:ext uri="{FF2B5EF4-FFF2-40B4-BE49-F238E27FC236}">
                    <a16:creationId xmlns:a16="http://schemas.microsoft.com/office/drawing/2014/main" id="{C9D66C92-1410-7F90-1EEB-84459EEAE0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3" name="Straight Connector 82">
                <a:extLst>
                  <a:ext uri="{FF2B5EF4-FFF2-40B4-BE49-F238E27FC236}">
                    <a16:creationId xmlns:a16="http://schemas.microsoft.com/office/drawing/2014/main" id="{5D8315A8-446C-3D96-7794-4F5DFC0DCD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4" name="Straight Connector 83">
                <a:extLst>
                  <a:ext uri="{FF2B5EF4-FFF2-40B4-BE49-F238E27FC236}">
                    <a16:creationId xmlns:a16="http://schemas.microsoft.com/office/drawing/2014/main" id="{731290FD-42B4-094A-C248-E07709795CB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5" name="Straight Connector 84">
                <a:extLst>
                  <a:ext uri="{FF2B5EF4-FFF2-40B4-BE49-F238E27FC236}">
                    <a16:creationId xmlns:a16="http://schemas.microsoft.com/office/drawing/2014/main" id="{D792F599-C65F-A554-EB12-F7A22F5B655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44FDF0BE-F71B-E194-36C3-136D978320EC}"/>
                </a:ext>
              </a:extLst>
            </p:cNvPr>
            <p:cNvGrpSpPr/>
            <p:nvPr/>
          </p:nvGrpSpPr>
          <p:grpSpPr>
            <a:xfrm>
              <a:off x="10125931" y="2458212"/>
              <a:ext cx="365861" cy="174923"/>
              <a:chOff x="8217350" y="1159075"/>
              <a:chExt cx="365861" cy="174923"/>
            </a:xfrm>
          </p:grpSpPr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B2013DBF-D5C2-82B8-7DE1-50191987581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8" name="Straight Connector 87">
                <a:extLst>
                  <a:ext uri="{FF2B5EF4-FFF2-40B4-BE49-F238E27FC236}">
                    <a16:creationId xmlns:a16="http://schemas.microsoft.com/office/drawing/2014/main" id="{4E548B9C-E478-E457-C3B2-725F1F349C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E2E961C3-2DB7-1B81-8F5D-42F8A2E33B5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0" name="Straight Connector 89">
                <a:extLst>
                  <a:ext uri="{FF2B5EF4-FFF2-40B4-BE49-F238E27FC236}">
                    <a16:creationId xmlns:a16="http://schemas.microsoft.com/office/drawing/2014/main" id="{AA4066ED-25EB-4A50-04A1-9EC1575E8E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91" name="Group 90">
              <a:extLst>
                <a:ext uri="{FF2B5EF4-FFF2-40B4-BE49-F238E27FC236}">
                  <a16:creationId xmlns:a16="http://schemas.microsoft.com/office/drawing/2014/main" id="{AA1E7860-CEBD-A31E-BD1C-3AAAC501884A}"/>
                </a:ext>
              </a:extLst>
            </p:cNvPr>
            <p:cNvGrpSpPr/>
            <p:nvPr/>
          </p:nvGrpSpPr>
          <p:grpSpPr>
            <a:xfrm>
              <a:off x="10146904" y="2171683"/>
              <a:ext cx="365861" cy="174923"/>
              <a:chOff x="8217350" y="1159075"/>
              <a:chExt cx="365861" cy="174923"/>
            </a:xfrm>
          </p:grpSpPr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FA0DA101-68A8-3FAE-C2F4-FBAD65939DD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3" name="Straight Connector 92">
                <a:extLst>
                  <a:ext uri="{FF2B5EF4-FFF2-40B4-BE49-F238E27FC236}">
                    <a16:creationId xmlns:a16="http://schemas.microsoft.com/office/drawing/2014/main" id="{2158CDFC-FF93-1D2F-5717-E3CCDEB236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4" name="Straight Connector 93">
                <a:extLst>
                  <a:ext uri="{FF2B5EF4-FFF2-40B4-BE49-F238E27FC236}">
                    <a16:creationId xmlns:a16="http://schemas.microsoft.com/office/drawing/2014/main" id="{D8F01FB0-556D-93B4-02A4-FDAA51304C2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C4166D1C-A80F-0942-14F5-A4F0C5BB9A7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4527EB53-2A91-D532-656F-A7DBDB63DA76}"/>
              </a:ext>
            </a:extLst>
          </p:cNvPr>
          <p:cNvGrpSpPr/>
          <p:nvPr/>
        </p:nvGrpSpPr>
        <p:grpSpPr>
          <a:xfrm>
            <a:off x="10119020" y="2643309"/>
            <a:ext cx="1403335" cy="875836"/>
            <a:chOff x="10172810" y="2643309"/>
            <a:chExt cx="1403335" cy="875836"/>
          </a:xfrm>
        </p:grpSpPr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BCC3EFA-1AF0-CFDE-20D4-2DBA58144988}"/>
                </a:ext>
              </a:extLst>
            </p:cNvPr>
            <p:cNvSpPr txBox="1"/>
            <p:nvPr/>
          </p:nvSpPr>
          <p:spPr>
            <a:xfrm>
              <a:off x="10512143" y="2643309"/>
              <a:ext cx="644728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Chicken,</a:t>
              </a:r>
            </a:p>
            <a:p>
              <a:r>
                <a:rPr lang="en-US" sz="800" dirty="0"/>
                <a:t>Beef,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115" name="TextBox 114">
              <a:extLst>
                <a:ext uri="{FF2B5EF4-FFF2-40B4-BE49-F238E27FC236}">
                  <a16:creationId xmlns:a16="http://schemas.microsoft.com/office/drawing/2014/main" id="{493B4C41-21B8-3356-CBBB-39F6E61ECC8D}"/>
                </a:ext>
              </a:extLst>
            </p:cNvPr>
            <p:cNvSpPr txBox="1"/>
            <p:nvPr/>
          </p:nvSpPr>
          <p:spPr>
            <a:xfrm>
              <a:off x="10520840" y="2911406"/>
              <a:ext cx="704039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Breakfast,</a:t>
              </a:r>
            </a:p>
            <a:p>
              <a:r>
                <a:rPr lang="en-US" sz="800" dirty="0"/>
                <a:t>Lunch,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865D1799-3510-8D86-D126-DD1A80C54EB5}"/>
                </a:ext>
              </a:extLst>
            </p:cNvPr>
            <p:cNvSpPr txBox="1"/>
            <p:nvPr/>
          </p:nvSpPr>
          <p:spPr>
            <a:xfrm>
              <a:off x="10529063" y="3180591"/>
              <a:ext cx="104708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/>
                <a:t>Mobile,</a:t>
              </a:r>
            </a:p>
            <a:p>
              <a:r>
                <a:rPr lang="en-US" sz="800" dirty="0"/>
                <a:t>Fount counter, … </a:t>
              </a:r>
              <a:r>
                <a:rPr lang="en-US" sz="800" dirty="0" err="1"/>
                <a:t>etc</a:t>
              </a:r>
              <a:endParaRPr lang="en-US" sz="800" dirty="0"/>
            </a:p>
          </p:txBody>
        </p:sp>
        <p:grpSp>
          <p:nvGrpSpPr>
            <p:cNvPr id="117" name="Group 116">
              <a:extLst>
                <a:ext uri="{FF2B5EF4-FFF2-40B4-BE49-F238E27FC236}">
                  <a16:creationId xmlns:a16="http://schemas.microsoft.com/office/drawing/2014/main" id="{EE6A52EA-9881-E717-56C5-B01BCDBB45CB}"/>
                </a:ext>
              </a:extLst>
            </p:cNvPr>
            <p:cNvGrpSpPr/>
            <p:nvPr/>
          </p:nvGrpSpPr>
          <p:grpSpPr>
            <a:xfrm>
              <a:off x="10193783" y="2736483"/>
              <a:ext cx="365861" cy="174923"/>
              <a:chOff x="8217350" y="1159075"/>
              <a:chExt cx="365861" cy="174923"/>
            </a:xfrm>
          </p:grpSpPr>
          <p:cxnSp>
            <p:nvCxnSpPr>
              <p:cNvPr id="118" name="Straight Connector 117">
                <a:extLst>
                  <a:ext uri="{FF2B5EF4-FFF2-40B4-BE49-F238E27FC236}">
                    <a16:creationId xmlns:a16="http://schemas.microsoft.com/office/drawing/2014/main" id="{096245F4-5BA3-9D78-700E-BC47EE38243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9F4CBD93-6195-CBE9-F3A0-44309A7BE8E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0" name="Straight Connector 119">
                <a:extLst>
                  <a:ext uri="{FF2B5EF4-FFF2-40B4-BE49-F238E27FC236}">
                    <a16:creationId xmlns:a16="http://schemas.microsoft.com/office/drawing/2014/main" id="{53BAE5B2-D249-80EB-31D2-B98E3280C55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21" name="Straight Connector 120">
                <a:extLst>
                  <a:ext uri="{FF2B5EF4-FFF2-40B4-BE49-F238E27FC236}">
                    <a16:creationId xmlns:a16="http://schemas.microsoft.com/office/drawing/2014/main" id="{DE27C0B8-639F-B8CD-9ABE-7C0B9C675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124" name="Group 123">
              <a:extLst>
                <a:ext uri="{FF2B5EF4-FFF2-40B4-BE49-F238E27FC236}">
                  <a16:creationId xmlns:a16="http://schemas.microsoft.com/office/drawing/2014/main" id="{796BCCD7-3596-CD24-43E6-7176360913E5}"/>
                </a:ext>
              </a:extLst>
            </p:cNvPr>
            <p:cNvGrpSpPr/>
            <p:nvPr/>
          </p:nvGrpSpPr>
          <p:grpSpPr>
            <a:xfrm>
              <a:off x="10172810" y="3274881"/>
              <a:ext cx="365861" cy="174923"/>
              <a:chOff x="8217350" y="1159075"/>
              <a:chExt cx="365861" cy="174923"/>
            </a:xfrm>
          </p:grpSpPr>
          <p:cxnSp>
            <p:nvCxnSpPr>
              <p:cNvPr id="127" name="Straight Connector 126">
                <a:extLst>
                  <a:ext uri="{FF2B5EF4-FFF2-40B4-BE49-F238E27FC236}">
                    <a16:creationId xmlns:a16="http://schemas.microsoft.com/office/drawing/2014/main" id="{78E8B216-6B62-E184-2983-67C1B0BF356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33CFFFC3-6E06-E77D-FE9F-D5930652EE4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2" name="Straight Connector 131">
                <a:extLst>
                  <a:ext uri="{FF2B5EF4-FFF2-40B4-BE49-F238E27FC236}">
                    <a16:creationId xmlns:a16="http://schemas.microsoft.com/office/drawing/2014/main" id="{DFF87959-3940-BB23-D38C-E57FF4DD2A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600F4BC3-A37E-560B-FAAE-CF2AF992A1F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137" name="Group 136">
              <a:extLst>
                <a:ext uri="{FF2B5EF4-FFF2-40B4-BE49-F238E27FC236}">
                  <a16:creationId xmlns:a16="http://schemas.microsoft.com/office/drawing/2014/main" id="{7AE15F51-F7F2-44B5-EA7B-7FCD7CD20664}"/>
                </a:ext>
              </a:extLst>
            </p:cNvPr>
            <p:cNvGrpSpPr/>
            <p:nvPr/>
          </p:nvGrpSpPr>
          <p:grpSpPr>
            <a:xfrm>
              <a:off x="10193783" y="2988352"/>
              <a:ext cx="365861" cy="174923"/>
              <a:chOff x="8217350" y="1159075"/>
              <a:chExt cx="365861" cy="174923"/>
            </a:xfrm>
          </p:grpSpPr>
          <p:cxnSp>
            <p:nvCxnSpPr>
              <p:cNvPr id="144" name="Straight Connector 143">
                <a:extLst>
                  <a:ext uri="{FF2B5EF4-FFF2-40B4-BE49-F238E27FC236}">
                    <a16:creationId xmlns:a16="http://schemas.microsoft.com/office/drawing/2014/main" id="{B80BA494-5168-4936-76CF-A566E84D4D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59676" y="1312508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DD476230-0E53-7853-B829-F13661459C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47708" y="1159075"/>
                <a:ext cx="0" cy="174923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4510AADF-998B-923C-7625-0EAFB6BC1B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17350" y="1237698"/>
                <a:ext cx="142326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0D8D5823-6C96-83DA-FB1C-D406EFA4CA5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8058" y="1159075"/>
                <a:ext cx="21515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sp>
        <p:nvSpPr>
          <p:cNvPr id="154" name="TextBox 153">
            <a:extLst>
              <a:ext uri="{FF2B5EF4-FFF2-40B4-BE49-F238E27FC236}">
                <a16:creationId xmlns:a16="http://schemas.microsoft.com/office/drawing/2014/main" id="{6C22951D-ED69-6767-24BD-501FF3D476AC}"/>
              </a:ext>
            </a:extLst>
          </p:cNvPr>
          <p:cNvSpPr txBox="1"/>
          <p:nvPr/>
        </p:nvSpPr>
        <p:spPr>
          <a:xfrm>
            <a:off x="4863468" y="5318283"/>
            <a:ext cx="26122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dirty="0"/>
              <a:t>Environment factors (“Uncontrollable”)</a:t>
            </a:r>
          </a:p>
          <a:p>
            <a:r>
              <a:rPr lang="en-US" dirty="0"/>
              <a:t>• Seasonality</a:t>
            </a:r>
          </a:p>
          <a:p>
            <a:r>
              <a:rPr lang="en-US" dirty="0"/>
              <a:t>• Macro environment</a:t>
            </a:r>
          </a:p>
        </p:txBody>
      </p:sp>
    </p:spTree>
    <p:extLst>
      <p:ext uri="{BB962C8B-B14F-4D97-AF65-F5344CB8AC3E}">
        <p14:creationId xmlns:p14="http://schemas.microsoft.com/office/powerpoint/2010/main" val="19275790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61A068F-4288-8F03-EB70-733D7FAAD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Rectangle 187">
            <a:extLst>
              <a:ext uri="{FF2B5EF4-FFF2-40B4-BE49-F238E27FC236}">
                <a16:creationId xmlns:a16="http://schemas.microsoft.com/office/drawing/2014/main" id="{1639CD04-2D02-E3DE-F604-97A23AA0E02E}"/>
              </a:ext>
            </a:extLst>
          </p:cNvPr>
          <p:cNvSpPr/>
          <p:nvPr/>
        </p:nvSpPr>
        <p:spPr>
          <a:xfrm>
            <a:off x="2403164" y="4735928"/>
            <a:ext cx="7736968" cy="164406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2EB84691-79A4-FC63-B5C5-789B8E11A196}"/>
              </a:ext>
            </a:extLst>
          </p:cNvPr>
          <p:cNvSpPr/>
          <p:nvPr/>
        </p:nvSpPr>
        <p:spPr>
          <a:xfrm>
            <a:off x="2403166" y="2506260"/>
            <a:ext cx="7736968" cy="21346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8A864D4-C4F8-F468-EB05-FCCA58F673B0}"/>
              </a:ext>
            </a:extLst>
          </p:cNvPr>
          <p:cNvSpPr/>
          <p:nvPr/>
        </p:nvSpPr>
        <p:spPr>
          <a:xfrm>
            <a:off x="2420044" y="328951"/>
            <a:ext cx="7720090" cy="213461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1C7EF3-16D4-2B26-976D-34FF2CC1D96B}"/>
              </a:ext>
            </a:extLst>
          </p:cNvPr>
          <p:cNvSpPr txBox="1"/>
          <p:nvPr/>
        </p:nvSpPr>
        <p:spPr>
          <a:xfrm>
            <a:off x="3854823" y="410595"/>
            <a:ext cx="317350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b="1" dirty="0">
                <a:solidFill>
                  <a:schemeClr val="tx1"/>
                </a:solidFill>
              </a:rPr>
              <a:t>Layer 1: Growth Accounting (Structure/ What)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9FDB3E0-1250-1737-7FD2-1B6E4B6C072A}"/>
              </a:ext>
            </a:extLst>
          </p:cNvPr>
          <p:cNvSpPr txBox="1"/>
          <p:nvPr/>
        </p:nvSpPr>
        <p:spPr>
          <a:xfrm>
            <a:off x="14999" y="731001"/>
            <a:ext cx="27163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>
                <a:solidFill>
                  <a:schemeClr val="tx1"/>
                </a:solidFill>
              </a:rPr>
              <a:t>WHAT happened</a:t>
            </a:r>
            <a:r>
              <a:rPr lang="en-US" sz="1200" i="1" dirty="0">
                <a:solidFill>
                  <a:schemeClr val="tx1"/>
                </a:solidFill>
              </a:rPr>
              <a:t> (</a:t>
            </a:r>
            <a:r>
              <a:rPr lang="en-US" sz="1200" i="1" dirty="0"/>
              <a:t>Reconciles 100%)</a:t>
            </a:r>
            <a:endParaRPr lang="en-US" sz="1200" i="1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</a:rPr>
              <a:t>“Where did growth land”</a:t>
            </a:r>
          </a:p>
          <a:p>
            <a:endParaRPr lang="en-US" sz="1200" i="1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AFEDC036-EB3F-12D0-A3A1-8DED71BC5B8E}"/>
              </a:ext>
            </a:extLst>
          </p:cNvPr>
          <p:cNvGrpSpPr/>
          <p:nvPr/>
        </p:nvGrpSpPr>
        <p:grpSpPr>
          <a:xfrm>
            <a:off x="2608156" y="669857"/>
            <a:ext cx="7531977" cy="1799536"/>
            <a:chOff x="3836321" y="429156"/>
            <a:chExt cx="7531977" cy="1799536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CF2F1F9-96F8-740D-A71C-542F215F3C76}"/>
                </a:ext>
              </a:extLst>
            </p:cNvPr>
            <p:cNvGrpSpPr/>
            <p:nvPr/>
          </p:nvGrpSpPr>
          <p:grpSpPr>
            <a:xfrm>
              <a:off x="3836321" y="559840"/>
              <a:ext cx="2519752" cy="924124"/>
              <a:chOff x="4069403" y="631558"/>
              <a:chExt cx="2519752" cy="924124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6A4D90-BBDF-3AB6-9193-CDA991DD4460}"/>
                  </a:ext>
                </a:extLst>
              </p:cNvPr>
              <p:cNvSpPr txBox="1"/>
              <p:nvPr/>
            </p:nvSpPr>
            <p:spPr>
              <a:xfrm>
                <a:off x="4069403" y="979020"/>
                <a:ext cx="537354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dirty="0"/>
                  <a:t>Sales</a:t>
                </a:r>
              </a:p>
            </p:txBody>
          </p:sp>
          <p:sp>
            <p:nvSpPr>
              <p:cNvPr id="7" name="Left Brace 6">
                <a:extLst>
                  <a:ext uri="{FF2B5EF4-FFF2-40B4-BE49-F238E27FC236}">
                    <a16:creationId xmlns:a16="http://schemas.microsoft.com/office/drawing/2014/main" id="{4747A307-6D74-648B-372E-7A3E206BE290}"/>
                  </a:ext>
                </a:extLst>
              </p:cNvPr>
              <p:cNvSpPr/>
              <p:nvPr/>
            </p:nvSpPr>
            <p:spPr>
              <a:xfrm>
                <a:off x="4607896" y="743163"/>
                <a:ext cx="240979" cy="689838"/>
              </a:xfrm>
              <a:prstGeom prst="leftBrace">
                <a:avLst/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91385AA-C17F-D82F-615E-680ABF792A3D}"/>
                  </a:ext>
                </a:extLst>
              </p:cNvPr>
              <p:cNvSpPr txBox="1"/>
              <p:nvPr/>
            </p:nvSpPr>
            <p:spPr>
              <a:xfrm>
                <a:off x="4849906" y="631558"/>
                <a:ext cx="1398203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Guest Counts (GCS)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44E7EC-5BE2-3FCB-6175-67EB8C418A4A}"/>
                  </a:ext>
                </a:extLst>
              </p:cNvPr>
              <p:cNvSpPr txBox="1"/>
              <p:nvPr/>
            </p:nvSpPr>
            <p:spPr>
              <a:xfrm>
                <a:off x="4846947" y="1278683"/>
                <a:ext cx="1742208" cy="27699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200" dirty="0"/>
                  <a:t>Average Check Size (ACS)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FE37244-DAB3-0D01-16D3-FF0A982DA2CE}"/>
                  </a:ext>
                </a:extLst>
              </p:cNvPr>
              <p:cNvSpPr txBox="1"/>
              <p:nvPr/>
            </p:nvSpPr>
            <p:spPr>
              <a:xfrm>
                <a:off x="5314670" y="951306"/>
                <a:ext cx="555774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X</a:t>
                </a:r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992CA76-C38C-21CA-EC85-A19C7DCF5BAC}"/>
                </a:ext>
              </a:extLst>
            </p:cNvPr>
            <p:cNvGrpSpPr/>
            <p:nvPr/>
          </p:nvGrpSpPr>
          <p:grpSpPr>
            <a:xfrm>
              <a:off x="7478172" y="429156"/>
              <a:ext cx="1976572" cy="672803"/>
              <a:chOff x="7439250" y="406656"/>
              <a:chExt cx="1976572" cy="672803"/>
            </a:xfrm>
          </p:grpSpPr>
          <p:grpSp>
            <p:nvGrpSpPr>
              <p:cNvPr id="29" name="Group 28">
                <a:extLst>
                  <a:ext uri="{FF2B5EF4-FFF2-40B4-BE49-F238E27FC236}">
                    <a16:creationId xmlns:a16="http://schemas.microsoft.com/office/drawing/2014/main" id="{EC3EDEB4-159E-4DEE-B909-8EB8023EABC1}"/>
                  </a:ext>
                </a:extLst>
              </p:cNvPr>
              <p:cNvGrpSpPr/>
              <p:nvPr/>
            </p:nvGrpSpPr>
            <p:grpSpPr>
              <a:xfrm>
                <a:off x="7697535" y="406656"/>
                <a:ext cx="1718287" cy="672803"/>
                <a:chOff x="7663525" y="559953"/>
                <a:chExt cx="1718287" cy="672803"/>
              </a:xfrm>
            </p:grpSpPr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36096D3A-25EA-FD1E-8FCC-C8AA8ABA002B}"/>
                    </a:ext>
                  </a:extLst>
                </p:cNvPr>
                <p:cNvSpPr txBox="1"/>
                <p:nvPr/>
              </p:nvSpPr>
              <p:spPr>
                <a:xfrm>
                  <a:off x="8012719" y="559953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CCA8610F-CDEB-3178-A046-24DEF57BBEF1}"/>
                    </a:ext>
                  </a:extLst>
                </p:cNvPr>
                <p:cNvGrpSpPr/>
                <p:nvPr/>
              </p:nvGrpSpPr>
              <p:grpSpPr>
                <a:xfrm>
                  <a:off x="7663525" y="669955"/>
                  <a:ext cx="1103354" cy="562801"/>
                  <a:chOff x="7624126" y="655157"/>
                  <a:chExt cx="1103354" cy="562801"/>
                </a:xfrm>
              </p:grpSpPr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0D3FFE6F-9ACF-FD7A-CEB7-4468FD365233}"/>
                      </a:ext>
                    </a:extLst>
                  </p:cNvPr>
                  <p:cNvSpPr txBox="1"/>
                  <p:nvPr/>
                </p:nvSpPr>
                <p:spPr>
                  <a:xfrm>
                    <a:off x="7973748" y="940959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E198D4C6-F09D-91EF-DCCC-46C57298B0B9}"/>
                      </a:ext>
                    </a:extLst>
                  </p:cNvPr>
                  <p:cNvSpPr txBox="1"/>
                  <p:nvPr/>
                </p:nvSpPr>
                <p:spPr>
                  <a:xfrm>
                    <a:off x="7965097" y="739761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20" name="Straight Connector 19">
                    <a:extLst>
                      <a:ext uri="{FF2B5EF4-FFF2-40B4-BE49-F238E27FC236}">
                        <a16:creationId xmlns:a16="http://schemas.microsoft.com/office/drawing/2014/main" id="{36F61869-DB28-18D4-6C6E-6EEF21E6655F}"/>
                      </a:ext>
                    </a:extLst>
                  </p:cNvPr>
                  <p:cNvCxnSpPr/>
                  <p:nvPr/>
                </p:nvCxnSpPr>
                <p:spPr>
                  <a:xfrm>
                    <a:off x="7633381" y="676099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" name="Straight Connector 20">
                    <a:extLst>
                      <a:ext uri="{FF2B5EF4-FFF2-40B4-BE49-F238E27FC236}">
                        <a16:creationId xmlns:a16="http://schemas.microsoft.com/office/drawing/2014/main" id="{9844F112-3D80-4129-C833-FF1A83F792B5}"/>
                      </a:ext>
                    </a:extLst>
                  </p:cNvPr>
                  <p:cNvCxnSpPr/>
                  <p:nvPr/>
                </p:nvCxnSpPr>
                <p:spPr>
                  <a:xfrm>
                    <a:off x="7633381" y="889566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2" name="Straight Connector 21">
                    <a:extLst>
                      <a:ext uri="{FF2B5EF4-FFF2-40B4-BE49-F238E27FC236}">
                        <a16:creationId xmlns:a16="http://schemas.microsoft.com/office/drawing/2014/main" id="{6D039366-D416-9074-2330-A403B0F05BC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624126" y="1092030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F969D860-03B0-12CD-C882-385674C7FC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7624126" y="655157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7B384F0-8C06-0519-B832-5C85F8961FA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39250" y="680603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3D7078F5-6EDF-E34B-5416-E127B17D394C}"/>
                </a:ext>
              </a:extLst>
            </p:cNvPr>
            <p:cNvGrpSpPr/>
            <p:nvPr/>
          </p:nvGrpSpPr>
          <p:grpSpPr>
            <a:xfrm>
              <a:off x="6289784" y="1131963"/>
              <a:ext cx="3256986" cy="840615"/>
              <a:chOff x="5901869" y="424392"/>
              <a:chExt cx="3256986" cy="840615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1FDDF143-70FC-6830-BFA9-4D3AABACADCB}"/>
                  </a:ext>
                </a:extLst>
              </p:cNvPr>
              <p:cNvGrpSpPr/>
              <p:nvPr/>
            </p:nvGrpSpPr>
            <p:grpSpPr>
              <a:xfrm>
                <a:off x="6160154" y="424392"/>
                <a:ext cx="2998701" cy="840615"/>
                <a:chOff x="6126144" y="577689"/>
                <a:chExt cx="2998701" cy="840615"/>
              </a:xfrm>
            </p:grpSpPr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C7989FBF-A242-7262-2687-2EF22AF5D675}"/>
                    </a:ext>
                  </a:extLst>
                </p:cNvPr>
                <p:cNvSpPr txBox="1"/>
                <p:nvPr/>
              </p:nvSpPr>
              <p:spPr>
                <a:xfrm>
                  <a:off x="6475338" y="577689"/>
                  <a:ext cx="26248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Mix effect (share change, prices fixed)</a:t>
                  </a:r>
                </a:p>
              </p:txBody>
            </p:sp>
            <p:grpSp>
              <p:nvGrpSpPr>
                <p:cNvPr id="37" name="Group 36">
                  <a:extLst>
                    <a:ext uri="{FF2B5EF4-FFF2-40B4-BE49-F238E27FC236}">
                      <a16:creationId xmlns:a16="http://schemas.microsoft.com/office/drawing/2014/main" id="{D8D7146C-794A-60BF-0CEF-4CB69E27C7ED}"/>
                    </a:ext>
                  </a:extLst>
                </p:cNvPr>
                <p:cNvGrpSpPr/>
                <p:nvPr/>
              </p:nvGrpSpPr>
              <p:grpSpPr>
                <a:xfrm>
                  <a:off x="6126144" y="687691"/>
                  <a:ext cx="2998701" cy="730613"/>
                  <a:chOff x="6086745" y="672893"/>
                  <a:chExt cx="2998701" cy="730613"/>
                </a:xfrm>
              </p:grpSpPr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9DA62950-1641-CE39-7654-58ED74CC1DC3}"/>
                      </a:ext>
                    </a:extLst>
                  </p:cNvPr>
                  <p:cNvSpPr txBox="1"/>
                  <p:nvPr/>
                </p:nvSpPr>
                <p:spPr>
                  <a:xfrm>
                    <a:off x="6411252" y="1126507"/>
                    <a:ext cx="2674194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Within-channel effect (prices changed)</a:t>
                    </a:r>
                  </a:p>
                </p:txBody>
              </p:sp>
              <p:cxnSp>
                <p:nvCxnSpPr>
                  <p:cNvPr id="40" name="Straight Connector 39">
                    <a:extLst>
                      <a:ext uri="{FF2B5EF4-FFF2-40B4-BE49-F238E27FC236}">
                        <a16:creationId xmlns:a16="http://schemas.microsoft.com/office/drawing/2014/main" id="{826D789C-984D-0036-2EE2-E504ED9E84A8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693835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1" name="Straight Connector 40">
                    <a:extLst>
                      <a:ext uri="{FF2B5EF4-FFF2-40B4-BE49-F238E27FC236}">
                        <a16:creationId xmlns:a16="http://schemas.microsoft.com/office/drawing/2014/main" id="{2B5F4F97-4987-DE1E-22D0-D848798BD07F}"/>
                      </a:ext>
                    </a:extLst>
                  </p:cNvPr>
                  <p:cNvCxnSpPr/>
                  <p:nvPr/>
                </p:nvCxnSpPr>
                <p:spPr>
                  <a:xfrm>
                    <a:off x="6114122" y="1260764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3" name="Straight Connector 42">
                    <a:extLst>
                      <a:ext uri="{FF2B5EF4-FFF2-40B4-BE49-F238E27FC236}">
                        <a16:creationId xmlns:a16="http://schemas.microsoft.com/office/drawing/2014/main" id="{157D392F-DE8F-C4ED-9377-21A02B1248F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672893"/>
                    <a:ext cx="8224" cy="675194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35303686-39C6-9164-68D7-209952ACF8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1869" y="698339"/>
                <a:ext cx="250263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C0C044BB-1360-8AA8-C489-F8DE19CC68A1}"/>
                </a:ext>
              </a:extLst>
            </p:cNvPr>
            <p:cNvGrpSpPr/>
            <p:nvPr/>
          </p:nvGrpSpPr>
          <p:grpSpPr>
            <a:xfrm>
              <a:off x="9361129" y="965479"/>
              <a:ext cx="1976572" cy="672803"/>
              <a:chOff x="5901869" y="424392"/>
              <a:chExt cx="1976572" cy="672803"/>
            </a:xfrm>
          </p:grpSpPr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D7D2A965-00A3-C6C3-B010-12A666EFB21E}"/>
                  </a:ext>
                </a:extLst>
              </p:cNvPr>
              <p:cNvGrpSpPr/>
              <p:nvPr/>
            </p:nvGrpSpPr>
            <p:grpSpPr>
              <a:xfrm>
                <a:off x="6160154" y="424392"/>
                <a:ext cx="1718287" cy="672803"/>
                <a:chOff x="6126144" y="577689"/>
                <a:chExt cx="1718287" cy="672803"/>
              </a:xfrm>
            </p:grpSpPr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5A2CE46-9F4B-B895-284B-84A74B061497}"/>
                    </a:ext>
                  </a:extLst>
                </p:cNvPr>
                <p:cNvSpPr txBox="1"/>
                <p:nvPr/>
              </p:nvSpPr>
              <p:spPr>
                <a:xfrm>
                  <a:off x="6475338" y="577689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51" name="Group 50">
                  <a:extLst>
                    <a:ext uri="{FF2B5EF4-FFF2-40B4-BE49-F238E27FC236}">
                      <a16:creationId xmlns:a16="http://schemas.microsoft.com/office/drawing/2014/main" id="{BA6CAAC1-B4E0-D314-156E-3DBF7DFC7AEC}"/>
                    </a:ext>
                  </a:extLst>
                </p:cNvPr>
                <p:cNvGrpSpPr/>
                <p:nvPr/>
              </p:nvGrpSpPr>
              <p:grpSpPr>
                <a:xfrm>
                  <a:off x="6126144" y="687691"/>
                  <a:ext cx="1103354" cy="562801"/>
                  <a:chOff x="6086745" y="672893"/>
                  <a:chExt cx="1103354" cy="562801"/>
                </a:xfrm>
              </p:grpSpPr>
              <p:sp>
                <p:nvSpPr>
                  <p:cNvPr id="52" name="TextBox 51">
                    <a:extLst>
                      <a:ext uri="{FF2B5EF4-FFF2-40B4-BE49-F238E27FC236}">
                        <a16:creationId xmlns:a16="http://schemas.microsoft.com/office/drawing/2014/main" id="{03C2B212-FDDE-48B7-E48D-BED320CD2688}"/>
                      </a:ext>
                    </a:extLst>
                  </p:cNvPr>
                  <p:cNvSpPr txBox="1"/>
                  <p:nvPr/>
                </p:nvSpPr>
                <p:spPr>
                  <a:xfrm>
                    <a:off x="6436367" y="958695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53" name="TextBox 52">
                    <a:extLst>
                      <a:ext uri="{FF2B5EF4-FFF2-40B4-BE49-F238E27FC236}">
                        <a16:creationId xmlns:a16="http://schemas.microsoft.com/office/drawing/2014/main" id="{53614FF8-6E37-EA7C-3115-5D0CDC39F4B4}"/>
                      </a:ext>
                    </a:extLst>
                  </p:cNvPr>
                  <p:cNvSpPr txBox="1"/>
                  <p:nvPr/>
                </p:nvSpPr>
                <p:spPr>
                  <a:xfrm>
                    <a:off x="6427716" y="757497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54" name="Straight Connector 53">
                    <a:extLst>
                      <a:ext uri="{FF2B5EF4-FFF2-40B4-BE49-F238E27FC236}">
                        <a16:creationId xmlns:a16="http://schemas.microsoft.com/office/drawing/2014/main" id="{09C8EB6D-01F1-1183-949F-8CC71FA6FE0C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693835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Straight Connector 54">
                    <a:extLst>
                      <a:ext uri="{FF2B5EF4-FFF2-40B4-BE49-F238E27FC236}">
                        <a16:creationId xmlns:a16="http://schemas.microsoft.com/office/drawing/2014/main" id="{4E0D91D7-F2EE-6692-431F-438AA5475A96}"/>
                      </a:ext>
                    </a:extLst>
                  </p:cNvPr>
                  <p:cNvCxnSpPr/>
                  <p:nvPr/>
                </p:nvCxnSpPr>
                <p:spPr>
                  <a:xfrm>
                    <a:off x="6096000" y="907302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6" name="Straight Connector 55">
                    <a:extLst>
                      <a:ext uri="{FF2B5EF4-FFF2-40B4-BE49-F238E27FC236}">
                        <a16:creationId xmlns:a16="http://schemas.microsoft.com/office/drawing/2014/main" id="{55126B6E-2D3D-5B00-E2F5-117904EBECB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1109766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7" name="Straight Connector 56">
                    <a:extLst>
                      <a:ext uri="{FF2B5EF4-FFF2-40B4-BE49-F238E27FC236}">
                        <a16:creationId xmlns:a16="http://schemas.microsoft.com/office/drawing/2014/main" id="{8DAFE333-CF22-56B4-589B-2C9A13354F9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86745" y="672893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69A876D1-CBFB-C62F-CB27-A7EB94DDF3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901869" y="698339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E39A37B0-1F83-D180-91A6-0B3D1AD2C24D}"/>
                </a:ext>
              </a:extLst>
            </p:cNvPr>
            <p:cNvGrpSpPr/>
            <p:nvPr/>
          </p:nvGrpSpPr>
          <p:grpSpPr>
            <a:xfrm>
              <a:off x="9391726" y="1555889"/>
              <a:ext cx="1976572" cy="672803"/>
              <a:chOff x="5867624" y="354466"/>
              <a:chExt cx="1976572" cy="672803"/>
            </a:xfrm>
          </p:grpSpPr>
          <p:grpSp>
            <p:nvGrpSpPr>
              <p:cNvPr id="59" name="Group 58">
                <a:extLst>
                  <a:ext uri="{FF2B5EF4-FFF2-40B4-BE49-F238E27FC236}">
                    <a16:creationId xmlns:a16="http://schemas.microsoft.com/office/drawing/2014/main" id="{ED678409-4A6B-772D-404C-459B6D6DEA76}"/>
                  </a:ext>
                </a:extLst>
              </p:cNvPr>
              <p:cNvGrpSpPr/>
              <p:nvPr/>
            </p:nvGrpSpPr>
            <p:grpSpPr>
              <a:xfrm>
                <a:off x="6125909" y="354466"/>
                <a:ext cx="1718287" cy="672803"/>
                <a:chOff x="6091899" y="507763"/>
                <a:chExt cx="1718287" cy="672803"/>
              </a:xfrm>
            </p:grpSpPr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B2E85D59-5D3E-C362-4BF9-60CEE09A6397}"/>
                    </a:ext>
                  </a:extLst>
                </p:cNvPr>
                <p:cNvSpPr txBox="1"/>
                <p:nvPr/>
              </p:nvSpPr>
              <p:spPr>
                <a:xfrm>
                  <a:off x="6441093" y="507763"/>
                  <a:ext cx="136909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1200" dirty="0"/>
                    <a:t>Product Categories</a:t>
                  </a:r>
                </a:p>
              </p:txBody>
            </p:sp>
            <p:grpSp>
              <p:nvGrpSpPr>
                <p:cNvPr id="62" name="Group 61">
                  <a:extLst>
                    <a:ext uri="{FF2B5EF4-FFF2-40B4-BE49-F238E27FC236}">
                      <a16:creationId xmlns:a16="http://schemas.microsoft.com/office/drawing/2014/main" id="{382A16A4-1E4B-972B-71F4-254EB27C79BD}"/>
                    </a:ext>
                  </a:extLst>
                </p:cNvPr>
                <p:cNvGrpSpPr/>
                <p:nvPr/>
              </p:nvGrpSpPr>
              <p:grpSpPr>
                <a:xfrm>
                  <a:off x="6091899" y="617765"/>
                  <a:ext cx="1103354" cy="562801"/>
                  <a:chOff x="6052500" y="602967"/>
                  <a:chExt cx="1103354" cy="562801"/>
                </a:xfrm>
              </p:grpSpPr>
              <p:sp>
                <p:nvSpPr>
                  <p:cNvPr id="63" name="TextBox 62">
                    <a:extLst>
                      <a:ext uri="{FF2B5EF4-FFF2-40B4-BE49-F238E27FC236}">
                        <a16:creationId xmlns:a16="http://schemas.microsoft.com/office/drawing/2014/main" id="{EAAEF232-A81C-72C1-658D-70B70ACCB371}"/>
                      </a:ext>
                    </a:extLst>
                  </p:cNvPr>
                  <p:cNvSpPr txBox="1"/>
                  <p:nvPr/>
                </p:nvSpPr>
                <p:spPr>
                  <a:xfrm>
                    <a:off x="6402122" y="888769"/>
                    <a:ext cx="753732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Channels</a:t>
                    </a:r>
                  </a:p>
                </p:txBody>
              </p:sp>
              <p:sp>
                <p:nvSpPr>
                  <p:cNvPr id="64" name="TextBox 63">
                    <a:extLst>
                      <a:ext uri="{FF2B5EF4-FFF2-40B4-BE49-F238E27FC236}">
                        <a16:creationId xmlns:a16="http://schemas.microsoft.com/office/drawing/2014/main" id="{897B804B-6599-12E7-6C90-391ACB39077B}"/>
                      </a:ext>
                    </a:extLst>
                  </p:cNvPr>
                  <p:cNvSpPr txBox="1"/>
                  <p:nvPr/>
                </p:nvSpPr>
                <p:spPr>
                  <a:xfrm>
                    <a:off x="6393471" y="687571"/>
                    <a:ext cx="738023" cy="27699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sz="1200" dirty="0"/>
                      <a:t>Dayparts</a:t>
                    </a:r>
                  </a:p>
                </p:txBody>
              </p:sp>
              <p:cxnSp>
                <p:nvCxnSpPr>
                  <p:cNvPr id="65" name="Straight Connector 64">
                    <a:extLst>
                      <a:ext uri="{FF2B5EF4-FFF2-40B4-BE49-F238E27FC236}">
                        <a16:creationId xmlns:a16="http://schemas.microsoft.com/office/drawing/2014/main" id="{E65A936D-01B8-8BBB-65E4-B0C0C841F9FD}"/>
                      </a:ext>
                    </a:extLst>
                  </p:cNvPr>
                  <p:cNvCxnSpPr/>
                  <p:nvPr/>
                </p:nvCxnSpPr>
                <p:spPr>
                  <a:xfrm>
                    <a:off x="6061755" y="623909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6" name="Straight Connector 65">
                    <a:extLst>
                      <a:ext uri="{FF2B5EF4-FFF2-40B4-BE49-F238E27FC236}">
                        <a16:creationId xmlns:a16="http://schemas.microsoft.com/office/drawing/2014/main" id="{126595A4-2988-40AC-66F6-9F970B157911}"/>
                      </a:ext>
                    </a:extLst>
                  </p:cNvPr>
                  <p:cNvCxnSpPr/>
                  <p:nvPr/>
                </p:nvCxnSpPr>
                <p:spPr>
                  <a:xfrm>
                    <a:off x="6061755" y="837376"/>
                    <a:ext cx="340367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7" name="Straight Connector 66">
                    <a:extLst>
                      <a:ext uri="{FF2B5EF4-FFF2-40B4-BE49-F238E27FC236}">
                        <a16:creationId xmlns:a16="http://schemas.microsoft.com/office/drawing/2014/main" id="{59BBE35D-CB8A-4DD6-3C19-E9FE8D52F6D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52500" y="1039840"/>
                    <a:ext cx="376370" cy="0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8" name="Straight Connector 67">
                    <a:extLst>
                      <a:ext uri="{FF2B5EF4-FFF2-40B4-BE49-F238E27FC236}">
                        <a16:creationId xmlns:a16="http://schemas.microsoft.com/office/drawing/2014/main" id="{5010BF6E-A4DE-4840-94C8-9BC0AAEFC3A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052500" y="602967"/>
                    <a:ext cx="0" cy="468817"/>
                  </a:xfrm>
                  <a:prstGeom prst="line">
                    <a:avLst/>
                  </a:prstGeom>
                </p:spPr>
                <p:style>
                  <a:lnRef idx="1">
                    <a:schemeClr val="accent3"/>
                  </a:lnRef>
                  <a:fillRef idx="0">
                    <a:schemeClr val="accent3"/>
                  </a:fillRef>
                  <a:effectRef idx="0">
                    <a:schemeClr val="accent3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FBF33C53-85F1-20FB-ABAE-B30AD9623B6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867624" y="628413"/>
                <a:ext cx="267540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5ADEAEE8-7C6F-3A84-A0F0-5B6058BE3CE5}"/>
              </a:ext>
            </a:extLst>
          </p:cNvPr>
          <p:cNvCxnSpPr>
            <a:stCxn id="10" idx="1"/>
            <a:endCxn id="122" idx="1"/>
          </p:cNvCxnSpPr>
          <p:nvPr/>
        </p:nvCxnSpPr>
        <p:spPr>
          <a:xfrm rot="10800000" flipH="1" flipV="1">
            <a:off x="3388658" y="939040"/>
            <a:ext cx="84193" cy="2259645"/>
          </a:xfrm>
          <a:prstGeom prst="bentConnector3">
            <a:avLst>
              <a:gd name="adj1" fmla="val -271519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cxnSp>
        <p:nvCxnSpPr>
          <p:cNvPr id="126" name="Connector: Elbow 125">
            <a:extLst>
              <a:ext uri="{FF2B5EF4-FFF2-40B4-BE49-F238E27FC236}">
                <a16:creationId xmlns:a16="http://schemas.microsoft.com/office/drawing/2014/main" id="{DCAA92B0-D5F5-6864-7D5C-24236BA7B1B3}"/>
              </a:ext>
            </a:extLst>
          </p:cNvPr>
          <p:cNvCxnSpPr>
            <a:cxnSpLocks/>
            <a:endCxn id="123" idx="1"/>
          </p:cNvCxnSpPr>
          <p:nvPr/>
        </p:nvCxnSpPr>
        <p:spPr>
          <a:xfrm rot="5400000">
            <a:off x="2535257" y="2662260"/>
            <a:ext cx="1901291" cy="26100"/>
          </a:xfrm>
          <a:prstGeom prst="bentConnector4">
            <a:avLst>
              <a:gd name="adj1" fmla="val 46358"/>
              <a:gd name="adj2" fmla="val 975862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43" name="Group 142">
            <a:extLst>
              <a:ext uri="{FF2B5EF4-FFF2-40B4-BE49-F238E27FC236}">
                <a16:creationId xmlns:a16="http://schemas.microsoft.com/office/drawing/2014/main" id="{367CB396-9A8D-2636-2E5D-B01D8CF2A1AD}"/>
              </a:ext>
            </a:extLst>
          </p:cNvPr>
          <p:cNvGrpSpPr/>
          <p:nvPr/>
        </p:nvGrpSpPr>
        <p:grpSpPr>
          <a:xfrm>
            <a:off x="3385700" y="2692642"/>
            <a:ext cx="6180230" cy="1761852"/>
            <a:chOff x="3430524" y="2232064"/>
            <a:chExt cx="6180230" cy="1761852"/>
          </a:xfrm>
        </p:grpSpPr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72BDCD86-5A2E-4587-59A3-BA48C48B59DB}"/>
                </a:ext>
              </a:extLst>
            </p:cNvPr>
            <p:cNvSpPr txBox="1"/>
            <p:nvPr/>
          </p:nvSpPr>
          <p:spPr>
            <a:xfrm>
              <a:off x="3430524" y="2232064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2: ML DECOMPOSITION (CLARITY / WHY, OVERALL)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A189C34D-3CCF-D8AB-1AF0-A3B0C43B27A3}"/>
                </a:ext>
              </a:extLst>
            </p:cNvPr>
            <p:cNvSpPr txBox="1"/>
            <p:nvPr/>
          </p:nvSpPr>
          <p:spPr>
            <a:xfrm>
              <a:off x="3517676" y="2599608"/>
              <a:ext cx="8050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GC Model</a:t>
              </a:r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06A98EFB-0D85-97ED-EB5F-37AA2934F271}"/>
                </a:ext>
              </a:extLst>
            </p:cNvPr>
            <p:cNvSpPr txBox="1"/>
            <p:nvPr/>
          </p:nvSpPr>
          <p:spPr>
            <a:xfrm>
              <a:off x="3517676" y="3026878"/>
              <a:ext cx="936345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ACS Model</a:t>
              </a: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FDC0600-FC39-A78E-3310-1F1513B1E226}"/>
                </a:ext>
              </a:extLst>
            </p:cNvPr>
            <p:cNvSpPr txBox="1"/>
            <p:nvPr/>
          </p:nvSpPr>
          <p:spPr>
            <a:xfrm>
              <a:off x="3745854" y="2797854"/>
              <a:ext cx="55577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X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1871D1E8-42E1-847D-0D8C-A732157CADE8}"/>
                </a:ext>
              </a:extLst>
            </p:cNvPr>
            <p:cNvSpPr txBox="1"/>
            <p:nvPr/>
          </p:nvSpPr>
          <p:spPr>
            <a:xfrm>
              <a:off x="3501041" y="3716917"/>
              <a:ext cx="105432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SALES Model</a:t>
              </a:r>
            </a:p>
          </p:txBody>
        </p:sp>
        <p:cxnSp>
          <p:nvCxnSpPr>
            <p:cNvPr id="130" name="Connector: Elbow 129">
              <a:extLst>
                <a:ext uri="{FF2B5EF4-FFF2-40B4-BE49-F238E27FC236}">
                  <a16:creationId xmlns:a16="http://schemas.microsoft.com/office/drawing/2014/main" id="{47395254-CC3D-146A-3D6F-5D817ED673BB}"/>
                </a:ext>
              </a:extLst>
            </p:cNvPr>
            <p:cNvCxnSpPr>
              <a:cxnSpLocks/>
            </p:cNvCxnSpPr>
            <p:nvPr/>
          </p:nvCxnSpPr>
          <p:spPr>
            <a:xfrm rot="16200000" flipH="1">
              <a:off x="3654253" y="3508375"/>
              <a:ext cx="486959" cy="1034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ADC82C93-A3E3-B365-09AE-B832FDE94D9D}"/>
                </a:ext>
              </a:extLst>
            </p:cNvPr>
            <p:cNvGrpSpPr/>
            <p:nvPr/>
          </p:nvGrpSpPr>
          <p:grpSpPr>
            <a:xfrm>
              <a:off x="4482970" y="2509756"/>
              <a:ext cx="5127784" cy="1384995"/>
              <a:chOff x="5231574" y="2617381"/>
              <a:chExt cx="5127784" cy="1384995"/>
            </a:xfrm>
          </p:grpSpPr>
          <p:sp>
            <p:nvSpPr>
              <p:cNvPr id="133" name="TextBox 132">
                <a:extLst>
                  <a:ext uri="{FF2B5EF4-FFF2-40B4-BE49-F238E27FC236}">
                    <a16:creationId xmlns:a16="http://schemas.microsoft.com/office/drawing/2014/main" id="{6E3C5D7F-8CEF-AE63-FABC-4BCAD9581C33}"/>
                  </a:ext>
                </a:extLst>
              </p:cNvPr>
              <p:cNvSpPr txBox="1"/>
              <p:nvPr/>
            </p:nvSpPr>
            <p:spPr>
              <a:xfrm>
                <a:off x="5507532" y="2617381"/>
                <a:ext cx="2612239" cy="1384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Structural features as CONTROLS (not levers)</a:t>
                </a:r>
              </a:p>
              <a:p>
                <a:r>
                  <a:rPr lang="en-US" dirty="0"/>
                  <a:t>• Channel / Daypart / Product Category as fixed effects</a:t>
                </a:r>
              </a:p>
              <a:p>
                <a:r>
                  <a:rPr lang="en-US" dirty="0"/>
                  <a:t>• Region / Store cluster as fixed effects</a:t>
                </a:r>
              </a:p>
              <a:p>
                <a:r>
                  <a:rPr lang="en-US" dirty="0"/>
                  <a:t>• Week-of-year (seasonality)</a:t>
                </a:r>
              </a:p>
              <a:p>
                <a:r>
                  <a:rPr lang="en-US" dirty="0"/>
                  <a:t>• Macro environment</a:t>
                </a:r>
              </a:p>
            </p:txBody>
          </p:sp>
          <p:sp>
            <p:nvSpPr>
              <p:cNvPr id="135" name="TextBox 134">
                <a:extLst>
                  <a:ext uri="{FF2B5EF4-FFF2-40B4-BE49-F238E27FC236}">
                    <a16:creationId xmlns:a16="http://schemas.microsoft.com/office/drawing/2014/main" id="{77D7AE42-2226-118A-F1EB-66DE07952500}"/>
                  </a:ext>
                </a:extLst>
              </p:cNvPr>
              <p:cNvSpPr txBox="1"/>
              <p:nvPr/>
            </p:nvSpPr>
            <p:spPr>
              <a:xfrm>
                <a:off x="8511820" y="2617381"/>
                <a:ext cx="1847538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>
                  <a:defRPr sz="1200"/>
                </a:lvl1pPr>
              </a:lstStyle>
              <a:p>
                <a:r>
                  <a:rPr lang="en-US" dirty="0"/>
                  <a:t>Business drivers (“HOW”):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Media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Promo depth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Price index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CSAT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en-US" dirty="0"/>
                  <a:t>LTO flag </a:t>
                </a:r>
              </a:p>
            </p:txBody>
          </p:sp>
          <p:sp>
            <p:nvSpPr>
              <p:cNvPr id="136" name="TextBox 135">
                <a:extLst>
                  <a:ext uri="{FF2B5EF4-FFF2-40B4-BE49-F238E27FC236}">
                    <a16:creationId xmlns:a16="http://schemas.microsoft.com/office/drawing/2014/main" id="{8C1596E4-839D-22B0-C06A-E88DA9877AF9}"/>
                  </a:ext>
                </a:extLst>
              </p:cNvPr>
              <p:cNvSpPr txBox="1"/>
              <p:nvPr/>
            </p:nvSpPr>
            <p:spPr>
              <a:xfrm>
                <a:off x="8145872" y="3017697"/>
                <a:ext cx="555774" cy="4001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000" b="1" dirty="0"/>
                  <a:t>+</a:t>
                </a:r>
              </a:p>
            </p:txBody>
          </p:sp>
          <p:sp>
            <p:nvSpPr>
              <p:cNvPr id="138" name="Left Brace 137">
                <a:extLst>
                  <a:ext uri="{FF2B5EF4-FFF2-40B4-BE49-F238E27FC236}">
                    <a16:creationId xmlns:a16="http://schemas.microsoft.com/office/drawing/2014/main" id="{E77630A4-C37E-A526-AE4D-2A6AE3823A4E}"/>
                  </a:ext>
                </a:extLst>
              </p:cNvPr>
              <p:cNvSpPr/>
              <p:nvPr/>
            </p:nvSpPr>
            <p:spPr>
              <a:xfrm>
                <a:off x="5231574" y="2739162"/>
                <a:ext cx="293929" cy="1040126"/>
              </a:xfrm>
              <a:prstGeom prst="leftBrace">
                <a:avLst>
                  <a:gd name="adj1" fmla="val 8333"/>
                  <a:gd name="adj2" fmla="val 15601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9" name="Left Brace 138">
                <a:extLst>
                  <a:ext uri="{FF2B5EF4-FFF2-40B4-BE49-F238E27FC236}">
                    <a16:creationId xmlns:a16="http://schemas.microsoft.com/office/drawing/2014/main" id="{9CE96FA4-65BA-2A53-55BA-9227505E6ABD}"/>
                  </a:ext>
                </a:extLst>
              </p:cNvPr>
              <p:cNvSpPr/>
              <p:nvPr/>
            </p:nvSpPr>
            <p:spPr>
              <a:xfrm>
                <a:off x="5237002" y="2742854"/>
                <a:ext cx="288501" cy="1036434"/>
              </a:xfrm>
              <a:prstGeom prst="leftBrace">
                <a:avLst>
                  <a:gd name="adj1" fmla="val 8333"/>
                  <a:gd name="adj2" fmla="val 50905"/>
                </a:avLst>
              </a:prstGeom>
              <a:ln>
                <a:solidFill>
                  <a:schemeClr val="bg1">
                    <a:lumMod val="5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46" name="TextBox 145">
            <a:extLst>
              <a:ext uri="{FF2B5EF4-FFF2-40B4-BE49-F238E27FC236}">
                <a16:creationId xmlns:a16="http://schemas.microsoft.com/office/drawing/2014/main" id="{E0961721-E455-6EB1-69B8-DD03CD7DC398}"/>
              </a:ext>
            </a:extLst>
          </p:cNvPr>
          <p:cNvSpPr txBox="1"/>
          <p:nvPr/>
        </p:nvSpPr>
        <p:spPr>
          <a:xfrm>
            <a:off x="55841" y="2887291"/>
            <a:ext cx="212107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/>
            </a:lvl1pPr>
          </a:lstStyle>
          <a:p>
            <a:r>
              <a:rPr lang="en-US" b="1" dirty="0"/>
              <a:t>WHY it happened </a:t>
            </a:r>
            <a:r>
              <a:rPr lang="en-US" i="1" dirty="0"/>
              <a:t>(Correlational explanation (not causal))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i="1" dirty="0"/>
              <a:t>“Which drivers explain GCS / AOV / Sales growth”</a:t>
            </a:r>
          </a:p>
        </p:txBody>
      </p:sp>
      <p:sp>
        <p:nvSpPr>
          <p:cNvPr id="162" name="TextBox 161">
            <a:extLst>
              <a:ext uri="{FF2B5EF4-FFF2-40B4-BE49-F238E27FC236}">
                <a16:creationId xmlns:a16="http://schemas.microsoft.com/office/drawing/2014/main" id="{AD02B9F0-3ACD-0481-0A10-2C1C3AFF0464}"/>
              </a:ext>
            </a:extLst>
          </p:cNvPr>
          <p:cNvSpPr txBox="1"/>
          <p:nvPr/>
        </p:nvSpPr>
        <p:spPr>
          <a:xfrm>
            <a:off x="-9043" y="4833810"/>
            <a:ext cx="232253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200" i="1"/>
            </a:lvl1pPr>
          </a:lstStyle>
          <a:p>
            <a:r>
              <a:rPr lang="en-US" b="1" i="0" dirty="0"/>
              <a:t>WHERE it works better</a:t>
            </a:r>
          </a:p>
          <a:p>
            <a:r>
              <a:rPr lang="en-US" dirty="0"/>
              <a:t>Triggered only when needed (deep-dive questions)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“Does promo work better in breakfast or dinner?”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“Why is digital growing faster?” </a:t>
            </a:r>
          </a:p>
        </p:txBody>
      </p: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A1D387FE-F720-2326-F21A-3D5D377CC024}"/>
              </a:ext>
            </a:extLst>
          </p:cNvPr>
          <p:cNvCxnSpPr>
            <a:cxnSpLocks/>
          </p:cNvCxnSpPr>
          <p:nvPr/>
        </p:nvCxnSpPr>
        <p:spPr>
          <a:xfrm rot="10800000" flipV="1">
            <a:off x="4594120" y="3529603"/>
            <a:ext cx="128993" cy="2173753"/>
          </a:xfrm>
          <a:prstGeom prst="bentConnector3">
            <a:avLst>
              <a:gd name="adj1" fmla="val 277219"/>
            </a:avLst>
          </a:prstGeom>
          <a:ln>
            <a:prstDash val="dash"/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grpSp>
        <p:nvGrpSpPr>
          <p:cNvPr id="189" name="Group 188">
            <a:extLst>
              <a:ext uri="{FF2B5EF4-FFF2-40B4-BE49-F238E27FC236}">
                <a16:creationId xmlns:a16="http://schemas.microsoft.com/office/drawing/2014/main" id="{339BD59B-1848-71E6-B64E-2A2E3D54F866}"/>
              </a:ext>
            </a:extLst>
          </p:cNvPr>
          <p:cNvGrpSpPr/>
          <p:nvPr/>
        </p:nvGrpSpPr>
        <p:grpSpPr>
          <a:xfrm>
            <a:off x="3297916" y="4833810"/>
            <a:ext cx="6342652" cy="1179397"/>
            <a:chOff x="3342740" y="4556811"/>
            <a:chExt cx="6342652" cy="1179397"/>
          </a:xfrm>
        </p:grpSpPr>
        <p:sp>
          <p:nvSpPr>
            <p:cNvPr id="149" name="TextBox 148">
              <a:extLst>
                <a:ext uri="{FF2B5EF4-FFF2-40B4-BE49-F238E27FC236}">
                  <a16:creationId xmlns:a16="http://schemas.microsoft.com/office/drawing/2014/main" id="{C30699A1-95E4-127F-BEDF-174CE536378C}"/>
                </a:ext>
              </a:extLst>
            </p:cNvPr>
            <p:cNvSpPr txBox="1"/>
            <p:nvPr/>
          </p:nvSpPr>
          <p:spPr>
            <a:xfrm>
              <a:off x="3342740" y="4556811"/>
              <a:ext cx="443909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</a:rPr>
                <a:t>Layer 3: EFFECTIVENESS BY STRUCTURE (SENSITIVITY)</a:t>
              </a:r>
            </a:p>
          </p:txBody>
        </p: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175A62E7-30D5-CD2F-B147-FDF150AAF667}"/>
                </a:ext>
              </a:extLst>
            </p:cNvPr>
            <p:cNvSpPr txBox="1"/>
            <p:nvPr/>
          </p:nvSpPr>
          <p:spPr>
            <a:xfrm>
              <a:off x="4537654" y="4859957"/>
              <a:ext cx="261223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US" dirty="0"/>
                <a:t>Add SELECTIVE interactions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promo × </a:t>
              </a:r>
              <a:r>
                <a:rPr lang="en-US" dirty="0" err="1"/>
                <a:t>is_delivery</a:t>
              </a:r>
              <a:endParaRPr lang="en-US" dirty="0"/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promo × </a:t>
              </a:r>
              <a:r>
                <a:rPr lang="en-US" dirty="0" err="1"/>
                <a:t>is_breakfast</a:t>
              </a:r>
              <a:r>
                <a:rPr lang="en-US" dirty="0"/>
                <a:t>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(small, intentional set only) </a:t>
              </a:r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6F4E10E9-D7DD-561F-20F8-62AC2137977B}"/>
                </a:ext>
              </a:extLst>
            </p:cNvPr>
            <p:cNvSpPr txBox="1"/>
            <p:nvPr/>
          </p:nvSpPr>
          <p:spPr>
            <a:xfrm>
              <a:off x="6635386" y="5038419"/>
              <a:ext cx="55577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/>
                <a:t>-&gt;</a:t>
              </a:r>
            </a:p>
          </p:txBody>
        </p:sp>
        <p:sp>
          <p:nvSpPr>
            <p:cNvPr id="172" name="TextBox 171">
              <a:extLst>
                <a:ext uri="{FF2B5EF4-FFF2-40B4-BE49-F238E27FC236}">
                  <a16:creationId xmlns:a16="http://schemas.microsoft.com/office/drawing/2014/main" id="{26E06671-9291-1C34-3FF5-9AE3042371AE}"/>
                </a:ext>
              </a:extLst>
            </p:cNvPr>
            <p:cNvSpPr txBox="1"/>
            <p:nvPr/>
          </p:nvSpPr>
          <p:spPr>
            <a:xfrm>
              <a:off x="7073153" y="4905211"/>
              <a:ext cx="2612239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1200"/>
              </a:lvl1pPr>
            </a:lstStyle>
            <a:p>
              <a:r>
                <a:rPr lang="en-US" dirty="0"/>
                <a:t>Interpretation: 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Baseline effect (global promo sensitivity)</a:t>
              </a:r>
            </a:p>
            <a:p>
              <a:pPr marL="171450" indent="-171450">
                <a:buFont typeface="Arial" panose="020B0604020202020204" pitchFamily="34" charset="0"/>
                <a:buChar char="•"/>
              </a:pPr>
              <a:r>
                <a:rPr lang="en-US" dirty="0"/>
                <a:t>Incremental sensitivity by structure </a:t>
              </a:r>
            </a:p>
          </p:txBody>
        </p:sp>
      </p:grpSp>
      <p:grpSp>
        <p:nvGrpSpPr>
          <p:cNvPr id="190" name="Group 189">
            <a:extLst>
              <a:ext uri="{FF2B5EF4-FFF2-40B4-BE49-F238E27FC236}">
                <a16:creationId xmlns:a16="http://schemas.microsoft.com/office/drawing/2014/main" id="{BBB002CE-FF37-A16B-C9F7-762088A722D7}"/>
              </a:ext>
            </a:extLst>
          </p:cNvPr>
          <p:cNvGrpSpPr/>
          <p:nvPr/>
        </p:nvGrpSpPr>
        <p:grpSpPr>
          <a:xfrm>
            <a:off x="9274022" y="3475964"/>
            <a:ext cx="463376" cy="2141472"/>
            <a:chOff x="9539427" y="3210457"/>
            <a:chExt cx="463376" cy="2141472"/>
          </a:xfrm>
        </p:grpSpPr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61AC02FB-A426-BDE3-0E5C-07375885975E}"/>
                </a:ext>
              </a:extLst>
            </p:cNvPr>
            <p:cNvCxnSpPr>
              <a:cxnSpLocks/>
            </p:cNvCxnSpPr>
            <p:nvPr/>
          </p:nvCxnSpPr>
          <p:spPr>
            <a:xfrm>
              <a:off x="9539427" y="3210457"/>
              <a:ext cx="456220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ED7B44F6-2663-DF59-AAA6-5D538C48CA3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95647" y="3210457"/>
              <a:ext cx="7156" cy="2134616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86" name="Straight Arrow Connector 185">
              <a:extLst>
                <a:ext uri="{FF2B5EF4-FFF2-40B4-BE49-F238E27FC236}">
                  <a16:creationId xmlns:a16="http://schemas.microsoft.com/office/drawing/2014/main" id="{3E259C11-2790-B5FB-DC4A-08EDB8F37786}"/>
                </a:ext>
              </a:extLst>
            </p:cNvPr>
            <p:cNvCxnSpPr/>
            <p:nvPr/>
          </p:nvCxnSpPr>
          <p:spPr>
            <a:xfrm flipH="1">
              <a:off x="9570024" y="5351929"/>
              <a:ext cx="425623" cy="0"/>
            </a:xfrm>
            <a:prstGeom prst="straightConnector1">
              <a:avLst/>
            </a:prstGeom>
            <a:ln>
              <a:prstDash val="dash"/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91" name="TextBox 190">
            <a:extLst>
              <a:ext uri="{FF2B5EF4-FFF2-40B4-BE49-F238E27FC236}">
                <a16:creationId xmlns:a16="http://schemas.microsoft.com/office/drawing/2014/main" id="{D2DF3AD7-3599-D3E8-F15C-EC9312DFB1CE}"/>
              </a:ext>
            </a:extLst>
          </p:cNvPr>
          <p:cNvSpPr txBox="1"/>
          <p:nvPr/>
        </p:nvSpPr>
        <p:spPr>
          <a:xfrm>
            <a:off x="5195958" y="722189"/>
            <a:ext cx="11934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Mix effect (share change)</a:t>
            </a:r>
          </a:p>
        </p:txBody>
      </p: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2BA12C22-6CF8-1271-B9BA-DC96D646222D}"/>
              </a:ext>
            </a:extLst>
          </p:cNvPr>
          <p:cNvCxnSpPr>
            <a:cxnSpLocks/>
          </p:cNvCxnSpPr>
          <p:nvPr/>
        </p:nvCxnSpPr>
        <p:spPr>
          <a:xfrm>
            <a:off x="4811356" y="939040"/>
            <a:ext cx="250263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94B58B39-7F22-4195-C937-9A2C61B1F001}"/>
              </a:ext>
            </a:extLst>
          </p:cNvPr>
          <p:cNvSpPr txBox="1"/>
          <p:nvPr/>
        </p:nvSpPr>
        <p:spPr>
          <a:xfrm>
            <a:off x="6098093" y="6567534"/>
            <a:ext cx="610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000" i="1" dirty="0"/>
              <a:t>*Results are evaluated across multiple YoY transitions to distinguish structural vs episodic drivers.</a:t>
            </a:r>
          </a:p>
        </p:txBody>
      </p:sp>
    </p:spTree>
    <p:extLst>
      <p:ext uri="{BB962C8B-B14F-4D97-AF65-F5344CB8AC3E}">
        <p14:creationId xmlns:p14="http://schemas.microsoft.com/office/powerpoint/2010/main" val="973515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5976C-FC27-40A7-22B8-60F164674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0" name="Group 59">
            <a:extLst>
              <a:ext uri="{FF2B5EF4-FFF2-40B4-BE49-F238E27FC236}">
                <a16:creationId xmlns:a16="http://schemas.microsoft.com/office/drawing/2014/main" id="{07D4F2D2-17D7-5074-8859-C1698696F3C3}"/>
              </a:ext>
            </a:extLst>
          </p:cNvPr>
          <p:cNvGrpSpPr/>
          <p:nvPr/>
        </p:nvGrpSpPr>
        <p:grpSpPr>
          <a:xfrm>
            <a:off x="3074234" y="5500697"/>
            <a:ext cx="1613749" cy="1457910"/>
            <a:chOff x="3962396" y="1416424"/>
            <a:chExt cx="1613749" cy="1457910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2234AD99-CEF0-5835-03E8-60E081562265}"/>
                </a:ext>
              </a:extLst>
            </p:cNvPr>
            <p:cNvSpPr/>
            <p:nvPr/>
          </p:nvSpPr>
          <p:spPr>
            <a:xfrm>
              <a:off x="3962401" y="1550894"/>
              <a:ext cx="1407680" cy="11117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08BB9DAB-00E6-A8C2-096F-669A3FE17967}"/>
                </a:ext>
              </a:extLst>
            </p:cNvPr>
            <p:cNvSpPr txBox="1"/>
            <p:nvPr/>
          </p:nvSpPr>
          <p:spPr>
            <a:xfrm flipH="1">
              <a:off x="3962396" y="1550895"/>
              <a:ext cx="1613749" cy="13234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/>
                <a:t>Within Effect</a:t>
              </a:r>
            </a:p>
            <a:p>
              <a:r>
                <a:rPr lang="en-US" sz="1600" b="1" dirty="0"/>
                <a:t>-1.88 PP</a:t>
              </a:r>
            </a:p>
            <a:p>
              <a:r>
                <a:rPr lang="en-US" sz="1200" dirty="0"/>
                <a:t>Within segment, ACS behavior (promo, pricing, etc.)</a:t>
              </a:r>
            </a:p>
            <a:p>
              <a:pPr algn="ctr"/>
              <a:endParaRPr lang="en-US" sz="1200" dirty="0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B1BA1019-F974-E11C-1161-CF8E97B71F74}"/>
                </a:ext>
              </a:extLst>
            </p:cNvPr>
            <p:cNvSpPr/>
            <p:nvPr/>
          </p:nvSpPr>
          <p:spPr>
            <a:xfrm>
              <a:off x="3962399" y="1416424"/>
              <a:ext cx="1407681" cy="134470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02BCE32-2FFE-5D40-33E9-E433ECE74D56}"/>
              </a:ext>
            </a:extLst>
          </p:cNvPr>
          <p:cNvGrpSpPr/>
          <p:nvPr/>
        </p:nvGrpSpPr>
        <p:grpSpPr>
          <a:xfrm>
            <a:off x="1562016" y="3951671"/>
            <a:ext cx="1094688" cy="903911"/>
            <a:chOff x="3962399" y="1416424"/>
            <a:chExt cx="1094688" cy="90391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2A852EE-304E-808B-8A19-C283AC12E56B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E7C97C4-2152-B196-E16C-AEE68078F3CD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1A94E6D-AB1E-F8E9-EE33-156E2A74E326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ACS</a:t>
              </a:r>
            </a:p>
            <a:p>
              <a:pPr algn="ctr"/>
              <a:r>
                <a:rPr lang="en-US" sz="1600" b="1" dirty="0"/>
                <a:t>1.34 PP</a:t>
              </a:r>
            </a:p>
            <a:p>
              <a:pPr algn="ctr"/>
              <a:r>
                <a:rPr lang="en-US" sz="1200" dirty="0"/>
                <a:t>Ticket Effect</a:t>
              </a: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A6DA815C-C8D0-F206-C66E-934A36CF0C40}"/>
              </a:ext>
            </a:extLst>
          </p:cNvPr>
          <p:cNvSpPr/>
          <p:nvPr/>
        </p:nvSpPr>
        <p:spPr>
          <a:xfrm>
            <a:off x="1253563" y="1071437"/>
            <a:ext cx="308453" cy="324970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453C4FC-AAB8-6202-6F9C-EFD336A0CC92}"/>
              </a:ext>
            </a:extLst>
          </p:cNvPr>
          <p:cNvSpPr/>
          <p:nvPr/>
        </p:nvSpPr>
        <p:spPr>
          <a:xfrm>
            <a:off x="2627544" y="3446669"/>
            <a:ext cx="474059" cy="2672870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59C4759-0749-3A1B-CD1A-E37ADEC50EBB}"/>
              </a:ext>
            </a:extLst>
          </p:cNvPr>
          <p:cNvSpPr txBox="1"/>
          <p:nvPr/>
        </p:nvSpPr>
        <p:spPr>
          <a:xfrm>
            <a:off x="125510" y="-224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9865B29-FFF6-C00E-9B1B-989BA256B8BF}"/>
              </a:ext>
            </a:extLst>
          </p:cNvPr>
          <p:cNvGrpSpPr/>
          <p:nvPr/>
        </p:nvGrpSpPr>
        <p:grpSpPr>
          <a:xfrm>
            <a:off x="1607226" y="800363"/>
            <a:ext cx="1094688" cy="903911"/>
            <a:chOff x="3962399" y="1416424"/>
            <a:chExt cx="1094688" cy="903911"/>
          </a:xfrm>
        </p:grpSpPr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19ABFD9D-FB70-1E6D-1C90-6C687A3D9F48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rgbClr val="A665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4B545E85-79A2-891D-345C-A40F0916F910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7E7C4A0E-FB21-826A-9129-C512B8E31D2C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GCS</a:t>
              </a:r>
            </a:p>
            <a:p>
              <a:pPr algn="ctr"/>
              <a:r>
                <a:rPr lang="en-US" sz="1600" b="1" dirty="0"/>
                <a:t>1.27 PP</a:t>
              </a:r>
            </a:p>
            <a:p>
              <a:pPr algn="ctr"/>
              <a:r>
                <a:rPr lang="en-US" sz="1200" dirty="0"/>
                <a:t>Traffic Shift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8F04D9ED-8528-F9DA-3D01-9DE4237EAE3C}"/>
              </a:ext>
            </a:extLst>
          </p:cNvPr>
          <p:cNvGrpSpPr/>
          <p:nvPr/>
        </p:nvGrpSpPr>
        <p:grpSpPr>
          <a:xfrm>
            <a:off x="125510" y="2177101"/>
            <a:ext cx="1094688" cy="903911"/>
            <a:chOff x="3962399" y="1416424"/>
            <a:chExt cx="1094688" cy="903911"/>
          </a:xfrm>
        </p:grpSpPr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CEEB2EC-6EB8-EC06-F163-FC5BF08BA989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30F81522-E66E-88C9-0FBF-AE547AC77CEF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BBB2C491-2453-4D3D-AECF-FB2E17981872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SALES</a:t>
              </a:r>
            </a:p>
            <a:p>
              <a:pPr algn="ctr"/>
              <a:r>
                <a:rPr lang="en-US" sz="1600" b="1" dirty="0"/>
                <a:t>2.61%</a:t>
              </a:r>
            </a:p>
            <a:p>
              <a:pPr algn="ctr"/>
              <a:r>
                <a:rPr lang="en-US" sz="1200" dirty="0"/>
                <a:t>YoY 23 vs 24</a:t>
              </a:r>
            </a:p>
          </p:txBody>
        </p:sp>
      </p:grpSp>
      <p:grpSp>
        <p:nvGrpSpPr>
          <p:cNvPr id="54" name="Group 53">
            <a:extLst>
              <a:ext uri="{FF2B5EF4-FFF2-40B4-BE49-F238E27FC236}">
                <a16:creationId xmlns:a16="http://schemas.microsoft.com/office/drawing/2014/main" id="{207D03A5-F8F9-8103-EBFF-FAB09B74E580}"/>
              </a:ext>
            </a:extLst>
          </p:cNvPr>
          <p:cNvGrpSpPr/>
          <p:nvPr/>
        </p:nvGrpSpPr>
        <p:grpSpPr>
          <a:xfrm>
            <a:off x="3074235" y="3177729"/>
            <a:ext cx="1094688" cy="903911"/>
            <a:chOff x="3962399" y="1416424"/>
            <a:chExt cx="1094688" cy="903911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859944E-48D1-1DCE-1CBB-B390BEA55734}"/>
                </a:ext>
              </a:extLst>
            </p:cNvPr>
            <p:cNvSpPr/>
            <p:nvPr/>
          </p:nvSpPr>
          <p:spPr>
            <a:xfrm>
              <a:off x="3962400" y="1416424"/>
              <a:ext cx="1094686" cy="134470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500727D-9D51-EFDA-29EA-403B55F7A35F}"/>
                </a:ext>
              </a:extLst>
            </p:cNvPr>
            <p:cNvSpPr/>
            <p:nvPr/>
          </p:nvSpPr>
          <p:spPr>
            <a:xfrm>
              <a:off x="3962401" y="1550894"/>
              <a:ext cx="1094686" cy="76944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CD235BB4-4DFE-F3F9-108F-62727BD1A281}"/>
                </a:ext>
              </a:extLst>
            </p:cNvPr>
            <p:cNvSpPr txBox="1"/>
            <p:nvPr/>
          </p:nvSpPr>
          <p:spPr>
            <a:xfrm flipH="1">
              <a:off x="3962399" y="1550894"/>
              <a:ext cx="1082843" cy="75405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600" b="1" dirty="0"/>
                <a:t>Mix Effect</a:t>
              </a:r>
            </a:p>
            <a:p>
              <a:pPr algn="ctr"/>
              <a:r>
                <a:rPr lang="en-US" sz="1600" b="1" dirty="0"/>
                <a:t>3.22 PP</a:t>
              </a:r>
            </a:p>
            <a:p>
              <a:pPr algn="ctr"/>
              <a:r>
                <a:rPr lang="en-US" sz="1100" dirty="0"/>
                <a:t>Customer shift</a:t>
              </a:r>
              <a:endParaRPr lang="en-US" sz="1200" dirty="0"/>
            </a:p>
          </p:txBody>
        </p:sp>
      </p:grpSp>
      <p:graphicFrame>
        <p:nvGraphicFramePr>
          <p:cNvPr id="64" name="Table 63">
            <a:extLst>
              <a:ext uri="{FF2B5EF4-FFF2-40B4-BE49-F238E27FC236}">
                <a16:creationId xmlns:a16="http://schemas.microsoft.com/office/drawing/2014/main" id="{9617D531-32A9-33B3-D441-7D1E6B273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3406542"/>
              </p:ext>
            </p:extLst>
          </p:nvPr>
        </p:nvGraphicFramePr>
        <p:xfrm>
          <a:off x="5105521" y="415013"/>
          <a:ext cx="2611340" cy="64135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43446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452018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627471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14386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74019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15.1%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Snack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-1.9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24506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35.0%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74" name="Table 73">
            <a:extLst>
              <a:ext uri="{FF2B5EF4-FFF2-40B4-BE49-F238E27FC236}">
                <a16:creationId xmlns:a16="http://schemas.microsoft.com/office/drawing/2014/main" id="{6677E98B-4175-57A3-A593-EA9DCED66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4224207"/>
              </p:ext>
            </p:extLst>
          </p:nvPr>
        </p:nvGraphicFramePr>
        <p:xfrm>
          <a:off x="5105520" y="2625415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3.4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14.46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78" name="Table 77">
            <a:extLst>
              <a:ext uri="{FF2B5EF4-FFF2-40B4-BE49-F238E27FC236}">
                <a16:creationId xmlns:a16="http://schemas.microsoft.com/office/drawing/2014/main" id="{5725241D-1014-B885-0E08-4AB8044A33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4823534"/>
              </p:ext>
            </p:extLst>
          </p:nvPr>
        </p:nvGraphicFramePr>
        <p:xfrm>
          <a:off x="5105522" y="1155294"/>
          <a:ext cx="2659084" cy="65117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51554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50166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597565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23791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84514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Breakfast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15.1%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-1.9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30235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35.0%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79" name="Table 78">
            <a:extLst>
              <a:ext uri="{FF2B5EF4-FFF2-40B4-BE49-F238E27FC236}">
                <a16:creationId xmlns:a16="http://schemas.microsoft.com/office/drawing/2014/main" id="{E918CEF6-4AC5-D6A6-23E7-A17B1577A8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492835"/>
              </p:ext>
            </p:extLst>
          </p:nvPr>
        </p:nvGraphicFramePr>
        <p:xfrm>
          <a:off x="5105521" y="1873605"/>
          <a:ext cx="2659084" cy="667545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451554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50166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597565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523791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584514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share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2024 YoY 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Dayparts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22.0%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15.1%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Lunch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3.3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16.5%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-1.9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6.0%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-32.5%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133509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-4.6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35.0%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-13.2%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</a:tbl>
          </a:graphicData>
        </a:graphic>
      </p:graphicFrame>
      <p:graphicFrame>
        <p:nvGraphicFramePr>
          <p:cNvPr id="80" name="Table 79">
            <a:extLst>
              <a:ext uri="{FF2B5EF4-FFF2-40B4-BE49-F238E27FC236}">
                <a16:creationId xmlns:a16="http://schemas.microsoft.com/office/drawing/2014/main" id="{AA7D4CCE-0144-904E-354F-7BA416EDAC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2177720"/>
              </p:ext>
            </p:extLst>
          </p:nvPr>
        </p:nvGraphicFramePr>
        <p:xfrm>
          <a:off x="5105520" y="3351014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1" name="Table 80">
            <a:extLst>
              <a:ext uri="{FF2B5EF4-FFF2-40B4-BE49-F238E27FC236}">
                <a16:creationId xmlns:a16="http://schemas.microsoft.com/office/drawing/2014/main" id="{FF2C8294-ACCF-B49C-8A91-C16E5731EE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8555396"/>
              </p:ext>
            </p:extLst>
          </p:nvPr>
        </p:nvGraphicFramePr>
        <p:xfrm>
          <a:off x="5105520" y="4076613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92491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2" name="Table 81">
            <a:extLst>
              <a:ext uri="{FF2B5EF4-FFF2-40B4-BE49-F238E27FC236}">
                <a16:creationId xmlns:a16="http://schemas.microsoft.com/office/drawing/2014/main" id="{5EACF339-BA35-03B4-AE52-3B5823A6797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9543663"/>
              </p:ext>
            </p:extLst>
          </p:nvPr>
        </p:nvGraphicFramePr>
        <p:xfrm>
          <a:off x="5105520" y="4802212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3" name="Table 82">
            <a:extLst>
              <a:ext uri="{FF2B5EF4-FFF2-40B4-BE49-F238E27FC236}">
                <a16:creationId xmlns:a16="http://schemas.microsoft.com/office/drawing/2014/main" id="{4BF4AD7D-E1C4-7D0C-EABC-FA1090B373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478540"/>
              </p:ext>
            </p:extLst>
          </p:nvPr>
        </p:nvGraphicFramePr>
        <p:xfrm>
          <a:off x="5105520" y="5527811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aphicFrame>
        <p:nvGraphicFramePr>
          <p:cNvPr id="84" name="Table 83">
            <a:extLst>
              <a:ext uri="{FF2B5EF4-FFF2-40B4-BE49-F238E27FC236}">
                <a16:creationId xmlns:a16="http://schemas.microsoft.com/office/drawing/2014/main" id="{8634F608-CC3A-FB1C-E18A-6BAC6A7D60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7168214"/>
              </p:ext>
            </p:extLst>
          </p:nvPr>
        </p:nvGraphicFramePr>
        <p:xfrm>
          <a:off x="5105520" y="6236280"/>
          <a:ext cx="2619344" cy="641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2377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439271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56477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564777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63814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 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Contribution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2023 ACS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GC share delta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Dayparts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Breakfast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3.4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13.15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Lunch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3.8 PP</a:t>
                      </a:r>
                      <a:endParaRPr lang="en-US" sz="8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 $           14.46 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3%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Snack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-1.7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9.64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-2%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0189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 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Dinner</a:t>
                      </a:r>
                      <a:endParaRPr lang="en-US" sz="8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>
                          <a:effectLst/>
                        </a:rPr>
                        <a:t>-4.3 PP</a:t>
                      </a:r>
                      <a:endParaRPr lang="en-US" sz="8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 $             9.92 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800" u="none" strike="noStrike" dirty="0">
                          <a:effectLst/>
                        </a:rPr>
                        <a:t>-5%</a:t>
                      </a:r>
                      <a:endParaRPr 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</a:tbl>
          </a:graphicData>
        </a:graphic>
      </p:graphicFrame>
      <p:grpSp>
        <p:nvGrpSpPr>
          <p:cNvPr id="126" name="Group 125">
            <a:extLst>
              <a:ext uri="{FF2B5EF4-FFF2-40B4-BE49-F238E27FC236}">
                <a16:creationId xmlns:a16="http://schemas.microsoft.com/office/drawing/2014/main" id="{64E92CC1-6500-E51D-8C99-7783F699AC54}"/>
              </a:ext>
            </a:extLst>
          </p:cNvPr>
          <p:cNvGrpSpPr/>
          <p:nvPr/>
        </p:nvGrpSpPr>
        <p:grpSpPr>
          <a:xfrm>
            <a:off x="2798522" y="691265"/>
            <a:ext cx="2124872" cy="1530461"/>
            <a:chOff x="2701913" y="781110"/>
            <a:chExt cx="2124872" cy="1530461"/>
          </a:xfrm>
        </p:grpSpPr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6AC91A19-D055-40C1-F496-3C4CADD6A6AE}"/>
                </a:ext>
              </a:extLst>
            </p:cNvPr>
            <p:cNvCxnSpPr>
              <a:cxnSpLocks/>
            </p:cNvCxnSpPr>
            <p:nvPr/>
          </p:nvCxnSpPr>
          <p:spPr>
            <a:xfrm>
              <a:off x="3699789" y="788222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DC4CEDD3-1A0B-9C50-6EE2-F9B5148B8DD9}"/>
                </a:ext>
              </a:extLst>
            </p:cNvPr>
            <p:cNvGrpSpPr/>
            <p:nvPr/>
          </p:nvGrpSpPr>
          <p:grpSpPr>
            <a:xfrm>
              <a:off x="2701913" y="781110"/>
              <a:ext cx="2124872" cy="1530461"/>
              <a:chOff x="2701913" y="781110"/>
              <a:chExt cx="2124872" cy="1530461"/>
            </a:xfrm>
          </p:grpSpPr>
          <p:cxnSp>
            <p:nvCxnSpPr>
              <p:cNvPr id="89" name="Straight Arrow Connector 88">
                <a:extLst>
                  <a:ext uri="{FF2B5EF4-FFF2-40B4-BE49-F238E27FC236}">
                    <a16:creationId xmlns:a16="http://schemas.microsoft.com/office/drawing/2014/main" id="{8F085568-A61C-4319-F0E1-D3744B8629F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701913" y="1504748"/>
                <a:ext cx="991843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0470EF7A-93E2-2B9D-CFBF-97D71393AE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20353" y="2311571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00889C8-DB4F-C681-9DCD-0E30DF5B3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05600" y="1522677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  <p:cxnSp>
            <p:nvCxnSpPr>
              <p:cNvPr id="99" name="Straight Connector 98">
                <a:extLst>
                  <a:ext uri="{FF2B5EF4-FFF2-40B4-BE49-F238E27FC236}">
                    <a16:creationId xmlns:a16="http://schemas.microsoft.com/office/drawing/2014/main" id="{58BF5A17-D1C3-C6AA-3678-96288FE8D6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93756" y="781110"/>
                <a:ext cx="1106432" cy="0"/>
              </a:xfrm>
              <a:prstGeom prst="line">
                <a:avLst/>
              </a:prstGeom>
            </p:spPr>
            <p:style>
              <a:lnRef idx="1">
                <a:schemeClr val="accent3"/>
              </a:lnRef>
              <a:fillRef idx="0">
                <a:schemeClr val="accent3"/>
              </a:fillRef>
              <a:effectRef idx="0">
                <a:schemeClr val="accent3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70F5454C-C113-1C1C-3F6B-FF13B82D1359}"/>
              </a:ext>
            </a:extLst>
          </p:cNvPr>
          <p:cNvGrpSpPr/>
          <p:nvPr/>
        </p:nvGrpSpPr>
        <p:grpSpPr>
          <a:xfrm>
            <a:off x="4352863" y="2900217"/>
            <a:ext cx="589076" cy="1510008"/>
            <a:chOff x="4273569" y="2960853"/>
            <a:chExt cx="589076" cy="1510008"/>
          </a:xfrm>
        </p:grpSpPr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84F83041-0AE7-0B38-50FF-1D2DABA8D26B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98624"/>
              <a:ext cx="20966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DC889554-5519-20FE-30E3-D76646E8F04B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3724223"/>
              <a:ext cx="24552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651267A1-6FDA-8655-84F6-FD9486B92465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4454234"/>
              <a:ext cx="22789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738E7365-EAF5-1E96-6AF5-07F3001AAAE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60853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15" name="Straight Arrow Connector 114">
              <a:extLst>
                <a:ext uri="{FF2B5EF4-FFF2-40B4-BE49-F238E27FC236}">
                  <a16:creationId xmlns:a16="http://schemas.microsoft.com/office/drawing/2014/main" id="{A5FA2974-0353-A884-EC53-D6925BAB96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3569" y="3724223"/>
              <a:ext cx="29824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DE9BD8B9-8890-031F-7931-3D407A6C6F35}"/>
              </a:ext>
            </a:extLst>
          </p:cNvPr>
          <p:cNvGrpSpPr/>
          <p:nvPr/>
        </p:nvGrpSpPr>
        <p:grpSpPr>
          <a:xfrm>
            <a:off x="4493554" y="5240471"/>
            <a:ext cx="589076" cy="1510008"/>
            <a:chOff x="4273569" y="2960853"/>
            <a:chExt cx="589076" cy="1510008"/>
          </a:xfrm>
        </p:grpSpPr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AA1C7460-9308-DEEB-56BA-BC3F96A7928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98624"/>
              <a:ext cx="20966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50FB595-CE1D-EDBA-7AD1-1EED932400E7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3724223"/>
              <a:ext cx="245522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1A09658A-53DA-C33B-F811-C440295A0346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4454234"/>
              <a:ext cx="227890" cy="0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02F494F2-FF64-01AA-2642-2C54DBC79C54}"/>
                </a:ext>
              </a:extLst>
            </p:cNvPr>
            <p:cNvCxnSpPr>
              <a:cxnSpLocks/>
            </p:cNvCxnSpPr>
            <p:nvPr/>
          </p:nvCxnSpPr>
          <p:spPr>
            <a:xfrm>
              <a:off x="4617123" y="2960853"/>
              <a:ext cx="0" cy="1510008"/>
            </a:xfrm>
            <a:prstGeom prst="line">
              <a:avLst/>
            </a:prstGeom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cxnSp>
          <p:nvCxnSpPr>
            <p:cNvPr id="124" name="Straight Arrow Connector 123">
              <a:extLst>
                <a:ext uri="{FF2B5EF4-FFF2-40B4-BE49-F238E27FC236}">
                  <a16:creationId xmlns:a16="http://schemas.microsoft.com/office/drawing/2014/main" id="{C220B4CE-56FB-A643-93E7-F89E8D722A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73569" y="3724223"/>
              <a:ext cx="29824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27" name="TextBox 126">
            <a:extLst>
              <a:ext uri="{FF2B5EF4-FFF2-40B4-BE49-F238E27FC236}">
                <a16:creationId xmlns:a16="http://schemas.microsoft.com/office/drawing/2014/main" id="{CBA6D3C1-92A4-6040-5E77-7425DF944DD2}"/>
              </a:ext>
            </a:extLst>
          </p:cNvPr>
          <p:cNvSpPr txBox="1"/>
          <p:nvPr/>
        </p:nvSpPr>
        <p:spPr>
          <a:xfrm>
            <a:off x="8186180" y="408685"/>
            <a:ext cx="3900261" cy="6340197"/>
          </a:xfrm>
          <a:prstGeom prst="rect">
            <a:avLst/>
          </a:prstGeom>
          <a:solidFill>
            <a:srgbClr val="F2F2F2">
              <a:alpha val="50980"/>
            </a:srgbClr>
          </a:solidFill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1400" dirty="0"/>
              <a:t>sadasdfdsafdsafsafdsafdsfdfdsafdsafdsafsdafdsafsadfdsafsdafsdafdsafdsafdsaffasf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Asdsdafsadfdsafasdfdasfafdasfsdafdsasdfasdfsdaffasf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Adsfsdafdsafdasdfasdfsdafsafdsaf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Asdfdsafdsafsdafsdafsdaf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Dsafsdafdsafasdfdsafsdafdsafafa</a:t>
            </a:r>
            <a:endParaRPr lang="en-US" sz="1400" dirty="0"/>
          </a:p>
          <a:p>
            <a:pPr marL="800100" lvl="1" indent="-342900">
              <a:buFont typeface="+mj-lt"/>
              <a:buAutoNum type="arabicPeriod"/>
            </a:pP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Asdfsasdfdsafdsafasdfsadfafsadfdsafdsafdsafafsda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 err="1"/>
              <a:t>Asdfasdfdsafdsafssdafdsafafdsafdsafdsasdafa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Sadfdsafdasdfdsafsafdsafsdaf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Asdfdsafdsafsdafdsafdsafdsafdsafdsa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Asdfdsafdsafadfdasf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dsafsdafsdaf</a:t>
            </a:r>
            <a:endParaRPr lang="en-US" sz="1400" dirty="0"/>
          </a:p>
          <a:p>
            <a:pPr marL="342900" indent="-342900">
              <a:buFont typeface="+mj-lt"/>
              <a:buAutoNum type="arabicPeriod"/>
            </a:pPr>
            <a:r>
              <a:rPr lang="en-US" sz="1400" dirty="0"/>
              <a:t>Asdfsafaasdfdsafdsafdsaffdsafsdafdsafsdafsafsadfsdafsadfadsafsdafaf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Sdfsdafadfdsafdsafdsafdsafdsaf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Asdfdsafdsafdsaf</a:t>
            </a:r>
            <a:endParaRPr lang="en-US" sz="1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1400" dirty="0" err="1"/>
              <a:t>asdfdsafdsafsdf</a:t>
            </a:r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6874891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706B1B7D-F50F-C59E-69D3-8A4F1492C5B4}"/>
              </a:ext>
            </a:extLst>
          </p:cNvPr>
          <p:cNvGrpSpPr/>
          <p:nvPr/>
        </p:nvGrpSpPr>
        <p:grpSpPr>
          <a:xfrm>
            <a:off x="609601" y="2756648"/>
            <a:ext cx="1425388" cy="1084729"/>
            <a:chOff x="3962400" y="1416424"/>
            <a:chExt cx="1425388" cy="1084729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7CA9C44-A423-7C65-87A8-C685263EBC1F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CCE90C69-F1F8-D40F-20DB-BD768E14C4B0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96213BF3-2F2F-20A8-98C0-67C67E9D5465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SALES</a:t>
              </a:r>
            </a:p>
            <a:p>
              <a:r>
                <a:rPr lang="en-US" b="1" dirty="0"/>
                <a:t>2.61%</a:t>
              </a:r>
            </a:p>
            <a:p>
              <a:r>
                <a:rPr lang="en-US" sz="1200" dirty="0"/>
                <a:t>YoY 23 vs 24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2F6EE56-8B1D-BC14-8653-41D7766BB86A}"/>
              </a:ext>
            </a:extLst>
          </p:cNvPr>
          <p:cNvGrpSpPr/>
          <p:nvPr/>
        </p:nvGrpSpPr>
        <p:grpSpPr>
          <a:xfrm>
            <a:off x="2590801" y="1340225"/>
            <a:ext cx="1425388" cy="1084729"/>
            <a:chOff x="3962400" y="1416424"/>
            <a:chExt cx="1425388" cy="108472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D0C00F1-4833-F157-2D68-6B50F5E564B4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E9855D-4CF6-3FB5-5930-6664714E8A72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7381FAC-9F9E-6636-B561-66DCFA492481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GCS</a:t>
              </a:r>
            </a:p>
            <a:p>
              <a:r>
                <a:rPr lang="en-US" b="1" dirty="0"/>
                <a:t>1.27 PP</a:t>
              </a:r>
            </a:p>
            <a:p>
              <a:r>
                <a:rPr lang="en-US" sz="1200" dirty="0"/>
                <a:t>Traffic Shift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6C80744-41B9-0F6E-E5FD-239090002406}"/>
              </a:ext>
            </a:extLst>
          </p:cNvPr>
          <p:cNvGrpSpPr/>
          <p:nvPr/>
        </p:nvGrpSpPr>
        <p:grpSpPr>
          <a:xfrm>
            <a:off x="2590801" y="4160986"/>
            <a:ext cx="1425388" cy="1084729"/>
            <a:chOff x="3962400" y="1416424"/>
            <a:chExt cx="1425388" cy="1084729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F9BC8706-E8AB-578F-3B3F-B5F1CB5B90EC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94F2FA-89C5-06ED-BC0E-2A7AFB4641D5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C759F01-9FA7-0DE5-7677-9EFB9ED435B3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ACS</a:t>
              </a:r>
            </a:p>
            <a:p>
              <a:r>
                <a:rPr lang="en-US" b="1" dirty="0"/>
                <a:t>1.34 PP</a:t>
              </a:r>
            </a:p>
            <a:p>
              <a:r>
                <a:rPr lang="en-US" sz="1200" dirty="0"/>
                <a:t>Ticket Effect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4C162F06-F7F8-FCE8-C645-CE96C7C9774A}"/>
              </a:ext>
            </a:extLst>
          </p:cNvPr>
          <p:cNvGrpSpPr/>
          <p:nvPr/>
        </p:nvGrpSpPr>
        <p:grpSpPr>
          <a:xfrm>
            <a:off x="4941214" y="4869196"/>
            <a:ext cx="1506072" cy="1150131"/>
            <a:chOff x="3962399" y="1416424"/>
            <a:chExt cx="1506072" cy="1150131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7815A560-0331-CB68-7E5E-F2E0C640E3C6}"/>
                </a:ext>
              </a:extLst>
            </p:cNvPr>
            <p:cNvSpPr/>
            <p:nvPr/>
          </p:nvSpPr>
          <p:spPr>
            <a:xfrm>
              <a:off x="3962400" y="1550894"/>
              <a:ext cx="1380565" cy="10156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4BFD3CF-ECFF-9AF9-09FC-694F920D07C4}"/>
                </a:ext>
              </a:extLst>
            </p:cNvPr>
            <p:cNvSpPr txBox="1"/>
            <p:nvPr/>
          </p:nvSpPr>
          <p:spPr>
            <a:xfrm flipH="1">
              <a:off x="3962399" y="1550892"/>
              <a:ext cx="150607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Within Effect</a:t>
              </a:r>
            </a:p>
            <a:p>
              <a:r>
                <a:rPr lang="en-US" b="1" dirty="0"/>
                <a:t>-1.88 PP</a:t>
              </a:r>
            </a:p>
            <a:p>
              <a:r>
                <a:rPr lang="en-US" sz="1200" dirty="0"/>
                <a:t>Within segment, ACS behavior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E4E9EC7-B3B0-BBC5-556F-8C0D5A96D04E}"/>
                </a:ext>
              </a:extLst>
            </p:cNvPr>
            <p:cNvSpPr/>
            <p:nvPr/>
          </p:nvSpPr>
          <p:spPr>
            <a:xfrm>
              <a:off x="3962399" y="1416424"/>
              <a:ext cx="1380565" cy="1344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362EAC7-A736-D802-1505-203955ECCE17}"/>
              </a:ext>
            </a:extLst>
          </p:cNvPr>
          <p:cNvGrpSpPr/>
          <p:nvPr/>
        </p:nvGrpSpPr>
        <p:grpSpPr>
          <a:xfrm>
            <a:off x="4941215" y="3397624"/>
            <a:ext cx="1380564" cy="1056075"/>
            <a:chOff x="3962400" y="1416424"/>
            <a:chExt cx="1290917" cy="1056075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0E72329-9B81-2CE3-D113-450B8E02EBC0}"/>
                </a:ext>
              </a:extLst>
            </p:cNvPr>
            <p:cNvSpPr/>
            <p:nvPr/>
          </p:nvSpPr>
          <p:spPr>
            <a:xfrm>
              <a:off x="3962400" y="1416424"/>
              <a:ext cx="1290917" cy="134468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B479324-D607-2A07-D211-FEBABDC9B84B}"/>
                </a:ext>
              </a:extLst>
            </p:cNvPr>
            <p:cNvSpPr/>
            <p:nvPr/>
          </p:nvSpPr>
          <p:spPr>
            <a:xfrm>
              <a:off x="3962400" y="1550895"/>
              <a:ext cx="1290917" cy="9216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46275088-4881-6AC8-D131-CFC883D22295}"/>
                </a:ext>
              </a:extLst>
            </p:cNvPr>
            <p:cNvSpPr txBox="1"/>
            <p:nvPr/>
          </p:nvSpPr>
          <p:spPr>
            <a:xfrm flipH="1">
              <a:off x="4026046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Mix Effect</a:t>
              </a:r>
            </a:p>
            <a:p>
              <a:r>
                <a:rPr lang="en-US" b="1" dirty="0"/>
                <a:t>3.22 PP</a:t>
              </a:r>
            </a:p>
            <a:p>
              <a:r>
                <a:rPr lang="en-US" sz="1200" dirty="0"/>
                <a:t>Customer shift</a:t>
              </a:r>
            </a:p>
          </p:txBody>
        </p:sp>
      </p:grpSp>
      <p:sp>
        <p:nvSpPr>
          <p:cNvPr id="25" name="Left Brace 24">
            <a:extLst>
              <a:ext uri="{FF2B5EF4-FFF2-40B4-BE49-F238E27FC236}">
                <a16:creationId xmlns:a16="http://schemas.microsoft.com/office/drawing/2014/main" id="{EA2CA37C-DFB7-E9BC-A774-6EED68EF5B39}"/>
              </a:ext>
            </a:extLst>
          </p:cNvPr>
          <p:cNvSpPr/>
          <p:nvPr/>
        </p:nvSpPr>
        <p:spPr>
          <a:xfrm>
            <a:off x="2019714" y="1801906"/>
            <a:ext cx="308453" cy="3249707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26B369D1-45E5-7C33-5732-0C8130FB1FF8}"/>
              </a:ext>
            </a:extLst>
          </p:cNvPr>
          <p:cNvSpPr/>
          <p:nvPr/>
        </p:nvSpPr>
        <p:spPr>
          <a:xfrm>
            <a:off x="4149665" y="3573795"/>
            <a:ext cx="476123" cy="2154653"/>
          </a:xfrm>
          <a:prstGeom prst="leftBrac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CE3AFA3-2E46-FE04-C85E-5F7B173DCFDB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6399BA7-AB57-134C-797D-53577D34C016}"/>
              </a:ext>
            </a:extLst>
          </p:cNvPr>
          <p:cNvGrpSpPr/>
          <p:nvPr/>
        </p:nvGrpSpPr>
        <p:grpSpPr>
          <a:xfrm>
            <a:off x="8050306" y="219443"/>
            <a:ext cx="3792070" cy="1201437"/>
            <a:chOff x="8713694" y="189030"/>
            <a:chExt cx="2393576" cy="115119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1F14CEDC-4BBB-C0AC-4AB5-6BB3D19DBB7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19026358-25B5-64DA-D759-0D77AAC2CA13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dfa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4B5B135A-3673-6775-195F-EC2B06EF0960}"/>
              </a:ext>
            </a:extLst>
          </p:cNvPr>
          <p:cNvGrpSpPr/>
          <p:nvPr/>
        </p:nvGrpSpPr>
        <p:grpSpPr>
          <a:xfrm>
            <a:off x="8050306" y="1564738"/>
            <a:ext cx="3792070" cy="1201437"/>
            <a:chOff x="8713694" y="189030"/>
            <a:chExt cx="2393576" cy="1151195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45212F8A-4F2A-D680-6A57-E26B20A05193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E7BB7371-E27E-4BEC-319B-C441AD6D81A5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DEB3AA5-1271-E164-8105-EDE82C278F3E}"/>
              </a:ext>
            </a:extLst>
          </p:cNvPr>
          <p:cNvGrpSpPr/>
          <p:nvPr/>
        </p:nvGrpSpPr>
        <p:grpSpPr>
          <a:xfrm>
            <a:off x="8050306" y="2895502"/>
            <a:ext cx="3792070" cy="1201437"/>
            <a:chOff x="8713694" y="189030"/>
            <a:chExt cx="2393576" cy="115119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6256AD0E-7EB5-1B96-1EB1-ABEE4333B46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4986E5C-FF9A-B3F5-F97F-7C8D6FB2BA5F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77F73B5-C2EF-71DB-842B-8EA3AC926761}"/>
              </a:ext>
            </a:extLst>
          </p:cNvPr>
          <p:cNvGrpSpPr/>
          <p:nvPr/>
        </p:nvGrpSpPr>
        <p:grpSpPr>
          <a:xfrm>
            <a:off x="8050306" y="4264091"/>
            <a:ext cx="3792070" cy="1201437"/>
            <a:chOff x="8713694" y="189030"/>
            <a:chExt cx="2393576" cy="115119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BB7542B-0FF9-E753-B518-BA4EA94B4399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A6C023A4-05FC-0013-21F2-B30AEF19548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FC3778F-BABF-7B04-1248-D9C19E077361}"/>
              </a:ext>
            </a:extLst>
          </p:cNvPr>
          <p:cNvGrpSpPr/>
          <p:nvPr/>
        </p:nvGrpSpPr>
        <p:grpSpPr>
          <a:xfrm>
            <a:off x="8050306" y="5548987"/>
            <a:ext cx="3792070" cy="1201437"/>
            <a:chOff x="8713694" y="189030"/>
            <a:chExt cx="2393576" cy="1151195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87B20BD-81EE-DDB2-FF28-D088E9F30C94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81C3630E-064E-2CD5-2275-5B7F60AFBFF2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39369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A8881C-468B-15B3-F213-DBBCA8BD9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CD0DD7C9-19B9-F036-0040-E12614015F40}"/>
              </a:ext>
            </a:extLst>
          </p:cNvPr>
          <p:cNvGrpSpPr/>
          <p:nvPr/>
        </p:nvGrpSpPr>
        <p:grpSpPr>
          <a:xfrm>
            <a:off x="349624" y="2492673"/>
            <a:ext cx="1425388" cy="1084729"/>
            <a:chOff x="3962400" y="1416424"/>
            <a:chExt cx="1425388" cy="1084729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C06C41-C162-508E-8BA3-BC0AE699926C}"/>
                </a:ext>
              </a:extLst>
            </p:cNvPr>
            <p:cNvSpPr/>
            <p:nvPr/>
          </p:nvSpPr>
          <p:spPr>
            <a:xfrm>
              <a:off x="3962400" y="1416424"/>
              <a:ext cx="1219200" cy="134470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B0EDF4D6-DEE9-6D7F-C813-07995B41F8EB}"/>
                </a:ext>
              </a:extLst>
            </p:cNvPr>
            <p:cNvSpPr/>
            <p:nvPr/>
          </p:nvSpPr>
          <p:spPr>
            <a:xfrm>
              <a:off x="3962400" y="1550894"/>
              <a:ext cx="1219199" cy="95025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5A00380-F975-7882-6056-5D9B4BE99537}"/>
                </a:ext>
              </a:extLst>
            </p:cNvPr>
            <p:cNvSpPr txBox="1"/>
            <p:nvPr/>
          </p:nvSpPr>
          <p:spPr>
            <a:xfrm flipH="1">
              <a:off x="4160517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GCS</a:t>
              </a:r>
            </a:p>
            <a:p>
              <a:r>
                <a:rPr lang="en-US" b="1" dirty="0"/>
                <a:t>1.27 PP</a:t>
              </a:r>
            </a:p>
            <a:p>
              <a:r>
                <a:rPr lang="en-US" sz="1200" dirty="0"/>
                <a:t>Traffic Shift</a:t>
              </a:r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A92B782-93A9-0300-CC48-C0C8D675F28D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7327678-6C97-190D-2825-94E5A3FE43C4}"/>
              </a:ext>
            </a:extLst>
          </p:cNvPr>
          <p:cNvGrpSpPr/>
          <p:nvPr/>
        </p:nvGrpSpPr>
        <p:grpSpPr>
          <a:xfrm>
            <a:off x="8050306" y="219443"/>
            <a:ext cx="3792070" cy="1201437"/>
            <a:chOff x="8713694" y="189030"/>
            <a:chExt cx="2393576" cy="1151195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16BF306-E479-7D96-557E-7494E7E31DB2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1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EE305E9-D91A-737E-66FA-C81ECC6B0529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dfa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E273799-1479-B31C-833E-438F3B6BF876}"/>
              </a:ext>
            </a:extLst>
          </p:cNvPr>
          <p:cNvGrpSpPr/>
          <p:nvPr/>
        </p:nvGrpSpPr>
        <p:grpSpPr>
          <a:xfrm>
            <a:off x="8050306" y="1564738"/>
            <a:ext cx="3792070" cy="1201437"/>
            <a:chOff x="8713694" y="189030"/>
            <a:chExt cx="2393576" cy="1151195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9D64ACDD-2670-432B-D219-97E654E143DE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2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6C177F2-CAEB-E1A3-A5A1-388B8B296807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BD6BA975-82C3-79D3-5BA8-398D774AEE13}"/>
              </a:ext>
            </a:extLst>
          </p:cNvPr>
          <p:cNvGrpSpPr/>
          <p:nvPr/>
        </p:nvGrpSpPr>
        <p:grpSpPr>
          <a:xfrm>
            <a:off x="8050306" y="2895502"/>
            <a:ext cx="3792070" cy="1201437"/>
            <a:chOff x="8713694" y="189030"/>
            <a:chExt cx="2393576" cy="1151195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F1614085-29CD-170F-D101-251C46E9A371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3886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3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33C9081-C7C9-95C0-26EE-0F6FEF1B3C4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7250FBFE-B316-FE4A-334E-C31AE05C0032}"/>
              </a:ext>
            </a:extLst>
          </p:cNvPr>
          <p:cNvGrpSpPr/>
          <p:nvPr/>
        </p:nvGrpSpPr>
        <p:grpSpPr>
          <a:xfrm>
            <a:off x="8050306" y="4264091"/>
            <a:ext cx="3792070" cy="1201437"/>
            <a:chOff x="8713694" y="189030"/>
            <a:chExt cx="2393576" cy="1151195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CFC4F4F-35D6-9A81-A838-7DA8137C44CF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45B34792-B247-B014-C9A3-7E58908A3063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7FC8C8F9-F8A8-F805-A1FF-751DFB32DF0A}"/>
              </a:ext>
            </a:extLst>
          </p:cNvPr>
          <p:cNvGrpSpPr/>
          <p:nvPr/>
        </p:nvGrpSpPr>
        <p:grpSpPr>
          <a:xfrm>
            <a:off x="8050306" y="5548987"/>
            <a:ext cx="3792070" cy="1201437"/>
            <a:chOff x="8713694" y="189030"/>
            <a:chExt cx="2393576" cy="1151195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713B088-C7F1-8890-57D7-1C11E4C7D0E2}"/>
                </a:ext>
              </a:extLst>
            </p:cNvPr>
            <p:cNvSpPr/>
            <p:nvPr/>
          </p:nvSpPr>
          <p:spPr>
            <a:xfrm>
              <a:off x="8713694" y="189030"/>
              <a:ext cx="2393576" cy="133701"/>
            </a:xfrm>
            <a:prstGeom prst="rect">
              <a:avLst/>
            </a:prstGeom>
            <a:solidFill>
              <a:schemeClr val="accent6">
                <a:lumMod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1F347B-3445-B415-7AB3-6975625492EE}"/>
                </a:ext>
              </a:extLst>
            </p:cNvPr>
            <p:cNvSpPr/>
            <p:nvPr/>
          </p:nvSpPr>
          <p:spPr>
            <a:xfrm>
              <a:off x="8713694" y="322731"/>
              <a:ext cx="2393576" cy="10174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 err="1">
                  <a:solidFill>
                    <a:schemeClr val="tx1"/>
                  </a:solidFill>
                </a:rPr>
                <a:t>ddf</a:t>
              </a:r>
              <a:endParaRPr lang="en-US" sz="1200" dirty="0">
                <a:solidFill>
                  <a:schemeClr val="tx1"/>
                </a:solidFill>
              </a:endParaRPr>
            </a:p>
          </p:txBody>
        </p:sp>
      </p:grp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DB3952A5-F41C-E011-337A-8A7F9C29A1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266205"/>
              </p:ext>
            </p:extLst>
          </p:nvPr>
        </p:nvGraphicFramePr>
        <p:xfrm>
          <a:off x="2113804" y="948685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8F4C74B7-8614-5A1D-6076-9BAD03BE85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9785407"/>
              </p:ext>
            </p:extLst>
          </p:nvPr>
        </p:nvGraphicFramePr>
        <p:xfrm>
          <a:off x="2113804" y="2580147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FBC30144-0E71-5BA4-E327-B352C244E0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0207707"/>
              </p:ext>
            </p:extLst>
          </p:nvPr>
        </p:nvGraphicFramePr>
        <p:xfrm>
          <a:off x="2113804" y="4211609"/>
          <a:ext cx="4432300" cy="1485900"/>
        </p:xfrm>
        <a:graphic>
          <a:graphicData uri="http://schemas.openxmlformats.org/drawingml/2006/table">
            <a:tbl>
              <a:tblPr>
                <a:tableStyleId>{72833802-FEF1-4C79-8D5D-14CF1EAF98D9}</a:tableStyleId>
              </a:tblPr>
              <a:tblGrid>
                <a:gridCol w="1130300">
                  <a:extLst>
                    <a:ext uri="{9D8B030D-6E8A-4147-A177-3AD203B41FA5}">
                      <a16:colId xmlns:a16="http://schemas.microsoft.com/office/drawing/2014/main" val="3269856414"/>
                    </a:ext>
                  </a:extLst>
                </a:gridCol>
                <a:gridCol w="850900">
                  <a:extLst>
                    <a:ext uri="{9D8B030D-6E8A-4147-A177-3AD203B41FA5}">
                      <a16:colId xmlns:a16="http://schemas.microsoft.com/office/drawing/2014/main" val="601382112"/>
                    </a:ext>
                  </a:extLst>
                </a:gridCol>
                <a:gridCol w="901700">
                  <a:extLst>
                    <a:ext uri="{9D8B030D-6E8A-4147-A177-3AD203B41FA5}">
                      <a16:colId xmlns:a16="http://schemas.microsoft.com/office/drawing/2014/main" val="2467448017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3034128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191771975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Contribution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2023 share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2024 YoY 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79980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Dayparts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Breakfast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3.3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22.0%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15.1%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9045851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Lunch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3.3 PP</a:t>
                      </a:r>
                      <a:endParaRPr lang="en-US" sz="11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20.0%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16.5%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5190044"/>
                  </a:ext>
                </a:extLst>
              </a:tr>
              <a:tr h="2476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Snack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-1.9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6.0%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-32.5%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20977446"/>
                  </a:ext>
                </a:extLst>
              </a:tr>
              <a:tr h="2540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Dinner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-4.6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35.0%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-13.2%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6747948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Evening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2.1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8.0%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26.6%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157427978"/>
                  </a:ext>
                </a:extLst>
              </a:tr>
              <a:tr h="2222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 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Late Night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-0.9 PP</a:t>
                      </a:r>
                      <a:endParaRPr lang="en-US" sz="11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9.0%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-10.0%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61395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88472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3C1B-2BCC-05E7-6CE8-7477A0E43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3A712779-3F64-EDFC-DC22-82E596D31930}"/>
              </a:ext>
            </a:extLst>
          </p:cNvPr>
          <p:cNvSpPr txBox="1"/>
          <p:nvPr/>
        </p:nvSpPr>
        <p:spPr>
          <a:xfrm>
            <a:off x="161364" y="219443"/>
            <a:ext cx="6631815" cy="4770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500" b="1" dirty="0"/>
              <a:t>DE market structure contribution decomposition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7ABC3D9-66B0-0A05-E2E2-8419C16825CC}"/>
              </a:ext>
            </a:extLst>
          </p:cNvPr>
          <p:cNvGrpSpPr/>
          <p:nvPr/>
        </p:nvGrpSpPr>
        <p:grpSpPr>
          <a:xfrm>
            <a:off x="6230468" y="1833616"/>
            <a:ext cx="1506072" cy="1150131"/>
            <a:chOff x="3962399" y="1416424"/>
            <a:chExt cx="1506072" cy="115013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01B2F0F-51A4-6DF6-C9A7-0713111817DE}"/>
                </a:ext>
              </a:extLst>
            </p:cNvPr>
            <p:cNvSpPr/>
            <p:nvPr/>
          </p:nvSpPr>
          <p:spPr>
            <a:xfrm>
              <a:off x="3962400" y="1550894"/>
              <a:ext cx="1380565" cy="101566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07FF3086-6814-33A8-B1A7-468B9B828D2E}"/>
                </a:ext>
              </a:extLst>
            </p:cNvPr>
            <p:cNvSpPr txBox="1"/>
            <p:nvPr/>
          </p:nvSpPr>
          <p:spPr>
            <a:xfrm flipH="1">
              <a:off x="3962399" y="1550892"/>
              <a:ext cx="1506072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Within Effect</a:t>
              </a:r>
            </a:p>
            <a:p>
              <a:r>
                <a:rPr lang="en-US" b="1" dirty="0"/>
                <a:t>-1.88 PP</a:t>
              </a:r>
            </a:p>
            <a:p>
              <a:r>
                <a:rPr lang="en-US" sz="1200" dirty="0"/>
                <a:t>Within segment, ACS behavior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4F288A4F-758E-AE16-F9CE-F3062D427B57}"/>
                </a:ext>
              </a:extLst>
            </p:cNvPr>
            <p:cNvSpPr/>
            <p:nvPr/>
          </p:nvSpPr>
          <p:spPr>
            <a:xfrm>
              <a:off x="3962399" y="1416424"/>
              <a:ext cx="1380565" cy="134468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5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6D1933E-09E4-3F23-CC3C-7AB909A38803}"/>
              </a:ext>
            </a:extLst>
          </p:cNvPr>
          <p:cNvGrpSpPr/>
          <p:nvPr/>
        </p:nvGrpSpPr>
        <p:grpSpPr>
          <a:xfrm>
            <a:off x="161364" y="1927672"/>
            <a:ext cx="1380564" cy="1056075"/>
            <a:chOff x="3962400" y="1416424"/>
            <a:chExt cx="1290917" cy="105607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72A119C-2E22-AFF2-CF76-A8FC7009837D}"/>
                </a:ext>
              </a:extLst>
            </p:cNvPr>
            <p:cNvSpPr/>
            <p:nvPr/>
          </p:nvSpPr>
          <p:spPr>
            <a:xfrm>
              <a:off x="3962400" y="1416424"/>
              <a:ext cx="1290917" cy="134468"/>
            </a:xfrm>
            <a:prstGeom prst="rect">
              <a:avLst/>
            </a:prstGeom>
            <a:solidFill>
              <a:srgbClr val="787800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1200" dirty="0"/>
                <a:t>4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B517C55-6F50-D73E-8DD3-6DBE666D3E33}"/>
                </a:ext>
              </a:extLst>
            </p:cNvPr>
            <p:cNvSpPr/>
            <p:nvPr/>
          </p:nvSpPr>
          <p:spPr>
            <a:xfrm>
              <a:off x="3962400" y="1550895"/>
              <a:ext cx="1290917" cy="92160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BD661CA-92C7-5BD8-4D45-4BA1933A4B8A}"/>
                </a:ext>
              </a:extLst>
            </p:cNvPr>
            <p:cNvSpPr txBox="1"/>
            <p:nvPr/>
          </p:nvSpPr>
          <p:spPr>
            <a:xfrm flipH="1">
              <a:off x="4026046" y="1610524"/>
              <a:ext cx="1227271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Mix Effect</a:t>
              </a:r>
            </a:p>
            <a:p>
              <a:r>
                <a:rPr lang="en-US" b="1" dirty="0"/>
                <a:t>3.22 PP</a:t>
              </a:r>
            </a:p>
            <a:p>
              <a:r>
                <a:rPr lang="en-US" sz="1200" dirty="0"/>
                <a:t>Customer shift</a:t>
              </a:r>
            </a:p>
          </p:txBody>
        </p:sp>
      </p:grpSp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6FCE0EA1-1B65-A685-975C-26C64EB849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4010299"/>
              </p:ext>
            </p:extLst>
          </p:nvPr>
        </p:nvGraphicFramePr>
        <p:xfrm>
          <a:off x="1676398" y="700979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FDFA0964-7253-4EA8-6311-EAE99995F9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6881885"/>
              </p:ext>
            </p:extLst>
          </p:nvPr>
        </p:nvGraphicFramePr>
        <p:xfrm>
          <a:off x="7736540" y="696497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811DC26A-31A3-7B50-1A65-A864B648D7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88062366"/>
              </p:ext>
            </p:extLst>
          </p:nvPr>
        </p:nvGraphicFramePr>
        <p:xfrm>
          <a:off x="1676398" y="2118909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E4805866-A34D-93ED-D2DD-8752A4FCC6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3498650"/>
              </p:ext>
            </p:extLst>
          </p:nvPr>
        </p:nvGraphicFramePr>
        <p:xfrm>
          <a:off x="1676397" y="3543620"/>
          <a:ext cx="3941629" cy="12914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8802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8802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656648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79225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895123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Contribution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YoY GC share delta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Breakfast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Lunch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Snack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9.64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9.92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7878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16841141-56B2-CD9C-BC5C-5DB1EABCA5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6118832"/>
              </p:ext>
            </p:extLst>
          </p:nvPr>
        </p:nvGraphicFramePr>
        <p:xfrm>
          <a:off x="7736540" y="2274849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4CA005E2-4F79-A72C-D79F-E035B258CF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5627533"/>
              </p:ext>
            </p:extLst>
          </p:nvPr>
        </p:nvGraphicFramePr>
        <p:xfrm>
          <a:off x="7736539" y="3853201"/>
          <a:ext cx="3934359" cy="1443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97329">
                  <a:extLst>
                    <a:ext uri="{9D8B030D-6E8A-4147-A177-3AD203B41FA5}">
                      <a16:colId xmlns:a16="http://schemas.microsoft.com/office/drawing/2014/main" val="1682335885"/>
                    </a:ext>
                  </a:extLst>
                </a:gridCol>
                <a:gridCol w="797329">
                  <a:extLst>
                    <a:ext uri="{9D8B030D-6E8A-4147-A177-3AD203B41FA5}">
                      <a16:colId xmlns:a16="http://schemas.microsoft.com/office/drawing/2014/main" val="3146880706"/>
                    </a:ext>
                  </a:extLst>
                </a:gridCol>
                <a:gridCol w="1032606">
                  <a:extLst>
                    <a:ext uri="{9D8B030D-6E8A-4147-A177-3AD203B41FA5}">
                      <a16:colId xmlns:a16="http://schemas.microsoft.com/office/drawing/2014/main" val="4120038106"/>
                    </a:ext>
                  </a:extLst>
                </a:gridCol>
                <a:gridCol w="888824">
                  <a:extLst>
                    <a:ext uri="{9D8B030D-6E8A-4147-A177-3AD203B41FA5}">
                      <a16:colId xmlns:a16="http://schemas.microsoft.com/office/drawing/2014/main" val="2024703797"/>
                    </a:ext>
                  </a:extLst>
                </a:gridCol>
                <a:gridCol w="418271">
                  <a:extLst>
                    <a:ext uri="{9D8B030D-6E8A-4147-A177-3AD203B41FA5}">
                      <a16:colId xmlns:a16="http://schemas.microsoft.com/office/drawing/2014/main" val="2044675905"/>
                    </a:ext>
                  </a:extLst>
                </a:gridCol>
              </a:tblGrid>
              <a:tr h="21151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 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Contribution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2023 ACS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YoY GC share delta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5125552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Dayparts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Breakfast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3.4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13.15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822379"/>
                  </a:ext>
                </a:extLst>
              </a:tr>
              <a:tr h="172667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Lunch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3.8 PP</a:t>
                      </a:r>
                      <a:endParaRPr lang="en-US" sz="1000" b="1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3%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838266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Snack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-1.7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9.64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-2%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058841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Dinner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-4.3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 $             9.92 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-5%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4542285"/>
                  </a:ext>
                </a:extLst>
              </a:tr>
              <a:tr h="125183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Evening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2.5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14.46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2%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7347372"/>
                  </a:ext>
                </a:extLst>
              </a:tr>
              <a:tr h="129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 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Late Night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-0.6 PP</a:t>
                      </a:r>
                      <a:endParaRPr lang="en-US" sz="1000" b="1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000" u="none" strike="noStrike">
                          <a:effectLst/>
                        </a:rPr>
                        <a:t> $             6.43 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000" u="none" strike="noStrike" dirty="0">
                          <a:effectLst/>
                        </a:rPr>
                        <a:t>-1%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3886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2007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323230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1203</TotalTime>
  <Words>1633</Words>
  <Application>Microsoft Office PowerPoint</Application>
  <PresentationFormat>Widescreen</PresentationFormat>
  <Paragraphs>748</Paragraphs>
  <Slides>6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Cheng Qian</dc:creator>
  <cp:lastModifiedBy>Cheng Qian</cp:lastModifiedBy>
  <cp:revision>14</cp:revision>
  <dcterms:created xsi:type="dcterms:W3CDTF">2025-12-31T04:33:18Z</dcterms:created>
  <dcterms:modified xsi:type="dcterms:W3CDTF">2026-01-13T05:06:07Z</dcterms:modified>
</cp:coreProperties>
</file>