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1C67-CA5A-2294-EF07-EFF43FBE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51F3F-EFB3-AD21-D5BF-3BA51D45F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1BBE1-B005-51B3-2DC5-A5F99708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087B0-784C-5876-AFF5-DF3BA2B1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FF55-514F-B38E-CD55-72304698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4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F911-D725-4C05-FBFB-76C4521C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1539F-379E-81E9-FD1D-284109BFD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C7070-B479-64B0-A22A-CBB8F7A0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FBB42-A46F-178E-2F94-19F3D67B8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18AA3-75BF-86A6-54CB-ECECB1BF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3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CB0E-34ED-D94B-4FF9-73A7086D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3807D-48F8-5080-859C-AB6DA1018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12CC3-E8EA-C614-5FC1-4F65F710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53743-7FFE-F102-7CA7-13D0D943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2B3C5-04A4-DE04-4058-54BB8F08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3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05E1-926E-5215-FF8C-C42DD472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B53DC-6E27-C0C3-6FE8-E1C405777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85335-1212-794E-8098-FFA2FAA71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28C81-4A2A-4E6A-6503-917ABD88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54F42-A46B-9CC3-DC6F-5B75CE93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0A915-D149-8300-8AD7-C8B322D6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9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B0F9-2507-FE66-B22D-A68B3078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FF4D0-3540-3FDB-E689-FE42C09F5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A6A7C-5B63-B155-3DC1-5B525F1D0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38E13-39FC-817F-A98B-1D668BE6D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054E9-6AE9-817E-A2E9-B535DDFF4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F8A778-CF9A-57CF-4F46-75300AE5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792C0C-418D-B296-1BB2-7B052C76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AEA12-116C-AC4D-C62E-19DC3C14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6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F0F3-5C68-9887-7C71-D7585E3C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E70AB-36F1-9BE2-A622-C7C86E6C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0FC13-19CA-53A7-A258-9A075449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FBD3A-514C-1F1D-7A72-F6351D60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2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5F4EC-A41A-C15C-425A-219C5131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CCE64-FB51-3B4E-D60F-CBA4BD77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6FED9-7EE4-3A1E-DC4C-16A839D1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4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9E518-BB0A-28C4-1B1B-CBC29268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8CC51-644C-7600-6F41-CCB93DD4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87FC2-B9AA-91C5-CD06-D76092B8C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627C-8DA3-5E13-D84F-92EEEBD5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BDC44-1BC8-7E25-5FEB-AB07A233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8641C-ED45-92FC-AF93-47D47A0E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1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1AB8-79F9-3400-3039-1ABF0BA7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7DF49D-BDAB-55E6-82DA-7930893BE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6D79E-A2F7-AD06-1AE4-0DB7ADA77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4D6CA-763C-1167-57D7-D67329DF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1E654-4344-28F9-950F-65AEDDA36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D606F-8763-4D04-460E-EE0ED967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118E-FB3E-8A3D-0FA3-75CA4F2F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1E251-7542-ED3B-0D81-C5ACC74CE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13E6B-B34C-E2CE-AB86-7880B9A4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1B08-38D3-04CF-6418-43C745F5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16423-40F4-0F7A-2A2C-721D13FB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62A487-8DD8-1318-423B-60ECAE6E2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D4AE1-C123-2260-818C-D2C83F7BB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C89D6-4368-EEF6-82E3-94F4D920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E4CD3-7A9B-5EF5-9F5C-67E262A7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A67B5-6A83-4FF3-B46F-2D7CCA6D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1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6CF4B-1D81-D1DC-FEB5-13E39FEF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5C72D-A9FE-CF9D-F696-BD80C7864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C7027-CC21-6596-DC5F-33AABE28A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6254E-72E3-4886-86DD-DF8A6D3008E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CBCF4-804F-F314-DB1E-BF87FB322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46568-6A40-BDCD-2E21-FDA3BF59D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8875-7F81-4017-B503-837084E5C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5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87">
            <a:extLst>
              <a:ext uri="{FF2B5EF4-FFF2-40B4-BE49-F238E27FC236}">
                <a16:creationId xmlns:a16="http://schemas.microsoft.com/office/drawing/2014/main" id="{A8F6F490-FC8F-AA39-4EE4-00924DA65F6F}"/>
              </a:ext>
            </a:extLst>
          </p:cNvPr>
          <p:cNvSpPr/>
          <p:nvPr/>
        </p:nvSpPr>
        <p:spPr>
          <a:xfrm>
            <a:off x="2403164" y="4735928"/>
            <a:ext cx="7736968" cy="16440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0DE6EBF-5EA5-9DD1-E624-2A6120193C60}"/>
              </a:ext>
            </a:extLst>
          </p:cNvPr>
          <p:cNvSpPr/>
          <p:nvPr/>
        </p:nvSpPr>
        <p:spPr>
          <a:xfrm>
            <a:off x="2403166" y="2506260"/>
            <a:ext cx="7736968" cy="21346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65F1499-9CF5-F70A-1B93-40F075F25129}"/>
              </a:ext>
            </a:extLst>
          </p:cNvPr>
          <p:cNvSpPr/>
          <p:nvPr/>
        </p:nvSpPr>
        <p:spPr>
          <a:xfrm>
            <a:off x="2420044" y="328951"/>
            <a:ext cx="7720090" cy="21346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ED076-91EB-4BB1-5399-3D3AF5F39D1C}"/>
              </a:ext>
            </a:extLst>
          </p:cNvPr>
          <p:cNvSpPr txBox="1"/>
          <p:nvPr/>
        </p:nvSpPr>
        <p:spPr>
          <a:xfrm>
            <a:off x="3854823" y="410595"/>
            <a:ext cx="31735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Layer 1: Growth Accounting (Structure/ What)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16D15C-3C22-5B01-6F31-01D5D6B0B1DC}"/>
              </a:ext>
            </a:extLst>
          </p:cNvPr>
          <p:cNvSpPr txBox="1"/>
          <p:nvPr/>
        </p:nvSpPr>
        <p:spPr>
          <a:xfrm>
            <a:off x="14999" y="731001"/>
            <a:ext cx="2716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WHAT happened</a:t>
            </a:r>
            <a:r>
              <a:rPr lang="en-US" sz="1200" i="1" dirty="0">
                <a:solidFill>
                  <a:schemeClr val="tx1"/>
                </a:solidFill>
              </a:rPr>
              <a:t> (</a:t>
            </a:r>
            <a:r>
              <a:rPr lang="en-US" sz="1200" i="1" dirty="0"/>
              <a:t>Reconciles 100%)</a:t>
            </a:r>
            <a:endParaRPr lang="en-US" sz="1200" i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chemeClr val="tx1"/>
                </a:solidFill>
              </a:rPr>
              <a:t>“Where did growth land”</a:t>
            </a:r>
          </a:p>
          <a:p>
            <a:endParaRPr lang="en-US" sz="1200" i="1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9462822-C945-F5EA-6513-45D7D0FB007B}"/>
              </a:ext>
            </a:extLst>
          </p:cNvPr>
          <p:cNvGrpSpPr/>
          <p:nvPr/>
        </p:nvGrpSpPr>
        <p:grpSpPr>
          <a:xfrm>
            <a:off x="2608156" y="669857"/>
            <a:ext cx="7531977" cy="1799536"/>
            <a:chOff x="3836321" y="429156"/>
            <a:chExt cx="7531977" cy="179953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5BC3CE4-5345-9A2E-7374-B199E1E13546}"/>
                </a:ext>
              </a:extLst>
            </p:cNvPr>
            <p:cNvGrpSpPr/>
            <p:nvPr/>
          </p:nvGrpSpPr>
          <p:grpSpPr>
            <a:xfrm>
              <a:off x="3836321" y="559840"/>
              <a:ext cx="2519752" cy="924124"/>
              <a:chOff x="4069403" y="631558"/>
              <a:chExt cx="2519752" cy="924124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B79C69-A482-0454-005C-C87A98DD8507}"/>
                  </a:ext>
                </a:extLst>
              </p:cNvPr>
              <p:cNvSpPr txBox="1"/>
              <p:nvPr/>
            </p:nvSpPr>
            <p:spPr>
              <a:xfrm>
                <a:off x="4069403" y="979020"/>
                <a:ext cx="5373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Sales</a:t>
                </a:r>
              </a:p>
            </p:txBody>
          </p:sp>
          <p:sp>
            <p:nvSpPr>
              <p:cNvPr id="7" name="Left Brace 6">
                <a:extLst>
                  <a:ext uri="{FF2B5EF4-FFF2-40B4-BE49-F238E27FC236}">
                    <a16:creationId xmlns:a16="http://schemas.microsoft.com/office/drawing/2014/main" id="{C2DD92FA-02A2-2028-3BF5-2165E7995D90}"/>
                  </a:ext>
                </a:extLst>
              </p:cNvPr>
              <p:cNvSpPr/>
              <p:nvPr/>
            </p:nvSpPr>
            <p:spPr>
              <a:xfrm>
                <a:off x="4607896" y="743163"/>
                <a:ext cx="240979" cy="689838"/>
              </a:xfrm>
              <a:prstGeom prst="leftBrac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1F1A95-2DDE-B2DE-BE69-C880527CEAA8}"/>
                  </a:ext>
                </a:extLst>
              </p:cNvPr>
              <p:cNvSpPr txBox="1"/>
              <p:nvPr/>
            </p:nvSpPr>
            <p:spPr>
              <a:xfrm>
                <a:off x="4849906" y="631558"/>
                <a:ext cx="13982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Guest Counts (GCS)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7E0CBF-351B-5CA3-1E1A-0CA2FA6FAAC5}"/>
                  </a:ext>
                </a:extLst>
              </p:cNvPr>
              <p:cNvSpPr txBox="1"/>
              <p:nvPr/>
            </p:nvSpPr>
            <p:spPr>
              <a:xfrm>
                <a:off x="4846947" y="1278683"/>
                <a:ext cx="17422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Average Check Size (ACS)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3F4589-0E07-A7AD-9DD4-638BF40ACDC0}"/>
                  </a:ext>
                </a:extLst>
              </p:cNvPr>
              <p:cNvSpPr txBox="1"/>
              <p:nvPr/>
            </p:nvSpPr>
            <p:spPr>
              <a:xfrm>
                <a:off x="5314670" y="951306"/>
                <a:ext cx="5557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X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A9E130D-9F37-4B54-C6BC-C67125E9BC19}"/>
                </a:ext>
              </a:extLst>
            </p:cNvPr>
            <p:cNvGrpSpPr/>
            <p:nvPr/>
          </p:nvGrpSpPr>
          <p:grpSpPr>
            <a:xfrm>
              <a:off x="7478172" y="429156"/>
              <a:ext cx="1976572" cy="672803"/>
              <a:chOff x="7439250" y="406656"/>
              <a:chExt cx="1976572" cy="672803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263EF4B-5BDA-0687-F001-61ED93FC2D2F}"/>
                  </a:ext>
                </a:extLst>
              </p:cNvPr>
              <p:cNvGrpSpPr/>
              <p:nvPr/>
            </p:nvGrpSpPr>
            <p:grpSpPr>
              <a:xfrm>
                <a:off x="7697535" y="406656"/>
                <a:ext cx="1718287" cy="672803"/>
                <a:chOff x="7663525" y="559953"/>
                <a:chExt cx="1718287" cy="672803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2CD779F-F95D-2B0D-8B0F-6159B3328F6A}"/>
                    </a:ext>
                  </a:extLst>
                </p:cNvPr>
                <p:cNvSpPr txBox="1"/>
                <p:nvPr/>
              </p:nvSpPr>
              <p:spPr>
                <a:xfrm>
                  <a:off x="8012719" y="559953"/>
                  <a:ext cx="136909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Product Categories</a:t>
                  </a:r>
                </a:p>
              </p:txBody>
            </p: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C52255B8-4F04-252E-686C-7417DBEA5559}"/>
                    </a:ext>
                  </a:extLst>
                </p:cNvPr>
                <p:cNvGrpSpPr/>
                <p:nvPr/>
              </p:nvGrpSpPr>
              <p:grpSpPr>
                <a:xfrm>
                  <a:off x="7663525" y="669955"/>
                  <a:ext cx="1103354" cy="562801"/>
                  <a:chOff x="7624126" y="655157"/>
                  <a:chExt cx="1103354" cy="562801"/>
                </a:xfrm>
              </p:grpSpPr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8F998B87-CAA6-C1DC-2D5D-D112494619E5}"/>
                      </a:ext>
                    </a:extLst>
                  </p:cNvPr>
                  <p:cNvSpPr txBox="1"/>
                  <p:nvPr/>
                </p:nvSpPr>
                <p:spPr>
                  <a:xfrm>
                    <a:off x="7973748" y="940959"/>
                    <a:ext cx="75373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Channels</a:t>
                    </a: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E6A8382-44B6-F9BB-FCC1-EA75D6912CDE}"/>
                      </a:ext>
                    </a:extLst>
                  </p:cNvPr>
                  <p:cNvSpPr txBox="1"/>
                  <p:nvPr/>
                </p:nvSpPr>
                <p:spPr>
                  <a:xfrm>
                    <a:off x="7965097" y="739761"/>
                    <a:ext cx="73802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Dayparts</a:t>
                    </a:r>
                  </a:p>
                </p:txBody>
              </p: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8A9AFA48-896A-48CE-C9CB-3211A7315B50}"/>
                      </a:ext>
                    </a:extLst>
                  </p:cNvPr>
                  <p:cNvCxnSpPr/>
                  <p:nvPr/>
                </p:nvCxnSpPr>
                <p:spPr>
                  <a:xfrm>
                    <a:off x="7633381" y="676099"/>
                    <a:ext cx="340367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CF5AD8AC-B5CE-855A-65B4-BB8B0DBE6417}"/>
                      </a:ext>
                    </a:extLst>
                  </p:cNvPr>
                  <p:cNvCxnSpPr/>
                  <p:nvPr/>
                </p:nvCxnSpPr>
                <p:spPr>
                  <a:xfrm>
                    <a:off x="7633381" y="889566"/>
                    <a:ext cx="340367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8D55737-6BBE-16AD-C493-85B6191EA5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24126" y="1092030"/>
                    <a:ext cx="376370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D3D39F0-78FC-001E-EE1B-3631D4DCE5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24126" y="655157"/>
                    <a:ext cx="0" cy="468817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DE1E084-2EC4-B331-9650-7C4E2017F7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9250" y="680603"/>
                <a:ext cx="267540" cy="0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890AF6C-F5C6-5B0F-FA57-9D2E739DF160}"/>
                </a:ext>
              </a:extLst>
            </p:cNvPr>
            <p:cNvGrpSpPr/>
            <p:nvPr/>
          </p:nvGrpSpPr>
          <p:grpSpPr>
            <a:xfrm>
              <a:off x="6289784" y="1131963"/>
              <a:ext cx="3256986" cy="840615"/>
              <a:chOff x="5901869" y="424392"/>
              <a:chExt cx="3256986" cy="84061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7DD74C1-0F9D-4671-728D-D2BDD592F8CA}"/>
                  </a:ext>
                </a:extLst>
              </p:cNvPr>
              <p:cNvGrpSpPr/>
              <p:nvPr/>
            </p:nvGrpSpPr>
            <p:grpSpPr>
              <a:xfrm>
                <a:off x="6160154" y="424392"/>
                <a:ext cx="2998701" cy="840615"/>
                <a:chOff x="6126144" y="577689"/>
                <a:chExt cx="2998701" cy="840615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42FFC4E-0362-FC0B-8418-01480FF6C3F6}"/>
                    </a:ext>
                  </a:extLst>
                </p:cNvPr>
                <p:cNvSpPr txBox="1"/>
                <p:nvPr/>
              </p:nvSpPr>
              <p:spPr>
                <a:xfrm>
                  <a:off x="6475338" y="577689"/>
                  <a:ext cx="262482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Mix effect (share change, prices fixed)</a:t>
                  </a: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863952B9-B02F-6FDA-D7E3-9194C9B5231C}"/>
                    </a:ext>
                  </a:extLst>
                </p:cNvPr>
                <p:cNvGrpSpPr/>
                <p:nvPr/>
              </p:nvGrpSpPr>
              <p:grpSpPr>
                <a:xfrm>
                  <a:off x="6126144" y="687691"/>
                  <a:ext cx="2998701" cy="730613"/>
                  <a:chOff x="6086745" y="672893"/>
                  <a:chExt cx="2998701" cy="730613"/>
                </a:xfrm>
              </p:grpSpPr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8CAFB424-0CCB-A8A6-ABAF-8E6ACEAACFB5}"/>
                      </a:ext>
                    </a:extLst>
                  </p:cNvPr>
                  <p:cNvSpPr txBox="1"/>
                  <p:nvPr/>
                </p:nvSpPr>
                <p:spPr>
                  <a:xfrm>
                    <a:off x="6411252" y="1126507"/>
                    <a:ext cx="267419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Within-channel effect (prices changed)</a:t>
                    </a:r>
                  </a:p>
                </p:txBody>
              </p: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AECD0212-FE99-170F-CFD5-1EB6EF86C44A}"/>
                      </a:ext>
                    </a:extLst>
                  </p:cNvPr>
                  <p:cNvCxnSpPr/>
                  <p:nvPr/>
                </p:nvCxnSpPr>
                <p:spPr>
                  <a:xfrm>
                    <a:off x="6096000" y="693835"/>
                    <a:ext cx="340367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38830C1A-81B9-AE24-7A12-4C31722F8586}"/>
                      </a:ext>
                    </a:extLst>
                  </p:cNvPr>
                  <p:cNvCxnSpPr/>
                  <p:nvPr/>
                </p:nvCxnSpPr>
                <p:spPr>
                  <a:xfrm>
                    <a:off x="6114122" y="1260764"/>
                    <a:ext cx="340367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1D1BC252-51E3-0E8E-694A-8C49AFE49D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86745" y="672893"/>
                    <a:ext cx="8224" cy="675194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026D2E8-0C99-0472-E1A2-1FBD8B199E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1869" y="698339"/>
                <a:ext cx="250263" cy="0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FA299BD-EFB2-45C7-C4E7-7B8EA59E84EF}"/>
                </a:ext>
              </a:extLst>
            </p:cNvPr>
            <p:cNvGrpSpPr/>
            <p:nvPr/>
          </p:nvGrpSpPr>
          <p:grpSpPr>
            <a:xfrm>
              <a:off x="9361129" y="965479"/>
              <a:ext cx="1976572" cy="672803"/>
              <a:chOff x="5901869" y="424392"/>
              <a:chExt cx="1976572" cy="672803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C39A70F7-DCFC-49C6-B267-EAFBE09972D6}"/>
                  </a:ext>
                </a:extLst>
              </p:cNvPr>
              <p:cNvGrpSpPr/>
              <p:nvPr/>
            </p:nvGrpSpPr>
            <p:grpSpPr>
              <a:xfrm>
                <a:off x="6160154" y="424392"/>
                <a:ext cx="1718287" cy="672803"/>
                <a:chOff x="6126144" y="577689"/>
                <a:chExt cx="1718287" cy="672803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899677F-1373-82A2-D171-F27F031D3C4B}"/>
                    </a:ext>
                  </a:extLst>
                </p:cNvPr>
                <p:cNvSpPr txBox="1"/>
                <p:nvPr/>
              </p:nvSpPr>
              <p:spPr>
                <a:xfrm>
                  <a:off x="6475338" y="577689"/>
                  <a:ext cx="136909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Product Categories</a:t>
                  </a:r>
                </a:p>
              </p:txBody>
            </p: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2ADEA557-86B9-ED9D-D440-6692C040B347}"/>
                    </a:ext>
                  </a:extLst>
                </p:cNvPr>
                <p:cNvGrpSpPr/>
                <p:nvPr/>
              </p:nvGrpSpPr>
              <p:grpSpPr>
                <a:xfrm>
                  <a:off x="6126144" y="687691"/>
                  <a:ext cx="1103354" cy="562801"/>
                  <a:chOff x="6086745" y="672893"/>
                  <a:chExt cx="1103354" cy="562801"/>
                </a:xfrm>
              </p:grpSpPr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2DB66E65-B89B-BAF1-71CC-B2CFC57302C9}"/>
                      </a:ext>
                    </a:extLst>
                  </p:cNvPr>
                  <p:cNvSpPr txBox="1"/>
                  <p:nvPr/>
                </p:nvSpPr>
                <p:spPr>
                  <a:xfrm>
                    <a:off x="6436367" y="958695"/>
                    <a:ext cx="75373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Channels</a:t>
                    </a:r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95A576E9-A7E4-2550-EA4A-8E36CF4B5B11}"/>
                      </a:ext>
                    </a:extLst>
                  </p:cNvPr>
                  <p:cNvSpPr txBox="1"/>
                  <p:nvPr/>
                </p:nvSpPr>
                <p:spPr>
                  <a:xfrm>
                    <a:off x="6427716" y="757497"/>
                    <a:ext cx="73802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Dayparts</a:t>
                    </a:r>
                  </a:p>
                </p:txBody>
              </p: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600924-29CA-154D-8120-FB0C3363DCEF}"/>
                      </a:ext>
                    </a:extLst>
                  </p:cNvPr>
                  <p:cNvCxnSpPr/>
                  <p:nvPr/>
                </p:nvCxnSpPr>
                <p:spPr>
                  <a:xfrm>
                    <a:off x="6096000" y="693835"/>
                    <a:ext cx="340367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1A4B1769-5304-9F02-BF95-E947AC7D6EEB}"/>
                      </a:ext>
                    </a:extLst>
                  </p:cNvPr>
                  <p:cNvCxnSpPr/>
                  <p:nvPr/>
                </p:nvCxnSpPr>
                <p:spPr>
                  <a:xfrm>
                    <a:off x="6096000" y="907302"/>
                    <a:ext cx="340367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D8C98174-77EE-4301-120B-2A35F548A0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86745" y="1109766"/>
                    <a:ext cx="376370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F58DADA0-FF61-56E5-20AD-1FAD78AA40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86745" y="672893"/>
                    <a:ext cx="0" cy="468817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58DDC24-57BD-1132-04C2-0580F79274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1869" y="698339"/>
                <a:ext cx="267540" cy="0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A898669-109D-B5ED-F7D8-A1F4DAA276B5}"/>
                </a:ext>
              </a:extLst>
            </p:cNvPr>
            <p:cNvGrpSpPr/>
            <p:nvPr/>
          </p:nvGrpSpPr>
          <p:grpSpPr>
            <a:xfrm>
              <a:off x="9391726" y="1555889"/>
              <a:ext cx="1976572" cy="672803"/>
              <a:chOff x="5867624" y="354466"/>
              <a:chExt cx="1976572" cy="672803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A3445A70-6440-C693-F469-6B92991B56F2}"/>
                  </a:ext>
                </a:extLst>
              </p:cNvPr>
              <p:cNvGrpSpPr/>
              <p:nvPr/>
            </p:nvGrpSpPr>
            <p:grpSpPr>
              <a:xfrm>
                <a:off x="6125909" y="354466"/>
                <a:ext cx="1718287" cy="672803"/>
                <a:chOff x="6091899" y="507763"/>
                <a:chExt cx="1718287" cy="672803"/>
              </a:xfrm>
            </p:grpSpPr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226DA65-D153-2FA4-6BCE-06DE3765A066}"/>
                    </a:ext>
                  </a:extLst>
                </p:cNvPr>
                <p:cNvSpPr txBox="1"/>
                <p:nvPr/>
              </p:nvSpPr>
              <p:spPr>
                <a:xfrm>
                  <a:off x="6441093" y="507763"/>
                  <a:ext cx="136909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Product Categories</a:t>
                  </a: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6734A818-5C42-71C7-B81B-E68999778B64}"/>
                    </a:ext>
                  </a:extLst>
                </p:cNvPr>
                <p:cNvGrpSpPr/>
                <p:nvPr/>
              </p:nvGrpSpPr>
              <p:grpSpPr>
                <a:xfrm>
                  <a:off x="6091899" y="617765"/>
                  <a:ext cx="1103354" cy="562801"/>
                  <a:chOff x="6052500" y="602967"/>
                  <a:chExt cx="1103354" cy="562801"/>
                </a:xfrm>
              </p:grpSpPr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C9A0220D-4BBA-A37A-9474-E226C9473844}"/>
                      </a:ext>
                    </a:extLst>
                  </p:cNvPr>
                  <p:cNvSpPr txBox="1"/>
                  <p:nvPr/>
                </p:nvSpPr>
                <p:spPr>
                  <a:xfrm>
                    <a:off x="6402122" y="888769"/>
                    <a:ext cx="75373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Channels</a:t>
                    </a:r>
                  </a:p>
                </p:txBody>
              </p:sp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FB840236-A570-A32D-F3F7-1C2EFB0C9272}"/>
                      </a:ext>
                    </a:extLst>
                  </p:cNvPr>
                  <p:cNvSpPr txBox="1"/>
                  <p:nvPr/>
                </p:nvSpPr>
                <p:spPr>
                  <a:xfrm>
                    <a:off x="6393471" y="687571"/>
                    <a:ext cx="73802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Dayparts</a:t>
                    </a:r>
                  </a:p>
                </p:txBody>
              </p: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4D062446-0D33-3C5A-7E01-27F752CD9CA7}"/>
                      </a:ext>
                    </a:extLst>
                  </p:cNvPr>
                  <p:cNvCxnSpPr/>
                  <p:nvPr/>
                </p:nvCxnSpPr>
                <p:spPr>
                  <a:xfrm>
                    <a:off x="6061755" y="623909"/>
                    <a:ext cx="340367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0621BE49-0F15-103A-7046-2E6B0C888E15}"/>
                      </a:ext>
                    </a:extLst>
                  </p:cNvPr>
                  <p:cNvCxnSpPr/>
                  <p:nvPr/>
                </p:nvCxnSpPr>
                <p:spPr>
                  <a:xfrm>
                    <a:off x="6061755" y="837376"/>
                    <a:ext cx="340367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5DF84EED-719D-FBD8-A53E-01DDE1895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52500" y="1039840"/>
                    <a:ext cx="376370" cy="0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970E1BF2-42CF-9012-8A49-89C4CA47FA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52500" y="602967"/>
                    <a:ext cx="0" cy="468817"/>
                  </a:xfrm>
                  <a:prstGeom prst="line">
                    <a:avLst/>
                  </a:prstGeom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4B11D84-2A9B-1C19-83DA-31B2DD73FF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7624" y="628413"/>
                <a:ext cx="267540" cy="0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5AA81B39-3D68-7AA8-7B49-BDEA7D4BA602}"/>
              </a:ext>
            </a:extLst>
          </p:cNvPr>
          <p:cNvCxnSpPr>
            <a:stCxn id="10" idx="1"/>
            <a:endCxn id="122" idx="1"/>
          </p:cNvCxnSpPr>
          <p:nvPr/>
        </p:nvCxnSpPr>
        <p:spPr>
          <a:xfrm rot="10800000" flipH="1" flipV="1">
            <a:off x="3388658" y="939040"/>
            <a:ext cx="84193" cy="2259645"/>
          </a:xfrm>
          <a:prstGeom prst="bentConnector3">
            <a:avLst>
              <a:gd name="adj1" fmla="val -271519"/>
            </a:avLst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0F9CD2DF-A047-3F08-A57A-A4AA94BB37D8}"/>
              </a:ext>
            </a:extLst>
          </p:cNvPr>
          <p:cNvCxnSpPr>
            <a:cxnSpLocks/>
            <a:endCxn id="123" idx="1"/>
          </p:cNvCxnSpPr>
          <p:nvPr/>
        </p:nvCxnSpPr>
        <p:spPr>
          <a:xfrm rot="5400000">
            <a:off x="2535257" y="2662260"/>
            <a:ext cx="1901291" cy="26100"/>
          </a:xfrm>
          <a:prstGeom prst="bentConnector4">
            <a:avLst>
              <a:gd name="adj1" fmla="val 46358"/>
              <a:gd name="adj2" fmla="val 975862"/>
            </a:avLst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9C4E025-C0BA-8300-DF46-D327F2B2D47D}"/>
              </a:ext>
            </a:extLst>
          </p:cNvPr>
          <p:cNvGrpSpPr/>
          <p:nvPr/>
        </p:nvGrpSpPr>
        <p:grpSpPr>
          <a:xfrm>
            <a:off x="3385700" y="2692642"/>
            <a:ext cx="6180230" cy="1761852"/>
            <a:chOff x="3430524" y="2232064"/>
            <a:chExt cx="6180230" cy="176185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693D45F-347D-B758-D242-B95925862099}"/>
                </a:ext>
              </a:extLst>
            </p:cNvPr>
            <p:cNvSpPr txBox="1"/>
            <p:nvPr/>
          </p:nvSpPr>
          <p:spPr>
            <a:xfrm>
              <a:off x="3430524" y="2232064"/>
              <a:ext cx="443909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Layer 2: ML DECOMPOSITION (CLARITY / WHY, OVERALL)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57E0528-DECA-2C33-0424-10CD93259AE0}"/>
                </a:ext>
              </a:extLst>
            </p:cNvPr>
            <p:cNvSpPr txBox="1"/>
            <p:nvPr/>
          </p:nvSpPr>
          <p:spPr>
            <a:xfrm>
              <a:off x="3517676" y="2599608"/>
              <a:ext cx="8050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GC Model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F869927-EAC4-253C-41D5-623022C4A445}"/>
                </a:ext>
              </a:extLst>
            </p:cNvPr>
            <p:cNvSpPr txBox="1"/>
            <p:nvPr/>
          </p:nvSpPr>
          <p:spPr>
            <a:xfrm>
              <a:off x="3517676" y="3026878"/>
              <a:ext cx="936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ACS Model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C638772-B3D6-9CF0-8A11-2E279AFE840C}"/>
                </a:ext>
              </a:extLst>
            </p:cNvPr>
            <p:cNvSpPr txBox="1"/>
            <p:nvPr/>
          </p:nvSpPr>
          <p:spPr>
            <a:xfrm>
              <a:off x="3745854" y="2797854"/>
              <a:ext cx="5557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X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45C89A7-6A21-0E5E-0F22-210B4F7DBA6E}"/>
                </a:ext>
              </a:extLst>
            </p:cNvPr>
            <p:cNvSpPr txBox="1"/>
            <p:nvPr/>
          </p:nvSpPr>
          <p:spPr>
            <a:xfrm>
              <a:off x="3501041" y="3716917"/>
              <a:ext cx="1054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SALES Model</a:t>
              </a:r>
            </a:p>
          </p:txBody>
        </p:sp>
        <p:cxnSp>
          <p:nvCxnSpPr>
            <p:cNvPr id="130" name="Connector: Elbow 129">
              <a:extLst>
                <a:ext uri="{FF2B5EF4-FFF2-40B4-BE49-F238E27FC236}">
                  <a16:creationId xmlns:a16="http://schemas.microsoft.com/office/drawing/2014/main" id="{DFACA874-3CF6-00F4-93F2-108F555108E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654253" y="3508375"/>
              <a:ext cx="486959" cy="103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AF94422-CCE2-FF40-0404-F0D854CA5BFE}"/>
                </a:ext>
              </a:extLst>
            </p:cNvPr>
            <p:cNvGrpSpPr/>
            <p:nvPr/>
          </p:nvGrpSpPr>
          <p:grpSpPr>
            <a:xfrm>
              <a:off x="4482970" y="2509756"/>
              <a:ext cx="5127784" cy="1384995"/>
              <a:chOff x="5231574" y="2617381"/>
              <a:chExt cx="5127784" cy="1384995"/>
            </a:xfrm>
          </p:grpSpPr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CC80CAB8-4BB1-AC5D-6801-194C16FE640B}"/>
                  </a:ext>
                </a:extLst>
              </p:cNvPr>
              <p:cNvSpPr txBox="1"/>
              <p:nvPr/>
            </p:nvSpPr>
            <p:spPr>
              <a:xfrm>
                <a:off x="5507532" y="2617381"/>
                <a:ext cx="261223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US" dirty="0"/>
                  <a:t>Structural features as CONTROLS (not levers)</a:t>
                </a:r>
              </a:p>
              <a:p>
                <a:r>
                  <a:rPr lang="en-US" dirty="0"/>
                  <a:t>• Channel / Daypart / Product Category as fixed effects</a:t>
                </a:r>
              </a:p>
              <a:p>
                <a:r>
                  <a:rPr lang="en-US" dirty="0"/>
                  <a:t>• Region / Store cluster as fixed effects</a:t>
                </a:r>
              </a:p>
              <a:p>
                <a:r>
                  <a:rPr lang="en-US" dirty="0"/>
                  <a:t>• Week-of-year (seasonality)</a:t>
                </a:r>
              </a:p>
              <a:p>
                <a:r>
                  <a:rPr lang="en-US" dirty="0"/>
                  <a:t>• Macro environment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DE316A5-05E2-7617-A3D1-A59ED2379A03}"/>
                  </a:ext>
                </a:extLst>
              </p:cNvPr>
              <p:cNvSpPr txBox="1"/>
              <p:nvPr/>
            </p:nvSpPr>
            <p:spPr>
              <a:xfrm>
                <a:off x="8511820" y="2617381"/>
                <a:ext cx="18475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US" dirty="0"/>
                  <a:t>Business drivers (“HOW”):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Media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Promo depth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Price index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CSAT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LTO flag 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D2FDAAF5-023B-BD11-074F-723866F53E7D}"/>
                  </a:ext>
                </a:extLst>
              </p:cNvPr>
              <p:cNvSpPr txBox="1"/>
              <p:nvPr/>
            </p:nvSpPr>
            <p:spPr>
              <a:xfrm>
                <a:off x="8145872" y="3017697"/>
                <a:ext cx="5557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+</a:t>
                </a:r>
              </a:p>
            </p:txBody>
          </p:sp>
          <p:sp>
            <p:nvSpPr>
              <p:cNvPr id="138" name="Left Brace 137">
                <a:extLst>
                  <a:ext uri="{FF2B5EF4-FFF2-40B4-BE49-F238E27FC236}">
                    <a16:creationId xmlns:a16="http://schemas.microsoft.com/office/drawing/2014/main" id="{159E82B6-4FC1-D147-D7E3-A2EFD3993FF6}"/>
                  </a:ext>
                </a:extLst>
              </p:cNvPr>
              <p:cNvSpPr/>
              <p:nvPr/>
            </p:nvSpPr>
            <p:spPr>
              <a:xfrm>
                <a:off x="5231574" y="2739162"/>
                <a:ext cx="293929" cy="1040126"/>
              </a:xfrm>
              <a:prstGeom prst="leftBrace">
                <a:avLst>
                  <a:gd name="adj1" fmla="val 8333"/>
                  <a:gd name="adj2" fmla="val 15601"/>
                </a:avLst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Left Brace 138">
                <a:extLst>
                  <a:ext uri="{FF2B5EF4-FFF2-40B4-BE49-F238E27FC236}">
                    <a16:creationId xmlns:a16="http://schemas.microsoft.com/office/drawing/2014/main" id="{FCE65CD2-0CB8-D220-ED61-40314BD9A417}"/>
                  </a:ext>
                </a:extLst>
              </p:cNvPr>
              <p:cNvSpPr/>
              <p:nvPr/>
            </p:nvSpPr>
            <p:spPr>
              <a:xfrm>
                <a:off x="5237002" y="2742854"/>
                <a:ext cx="288501" cy="1036434"/>
              </a:xfrm>
              <a:prstGeom prst="leftBrace">
                <a:avLst>
                  <a:gd name="adj1" fmla="val 8333"/>
                  <a:gd name="adj2" fmla="val 50905"/>
                </a:avLst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00E0C77C-ABF3-891B-B885-E0EEC7D15A66}"/>
              </a:ext>
            </a:extLst>
          </p:cNvPr>
          <p:cNvSpPr txBox="1"/>
          <p:nvPr/>
        </p:nvSpPr>
        <p:spPr>
          <a:xfrm>
            <a:off x="55841" y="2887291"/>
            <a:ext cx="212107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b="1" dirty="0"/>
              <a:t>WHY it happened </a:t>
            </a:r>
            <a:r>
              <a:rPr lang="en-US" i="1" dirty="0"/>
              <a:t>(Correlational explanation (not causal))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dirty="0"/>
              <a:t>“Which drivers explain GCS / AOV / Sales growth”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8732C1F-BE4E-EC0F-5A23-74E5D44FC833}"/>
              </a:ext>
            </a:extLst>
          </p:cNvPr>
          <p:cNvSpPr txBox="1"/>
          <p:nvPr/>
        </p:nvSpPr>
        <p:spPr>
          <a:xfrm>
            <a:off x="-9043" y="4833810"/>
            <a:ext cx="2322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i="1"/>
            </a:lvl1pPr>
          </a:lstStyle>
          <a:p>
            <a:r>
              <a:rPr lang="en-US" b="1" i="0" dirty="0"/>
              <a:t>WHERE it works better</a:t>
            </a:r>
          </a:p>
          <a:p>
            <a:r>
              <a:rPr lang="en-US" dirty="0"/>
              <a:t>Triggered only when needed (deep-dive questions)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“Does promo work better in breakfast or dinner?”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“Why is digital growing faster?” </a:t>
            </a:r>
          </a:p>
        </p:txBody>
      </p: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2C940653-F372-5742-D70B-5675760DA9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94120" y="3529603"/>
            <a:ext cx="128993" cy="2173753"/>
          </a:xfrm>
          <a:prstGeom prst="bentConnector3">
            <a:avLst>
              <a:gd name="adj1" fmla="val 277219"/>
            </a:avLst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94CE9CD-0304-5F24-F1C0-7733EC16D5AA}"/>
              </a:ext>
            </a:extLst>
          </p:cNvPr>
          <p:cNvGrpSpPr/>
          <p:nvPr/>
        </p:nvGrpSpPr>
        <p:grpSpPr>
          <a:xfrm>
            <a:off x="3297916" y="4833810"/>
            <a:ext cx="6342652" cy="1179397"/>
            <a:chOff x="3342740" y="4556811"/>
            <a:chExt cx="6342652" cy="1179397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4B126B9-3274-E92D-096D-766DE03BC693}"/>
                </a:ext>
              </a:extLst>
            </p:cNvPr>
            <p:cNvSpPr txBox="1"/>
            <p:nvPr/>
          </p:nvSpPr>
          <p:spPr>
            <a:xfrm>
              <a:off x="3342740" y="4556811"/>
              <a:ext cx="443909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Layer 3: EFFECTIVENESS BY STRUCTURE (SENSITIVITY)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DDF0AD07-6562-7C80-6F4C-32E4FBDF985F}"/>
                </a:ext>
              </a:extLst>
            </p:cNvPr>
            <p:cNvSpPr txBox="1"/>
            <p:nvPr/>
          </p:nvSpPr>
          <p:spPr>
            <a:xfrm>
              <a:off x="4537654" y="4859957"/>
              <a:ext cx="261223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US" dirty="0"/>
                <a:t>Add SELECTIVE interactions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/>
                <a:t>promo × </a:t>
              </a:r>
              <a:r>
                <a:rPr lang="en-US" dirty="0" err="1"/>
                <a:t>is_delivery</a:t>
              </a:r>
              <a:endParaRPr lang="en-US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/>
                <a:t>promo × </a:t>
              </a:r>
              <a:r>
                <a:rPr lang="en-US" dirty="0" err="1"/>
                <a:t>is_breakfast</a:t>
              </a:r>
              <a:r>
                <a:rPr lang="en-US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/>
                <a:t>(small, intentional set only) 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C53D945-5003-89DD-9C67-7D64C71A6FF2}"/>
                </a:ext>
              </a:extLst>
            </p:cNvPr>
            <p:cNvSpPr txBox="1"/>
            <p:nvPr/>
          </p:nvSpPr>
          <p:spPr>
            <a:xfrm>
              <a:off x="6635386" y="5038419"/>
              <a:ext cx="555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-&gt;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272F93EB-E33B-0857-E1AC-BA25A3FEE713}"/>
                </a:ext>
              </a:extLst>
            </p:cNvPr>
            <p:cNvSpPr txBox="1"/>
            <p:nvPr/>
          </p:nvSpPr>
          <p:spPr>
            <a:xfrm>
              <a:off x="7073153" y="4905211"/>
              <a:ext cx="261223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US" dirty="0"/>
                <a:t>Interpretation: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/>
                <a:t>Baseline effect (global promo sensitivity)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dirty="0"/>
                <a:t>Incremental sensitivity by structure </a:t>
              </a: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1D17E44-FF99-758C-EFCA-60D210D4E141}"/>
              </a:ext>
            </a:extLst>
          </p:cNvPr>
          <p:cNvGrpSpPr/>
          <p:nvPr/>
        </p:nvGrpSpPr>
        <p:grpSpPr>
          <a:xfrm>
            <a:off x="9274022" y="3475964"/>
            <a:ext cx="463376" cy="2141472"/>
            <a:chOff x="9539427" y="3210457"/>
            <a:chExt cx="463376" cy="2141472"/>
          </a:xfrm>
        </p:grpSpPr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159F780-FDE3-3E33-08CA-3A2CC2AFA52A}"/>
                </a:ext>
              </a:extLst>
            </p:cNvPr>
            <p:cNvCxnSpPr>
              <a:cxnSpLocks/>
            </p:cNvCxnSpPr>
            <p:nvPr/>
          </p:nvCxnSpPr>
          <p:spPr>
            <a:xfrm>
              <a:off x="9539427" y="3210457"/>
              <a:ext cx="45622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63B97E9-3D67-16C3-0F32-7AFBFA19CB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95647" y="3210457"/>
              <a:ext cx="7156" cy="213461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AFFC8415-4475-20E8-243B-550B8F935C10}"/>
                </a:ext>
              </a:extLst>
            </p:cNvPr>
            <p:cNvCxnSpPr/>
            <p:nvPr/>
          </p:nvCxnSpPr>
          <p:spPr>
            <a:xfrm flipH="1">
              <a:off x="9570024" y="5351929"/>
              <a:ext cx="425623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91" name="TextBox 190">
            <a:extLst>
              <a:ext uri="{FF2B5EF4-FFF2-40B4-BE49-F238E27FC236}">
                <a16:creationId xmlns:a16="http://schemas.microsoft.com/office/drawing/2014/main" id="{20B7F79C-552C-AA49-AF07-01E5BBCD9AD6}"/>
              </a:ext>
            </a:extLst>
          </p:cNvPr>
          <p:cNvSpPr txBox="1"/>
          <p:nvPr/>
        </p:nvSpPr>
        <p:spPr>
          <a:xfrm>
            <a:off x="5195958" y="722189"/>
            <a:ext cx="1193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Mix effect (share change)</a:t>
            </a: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D2DEDFF1-EA21-F3E5-A9FC-681334EDD3E4}"/>
              </a:ext>
            </a:extLst>
          </p:cNvPr>
          <p:cNvCxnSpPr>
            <a:cxnSpLocks/>
          </p:cNvCxnSpPr>
          <p:nvPr/>
        </p:nvCxnSpPr>
        <p:spPr>
          <a:xfrm>
            <a:off x="4811356" y="939040"/>
            <a:ext cx="25026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E8D90BEC-6E76-4083-A504-45E054AC61DA}"/>
              </a:ext>
            </a:extLst>
          </p:cNvPr>
          <p:cNvSpPr txBox="1"/>
          <p:nvPr/>
        </p:nvSpPr>
        <p:spPr>
          <a:xfrm>
            <a:off x="6098093" y="6567534"/>
            <a:ext cx="61004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i="1" dirty="0"/>
              <a:t>*Results are evaluated across multiple YoY transitions to distinguish structural vs episodic drivers.</a:t>
            </a:r>
          </a:p>
        </p:txBody>
      </p:sp>
    </p:spTree>
    <p:extLst>
      <p:ext uri="{BB962C8B-B14F-4D97-AF65-F5344CB8AC3E}">
        <p14:creationId xmlns:p14="http://schemas.microsoft.com/office/powerpoint/2010/main" val="1927579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243</Words>
  <Application>Microsoft Office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Qian</dc:creator>
  <cp:lastModifiedBy>Cheng Qian</cp:lastModifiedBy>
  <cp:revision>5</cp:revision>
  <dcterms:created xsi:type="dcterms:W3CDTF">2025-12-31T04:33:18Z</dcterms:created>
  <dcterms:modified xsi:type="dcterms:W3CDTF">2025-12-31T05:06:15Z</dcterms:modified>
</cp:coreProperties>
</file>