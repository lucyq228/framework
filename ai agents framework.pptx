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62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26664" y="219456"/>
            <a:ext cx="11384280" cy="713231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9AB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A29B697-6D1D-3209-53E6-F128703FEAE2}"/>
              </a:ext>
            </a:extLst>
          </p:cNvPr>
          <p:cNvGrpSpPr/>
          <p:nvPr/>
        </p:nvGrpSpPr>
        <p:grpSpPr>
          <a:xfrm>
            <a:off x="100584" y="534923"/>
            <a:ext cx="2724912" cy="1065277"/>
            <a:chOff x="137160" y="182880"/>
            <a:chExt cx="2724912" cy="1065277"/>
          </a:xfrm>
        </p:grpSpPr>
        <p:sp>
          <p:nvSpPr>
            <p:cNvPr id="3" name="Rounded Rectangle 2"/>
            <p:cNvSpPr/>
            <p:nvPr/>
          </p:nvSpPr>
          <p:spPr>
            <a:xfrm>
              <a:off x="137160" y="182880"/>
              <a:ext cx="2724912" cy="914400"/>
            </a:xfrm>
            <a:prstGeom prst="roundRect">
              <a:avLst/>
            </a:prstGeom>
            <a:solidFill>
              <a:srgbClr val="FFF9F2"/>
            </a:solidFill>
            <a:ln w="10795">
              <a:solidFill>
                <a:srgbClr val="EAB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" name="Picture 3" descr="user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176" y="329184"/>
              <a:ext cx="329184" cy="329184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04088" y="320040"/>
              <a:ext cx="2020824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dirty="0">
                  <a:solidFill>
                    <a:srgbClr val="141D2D"/>
                  </a:solidFill>
                  <a:latin typeface="Arial"/>
                </a:rPr>
                <a:t>User Input / </a:t>
              </a:r>
              <a:r>
                <a:rPr sz="1200" b="1" dirty="0">
                  <a:solidFill>
                    <a:srgbClr val="141D2D"/>
                  </a:solidFill>
                  <a:latin typeface="Arial"/>
                </a:rPr>
                <a:t>Request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3717" y="598933"/>
              <a:ext cx="2130552" cy="649224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dirty="0">
                  <a:solidFill>
                    <a:srgbClr val="141D2D"/>
                  </a:solidFill>
                  <a:latin typeface="Arial"/>
                </a:rPr>
                <a:t>•  “Why did sales drop in Q1?”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dirty="0">
                  <a:solidFill>
                    <a:srgbClr val="141D2D"/>
                  </a:solidFill>
                  <a:latin typeface="Arial"/>
                </a:rPr>
                <a:t>•  “Did the new campaign work?”</a:t>
              </a: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100584" y="1837944"/>
            <a:ext cx="1084529" cy="1618432"/>
          </a:xfrm>
          <a:prstGeom prst="roundRect">
            <a:avLst/>
          </a:prstGeom>
          <a:solidFill>
            <a:srgbClr val="EFF7FF"/>
          </a:solidFill>
          <a:ln w="10795">
            <a:solidFill>
              <a:srgbClr val="9AB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42" y="1912159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6482" y="1907374"/>
            <a:ext cx="896111" cy="2011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4396F"/>
                </a:solidFill>
                <a:latin typeface="Arial"/>
              </a:rPr>
              <a:t>Data
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002" y="2295145"/>
            <a:ext cx="896111" cy="6583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en-US" sz="1100" dirty="0">
                <a:solidFill>
                  <a:srgbClr val="141D2D"/>
                </a:solidFill>
                <a:latin typeface="Arial"/>
              </a:rPr>
              <a:t>•  Tables</a:t>
            </a:r>
          </a:p>
          <a:p>
            <a:r>
              <a:rPr lang="en-US" sz="1100" dirty="0">
                <a:solidFill>
                  <a:srgbClr val="141D2D"/>
                </a:solidFill>
                <a:latin typeface="Arial"/>
              </a:rPr>
              <a:t>•  JSON</a:t>
            </a:r>
            <a:endParaRPr lang="en-US" sz="1100" b="0" dirty="0">
              <a:solidFill>
                <a:srgbClr val="141D2D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41D2D"/>
                </a:solidFill>
                <a:latin typeface="Arial"/>
              </a:rPr>
              <a:t>•  Excels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41D2D"/>
                </a:solidFill>
                <a:latin typeface="Arial"/>
              </a:rPr>
              <a:t>•  Notes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41D2D"/>
                </a:solidFill>
                <a:latin typeface="Arial"/>
              </a:rPr>
              <a:t>•  PDFs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141D2D"/>
                </a:solidFill>
                <a:latin typeface="Arial"/>
              </a:rPr>
              <a:t>•  PPTs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D1ED9464-C158-0C2F-30A2-6BAF07F015AD}"/>
              </a:ext>
            </a:extLst>
          </p:cNvPr>
          <p:cNvGrpSpPr/>
          <p:nvPr/>
        </p:nvGrpSpPr>
        <p:grpSpPr>
          <a:xfrm>
            <a:off x="1294841" y="2843964"/>
            <a:ext cx="1553410" cy="3364812"/>
            <a:chOff x="100584" y="3841332"/>
            <a:chExt cx="1776488" cy="3056644"/>
          </a:xfrm>
        </p:grpSpPr>
        <p:sp>
          <p:nvSpPr>
            <p:cNvPr id="16" name="Rounded Rectangle 15"/>
            <p:cNvSpPr/>
            <p:nvPr/>
          </p:nvSpPr>
          <p:spPr>
            <a:xfrm>
              <a:off x="100584" y="3841332"/>
              <a:ext cx="1776488" cy="3056644"/>
            </a:xfrm>
            <a:prstGeom prst="roundRect">
              <a:avLst/>
            </a:prstGeom>
            <a:solidFill>
              <a:srgbClr val="EFF7FF"/>
            </a:solidFill>
            <a:ln w="1079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" name="Picture 16" descr="d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313" y="3995076"/>
              <a:ext cx="329184" cy="32918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649225" y="3985932"/>
              <a:ext cx="969264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dirty="0">
                  <a:solidFill>
                    <a:srgbClr val="04396F"/>
                  </a:solidFill>
                  <a:latin typeface="Arial"/>
                </a:rPr>
                <a:t>Data Storage</a:t>
              </a:r>
            </a:p>
          </p:txBody>
        </p:sp>
        <p:pic>
          <p:nvPicPr>
            <p:cNvPr id="19" name="Picture 18" descr="d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2864" y="4544568"/>
              <a:ext cx="182880" cy="18288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414032" y="4535424"/>
              <a:ext cx="1390038" cy="1959792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dirty="0">
                  <a:solidFill>
                    <a:srgbClr val="141D2D"/>
                  </a:solidFill>
                  <a:latin typeface="Arial"/>
                </a:rPr>
                <a:t>Object storage</a:t>
              </a:r>
              <a:r>
                <a:rPr lang="en-US" sz="1100" b="0" dirty="0">
                  <a:solidFill>
                    <a:srgbClr val="141D2D"/>
                  </a:solidFill>
                  <a:latin typeface="Arial"/>
                </a:rPr>
                <a:t>/</a:t>
              </a:r>
              <a:endParaRPr sz="1100" b="0" dirty="0">
                <a:solidFill>
                  <a:srgbClr val="141D2D"/>
                </a:solidFill>
                <a:latin typeface="Arial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dirty="0">
                  <a:solidFill>
                    <a:srgbClr val="141D2D"/>
                  </a:solidFill>
                  <a:latin typeface="Arial"/>
                </a:rPr>
                <a:t>Feature Store</a:t>
              </a:r>
            </a:p>
            <a:p>
              <a:r>
                <a:rPr lang="en-US" sz="1100" dirty="0">
                  <a:solidFill>
                    <a:srgbClr val="141D2D"/>
                  </a:solidFill>
                  <a:latin typeface="Arial"/>
                </a:rPr>
                <a:t>•  Databricks</a:t>
              </a:r>
            </a:p>
            <a:p>
              <a:r>
                <a:rPr lang="en-US" sz="1100" dirty="0">
                  <a:solidFill>
                    <a:srgbClr val="141D2D"/>
                  </a:solidFill>
                  <a:latin typeface="Arial"/>
                </a:rPr>
                <a:t>•  </a:t>
              </a:r>
              <a:r>
                <a:rPr lang="en-US" sz="1100" dirty="0" err="1">
                  <a:solidFill>
                    <a:srgbClr val="141D2D"/>
                  </a:solidFill>
                  <a:latin typeface="Arial"/>
                </a:rPr>
                <a:t>BigQuery</a:t>
              </a:r>
              <a:endParaRPr lang="en-US" sz="1100" dirty="0">
                <a:solidFill>
                  <a:srgbClr val="141D2D"/>
                </a:solidFill>
                <a:latin typeface="Arial"/>
              </a:endParaRPr>
            </a:p>
            <a:p>
              <a:r>
                <a:rPr lang="en-US" sz="1100" dirty="0">
                  <a:solidFill>
                    <a:srgbClr val="141D2D"/>
                  </a:solidFill>
                  <a:latin typeface="Arial"/>
                </a:rPr>
                <a:t>•  Snowflake</a:t>
              </a:r>
            </a:p>
            <a:p>
              <a:r>
                <a:rPr lang="en-US" sz="1100" dirty="0">
                  <a:solidFill>
                    <a:srgbClr val="141D2D"/>
                  </a:solidFill>
                  <a:latin typeface="Arial"/>
                </a:rPr>
                <a:t>•  Redshift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sz="1100" b="0" dirty="0">
                <a:solidFill>
                  <a:srgbClr val="141D2D"/>
                </a:solidFill>
                <a:latin typeface="Arial"/>
              </a:endParaRPr>
            </a:p>
          </p:txBody>
        </p:sp>
        <p:pic>
          <p:nvPicPr>
            <p:cNvPr id="22" name="Picture 21" descr="networ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255" y="5868316"/>
              <a:ext cx="201168" cy="201168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411696" y="5801225"/>
              <a:ext cx="1362455" cy="45720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dirty="0">
                  <a:solidFill>
                    <a:srgbClr val="141D2D"/>
                  </a:solidFill>
                  <a:latin typeface="Arial"/>
                </a:rPr>
                <a:t>Vector DB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dirty="0">
                  <a:solidFill>
                    <a:srgbClr val="141D2D"/>
                  </a:solidFill>
                  <a:latin typeface="Arial"/>
                </a:rPr>
                <a:t>(FAISS / Pinecone /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dirty="0" err="1">
                  <a:solidFill>
                    <a:srgbClr val="141D2D"/>
                  </a:solidFill>
                  <a:latin typeface="Arial"/>
                </a:rPr>
                <a:t>Weaviate</a:t>
              </a:r>
              <a:r>
                <a:rPr sz="1100" b="0" dirty="0">
                  <a:solidFill>
                    <a:srgbClr val="141D2D"/>
                  </a:solidFill>
                  <a:latin typeface="Arial"/>
                </a:rPr>
                <a:t>) for docs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3246120" y="640080"/>
            <a:ext cx="2770632" cy="1444752"/>
          </a:xfrm>
          <a:prstGeom prst="roundRect">
            <a:avLst/>
          </a:prstGeom>
          <a:solidFill>
            <a:srgbClr val="F0F9F5"/>
          </a:solidFill>
          <a:ln w="10795">
            <a:solidFill>
              <a:srgbClr val="9AC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om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786384"/>
            <a:ext cx="329184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13048" y="777240"/>
            <a:ext cx="2093975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141D2D"/>
                </a:solidFill>
                <a:latin typeface="Arial"/>
              </a:rPr>
              <a:t>AI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048" y="1033271"/>
            <a:ext cx="2093975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41D2D"/>
                </a:solidFill>
                <a:latin typeface="Arial"/>
              </a:rPr>
              <a:t>Intake Router + Task Planner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1325880"/>
            <a:ext cx="2093975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141D2D"/>
                </a:solidFill>
                <a:latin typeface="Arial"/>
              </a:rPr>
              <a:t>•  Break into steps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141D2D"/>
                </a:solidFill>
                <a:latin typeface="Arial"/>
              </a:rPr>
              <a:t>•  Choose agent path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141D2D"/>
                </a:solidFill>
                <a:latin typeface="Arial"/>
              </a:rPr>
              <a:t>•  Select tools +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74136" y="2685785"/>
            <a:ext cx="1920240" cy="944383"/>
          </a:xfrm>
          <a:prstGeom prst="roundRect">
            <a:avLst/>
          </a:prstGeom>
          <a:solidFill>
            <a:srgbClr val="F8F3FF"/>
          </a:solidFill>
          <a:ln w="10795">
            <a:solidFill>
              <a:srgbClr val="C9B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retriev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2776479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41064" y="2767335"/>
            <a:ext cx="1243584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141D2D"/>
                </a:solidFill>
                <a:latin typeface="Arial"/>
              </a:rPr>
              <a:t>Retrieval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41064" y="3023367"/>
            <a:ext cx="1243584" cy="6492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RAG index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Vector DB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Semantic search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Metadata search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D787CD6-EB1F-CEF5-7240-43A275C9AEB7}"/>
              </a:ext>
            </a:extLst>
          </p:cNvPr>
          <p:cNvGrpSpPr/>
          <p:nvPr/>
        </p:nvGrpSpPr>
        <p:grpSpPr>
          <a:xfrm>
            <a:off x="3374136" y="4267590"/>
            <a:ext cx="1993391" cy="657197"/>
            <a:chOff x="3785615" y="4133086"/>
            <a:chExt cx="1989277" cy="657197"/>
          </a:xfrm>
        </p:grpSpPr>
        <p:sp>
          <p:nvSpPr>
            <p:cNvPr id="36" name="Rounded Rectangle 35"/>
            <p:cNvSpPr/>
            <p:nvPr/>
          </p:nvSpPr>
          <p:spPr>
            <a:xfrm>
              <a:off x="3785615" y="4133086"/>
              <a:ext cx="1989277" cy="657197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11667" y="4154032"/>
              <a:ext cx="1645919" cy="164592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04396F"/>
                  </a:solidFill>
                  <a:latin typeface="Arial"/>
                </a:rPr>
                <a:t>Tool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865945" y="4325218"/>
              <a:ext cx="1869493" cy="402337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dirty="0" err="1">
                  <a:solidFill>
                    <a:srgbClr val="04396F"/>
                  </a:solidFill>
                  <a:latin typeface="Arial"/>
                </a:rPr>
                <a:t>query_bigquery</a:t>
              </a:r>
              <a:r>
                <a:rPr sz="800" b="0" dirty="0">
                  <a:solidFill>
                    <a:srgbClr val="04396F"/>
                  </a:solidFill>
                  <a:latin typeface="Arial"/>
                </a:rPr>
                <a:t>(), </a:t>
              </a:r>
              <a:endParaRPr lang="en-US" sz="800" b="0" dirty="0">
                <a:solidFill>
                  <a:srgbClr val="04396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dirty="0" err="1">
                  <a:solidFill>
                    <a:srgbClr val="04396F"/>
                  </a:solidFill>
                  <a:latin typeface="Arial"/>
                </a:rPr>
                <a:t>run_databricks_job</a:t>
              </a:r>
              <a:r>
                <a:rPr sz="800" b="0" dirty="0">
                  <a:solidFill>
                    <a:srgbClr val="04396F"/>
                  </a:solidFill>
                  <a:latin typeface="Arial"/>
                </a:rPr>
                <a:t>(),
</a:t>
              </a:r>
              <a:r>
                <a:rPr sz="800" b="0" dirty="0" err="1">
                  <a:solidFill>
                    <a:srgbClr val="04396F"/>
                  </a:solidFill>
                  <a:latin typeface="Arial"/>
                </a:rPr>
                <a:t>generate_slides_draft</a:t>
              </a:r>
              <a:r>
                <a:rPr sz="800" b="0" dirty="0">
                  <a:solidFill>
                    <a:srgbClr val="04396F"/>
                  </a:solidFill>
                  <a:latin typeface="Arial"/>
                </a:rPr>
                <a:t>()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DEF1C916-556A-F682-3829-9586B0D36D98}"/>
              </a:ext>
            </a:extLst>
          </p:cNvPr>
          <p:cNvGrpSpPr/>
          <p:nvPr/>
        </p:nvGrpSpPr>
        <p:grpSpPr>
          <a:xfrm>
            <a:off x="3790500" y="4924893"/>
            <a:ext cx="1188720" cy="548640"/>
            <a:chOff x="4096512" y="4754880"/>
            <a:chExt cx="1188720" cy="548640"/>
          </a:xfrm>
        </p:grpSpPr>
        <p:sp>
          <p:nvSpPr>
            <p:cNvPr id="40" name="Rounded Rectangle 39"/>
            <p:cNvSpPr/>
            <p:nvPr/>
          </p:nvSpPr>
          <p:spPr>
            <a:xfrm>
              <a:off x="4096512" y="4754880"/>
              <a:ext cx="1188720" cy="548640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1" name="Picture 40" descr="gear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0521" y="4864608"/>
              <a:ext cx="256032" cy="256032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4416552" y="4837176"/>
              <a:ext cx="749808" cy="36576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dirty="0">
                  <a:solidFill>
                    <a:srgbClr val="141D2D"/>
                  </a:solidFill>
                  <a:latin typeface="Arial"/>
                </a:rPr>
                <a:t>•  Connect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dirty="0">
                  <a:solidFill>
                    <a:srgbClr val="141D2D"/>
                  </a:solidFill>
                  <a:latin typeface="Arial"/>
                </a:rPr>
                <a:t>•  Execute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dirty="0">
                  <a:solidFill>
                    <a:srgbClr val="141D2D"/>
                  </a:solidFill>
                  <a:latin typeface="Arial"/>
                </a:rPr>
                <a:t>•  API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60DA4C0-FD74-D476-7141-E0BFA7B57B1F}"/>
              </a:ext>
            </a:extLst>
          </p:cNvPr>
          <p:cNvGrpSpPr/>
          <p:nvPr/>
        </p:nvGrpSpPr>
        <p:grpSpPr>
          <a:xfrm>
            <a:off x="6446520" y="786384"/>
            <a:ext cx="2423160" cy="492606"/>
            <a:chOff x="6446520" y="786384"/>
            <a:chExt cx="2423160" cy="492606"/>
          </a:xfrm>
        </p:grpSpPr>
        <p:sp>
          <p:nvSpPr>
            <p:cNvPr id="43" name="Rounded Rectangle 42"/>
            <p:cNvSpPr/>
            <p:nvPr/>
          </p:nvSpPr>
          <p:spPr>
            <a:xfrm>
              <a:off x="6446520" y="786384"/>
              <a:ext cx="2423160" cy="492606"/>
            </a:xfrm>
            <a:prstGeom prst="roundRect">
              <a:avLst/>
            </a:prstGeom>
            <a:solidFill>
              <a:srgbClr val="F0F9F5"/>
            </a:solidFill>
            <a:ln w="10795">
              <a:solidFill>
                <a:srgbClr val="9AC4A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4" name="Picture 43" descr="search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83680" y="858366"/>
              <a:ext cx="329184" cy="329184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013448" y="832104"/>
              <a:ext cx="1746503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AI Agent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01221" y="1036462"/>
              <a:ext cx="1746503" cy="22860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dirty="0">
                  <a:solidFill>
                    <a:srgbClr val="141D2D"/>
                  </a:solidFill>
                  <a:latin typeface="Arial"/>
                </a:rPr>
                <a:t>Data / Context Retrieval Agent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9098280" y="868680"/>
            <a:ext cx="804672" cy="402336"/>
          </a:xfrm>
          <a:prstGeom prst="roundRect">
            <a:avLst/>
          </a:prstGeom>
          <a:solidFill>
            <a:srgbClr val="EFF7FF"/>
          </a:solidFill>
          <a:ln w="9525">
            <a:solidFill>
              <a:srgbClr val="9AB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0" y="950976"/>
            <a:ext cx="713232" cy="2834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4396F"/>
                </a:solidFill>
                <a:latin typeface="Arial"/>
              </a:rPr>
              <a:t>Skills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75BAE53-F206-38D0-378F-DC5C0C8304F8}"/>
              </a:ext>
            </a:extLst>
          </p:cNvPr>
          <p:cNvGrpSpPr/>
          <p:nvPr/>
        </p:nvGrpSpPr>
        <p:grpSpPr>
          <a:xfrm>
            <a:off x="6492240" y="1403391"/>
            <a:ext cx="2423160" cy="487822"/>
            <a:chOff x="6446520" y="1572768"/>
            <a:chExt cx="2423160" cy="487822"/>
          </a:xfrm>
        </p:grpSpPr>
        <p:sp>
          <p:nvSpPr>
            <p:cNvPr id="51" name="Rounded Rectangle 50"/>
            <p:cNvSpPr/>
            <p:nvPr/>
          </p:nvSpPr>
          <p:spPr>
            <a:xfrm>
              <a:off x="6446520" y="1572768"/>
              <a:ext cx="2423160" cy="457201"/>
            </a:xfrm>
            <a:prstGeom prst="roundRect">
              <a:avLst/>
            </a:prstGeom>
            <a:solidFill>
              <a:srgbClr val="F0F9F5"/>
            </a:solidFill>
            <a:ln w="10795">
              <a:solidFill>
                <a:srgbClr val="9AC4A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2" name="Picture 51" descr="binoculars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92823" y="1636776"/>
              <a:ext cx="329184" cy="329184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7031736" y="1618488"/>
              <a:ext cx="1746503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AI Agent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031736" y="1831990"/>
              <a:ext cx="1746503" cy="22860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dirty="0">
                  <a:solidFill>
                    <a:srgbClr val="141D2D"/>
                  </a:solidFill>
                  <a:latin typeface="Arial"/>
                </a:rPr>
                <a:t>Data Discovery Agent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28E3DD5-6C9C-9ACA-D685-735E388D9226}"/>
              </a:ext>
            </a:extLst>
          </p:cNvPr>
          <p:cNvGrpSpPr/>
          <p:nvPr/>
        </p:nvGrpSpPr>
        <p:grpSpPr>
          <a:xfrm>
            <a:off x="9107423" y="1443901"/>
            <a:ext cx="804672" cy="402336"/>
            <a:chOff x="9098280" y="1655064"/>
            <a:chExt cx="804672" cy="402336"/>
          </a:xfrm>
        </p:grpSpPr>
        <p:sp>
          <p:nvSpPr>
            <p:cNvPr id="55" name="Rounded Rectangle 54"/>
            <p:cNvSpPr/>
            <p:nvPr/>
          </p:nvSpPr>
          <p:spPr>
            <a:xfrm>
              <a:off x="9098280" y="1655064"/>
              <a:ext cx="804672" cy="402336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44000" y="1737360"/>
              <a:ext cx="713232" cy="283464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4396F"/>
                  </a:solidFill>
                  <a:latin typeface="Arial"/>
                </a:rPr>
                <a:t>Skills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0E3FDD8-0545-8FB0-85C1-0C72C2D2E6DD}"/>
              </a:ext>
            </a:extLst>
          </p:cNvPr>
          <p:cNvGrpSpPr/>
          <p:nvPr/>
        </p:nvGrpSpPr>
        <p:grpSpPr>
          <a:xfrm>
            <a:off x="6510526" y="2007959"/>
            <a:ext cx="2423160" cy="498348"/>
            <a:chOff x="6446520" y="2359152"/>
            <a:chExt cx="2423160" cy="498348"/>
          </a:xfrm>
        </p:grpSpPr>
        <p:sp>
          <p:nvSpPr>
            <p:cNvPr id="59" name="Rounded Rectangle 58"/>
            <p:cNvSpPr/>
            <p:nvPr/>
          </p:nvSpPr>
          <p:spPr>
            <a:xfrm>
              <a:off x="6446520" y="2359152"/>
              <a:ext cx="2423160" cy="448056"/>
            </a:xfrm>
            <a:prstGeom prst="roundRect">
              <a:avLst/>
            </a:prstGeom>
            <a:solidFill>
              <a:srgbClr val="F0F9F5"/>
            </a:solidFill>
            <a:ln w="10795">
              <a:solidFill>
                <a:srgbClr val="9AC4A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0" name="Picture 59" descr="chart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74536" y="2441448"/>
              <a:ext cx="329184" cy="329184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7050025" y="2414016"/>
              <a:ext cx="1746503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AI Agent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050025" y="2628900"/>
              <a:ext cx="1746503" cy="22860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dirty="0">
                  <a:solidFill>
                    <a:srgbClr val="141D2D"/>
                  </a:solidFill>
                  <a:latin typeface="Arial"/>
                </a:rPr>
                <a:t>ML Modeling Agent</a:t>
              </a: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871B94EE-07E3-1115-57FA-439714D2A95C}"/>
              </a:ext>
            </a:extLst>
          </p:cNvPr>
          <p:cNvGrpSpPr/>
          <p:nvPr/>
        </p:nvGrpSpPr>
        <p:grpSpPr>
          <a:xfrm>
            <a:off x="9162286" y="2026778"/>
            <a:ext cx="804672" cy="402336"/>
            <a:chOff x="9098280" y="2441448"/>
            <a:chExt cx="804672" cy="402336"/>
          </a:xfrm>
        </p:grpSpPr>
        <p:sp>
          <p:nvSpPr>
            <p:cNvPr id="63" name="Rounded Rectangle 62"/>
            <p:cNvSpPr/>
            <p:nvPr/>
          </p:nvSpPr>
          <p:spPr>
            <a:xfrm>
              <a:off x="9098280" y="2441448"/>
              <a:ext cx="804672" cy="402336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144000" y="2523744"/>
              <a:ext cx="713232" cy="283464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4396F"/>
                  </a:solidFill>
                  <a:latin typeface="Arial"/>
                </a:rPr>
                <a:t>Skills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A7DE01B-B463-D286-8C20-7902607F5CB2}"/>
              </a:ext>
            </a:extLst>
          </p:cNvPr>
          <p:cNvGrpSpPr/>
          <p:nvPr/>
        </p:nvGrpSpPr>
        <p:grpSpPr>
          <a:xfrm>
            <a:off x="6523500" y="2625181"/>
            <a:ext cx="2423160" cy="460387"/>
            <a:chOff x="6446520" y="3145536"/>
            <a:chExt cx="2423160" cy="460387"/>
          </a:xfrm>
        </p:grpSpPr>
        <p:sp>
          <p:nvSpPr>
            <p:cNvPr id="67" name="Rounded Rectangle 66"/>
            <p:cNvSpPr/>
            <p:nvPr/>
          </p:nvSpPr>
          <p:spPr>
            <a:xfrm>
              <a:off x="6446520" y="3145536"/>
              <a:ext cx="2423160" cy="411479"/>
            </a:xfrm>
            <a:prstGeom prst="roundRect">
              <a:avLst/>
            </a:prstGeom>
            <a:solidFill>
              <a:srgbClr val="F0F9F5"/>
            </a:solidFill>
            <a:ln w="10795">
              <a:solidFill>
                <a:srgbClr val="9AC4A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8" name="Picture 67" descr="bulb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65392" y="3186683"/>
              <a:ext cx="329184" cy="329184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7013448" y="3195828"/>
              <a:ext cx="1746503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AI Agent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013448" y="3377323"/>
              <a:ext cx="1746503" cy="22860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dirty="0">
                  <a:solidFill>
                    <a:srgbClr val="141D2D"/>
                  </a:solidFill>
                  <a:latin typeface="Arial"/>
                </a:rPr>
                <a:t>Insights Agent</a:t>
              </a: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E94E130-21BE-EC41-ECF5-83657B7C5CBA}"/>
              </a:ext>
            </a:extLst>
          </p:cNvPr>
          <p:cNvGrpSpPr/>
          <p:nvPr/>
        </p:nvGrpSpPr>
        <p:grpSpPr>
          <a:xfrm>
            <a:off x="9193535" y="2587751"/>
            <a:ext cx="804672" cy="402336"/>
            <a:chOff x="9098280" y="3227832"/>
            <a:chExt cx="804672" cy="402336"/>
          </a:xfrm>
        </p:grpSpPr>
        <p:sp>
          <p:nvSpPr>
            <p:cNvPr id="71" name="Rounded Rectangle 70"/>
            <p:cNvSpPr/>
            <p:nvPr/>
          </p:nvSpPr>
          <p:spPr>
            <a:xfrm>
              <a:off x="9098280" y="3227832"/>
              <a:ext cx="804672" cy="402336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144000" y="3310127"/>
              <a:ext cx="713232" cy="283464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4396F"/>
                  </a:solidFill>
                  <a:latin typeface="Arial"/>
                </a:rPr>
                <a:t>Skills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08B6194-E79E-B44F-45C5-2B6894D9B0EC}"/>
              </a:ext>
            </a:extLst>
          </p:cNvPr>
          <p:cNvGrpSpPr/>
          <p:nvPr/>
        </p:nvGrpSpPr>
        <p:grpSpPr>
          <a:xfrm>
            <a:off x="6496705" y="3231712"/>
            <a:ext cx="2423160" cy="407760"/>
            <a:chOff x="6435252" y="3720756"/>
            <a:chExt cx="2423160" cy="407760"/>
          </a:xfrm>
        </p:grpSpPr>
        <p:sp>
          <p:nvSpPr>
            <p:cNvPr id="75" name="Rounded Rectangle 74"/>
            <p:cNvSpPr/>
            <p:nvPr/>
          </p:nvSpPr>
          <p:spPr>
            <a:xfrm>
              <a:off x="6435252" y="3726180"/>
              <a:ext cx="2423160" cy="370332"/>
            </a:xfrm>
            <a:prstGeom prst="roundRect">
              <a:avLst/>
            </a:prstGeom>
            <a:solidFill>
              <a:srgbClr val="F0F9F5"/>
            </a:solidFill>
            <a:ln w="10795">
              <a:solidFill>
                <a:srgbClr val="9AC4A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6" name="Picture 75" descr="presentation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74536" y="3749040"/>
              <a:ext cx="329184" cy="329184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7001221" y="3720756"/>
              <a:ext cx="1746503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AI Agent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982614" y="3899916"/>
              <a:ext cx="1746503" cy="22860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dirty="0">
                  <a:solidFill>
                    <a:srgbClr val="141D2D"/>
                  </a:solidFill>
                  <a:latin typeface="Arial"/>
                </a:rPr>
                <a:t>Story / PPT Agent</a:t>
              </a:r>
            </a:p>
          </p:txBody>
        </p:sp>
      </p:grpSp>
      <p:sp>
        <p:nvSpPr>
          <p:cNvPr id="83" name="Oval 82"/>
          <p:cNvSpPr/>
          <p:nvPr/>
        </p:nvSpPr>
        <p:spPr>
          <a:xfrm>
            <a:off x="7592705" y="3699916"/>
            <a:ext cx="292608" cy="292608"/>
          </a:xfrm>
          <a:prstGeom prst="ellipse">
            <a:avLst/>
          </a:prstGeom>
          <a:solidFill>
            <a:srgbClr val="FFFFFF"/>
          </a:solidFill>
          <a:ln>
            <a:solidFill>
              <a:srgbClr val="9AB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4396F"/>
                </a:solidFill>
                <a:latin typeface="Arial"/>
              </a:rPr>
              <a:t>+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3ABB45E-60A1-997D-2D9B-669DB59564EE}"/>
              </a:ext>
            </a:extLst>
          </p:cNvPr>
          <p:cNvGrpSpPr/>
          <p:nvPr/>
        </p:nvGrpSpPr>
        <p:grpSpPr>
          <a:xfrm>
            <a:off x="6481606" y="4092261"/>
            <a:ext cx="2483329" cy="320040"/>
            <a:chOff x="6492240" y="3977639"/>
            <a:chExt cx="2606040" cy="320040"/>
          </a:xfrm>
        </p:grpSpPr>
        <p:sp>
          <p:nvSpPr>
            <p:cNvPr id="84" name="Rounded Rectangle 83"/>
            <p:cNvSpPr/>
            <p:nvPr/>
          </p:nvSpPr>
          <p:spPr>
            <a:xfrm>
              <a:off x="6492240" y="3977639"/>
              <a:ext cx="2606040" cy="320040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523500" y="4017404"/>
              <a:ext cx="2514600" cy="201167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04396F"/>
                  </a:solidFill>
                  <a:latin typeface="Arial"/>
                </a:rPr>
                <a:t>Tool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435C464-0966-0397-85F4-2D26DFAC8AB8}"/>
              </a:ext>
            </a:extLst>
          </p:cNvPr>
          <p:cNvGrpSpPr/>
          <p:nvPr/>
        </p:nvGrpSpPr>
        <p:grpSpPr>
          <a:xfrm>
            <a:off x="6478581" y="4604747"/>
            <a:ext cx="2468079" cy="320040"/>
            <a:chOff x="6492240" y="4370832"/>
            <a:chExt cx="2606040" cy="320040"/>
          </a:xfrm>
        </p:grpSpPr>
        <p:sp>
          <p:nvSpPr>
            <p:cNvPr id="86" name="Rounded Rectangle 85"/>
            <p:cNvSpPr/>
            <p:nvPr/>
          </p:nvSpPr>
          <p:spPr>
            <a:xfrm>
              <a:off x="6492240" y="4370832"/>
              <a:ext cx="2606040" cy="320040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537959" y="4453128"/>
              <a:ext cx="2514600" cy="201167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04396F"/>
                  </a:solidFill>
                  <a:latin typeface="Arial"/>
                </a:rPr>
                <a:t>Tool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3CD5EEA-A7ED-BDAB-F39B-B46F0382455E}"/>
              </a:ext>
            </a:extLst>
          </p:cNvPr>
          <p:cNvGrpSpPr/>
          <p:nvPr/>
        </p:nvGrpSpPr>
        <p:grpSpPr>
          <a:xfrm>
            <a:off x="6496705" y="5058121"/>
            <a:ext cx="2449955" cy="320040"/>
            <a:chOff x="6492240" y="4764024"/>
            <a:chExt cx="2606040" cy="320040"/>
          </a:xfrm>
        </p:grpSpPr>
        <p:sp>
          <p:nvSpPr>
            <p:cNvPr id="88" name="Rounded Rectangle 87"/>
            <p:cNvSpPr/>
            <p:nvPr/>
          </p:nvSpPr>
          <p:spPr>
            <a:xfrm>
              <a:off x="6492240" y="4764024"/>
              <a:ext cx="2606040" cy="320040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537959" y="4846320"/>
              <a:ext cx="2514600" cy="201167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4396F"/>
                  </a:solidFill>
                  <a:latin typeface="Arial"/>
                </a:rPr>
                <a:t>Tool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DF951EB-BE02-78A5-4FC9-5FB27A05AB8B}"/>
              </a:ext>
            </a:extLst>
          </p:cNvPr>
          <p:cNvGrpSpPr/>
          <p:nvPr/>
        </p:nvGrpSpPr>
        <p:grpSpPr>
          <a:xfrm>
            <a:off x="6456507" y="5687356"/>
            <a:ext cx="2516499" cy="462728"/>
            <a:chOff x="5943600" y="5486400"/>
            <a:chExt cx="2788920" cy="462728"/>
          </a:xfrm>
        </p:grpSpPr>
        <p:sp>
          <p:nvSpPr>
            <p:cNvPr id="91" name="Rounded Rectangle 90"/>
            <p:cNvSpPr/>
            <p:nvPr/>
          </p:nvSpPr>
          <p:spPr>
            <a:xfrm>
              <a:off x="5943600" y="5486400"/>
              <a:ext cx="2788920" cy="448056"/>
            </a:xfrm>
            <a:prstGeom prst="roundRect">
              <a:avLst/>
            </a:prstGeom>
            <a:solidFill>
              <a:srgbClr val="F0F9F5"/>
            </a:solidFill>
            <a:ln w="10795">
              <a:solidFill>
                <a:srgbClr val="9AC4A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2" name="Picture 91" descr="rocket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071616" y="5550408"/>
              <a:ext cx="329184" cy="329184"/>
            </a:xfrm>
            <a:prstGeom prst="rect">
              <a:avLst/>
            </a:prstGeom>
          </p:spPr>
        </p:pic>
        <p:sp>
          <p:nvSpPr>
            <p:cNvPr id="93" name="TextBox 92"/>
            <p:cNvSpPr txBox="1"/>
            <p:nvPr/>
          </p:nvSpPr>
          <p:spPr>
            <a:xfrm>
              <a:off x="6492240" y="5513832"/>
              <a:ext cx="2112263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AI Agent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492240" y="5720528"/>
              <a:ext cx="2112263" cy="22860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dirty="0">
                  <a:solidFill>
                    <a:srgbClr val="141D2D"/>
                  </a:solidFill>
                  <a:latin typeface="Arial"/>
                </a:rPr>
                <a:t>Tool Runner / Execution Controller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DDA4B95-5AB0-E04E-E4AD-1FD1D3E10ACD}"/>
              </a:ext>
            </a:extLst>
          </p:cNvPr>
          <p:cNvGrpSpPr/>
          <p:nvPr/>
        </p:nvGrpSpPr>
        <p:grpSpPr>
          <a:xfrm>
            <a:off x="9479937" y="5690438"/>
            <a:ext cx="2189987" cy="478892"/>
            <a:chOff x="9235439" y="5486400"/>
            <a:chExt cx="2098867" cy="478892"/>
          </a:xfrm>
        </p:grpSpPr>
        <p:sp>
          <p:nvSpPr>
            <p:cNvPr id="95" name="Rounded Rectangle 94"/>
            <p:cNvSpPr/>
            <p:nvPr/>
          </p:nvSpPr>
          <p:spPr>
            <a:xfrm>
              <a:off x="9235439" y="5486400"/>
              <a:ext cx="2098867" cy="466343"/>
            </a:xfrm>
            <a:prstGeom prst="roundRect">
              <a:avLst/>
            </a:prstGeom>
            <a:solidFill>
              <a:srgbClr val="F0F9F5"/>
            </a:solidFill>
            <a:ln w="10795">
              <a:solidFill>
                <a:srgbClr val="9AC4A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6" name="Picture 95" descr="document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363456" y="5568696"/>
              <a:ext cx="329184" cy="329184"/>
            </a:xfrm>
            <a:prstGeom prst="rect">
              <a:avLst/>
            </a:prstGeom>
          </p:spPr>
        </p:pic>
        <p:sp>
          <p:nvSpPr>
            <p:cNvPr id="97" name="TextBox 96"/>
            <p:cNvSpPr txBox="1"/>
            <p:nvPr/>
          </p:nvSpPr>
          <p:spPr>
            <a:xfrm>
              <a:off x="9802367" y="5547218"/>
              <a:ext cx="1243584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AI Agent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9802367" y="5736692"/>
              <a:ext cx="1243584" cy="22860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dirty="0">
                  <a:solidFill>
                    <a:srgbClr val="141D2D"/>
                  </a:solidFill>
                  <a:latin typeface="Arial"/>
                </a:rPr>
                <a:t>Results Summary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D8C5121-680A-27D4-423F-F573ED91CD80}"/>
              </a:ext>
            </a:extLst>
          </p:cNvPr>
          <p:cNvGrpSpPr/>
          <p:nvPr/>
        </p:nvGrpSpPr>
        <p:grpSpPr>
          <a:xfrm>
            <a:off x="12381190" y="5724144"/>
            <a:ext cx="1554479" cy="393192"/>
            <a:chOff x="12143231" y="5541264"/>
            <a:chExt cx="1554479" cy="393192"/>
          </a:xfrm>
        </p:grpSpPr>
        <p:sp>
          <p:nvSpPr>
            <p:cNvPr id="100" name="Rounded Rectangle 99"/>
            <p:cNvSpPr/>
            <p:nvPr/>
          </p:nvSpPr>
          <p:spPr>
            <a:xfrm>
              <a:off x="12143231" y="5541264"/>
              <a:ext cx="1554479" cy="393192"/>
            </a:xfrm>
            <a:prstGeom prst="roundRect">
              <a:avLst/>
            </a:prstGeom>
            <a:solidFill>
              <a:srgbClr val="FFF9F2"/>
            </a:solidFill>
            <a:ln w="10795">
              <a:solidFill>
                <a:srgbClr val="EAB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1" name="Picture 100" descr="bars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2271248" y="5572100"/>
              <a:ext cx="329184" cy="329184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12608938" y="5660136"/>
              <a:ext cx="987552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Results Output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D668B3B-8CB3-A929-7F91-8549844D1535}"/>
              </a:ext>
            </a:extLst>
          </p:cNvPr>
          <p:cNvGrpSpPr/>
          <p:nvPr/>
        </p:nvGrpSpPr>
        <p:grpSpPr>
          <a:xfrm>
            <a:off x="12409898" y="6409942"/>
            <a:ext cx="1554479" cy="364271"/>
            <a:chOff x="12143231" y="6281928"/>
            <a:chExt cx="1554479" cy="364271"/>
          </a:xfrm>
        </p:grpSpPr>
        <p:sp>
          <p:nvSpPr>
            <p:cNvPr id="103" name="Rounded Rectangle 102"/>
            <p:cNvSpPr/>
            <p:nvPr/>
          </p:nvSpPr>
          <p:spPr>
            <a:xfrm>
              <a:off x="12143231" y="6281928"/>
              <a:ext cx="1554479" cy="356616"/>
            </a:xfrm>
            <a:prstGeom prst="roundRect">
              <a:avLst/>
            </a:prstGeom>
            <a:solidFill>
              <a:srgbClr val="FFF9F2"/>
            </a:solidFill>
            <a:ln w="10795">
              <a:solidFill>
                <a:srgbClr val="EAB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4" name="Picture 103" descr="peopl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2271248" y="6317015"/>
              <a:ext cx="329184" cy="329184"/>
            </a:xfrm>
            <a:prstGeom prst="rect">
              <a:avLst/>
            </a:prstGeom>
          </p:spPr>
        </p:pic>
        <p:sp>
          <p:nvSpPr>
            <p:cNvPr id="105" name="TextBox 104"/>
            <p:cNvSpPr txBox="1"/>
            <p:nvPr/>
          </p:nvSpPr>
          <p:spPr>
            <a:xfrm>
              <a:off x="12600428" y="6367202"/>
              <a:ext cx="1097281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dirty="0">
                  <a:solidFill>
                    <a:srgbClr val="141D2D"/>
                  </a:solidFill>
                  <a:latin typeface="Arial"/>
                </a:rPr>
                <a:t>User Interaction</a:t>
              </a:r>
            </a:p>
          </p:txBody>
        </p:sp>
      </p:grpSp>
      <p:sp>
        <p:nvSpPr>
          <p:cNvPr id="108" name="Rounded Rectangle 107"/>
          <p:cNvSpPr/>
          <p:nvPr/>
        </p:nvSpPr>
        <p:spPr>
          <a:xfrm>
            <a:off x="10222991" y="841248"/>
            <a:ext cx="1746503" cy="3886200"/>
          </a:xfrm>
          <a:prstGeom prst="roundRect">
            <a:avLst/>
          </a:prstGeom>
          <a:solidFill>
            <a:srgbClr val="F8F3FF"/>
          </a:solidFill>
          <a:ln w="10795">
            <a:solidFill>
              <a:srgbClr val="C9B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9" name="Picture 108" descr="contex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87584" y="1024128"/>
            <a:ext cx="393192" cy="393192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0844784" y="960120"/>
            <a:ext cx="10241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331F55"/>
                </a:solidFill>
                <a:latin typeface="Arial"/>
              </a:rPr>
              <a:t>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331F55"/>
                </a:solidFill>
                <a:latin typeface="Arial"/>
              </a:rPr>
              <a:t>Engineering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364619" y="1600200"/>
            <a:ext cx="1426464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9B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Picture 111" descr="building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86097" y="1655487"/>
            <a:ext cx="265176" cy="26517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0593219" y="1655064"/>
            <a:ext cx="119786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41D2D"/>
                </a:solidFill>
                <a:latin typeface="Arial"/>
              </a:rPr>
              <a:t>Business Context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561320" y="1874520"/>
            <a:ext cx="1289304" cy="804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KPI glossary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Metric definition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Method playbooks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Prior analysis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Leadership
preferences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364619" y="3127248"/>
            <a:ext cx="1426464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9B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6" name="Picture 115" descr="cod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03106" y="3263345"/>
            <a:ext cx="228600" cy="2286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10593219" y="3227832"/>
            <a:ext cx="804672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41D2D"/>
                </a:solidFill>
                <a:latin typeface="Arial"/>
              </a:rPr>
              <a:t>Technical Context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74931" y="3584447"/>
            <a:ext cx="950976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GitHub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AGENTS.md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Metadata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Notebooks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Data dictionaries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2298680" y="877824"/>
            <a:ext cx="1508760" cy="3767328"/>
          </a:xfrm>
          <a:prstGeom prst="roundRect">
            <a:avLst/>
          </a:prstGeom>
          <a:solidFill>
            <a:srgbClr val="EFF7FF"/>
          </a:solidFill>
          <a:ln w="10795">
            <a:solidFill>
              <a:srgbClr val="9AB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119" descr="chai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426696" y="1024127"/>
            <a:ext cx="329184" cy="32918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2865607" y="1097280"/>
            <a:ext cx="832104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4396F"/>
                </a:solidFill>
                <a:latin typeface="Arial"/>
              </a:rPr>
              <a:t>MCP / API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476988" y="1532789"/>
            <a:ext cx="1143000" cy="272831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MCP / Approved Tool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API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Confluence connector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Jira connector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GitHub connector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Google Drive
connector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</a:t>
            </a:r>
            <a:r>
              <a:rPr sz="800" b="0" dirty="0" err="1">
                <a:solidFill>
                  <a:srgbClr val="141D2D"/>
                </a:solidFill>
                <a:latin typeface="Arial"/>
              </a:rPr>
              <a:t>BigQuery</a:t>
            </a:r>
            <a:r>
              <a:rPr sz="800" b="0" dirty="0">
                <a:solidFill>
                  <a:srgbClr val="141D2D"/>
                </a:solidFill>
                <a:latin typeface="Arial"/>
              </a:rPr>
              <a:t> connector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Databricks connector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Slides connector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BI dashboard
connector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141D2D"/>
                </a:solidFill>
                <a:latin typeface="Arial"/>
              </a:rPr>
              <a:t>•  Slack / Teams
connector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03798" y="2229439"/>
            <a:ext cx="625908" cy="39574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1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Plans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1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Codes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1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Calls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68F12FD5-91EF-4BD0-17D3-EB1A397E499B}"/>
              </a:ext>
            </a:extLst>
          </p:cNvPr>
          <p:cNvGrpSpPr/>
          <p:nvPr/>
        </p:nvGrpSpPr>
        <p:grpSpPr>
          <a:xfrm>
            <a:off x="6142955" y="1122586"/>
            <a:ext cx="340140" cy="3564457"/>
            <a:chOff x="6227858" y="1228911"/>
            <a:chExt cx="268847" cy="2025412"/>
          </a:xfrm>
        </p:grpSpPr>
        <p:cxnSp>
          <p:nvCxnSpPr>
            <p:cNvPr id="125" name="Connector 124"/>
            <p:cNvCxnSpPr>
              <a:cxnSpLocks/>
            </p:cNvCxnSpPr>
            <p:nvPr/>
          </p:nvCxnSpPr>
          <p:spPr>
            <a:xfrm flipV="1">
              <a:off x="6227858" y="1228911"/>
              <a:ext cx="268847" cy="5529"/>
            </a:xfrm>
            <a:prstGeom prst="line">
              <a:avLst/>
            </a:prstGeom>
            <a:ln w="10160">
              <a:solidFill>
                <a:schemeClr val="accent3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>
              <a:cxnSpLocks/>
            </p:cNvCxnSpPr>
            <p:nvPr/>
          </p:nvCxnSpPr>
          <p:spPr>
            <a:xfrm>
              <a:off x="6227858" y="1258470"/>
              <a:ext cx="0" cy="1995853"/>
            </a:xfrm>
            <a:prstGeom prst="line">
              <a:avLst/>
            </a:prstGeom>
            <a:ln w="10160">
              <a:solidFill>
                <a:schemeClr val="accent3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TextBox 127"/>
          <p:cNvSpPr txBox="1"/>
          <p:nvPr/>
        </p:nvSpPr>
        <p:spPr>
          <a:xfrm>
            <a:off x="5419088" y="4833705"/>
            <a:ext cx="775428" cy="18160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1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Results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321808" y="3291840"/>
            <a:ext cx="1124712" cy="0"/>
          </a:xfrm>
          <a:prstGeom prst="line">
            <a:avLst/>
          </a:prstGeom>
          <a:ln w="10160">
            <a:solidFill>
              <a:srgbClr val="7580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A4F58A1-18E3-DA26-13D9-6AC11881C39E}"/>
              </a:ext>
            </a:extLst>
          </p:cNvPr>
          <p:cNvGrpSpPr/>
          <p:nvPr/>
        </p:nvGrpSpPr>
        <p:grpSpPr>
          <a:xfrm>
            <a:off x="6869047" y="201168"/>
            <a:ext cx="1586271" cy="512064"/>
            <a:chOff x="6583680" y="73152"/>
            <a:chExt cx="1920240" cy="512064"/>
          </a:xfrm>
        </p:grpSpPr>
        <p:sp>
          <p:nvSpPr>
            <p:cNvPr id="137" name="Rounded Rectangle 136"/>
            <p:cNvSpPr/>
            <p:nvPr/>
          </p:nvSpPr>
          <p:spPr>
            <a:xfrm>
              <a:off x="6583680" y="73152"/>
              <a:ext cx="1920240" cy="512064"/>
            </a:xfrm>
            <a:prstGeom prst="roundRect">
              <a:avLst/>
            </a:prstGeom>
            <a:solidFill>
              <a:srgbClr val="FFF9F2"/>
            </a:solidFill>
            <a:ln w="10795">
              <a:solidFill>
                <a:srgbClr val="EAB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38" name="Picture 137" descr="cycle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702552" y="164592"/>
              <a:ext cx="313463" cy="313462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7001220" y="146304"/>
              <a:ext cx="1502700" cy="146304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dirty="0">
                  <a:solidFill>
                    <a:srgbClr val="141D2D"/>
                  </a:solidFill>
                  <a:latin typeface="Arial"/>
                </a:rPr>
                <a:t>Feedback loop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001221" y="329184"/>
              <a:ext cx="1275056" cy="182880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dirty="0">
                  <a:solidFill>
                    <a:srgbClr val="141D2D"/>
                  </a:solidFill>
                  <a:latin typeface="Arial"/>
                </a:rPr>
                <a:t>Evaluate &amp; Improve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817AC0A-947F-4016-CB75-D9C406ABEB96}"/>
              </a:ext>
            </a:extLst>
          </p:cNvPr>
          <p:cNvGrpSpPr/>
          <p:nvPr/>
        </p:nvGrpSpPr>
        <p:grpSpPr>
          <a:xfrm>
            <a:off x="3675887" y="6609195"/>
            <a:ext cx="8528163" cy="575649"/>
            <a:chOff x="3705023" y="6565391"/>
            <a:chExt cx="8528163" cy="575649"/>
          </a:xfrm>
        </p:grpSpPr>
        <p:sp>
          <p:nvSpPr>
            <p:cNvPr id="141" name="Rounded Rectangle 140"/>
            <p:cNvSpPr/>
            <p:nvPr/>
          </p:nvSpPr>
          <p:spPr>
            <a:xfrm>
              <a:off x="3705023" y="6565391"/>
              <a:ext cx="8528163" cy="575649"/>
            </a:xfrm>
            <a:prstGeom prst="roundRect">
              <a:avLst/>
            </a:prstGeom>
            <a:solidFill>
              <a:srgbClr val="FAFCFF"/>
            </a:solidFill>
            <a:ln w="1079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42" name="Picture 141" descr="networ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2391" y="6613131"/>
              <a:ext cx="361721" cy="361721"/>
            </a:xfrm>
            <a:prstGeom prst="rect">
              <a:avLst/>
            </a:prstGeom>
          </p:spPr>
        </p:pic>
        <p:sp>
          <p:nvSpPr>
            <p:cNvPr id="143" name="TextBox 142"/>
            <p:cNvSpPr txBox="1"/>
            <p:nvPr/>
          </p:nvSpPr>
          <p:spPr>
            <a:xfrm>
              <a:off x="4265144" y="6592824"/>
              <a:ext cx="1828800" cy="201168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dirty="0">
                  <a:solidFill>
                    <a:srgbClr val="04396F"/>
                  </a:solidFill>
                  <a:latin typeface="Arial"/>
                </a:rPr>
                <a:t>Agent Orchestrator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4243034" y="6854172"/>
              <a:ext cx="6812280" cy="164592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dirty="0">
                  <a:solidFill>
                    <a:srgbClr val="141D2D"/>
                  </a:solidFill>
                  <a:latin typeface="Arial"/>
                </a:rPr>
                <a:t>•  Google ADK / Vertex Agent Builder / Others (</a:t>
              </a:r>
              <a:r>
                <a:rPr sz="1000" b="0" dirty="0" err="1">
                  <a:solidFill>
                    <a:srgbClr val="141D2D"/>
                  </a:solidFill>
                  <a:latin typeface="Arial"/>
                </a:rPr>
                <a:t>LangGraph</a:t>
              </a:r>
              <a:r>
                <a:rPr sz="1000" b="0" dirty="0">
                  <a:solidFill>
                    <a:srgbClr val="141D2D"/>
                  </a:solidFill>
                  <a:latin typeface="Arial"/>
                </a:rPr>
                <a:t> / </a:t>
              </a:r>
              <a:r>
                <a:rPr sz="1000" b="0" dirty="0" err="1">
                  <a:solidFill>
                    <a:srgbClr val="141D2D"/>
                  </a:solidFill>
                  <a:latin typeface="Arial"/>
                </a:rPr>
                <a:t>AutoGen</a:t>
              </a:r>
              <a:r>
                <a:rPr sz="1000" b="0" dirty="0">
                  <a:solidFill>
                    <a:srgbClr val="141D2D"/>
                  </a:solidFill>
                  <a:latin typeface="Arial"/>
                </a:rPr>
                <a:t> / </a:t>
              </a:r>
              <a:r>
                <a:rPr sz="1000" b="0" dirty="0" err="1">
                  <a:solidFill>
                    <a:srgbClr val="141D2D"/>
                  </a:solidFill>
                  <a:latin typeface="Arial"/>
                </a:rPr>
                <a:t>CrewAI</a:t>
              </a:r>
              <a:r>
                <a:rPr sz="1000" b="0" dirty="0">
                  <a:solidFill>
                    <a:srgbClr val="141D2D"/>
                  </a:solidFill>
                  <a:latin typeface="Arial"/>
                </a:rPr>
                <a:t>)</a:t>
              </a:r>
            </a:p>
          </p:txBody>
        </p:sp>
      </p:grpSp>
      <p:sp>
        <p:nvSpPr>
          <p:cNvPr id="146" name="Oval 145"/>
          <p:cNvSpPr/>
          <p:nvPr/>
        </p:nvSpPr>
        <p:spPr>
          <a:xfrm>
            <a:off x="3246120" y="7479792"/>
            <a:ext cx="329184" cy="329184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265DDF4-606C-4DE5-4DB1-2273A162891F}"/>
              </a:ext>
            </a:extLst>
          </p:cNvPr>
          <p:cNvGrpSpPr/>
          <p:nvPr/>
        </p:nvGrpSpPr>
        <p:grpSpPr>
          <a:xfrm>
            <a:off x="2907792" y="7379206"/>
            <a:ext cx="11503152" cy="640080"/>
            <a:chOff x="2907792" y="7333488"/>
            <a:chExt cx="11503152" cy="640080"/>
          </a:xfrm>
        </p:grpSpPr>
        <p:sp>
          <p:nvSpPr>
            <p:cNvPr id="145" name="Rounded Rectangle 144"/>
            <p:cNvSpPr/>
            <p:nvPr/>
          </p:nvSpPr>
          <p:spPr>
            <a:xfrm>
              <a:off x="2907792" y="7333488"/>
              <a:ext cx="11503152" cy="640080"/>
            </a:xfrm>
            <a:prstGeom prst="roundRect">
              <a:avLst/>
            </a:prstGeom>
            <a:solidFill>
              <a:srgbClr val="04396F"/>
            </a:solidFill>
            <a:ln w="8890">
              <a:solidFill>
                <a:srgbClr val="0439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47" name="Picture 146" descr="shiel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46120" y="7479792"/>
              <a:ext cx="329184" cy="329184"/>
            </a:xfrm>
            <a:prstGeom prst="rect">
              <a:avLst/>
            </a:prstGeom>
          </p:spPr>
        </p:pic>
        <p:sp>
          <p:nvSpPr>
            <p:cNvPr id="148" name="TextBox 147"/>
            <p:cNvSpPr txBox="1"/>
            <p:nvPr/>
          </p:nvSpPr>
          <p:spPr>
            <a:xfrm>
              <a:off x="3675887" y="7461504"/>
              <a:ext cx="1143000" cy="21945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dirty="0">
                  <a:solidFill>
                    <a:srgbClr val="FFFFFF"/>
                  </a:solidFill>
                  <a:latin typeface="Arial"/>
                </a:rPr>
                <a:t>Governance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675887" y="7680960"/>
              <a:ext cx="6675120" cy="164592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dirty="0">
                  <a:solidFill>
                    <a:srgbClr val="FFFFFF"/>
                  </a:solidFill>
                  <a:latin typeface="Arial"/>
                </a:rPr>
                <a:t>Coding standards  •  Access  •  Security  •  AI Governance  •  Quality  •  Observability</a:t>
              </a:r>
            </a:p>
          </p:txBody>
        </p:sp>
      </p:grp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C22FC03-2626-DF78-87EB-2863F816422E}"/>
              </a:ext>
            </a:extLst>
          </p:cNvPr>
          <p:cNvCxnSpPr>
            <a:cxnSpLocks/>
          </p:cNvCxnSpPr>
          <p:nvPr/>
        </p:nvCxnSpPr>
        <p:spPr>
          <a:xfrm flipV="1">
            <a:off x="2802636" y="1031254"/>
            <a:ext cx="443483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FEA081DD-E56F-4107-4FC6-87F56FD3252D}"/>
              </a:ext>
            </a:extLst>
          </p:cNvPr>
          <p:cNvCxnSpPr>
            <a:cxnSpLocks/>
          </p:cNvCxnSpPr>
          <p:nvPr/>
        </p:nvCxnSpPr>
        <p:spPr>
          <a:xfrm flipV="1">
            <a:off x="6006117" y="1055000"/>
            <a:ext cx="443483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ECA02CD9-9358-4D6F-7450-8BA40A8EE4FE}"/>
              </a:ext>
            </a:extLst>
          </p:cNvPr>
          <p:cNvCxnSpPr>
            <a:endCxn id="137" idx="1"/>
          </p:cNvCxnSpPr>
          <p:nvPr/>
        </p:nvCxnSpPr>
        <p:spPr>
          <a:xfrm rot="5400000" flipH="1" flipV="1">
            <a:off x="6561771" y="479109"/>
            <a:ext cx="329184" cy="285367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: Elbow 192">
            <a:extLst>
              <a:ext uri="{FF2B5EF4-FFF2-40B4-BE49-F238E27FC236}">
                <a16:creationId xmlns:a16="http://schemas.microsoft.com/office/drawing/2014/main" id="{3A3C4FE1-57D4-5864-F647-43CF7A96D334}"/>
              </a:ext>
            </a:extLst>
          </p:cNvPr>
          <p:cNvCxnSpPr>
            <a:cxnSpLocks/>
          </p:cNvCxnSpPr>
          <p:nvPr/>
        </p:nvCxnSpPr>
        <p:spPr>
          <a:xfrm>
            <a:off x="8455318" y="425302"/>
            <a:ext cx="2640925" cy="38404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9DE35DA2-AFD1-0D45-E2F0-0D04BED4DBA9}"/>
              </a:ext>
            </a:extLst>
          </p:cNvPr>
          <p:cNvGrpSpPr/>
          <p:nvPr/>
        </p:nvGrpSpPr>
        <p:grpSpPr>
          <a:xfrm>
            <a:off x="9187381" y="3176477"/>
            <a:ext cx="804672" cy="402336"/>
            <a:chOff x="9098280" y="3227832"/>
            <a:chExt cx="804672" cy="402336"/>
          </a:xfrm>
        </p:grpSpPr>
        <p:sp>
          <p:nvSpPr>
            <p:cNvPr id="206" name="Rounded Rectangle 70">
              <a:extLst>
                <a:ext uri="{FF2B5EF4-FFF2-40B4-BE49-F238E27FC236}">
                  <a16:creationId xmlns:a16="http://schemas.microsoft.com/office/drawing/2014/main" id="{2E1E505E-10E6-C5F5-B565-79A3A501EAC3}"/>
                </a:ext>
              </a:extLst>
            </p:cNvPr>
            <p:cNvSpPr/>
            <p:nvPr/>
          </p:nvSpPr>
          <p:spPr>
            <a:xfrm>
              <a:off x="9098280" y="3227832"/>
              <a:ext cx="804672" cy="402336"/>
            </a:xfrm>
            <a:prstGeom prst="roundRect">
              <a:avLst/>
            </a:prstGeom>
            <a:solidFill>
              <a:srgbClr val="EFF7FF"/>
            </a:solidFill>
            <a:ln w="9525">
              <a:solidFill>
                <a:srgbClr val="9ABC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6B9E6037-5300-3E2A-552C-BB1EC66DFC84}"/>
                </a:ext>
              </a:extLst>
            </p:cNvPr>
            <p:cNvSpPr txBox="1"/>
            <p:nvPr/>
          </p:nvSpPr>
          <p:spPr>
            <a:xfrm>
              <a:off x="9144000" y="3310127"/>
              <a:ext cx="713232" cy="283464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4396F"/>
                  </a:solidFill>
                  <a:latin typeface="Arial"/>
                </a:rPr>
                <a:t>Skills</a:t>
              </a:r>
            </a:p>
          </p:txBody>
        </p:sp>
      </p:grp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77709C71-B0E8-18CD-8E0D-C0A8D63268DF}"/>
              </a:ext>
            </a:extLst>
          </p:cNvPr>
          <p:cNvCxnSpPr>
            <a:endCxn id="35" idx="2"/>
          </p:cNvCxnSpPr>
          <p:nvPr/>
        </p:nvCxnSpPr>
        <p:spPr>
          <a:xfrm rot="10800000">
            <a:off x="4562857" y="3672591"/>
            <a:ext cx="5652977" cy="268473"/>
          </a:xfrm>
          <a:prstGeom prst="bentConnector2">
            <a:avLst/>
          </a:prstGeom>
          <a:ln w="12700">
            <a:solidFill>
              <a:schemeClr val="accent4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CFFC3F84-0097-6B9B-0784-1AF9BDFB2A1C}"/>
              </a:ext>
            </a:extLst>
          </p:cNvPr>
          <p:cNvCxnSpPr>
            <a:stCxn id="32" idx="1"/>
          </p:cNvCxnSpPr>
          <p:nvPr/>
        </p:nvCxnSpPr>
        <p:spPr>
          <a:xfrm flipH="1" flipV="1">
            <a:off x="2907792" y="3157976"/>
            <a:ext cx="466344" cy="1"/>
          </a:xfrm>
          <a:prstGeom prst="straightConnector1">
            <a:avLst/>
          </a:prstGeom>
          <a:ln w="12700">
            <a:solidFill>
              <a:schemeClr val="accent4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96D76996-AF97-652D-028A-5113946050A9}"/>
              </a:ext>
            </a:extLst>
          </p:cNvPr>
          <p:cNvCxnSpPr/>
          <p:nvPr/>
        </p:nvCxnSpPr>
        <p:spPr>
          <a:xfrm flipH="1">
            <a:off x="5367527" y="4645152"/>
            <a:ext cx="775428" cy="0"/>
          </a:xfrm>
          <a:prstGeom prst="straightConnector1">
            <a:avLst/>
          </a:prstGeom>
          <a:ln w="9525">
            <a:solidFill>
              <a:schemeClr val="accent3">
                <a:lumMod val="75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098B37FC-E158-933B-526A-5E8938198326}"/>
              </a:ext>
            </a:extLst>
          </p:cNvPr>
          <p:cNvCxnSpPr>
            <a:cxnSpLocks/>
          </p:cNvCxnSpPr>
          <p:nvPr/>
        </p:nvCxnSpPr>
        <p:spPr>
          <a:xfrm flipH="1">
            <a:off x="2907792" y="4544568"/>
            <a:ext cx="466344" cy="0"/>
          </a:xfrm>
          <a:prstGeom prst="straightConnector1">
            <a:avLst/>
          </a:prstGeom>
          <a:ln w="9525">
            <a:solidFill>
              <a:schemeClr val="accent3">
                <a:lumMod val="75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B549BB68-3E66-C603-46B3-2871C01F03EC}"/>
              </a:ext>
            </a:extLst>
          </p:cNvPr>
          <p:cNvCxnSpPr>
            <a:cxnSpLocks/>
          </p:cNvCxnSpPr>
          <p:nvPr/>
        </p:nvCxnSpPr>
        <p:spPr>
          <a:xfrm>
            <a:off x="2959608" y="4827539"/>
            <a:ext cx="414528" cy="0"/>
          </a:xfrm>
          <a:prstGeom prst="straightConnector1">
            <a:avLst/>
          </a:prstGeom>
          <a:ln w="9525">
            <a:solidFill>
              <a:schemeClr val="accent3">
                <a:lumMod val="75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070D0E1-96B5-5231-B55A-BE9E7850527E}"/>
              </a:ext>
            </a:extLst>
          </p:cNvPr>
          <p:cNvGrpSpPr/>
          <p:nvPr/>
        </p:nvGrpSpPr>
        <p:grpSpPr>
          <a:xfrm>
            <a:off x="5367527" y="1631992"/>
            <a:ext cx="1124713" cy="3208839"/>
            <a:chOff x="5367527" y="1631992"/>
            <a:chExt cx="1124713" cy="3208839"/>
          </a:xfrm>
        </p:grpSpPr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0E2932ED-C64D-2474-FFD6-8A16A4FE9F7D}"/>
                </a:ext>
              </a:extLst>
            </p:cNvPr>
            <p:cNvGrpSpPr/>
            <p:nvPr/>
          </p:nvGrpSpPr>
          <p:grpSpPr>
            <a:xfrm>
              <a:off x="6284583" y="1631992"/>
              <a:ext cx="207657" cy="3208839"/>
              <a:chOff x="6338144" y="1621256"/>
              <a:chExt cx="207657" cy="3208839"/>
            </a:xfrm>
          </p:grpSpPr>
          <p:cxnSp>
            <p:nvCxnSpPr>
              <p:cNvPr id="232" name="Connector 126">
                <a:extLst>
                  <a:ext uri="{FF2B5EF4-FFF2-40B4-BE49-F238E27FC236}">
                    <a16:creationId xmlns:a16="http://schemas.microsoft.com/office/drawing/2014/main" id="{04B17AF1-F0A2-C09E-149B-1C6D340E324C}"/>
                  </a:ext>
                </a:extLst>
              </p:cNvPr>
              <p:cNvCxnSpPr/>
              <p:nvPr/>
            </p:nvCxnSpPr>
            <p:spPr>
              <a:xfrm>
                <a:off x="6338144" y="1633328"/>
                <a:ext cx="0" cy="3196767"/>
              </a:xfrm>
              <a:prstGeom prst="line">
                <a:avLst/>
              </a:prstGeom>
              <a:ln w="10160">
                <a:solidFill>
                  <a:schemeClr val="accent3">
                    <a:lumMod val="7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05D54DC6-25AB-726D-821D-248DDB166CB5}"/>
                  </a:ext>
                </a:extLst>
              </p:cNvPr>
              <p:cNvCxnSpPr>
                <a:cxnSpLocks/>
                <a:endCxn id="51" idx="1"/>
              </p:cNvCxnSpPr>
              <p:nvPr/>
            </p:nvCxnSpPr>
            <p:spPr>
              <a:xfrm flipV="1">
                <a:off x="6338144" y="1621256"/>
                <a:ext cx="207657" cy="34231"/>
              </a:xfrm>
              <a:prstGeom prst="straightConnector1">
                <a:avLst/>
              </a:prstGeom>
              <a:ln w="9525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1" name="Connector 124">
              <a:extLst>
                <a:ext uri="{FF2B5EF4-FFF2-40B4-BE49-F238E27FC236}">
                  <a16:creationId xmlns:a16="http://schemas.microsoft.com/office/drawing/2014/main" id="{2CA77B22-7EB3-45B7-3AC8-F9E3290B957F}"/>
                </a:ext>
              </a:extLst>
            </p:cNvPr>
            <p:cNvCxnSpPr>
              <a:cxnSpLocks/>
            </p:cNvCxnSpPr>
            <p:nvPr/>
          </p:nvCxnSpPr>
          <p:spPr>
            <a:xfrm>
              <a:off x="5367527" y="4819740"/>
              <a:ext cx="917056" cy="0"/>
            </a:xfrm>
            <a:prstGeom prst="line">
              <a:avLst/>
            </a:prstGeom>
            <a:ln w="10160">
              <a:solidFill>
                <a:schemeClr val="accent3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D71E7D28-094C-AC4E-CCCF-E2E5DA9136C8}"/>
              </a:ext>
            </a:extLst>
          </p:cNvPr>
          <p:cNvCxnSpPr>
            <a:endCxn id="119" idx="1"/>
          </p:cNvCxnSpPr>
          <p:nvPr/>
        </p:nvCxnSpPr>
        <p:spPr>
          <a:xfrm flipV="1">
            <a:off x="12023934" y="2761488"/>
            <a:ext cx="274746" cy="22860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olid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CE7C5C86-19CC-0592-B9D2-782C33F60FE1}"/>
              </a:ext>
            </a:extLst>
          </p:cNvPr>
          <p:cNvCxnSpPr>
            <a:cxnSpLocks/>
          </p:cNvCxnSpPr>
          <p:nvPr/>
        </p:nvCxnSpPr>
        <p:spPr>
          <a:xfrm flipV="1">
            <a:off x="9017513" y="5891733"/>
            <a:ext cx="443483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A590C4E3-3A25-190B-D18D-C4AE8581F7D6}"/>
              </a:ext>
            </a:extLst>
          </p:cNvPr>
          <p:cNvCxnSpPr>
            <a:cxnSpLocks/>
          </p:cNvCxnSpPr>
          <p:nvPr/>
        </p:nvCxnSpPr>
        <p:spPr>
          <a:xfrm>
            <a:off x="11760567" y="5899545"/>
            <a:ext cx="538113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592E3039-2DA5-03A2-8DDE-1A2AE6007AB1}"/>
              </a:ext>
            </a:extLst>
          </p:cNvPr>
          <p:cNvCxnSpPr>
            <a:cxnSpLocks/>
            <a:stCxn id="100" idx="2"/>
          </p:cNvCxnSpPr>
          <p:nvPr/>
        </p:nvCxnSpPr>
        <p:spPr>
          <a:xfrm>
            <a:off x="13158430" y="6117336"/>
            <a:ext cx="0" cy="292606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EDCF3A25-01F3-BAB6-5B40-62E295D067B2}"/>
              </a:ext>
            </a:extLst>
          </p:cNvPr>
          <p:cNvCxnSpPr>
            <a:cxnSpLocks/>
            <a:stCxn id="88" idx="2"/>
          </p:cNvCxnSpPr>
          <p:nvPr/>
        </p:nvCxnSpPr>
        <p:spPr>
          <a:xfrm>
            <a:off x="7721683" y="5378161"/>
            <a:ext cx="0" cy="336627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8C08BB3C-BDFA-8D54-02DC-DD27EA74541E}"/>
              </a:ext>
            </a:extLst>
          </p:cNvPr>
          <p:cNvSpPr txBox="1"/>
          <p:nvPr/>
        </p:nvSpPr>
        <p:spPr>
          <a:xfrm>
            <a:off x="82031" y="-84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 agent orchestration architecture for DS</a:t>
            </a:r>
          </a:p>
        </p:txBody>
      </p: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9FE09146-97A7-0610-6D49-CE850054A8C4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8860096" y="1069848"/>
            <a:ext cx="238184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B4388761-26CE-C9E6-1A97-39851BD7B565}"/>
              </a:ext>
            </a:extLst>
          </p:cNvPr>
          <p:cNvCxnSpPr>
            <a:cxnSpLocks/>
          </p:cNvCxnSpPr>
          <p:nvPr/>
        </p:nvCxnSpPr>
        <p:spPr>
          <a:xfrm flipV="1">
            <a:off x="8915400" y="1668780"/>
            <a:ext cx="238184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F6D62EC-AA53-B7B6-519D-8667E43E6224}"/>
              </a:ext>
            </a:extLst>
          </p:cNvPr>
          <p:cNvCxnSpPr>
            <a:cxnSpLocks/>
          </p:cNvCxnSpPr>
          <p:nvPr/>
        </p:nvCxnSpPr>
        <p:spPr>
          <a:xfrm flipV="1">
            <a:off x="8949197" y="2241343"/>
            <a:ext cx="238184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DEF7EDF1-455E-03D1-7EA8-D9E5B140DC82}"/>
              </a:ext>
            </a:extLst>
          </p:cNvPr>
          <p:cNvCxnSpPr>
            <a:cxnSpLocks/>
          </p:cNvCxnSpPr>
          <p:nvPr/>
        </p:nvCxnSpPr>
        <p:spPr>
          <a:xfrm flipV="1">
            <a:off x="8935060" y="2870899"/>
            <a:ext cx="238184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F5DC5DA5-A307-FE24-B26F-2C90AAD11EBA}"/>
              </a:ext>
            </a:extLst>
          </p:cNvPr>
          <p:cNvCxnSpPr>
            <a:cxnSpLocks/>
          </p:cNvCxnSpPr>
          <p:nvPr/>
        </p:nvCxnSpPr>
        <p:spPr>
          <a:xfrm flipV="1">
            <a:off x="8905816" y="3451168"/>
            <a:ext cx="238184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12511085-8120-8FCA-6F37-7FA58352A124}"/>
              </a:ext>
            </a:extLst>
          </p:cNvPr>
          <p:cNvCxnSpPr>
            <a:cxnSpLocks/>
            <a:endCxn id="47" idx="3"/>
          </p:cNvCxnSpPr>
          <p:nvPr/>
        </p:nvCxnSpPr>
        <p:spPr>
          <a:xfrm flipH="1" flipV="1">
            <a:off x="9902952" y="1069848"/>
            <a:ext cx="296419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8681F2CE-13C1-0E20-DBF9-6653D0537B00}"/>
              </a:ext>
            </a:extLst>
          </p:cNvPr>
          <p:cNvCxnSpPr>
            <a:cxnSpLocks/>
          </p:cNvCxnSpPr>
          <p:nvPr/>
        </p:nvCxnSpPr>
        <p:spPr>
          <a:xfrm flipH="1" flipV="1">
            <a:off x="9907142" y="1658468"/>
            <a:ext cx="296419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A5942A4A-E3E9-02CF-22FD-BCBCCCD6428C}"/>
              </a:ext>
            </a:extLst>
          </p:cNvPr>
          <p:cNvCxnSpPr>
            <a:cxnSpLocks/>
          </p:cNvCxnSpPr>
          <p:nvPr/>
        </p:nvCxnSpPr>
        <p:spPr>
          <a:xfrm flipH="1" flipV="1">
            <a:off x="9915059" y="2243746"/>
            <a:ext cx="296419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FB2E18BD-5E01-015E-EE31-E4BAAE092F12}"/>
              </a:ext>
            </a:extLst>
          </p:cNvPr>
          <p:cNvCxnSpPr>
            <a:cxnSpLocks/>
          </p:cNvCxnSpPr>
          <p:nvPr/>
        </p:nvCxnSpPr>
        <p:spPr>
          <a:xfrm flipH="1" flipV="1">
            <a:off x="9948200" y="2829024"/>
            <a:ext cx="296419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C439FE0C-4F83-B83A-F36A-177677E27F91}"/>
              </a:ext>
            </a:extLst>
          </p:cNvPr>
          <p:cNvCxnSpPr>
            <a:cxnSpLocks/>
          </p:cNvCxnSpPr>
          <p:nvPr/>
        </p:nvCxnSpPr>
        <p:spPr>
          <a:xfrm flipH="1" flipV="1">
            <a:off x="9948963" y="3359090"/>
            <a:ext cx="296419" cy="520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: Elbow 282">
            <a:extLst>
              <a:ext uri="{FF2B5EF4-FFF2-40B4-BE49-F238E27FC236}">
                <a16:creationId xmlns:a16="http://schemas.microsoft.com/office/drawing/2014/main" id="{10328352-B348-94DD-5D6B-7ED8F9597B05}"/>
              </a:ext>
            </a:extLst>
          </p:cNvPr>
          <p:cNvCxnSpPr>
            <a:cxnSpLocks/>
          </p:cNvCxnSpPr>
          <p:nvPr/>
        </p:nvCxnSpPr>
        <p:spPr>
          <a:xfrm>
            <a:off x="1204543" y="2538221"/>
            <a:ext cx="776705" cy="256213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298</Words>
  <Application>Microsoft Office PowerPoint</Application>
  <PresentationFormat>Custom</PresentationFormat>
  <Paragraphs>98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Cheng Qian</cp:lastModifiedBy>
  <cp:revision>6</cp:revision>
  <dcterms:created xsi:type="dcterms:W3CDTF">2013-01-27T09:14:16Z</dcterms:created>
  <dcterms:modified xsi:type="dcterms:W3CDTF">2026-07-02T03:16:01Z</dcterms:modified>
  <cp:category/>
</cp:coreProperties>
</file>