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2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70" autoAdjust="0"/>
    <p:restoredTop sz="96340" autoAdjust="0"/>
  </p:normalViewPr>
  <p:slideViewPr>
    <p:cSldViewPr snapToGrid="0">
      <p:cViewPr varScale="1">
        <p:scale>
          <a:sx n="113" d="100"/>
          <a:sy n="113" d="100"/>
        </p:scale>
        <p:origin x="81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55977A-46B5-4B4A-AF9F-E9518BDCE12F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6B53F1-0333-466D-894E-E346B58384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422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Fixed Effects (FE): </a:t>
            </a:r>
            <a:r>
              <a:rPr lang="en-US" i="1" dirty="0"/>
              <a:t>“Compare each store to itself”: </a:t>
            </a:r>
            <a:r>
              <a:rPr lang="en-US" dirty="0"/>
              <a:t>“When </a:t>
            </a:r>
            <a:r>
              <a:rPr lang="en-US" i="1" dirty="0"/>
              <a:t>this same store</a:t>
            </a:r>
            <a:r>
              <a:rPr lang="en-US" dirty="0"/>
              <a:t> increases media / promo / CSAT relative to its own average, what happens to sales?”. Strong control for unobserved store quality</a:t>
            </a:r>
          </a:p>
          <a:p>
            <a:endParaRPr lang="en-US" dirty="0"/>
          </a:p>
          <a:p>
            <a:r>
              <a:rPr lang="en-US" dirty="0" err="1"/>
              <a:t>Mundlak</a:t>
            </a:r>
            <a:r>
              <a:rPr lang="en-US" dirty="0"/>
              <a:t> / CRE: </a:t>
            </a:r>
            <a:r>
              <a:rPr lang="en-US" i="1" dirty="0"/>
              <a:t>“Split within-store vs between-store effects”. </a:t>
            </a:r>
            <a:r>
              <a:rPr lang="en-US" dirty="0" err="1"/>
              <a:t>Mundlak</a:t>
            </a:r>
            <a:r>
              <a:rPr lang="en-US" dirty="0"/>
              <a:t> augments a random-effects model by adding </a:t>
            </a:r>
            <a:r>
              <a:rPr lang="en-US" b="1" dirty="0"/>
              <a:t>store-level means</a:t>
            </a:r>
            <a:r>
              <a:rPr lang="en-US" dirty="0"/>
              <a:t> of time-varying drivers:</a:t>
            </a:r>
          </a:p>
          <a:p>
            <a:endParaRPr lang="en-US" dirty="0"/>
          </a:p>
          <a:p>
            <a:r>
              <a:rPr lang="en-US" dirty="0"/>
              <a:t>Hierarchical Bayesian: </a:t>
            </a:r>
            <a:r>
              <a:rPr lang="en-US" i="1" dirty="0"/>
              <a:t>“Let each store have its own response, but borrow strength” </a:t>
            </a:r>
            <a:r>
              <a:rPr lang="en-US" dirty="0"/>
              <a:t>Instead of one coefficient, you have </a:t>
            </a:r>
            <a:r>
              <a:rPr lang="en-US" b="1" dirty="0"/>
              <a:t>store-specific </a:t>
            </a:r>
            <a:r>
              <a:rPr lang="en-US" b="1" dirty="0" err="1"/>
              <a:t>coefficients</a:t>
            </a:r>
            <a:r>
              <a:rPr lang="en-US" dirty="0" err="1"/>
              <a:t>:“Stores</a:t>
            </a:r>
            <a:r>
              <a:rPr lang="en-US" dirty="0"/>
              <a:t> respond differently — but small stores shouldn’t overreact to noise.”</a:t>
            </a:r>
          </a:p>
          <a:p>
            <a:endParaRPr lang="en-US" i="1" dirty="0"/>
          </a:p>
          <a:p>
            <a:r>
              <a:rPr lang="en-US" b="1" dirty="0"/>
              <a:t>FE:</a:t>
            </a:r>
            <a:r>
              <a:rPr lang="en-US" dirty="0"/>
              <a:t> “Compare each store to itself.”</a:t>
            </a:r>
          </a:p>
          <a:p>
            <a:r>
              <a:rPr lang="en-US" b="1" dirty="0" err="1"/>
              <a:t>Mundlak</a:t>
            </a:r>
            <a:r>
              <a:rPr lang="en-US" b="1" dirty="0"/>
              <a:t>:</a:t>
            </a:r>
            <a:r>
              <a:rPr lang="en-US" dirty="0"/>
              <a:t> “Separate within-store changes from cross-store differences.”</a:t>
            </a:r>
          </a:p>
          <a:p>
            <a:r>
              <a:rPr lang="en-US" b="1" dirty="0"/>
              <a:t>Hierarchical:</a:t>
            </a:r>
            <a:r>
              <a:rPr lang="en-US" dirty="0"/>
              <a:t> “Allow different stores to respond differently, but don’t overfit small samples.”</a:t>
            </a:r>
          </a:p>
          <a:p>
            <a:endParaRPr lang="en-US" i="1" dirty="0"/>
          </a:p>
          <a:p>
            <a:r>
              <a:rPr lang="en-US" i="1" dirty="0"/>
              <a:t>Log-log</a:t>
            </a:r>
          </a:p>
          <a:p>
            <a:r>
              <a:rPr lang="en-US" b="1" dirty="0"/>
              <a:t>If X is 10% higher than its current level, Y is approximately β × 10% higher than its current level</a:t>
            </a:r>
            <a:r>
              <a:rPr lang="en-US" dirty="0"/>
              <a:t>, holding everything else constant.</a:t>
            </a:r>
          </a:p>
          <a:p>
            <a:r>
              <a:rPr lang="en-US" i="1" dirty="0"/>
              <a:t>Delta-log</a:t>
            </a:r>
          </a:p>
          <a:p>
            <a:r>
              <a:rPr lang="en-US" dirty="0"/>
              <a:t>If the growth rate of X increases by 10 percentage points, Y’s growth rate increases by approximately β × 10 percentage points </a:t>
            </a:r>
            <a:r>
              <a:rPr lang="en-US" i="1" dirty="0"/>
              <a:t>in that period</a:t>
            </a:r>
            <a:r>
              <a:rPr lang="en-US" dirty="0"/>
              <a:t>.</a:t>
            </a:r>
          </a:p>
          <a:p>
            <a:endParaRPr lang="en-US" i="1" dirty="0"/>
          </a:p>
          <a:p>
            <a:r>
              <a:rPr lang="en-US" b="1" dirty="0"/>
              <a:t>Log–log</a:t>
            </a:r>
          </a:p>
          <a:p>
            <a:r>
              <a:rPr lang="en-US" dirty="0"/>
              <a:t>“A sustained 10% increase in media spend is associated with approximately a β×10% higher level of sales.”</a:t>
            </a:r>
          </a:p>
          <a:p>
            <a:r>
              <a:rPr lang="en-US" b="1" dirty="0" err="1"/>
              <a:t>Δlog</a:t>
            </a:r>
            <a:endParaRPr lang="en-US" b="1" dirty="0"/>
          </a:p>
          <a:p>
            <a:r>
              <a:rPr lang="en-US" dirty="0"/>
              <a:t>“A 10-percentage-point acceleration in media spend growth is associated with approximately a β×10-percentage-point increase in sales growth for that period.”</a:t>
            </a:r>
          </a:p>
          <a:p>
            <a:endParaRPr lang="en-US" i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6B53F1-0333-466D-894E-E346B583847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3542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8B4CC-C16D-94A4-44E3-87EAF6BA7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3A639-2D7E-84CC-EA12-DC7CF1EF9A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0495B9-36DE-82F2-972B-A7289A9445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Fixed Effects (FE): </a:t>
            </a:r>
            <a:r>
              <a:rPr lang="en-US" i="1" dirty="0"/>
              <a:t>“Compare each store to itself”: </a:t>
            </a:r>
            <a:r>
              <a:rPr lang="en-US" dirty="0"/>
              <a:t>“When </a:t>
            </a:r>
            <a:r>
              <a:rPr lang="en-US" i="1" dirty="0"/>
              <a:t>this same store</a:t>
            </a:r>
            <a:r>
              <a:rPr lang="en-US" dirty="0"/>
              <a:t> increases media / promo / CSAT relative to its own average, what happens to sales?”. Strong control for unobserved store quality</a:t>
            </a:r>
          </a:p>
          <a:p>
            <a:endParaRPr lang="en-US" dirty="0"/>
          </a:p>
          <a:p>
            <a:r>
              <a:rPr lang="en-US" dirty="0" err="1"/>
              <a:t>Mundlak</a:t>
            </a:r>
            <a:r>
              <a:rPr lang="en-US" dirty="0"/>
              <a:t> / CRE: </a:t>
            </a:r>
            <a:r>
              <a:rPr lang="en-US" i="1" dirty="0"/>
              <a:t>“Split within-store vs between-store effects”. </a:t>
            </a:r>
            <a:r>
              <a:rPr lang="en-US" dirty="0" err="1"/>
              <a:t>Mundlak</a:t>
            </a:r>
            <a:r>
              <a:rPr lang="en-US" dirty="0"/>
              <a:t> augments a random-effects model by adding </a:t>
            </a:r>
            <a:r>
              <a:rPr lang="en-US" b="1" dirty="0"/>
              <a:t>store-level means</a:t>
            </a:r>
            <a:r>
              <a:rPr lang="en-US" dirty="0"/>
              <a:t> of time-varying drivers:</a:t>
            </a:r>
          </a:p>
          <a:p>
            <a:endParaRPr lang="en-US" dirty="0"/>
          </a:p>
          <a:p>
            <a:r>
              <a:rPr lang="en-US" dirty="0"/>
              <a:t>Hierarchical Bayesian: </a:t>
            </a:r>
            <a:r>
              <a:rPr lang="en-US" i="1" dirty="0"/>
              <a:t>“Let each store have its own response, but borrow strength” </a:t>
            </a:r>
            <a:r>
              <a:rPr lang="en-US" dirty="0"/>
              <a:t>Instead of one coefficient, you have </a:t>
            </a:r>
            <a:r>
              <a:rPr lang="en-US" b="1" dirty="0"/>
              <a:t>store-specific </a:t>
            </a:r>
            <a:r>
              <a:rPr lang="en-US" b="1" dirty="0" err="1"/>
              <a:t>coefficients</a:t>
            </a:r>
            <a:r>
              <a:rPr lang="en-US" dirty="0" err="1"/>
              <a:t>:“Stores</a:t>
            </a:r>
            <a:r>
              <a:rPr lang="en-US" dirty="0"/>
              <a:t> respond differently — but small stores shouldn’t overreact to noise.”</a:t>
            </a:r>
          </a:p>
          <a:p>
            <a:endParaRPr lang="en-US" i="1" dirty="0"/>
          </a:p>
          <a:p>
            <a:r>
              <a:rPr lang="en-US" b="1" dirty="0"/>
              <a:t>FE:</a:t>
            </a:r>
            <a:r>
              <a:rPr lang="en-US" dirty="0"/>
              <a:t> “Compare each store to itself.”</a:t>
            </a:r>
          </a:p>
          <a:p>
            <a:r>
              <a:rPr lang="en-US" b="1" dirty="0" err="1"/>
              <a:t>Mundlak</a:t>
            </a:r>
            <a:r>
              <a:rPr lang="en-US" b="1" dirty="0"/>
              <a:t>:</a:t>
            </a:r>
            <a:r>
              <a:rPr lang="en-US" dirty="0"/>
              <a:t> “Separate within-store changes from cross-store differences.”</a:t>
            </a:r>
          </a:p>
          <a:p>
            <a:r>
              <a:rPr lang="en-US" b="1" dirty="0"/>
              <a:t>Hierarchical:</a:t>
            </a:r>
            <a:r>
              <a:rPr lang="en-US" dirty="0"/>
              <a:t> “Allow different stores to respond differently, but don’t overfit small samples.”</a:t>
            </a:r>
          </a:p>
          <a:p>
            <a:endParaRPr lang="en-US" i="1" dirty="0"/>
          </a:p>
          <a:p>
            <a:r>
              <a:rPr lang="en-US" i="1" dirty="0"/>
              <a:t>Log-log</a:t>
            </a:r>
          </a:p>
          <a:p>
            <a:r>
              <a:rPr lang="en-US" b="1" dirty="0"/>
              <a:t>If X is 10% higher than its current level, Y is approximately β × 10% higher than its current level</a:t>
            </a:r>
            <a:r>
              <a:rPr lang="en-US" dirty="0"/>
              <a:t>, holding everything else constant.</a:t>
            </a:r>
          </a:p>
          <a:p>
            <a:r>
              <a:rPr lang="en-US" i="1" dirty="0"/>
              <a:t>Delta-log</a:t>
            </a:r>
          </a:p>
          <a:p>
            <a:r>
              <a:rPr lang="en-US" dirty="0"/>
              <a:t>If the growth rate of X increases by 10 percentage points, Y’s growth rate increases by approximately β × 10 percentage points </a:t>
            </a:r>
            <a:r>
              <a:rPr lang="en-US" i="1" dirty="0"/>
              <a:t>in that period</a:t>
            </a:r>
            <a:r>
              <a:rPr lang="en-US" dirty="0"/>
              <a:t>.</a:t>
            </a:r>
          </a:p>
          <a:p>
            <a:endParaRPr lang="en-US" i="1" dirty="0"/>
          </a:p>
          <a:p>
            <a:r>
              <a:rPr lang="en-US" b="1" dirty="0"/>
              <a:t>Log–log</a:t>
            </a:r>
          </a:p>
          <a:p>
            <a:r>
              <a:rPr lang="en-US" dirty="0"/>
              <a:t>“A sustained 10% increase in media spend is associated with approximately a β×10% higher level of sales.”</a:t>
            </a:r>
          </a:p>
          <a:p>
            <a:r>
              <a:rPr lang="en-US" b="1" dirty="0" err="1"/>
              <a:t>Δlog</a:t>
            </a:r>
            <a:endParaRPr lang="en-US" b="1" dirty="0"/>
          </a:p>
          <a:p>
            <a:r>
              <a:rPr lang="en-US" dirty="0"/>
              <a:t>“A 10-percentage-point acceleration in media spend growth is associated with approximately a β×10-percentage-point increase in sales growth for that period.”</a:t>
            </a:r>
          </a:p>
          <a:p>
            <a:endParaRPr lang="en-US" i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A30631-ABF2-36C3-A452-A60100535F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6B53F1-0333-466D-894E-E346B583847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6353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handle sparse data?</a:t>
            </a:r>
          </a:p>
          <a:p>
            <a:r>
              <a:rPr lang="en-US" dirty="0"/>
              <a:t>Consolidation process, for log-log, delta, level, as an example</a:t>
            </a:r>
          </a:p>
          <a:p>
            <a:r>
              <a:rPr lang="en-US" dirty="0"/>
              <a:t>Where structure features fit?</a:t>
            </a:r>
          </a:p>
          <a:p>
            <a:r>
              <a:rPr lang="en-US" dirty="0"/>
              <a:t>Better understanding of </a:t>
            </a:r>
            <a:r>
              <a:rPr lang="en-US"/>
              <a:t>all algorithms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6B53F1-0333-466D-894E-E346B583847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699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6395F-ABC7-05C2-9003-B902EDFFB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1DCE53-2A98-6D7D-69F5-967745EED1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045808-2E34-D147-DAE5-487A09844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FE989-0821-4606-9913-C47125167AA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64E74-BF0D-C0EF-AA27-FA0D6644E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78457-2430-6F0B-DBEC-87B8FA300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D05EB-ED98-46D3-A030-FC4A6B6A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0640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9D698-910C-2C93-C087-BB1E91660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AFD0C-ADA9-0F62-B7E4-EFE9F70E43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37236-F9ED-59C6-0985-BF230D39E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FE989-0821-4606-9913-C47125167AA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5B725-3A8D-0848-F926-D9CC8D883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12F92-98B4-60BF-66E8-912F1F75A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D05EB-ED98-46D3-A030-FC4A6B6A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634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00124-797A-1FFE-1853-CDF9749CA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7C1B29-BA1C-C535-C2F3-8E796E4582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3D2A2-DAA0-F937-494F-20C0F04C7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FE989-0821-4606-9913-C47125167AA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4C9AF-DA67-866D-9570-D94A8484A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82B3C-E775-16E4-E75E-73101CD47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D05EB-ED98-46D3-A030-FC4A6B6A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706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9A6AEB-7BA7-52BB-2CE9-CD1AD1452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6765F-4760-24F4-9372-C24084AF2B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298AD3-93F3-EA18-6A99-B7C14041D6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652AB8-5726-4C08-341E-1D1CB9FA5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FE989-0821-4606-9913-C47125167AA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F44935-7A4D-0042-659A-9FB491591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7A4E00-5B6F-A366-B1B5-2AC8933EB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D05EB-ED98-46D3-A030-FC4A6B6A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947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33803-1BA4-71F0-3276-014A71071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33A60D-7AF3-D85D-153B-7E15246AF6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DFEFAF-E1C0-132D-FB7F-6C226290F2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1F5339-2E7E-82E2-7659-C9C5A8B723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3E916D-13F6-379A-A99B-CAA740FE9C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E9955E-FFFD-82A9-233B-4A6CDF993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FE989-0821-4606-9913-C47125167AA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E7A3A3-0B86-1A63-DE08-AF775110B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C13BFC-114B-6765-1E18-94AD16159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D05EB-ED98-46D3-A030-FC4A6B6A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29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9EB59-4406-D6BD-91C5-D10CE15E1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E28E7F-3137-07B2-D4B6-1BA95F705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FE989-0821-4606-9913-C47125167AA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BA2EDE-8CF2-67BC-29A0-559DEE99C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7545A-A13A-F233-4658-67DE98B29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D05EB-ED98-46D3-A030-FC4A6B6A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675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B2EC40-31AA-1B1F-1BDD-88D8326D4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FE989-0821-4606-9913-C47125167AA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DFCFEC-36F3-E964-07C6-479620C42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04AA8-DF34-16BB-ADC7-4E818F664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D05EB-ED98-46D3-A030-FC4A6B6A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312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4F7E8-7FE5-1DCD-8F08-8DB922208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8F4C1-09D4-10DA-E879-F94DA61CE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544F69-6282-9453-FF79-A747C0795C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AFD859-8667-A0C4-F89E-CFFAD682F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FE989-0821-4606-9913-C47125167AA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C3B679-6316-C218-C668-20F4B399D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170AB6-A7B2-FB04-E584-B5CC42926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D05EB-ED98-46D3-A030-FC4A6B6A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235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91FA2-E3A6-0FD8-E66D-54753697F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6D0DF4-6BEE-5E6E-EAEA-7FFBCB736A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BBF10-83AB-B80B-7A8A-D920C33BA2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48F439-3F5B-E613-40BB-1EBD5EF8C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FE989-0821-4606-9913-C47125167AA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E47691-F2F2-0976-28A3-CB30FD970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C45057-EF70-90B2-72D9-15F0819ED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D05EB-ED98-46D3-A030-FC4A6B6A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150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BCE73-A4B2-C0CD-C97C-40597E83A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BF646E-F27D-E484-051F-E3B089EAAA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006A5-B5F6-03BE-3031-3B7D89A8D2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FE989-0821-4606-9913-C47125167AA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AC191E-2A12-7771-0EAE-B37436F1F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478F2-F28C-A1FB-7DC1-DB308925A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D05EB-ED98-46D3-A030-FC4A6B6A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0944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66FE052-9C11-CB12-2006-CFDDCE12EA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A0599B-8240-F4F3-2863-4DC3B9E7BA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E42AE7-DC88-D108-529C-F4C2904DE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FE989-0821-4606-9913-C47125167AA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651E0E-9C2B-E623-E785-B681F6B79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11B98-0ACD-4998-E9B8-3BBFA17A1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7D05EB-ED98-46D3-A030-FC4A6B6A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323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C164A6-6EE0-3620-8396-56D32DB411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EC8D9E-F67B-AD58-8A3D-0366553713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7C60F-9691-CCE9-363E-99B9B024E0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AFE989-0821-4606-9913-C47125167AAD}" type="datetimeFigureOut">
              <a:rPr lang="en-US" smtClean="0"/>
              <a:t>1/24/2026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9C56E8-171B-10B9-74C4-FB5F70AE11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C3C13-2BC3-909E-3463-5A524B8ED0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7D05EB-ED98-46D3-A030-FC4A6B6AC2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406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8237169-F990-2217-6AF1-504E3183B5FE}"/>
              </a:ext>
            </a:extLst>
          </p:cNvPr>
          <p:cNvSpPr txBox="1"/>
          <p:nvPr/>
        </p:nvSpPr>
        <p:spPr>
          <a:xfrm>
            <a:off x="135470" y="1103157"/>
            <a:ext cx="910595" cy="10156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Target variable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GC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AC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highlight>
                  <a:srgbClr val="C0C0C0"/>
                </a:highlight>
              </a:rPr>
              <a:t>Sales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DF1A2-DBA7-7773-FA7B-9FD11BFFBC35}"/>
              </a:ext>
            </a:extLst>
          </p:cNvPr>
          <p:cNvSpPr txBox="1"/>
          <p:nvPr/>
        </p:nvSpPr>
        <p:spPr>
          <a:xfrm>
            <a:off x="5936343" y="6204428"/>
            <a:ext cx="2086614" cy="2769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YoY Growth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F6E39F-6BB2-14B3-AB81-FAAD21C73A62}"/>
              </a:ext>
            </a:extLst>
          </p:cNvPr>
          <p:cNvSpPr txBox="1"/>
          <p:nvPr/>
        </p:nvSpPr>
        <p:spPr>
          <a:xfrm>
            <a:off x="121016" y="223516"/>
            <a:ext cx="2818206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Training data</a:t>
            </a:r>
            <a:r>
              <a:rPr lang="en-US" sz="1200" dirty="0"/>
              <a:t> (‘23-’25)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Primary: store × week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Secondary: market × week</a:t>
            </a:r>
            <a:endParaRPr lang="en-US" sz="1200" strike="sngStrik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4E0DDC-AB6C-3111-4E6F-D908CED8472C}"/>
              </a:ext>
            </a:extLst>
          </p:cNvPr>
          <p:cNvSpPr txBox="1"/>
          <p:nvPr/>
        </p:nvSpPr>
        <p:spPr>
          <a:xfrm>
            <a:off x="9972991" y="6554946"/>
            <a:ext cx="26703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*structure: channel × daypart × category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F128CD-1D39-8A99-007B-A0CCA2893C41}"/>
              </a:ext>
            </a:extLst>
          </p:cNvPr>
          <p:cNvSpPr txBox="1"/>
          <p:nvPr/>
        </p:nvSpPr>
        <p:spPr>
          <a:xfrm>
            <a:off x="3215756" y="233224"/>
            <a:ext cx="2489023" cy="156966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Feature selection </a:t>
            </a:r>
            <a:r>
              <a:rPr lang="en-US" sz="1200" dirty="0"/>
              <a:t>(150+ features)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Pricing, mix share, promo, media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Ops, Out-of-Stock</a:t>
            </a:r>
          </a:p>
          <a:p>
            <a:endParaRPr lang="en-US" sz="1200" b="1" dirty="0"/>
          </a:p>
          <a:p>
            <a:r>
              <a:rPr lang="en-US" sz="1200" b="1" dirty="0"/>
              <a:t>Criteria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Mechanism representation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Redundancy &amp; Collinearity check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Interpretability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89B215-5484-4BDB-DAC3-EAA8BD781B91}"/>
              </a:ext>
            </a:extLst>
          </p:cNvPr>
          <p:cNvSpPr txBox="1"/>
          <p:nvPr/>
        </p:nvSpPr>
        <p:spPr>
          <a:xfrm>
            <a:off x="3215756" y="3817068"/>
            <a:ext cx="2439197" cy="2769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Model-Eligible Feature Set</a:t>
            </a:r>
            <a:endParaRPr lang="en-US" sz="12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F443495-54B0-656F-DD62-3DA7E59C682D}"/>
              </a:ext>
            </a:extLst>
          </p:cNvPr>
          <p:cNvCxnSpPr>
            <a:cxnSpLocks/>
          </p:cNvCxnSpPr>
          <p:nvPr/>
        </p:nvCxnSpPr>
        <p:spPr>
          <a:xfrm>
            <a:off x="4251016" y="1804356"/>
            <a:ext cx="0" cy="33792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12E5480-2A52-0E46-6B48-35B3C4C087D9}"/>
              </a:ext>
            </a:extLst>
          </p:cNvPr>
          <p:cNvSpPr txBox="1"/>
          <p:nvPr/>
        </p:nvSpPr>
        <p:spPr>
          <a:xfrm>
            <a:off x="3215756" y="2155069"/>
            <a:ext cx="2496809" cy="129266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Pre-selection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Redundancy &amp; Collinearity check (correlation, VIF)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Features consolidation (indices)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Availability (across stores and time)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Stability (smooth across time)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Representation &amp; Interpretability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5BFA0E0-8794-F1E0-3EA3-1A10E4F5AA65}"/>
              </a:ext>
            </a:extLst>
          </p:cNvPr>
          <p:cNvCxnSpPr>
            <a:cxnSpLocks/>
          </p:cNvCxnSpPr>
          <p:nvPr/>
        </p:nvCxnSpPr>
        <p:spPr>
          <a:xfrm>
            <a:off x="4261726" y="3493034"/>
            <a:ext cx="0" cy="33792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6DE7701-9534-08A2-D8B9-50BCB393BE82}"/>
              </a:ext>
            </a:extLst>
          </p:cNvPr>
          <p:cNvSpPr txBox="1"/>
          <p:nvPr/>
        </p:nvSpPr>
        <p:spPr>
          <a:xfrm>
            <a:off x="7951779" y="1089274"/>
            <a:ext cx="2021214" cy="8309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ML model training (criteria)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Stability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Interpretability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Accuracy (R2, RMSE, MAE)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B1680C-0A2B-C56C-E427-6B01489909EA}"/>
              </a:ext>
            </a:extLst>
          </p:cNvPr>
          <p:cNvSpPr txBox="1"/>
          <p:nvPr/>
        </p:nvSpPr>
        <p:spPr>
          <a:xfrm>
            <a:off x="7960327" y="2236508"/>
            <a:ext cx="2021213" cy="126188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Panel structure control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Mundlark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Hierarchical Bayesian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Fixed-effect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Experiment: </a:t>
            </a:r>
            <a:r>
              <a:rPr lang="en-US" sz="800" dirty="0"/>
              <a:t>feature subset, algorithms (OLS, L2, L1+L2), dimensions), target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B734BD-6E2E-1B34-5009-480F426E1B70}"/>
              </a:ext>
            </a:extLst>
          </p:cNvPr>
          <p:cNvSpPr txBox="1"/>
          <p:nvPr/>
        </p:nvSpPr>
        <p:spPr>
          <a:xfrm>
            <a:off x="7960327" y="3599741"/>
            <a:ext cx="2021213" cy="76944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Tree-based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RF/XGB/</a:t>
            </a:r>
            <a:r>
              <a:rPr lang="en-US" sz="1200" dirty="0" err="1"/>
              <a:t>LightGBM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Experiment</a:t>
            </a:r>
            <a:r>
              <a:rPr lang="en-US" sz="800" dirty="0"/>
              <a:t>: feature subset, algorithms, dimensions, target</a:t>
            </a: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F9D4846-E330-7BD5-8BF3-A19E65868F5A}"/>
              </a:ext>
            </a:extLst>
          </p:cNvPr>
          <p:cNvCxnSpPr>
            <a:cxnSpLocks/>
            <a:stCxn id="16" idx="3"/>
            <a:endCxn id="31" idx="1"/>
          </p:cNvCxnSpPr>
          <p:nvPr/>
        </p:nvCxnSpPr>
        <p:spPr>
          <a:xfrm flipV="1">
            <a:off x="5654953" y="2400951"/>
            <a:ext cx="456509" cy="155461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961A422-4E7D-6DF6-78B9-13ABB23CA659}"/>
              </a:ext>
            </a:extLst>
          </p:cNvPr>
          <p:cNvSpPr txBox="1"/>
          <p:nvPr/>
        </p:nvSpPr>
        <p:spPr>
          <a:xfrm>
            <a:off x="6111462" y="1739231"/>
            <a:ext cx="1430214" cy="132343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Feature transformation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Log-level: </a:t>
            </a:r>
            <a:r>
              <a:rPr lang="en-US" sz="1000" dirty="0"/>
              <a:t>elasticity (%)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Level </a:t>
            </a:r>
            <a:r>
              <a:rPr lang="en-US" sz="1000" dirty="0"/>
              <a:t>(raw units)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Delta-log: </a:t>
            </a:r>
            <a:r>
              <a:rPr lang="en-US" sz="1000" dirty="0"/>
              <a:t>growth rates (pp)</a:t>
            </a:r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F15D32BC-AF3F-1744-7C15-388EAFAE4B4C}"/>
              </a:ext>
            </a:extLst>
          </p:cNvPr>
          <p:cNvCxnSpPr>
            <a:cxnSpLocks/>
            <a:stCxn id="16" idx="3"/>
            <a:endCxn id="27" idx="1"/>
          </p:cNvCxnSpPr>
          <p:nvPr/>
        </p:nvCxnSpPr>
        <p:spPr>
          <a:xfrm>
            <a:off x="5654953" y="3955568"/>
            <a:ext cx="2305374" cy="28894"/>
          </a:xfrm>
          <a:prstGeom prst="bentConnector3">
            <a:avLst>
              <a:gd name="adj1" fmla="val 48056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ED7A9AD-675D-F041-3BB1-385A0CDF50F4}"/>
              </a:ext>
            </a:extLst>
          </p:cNvPr>
          <p:cNvSpPr txBox="1"/>
          <p:nvPr/>
        </p:nvSpPr>
        <p:spPr>
          <a:xfrm>
            <a:off x="10380147" y="1076737"/>
            <a:ext cx="1419338" cy="8309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Contribution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Interpretability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Decomposition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Reconciliation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197E47-A2A8-4122-4D34-3DBBEAEB5102}"/>
              </a:ext>
            </a:extLst>
          </p:cNvPr>
          <p:cNvSpPr txBox="1"/>
          <p:nvPr/>
        </p:nvSpPr>
        <p:spPr>
          <a:xfrm>
            <a:off x="10380437" y="2238435"/>
            <a:ext cx="1430214" cy="101566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Panel structure control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Significance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Coefficients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Model units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4B9F6E-E9D2-B481-589D-9763E0C27B05}"/>
              </a:ext>
            </a:extLst>
          </p:cNvPr>
          <p:cNvSpPr txBox="1"/>
          <p:nvPr/>
        </p:nvSpPr>
        <p:spPr>
          <a:xfrm>
            <a:off x="10398942" y="3580923"/>
            <a:ext cx="1430214" cy="76944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Tree-based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Shap</a:t>
            </a:r>
            <a:r>
              <a:rPr lang="en-US" sz="1200" dirty="0"/>
              <a:t> value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/>
              <a:t>Base contribution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/>
              <a:t>Feature contribution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F5A149F-82DA-3629-7CA5-D6B7E6B4ACDC}"/>
              </a:ext>
            </a:extLst>
          </p:cNvPr>
          <p:cNvCxnSpPr>
            <a:cxnSpLocks/>
          </p:cNvCxnSpPr>
          <p:nvPr/>
        </p:nvCxnSpPr>
        <p:spPr>
          <a:xfrm>
            <a:off x="7560248" y="2528161"/>
            <a:ext cx="336511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4420D56-7B30-B1AD-69C7-CC9168D702E0}"/>
              </a:ext>
            </a:extLst>
          </p:cNvPr>
          <p:cNvCxnSpPr>
            <a:cxnSpLocks/>
          </p:cNvCxnSpPr>
          <p:nvPr/>
        </p:nvCxnSpPr>
        <p:spPr>
          <a:xfrm>
            <a:off x="8970933" y="1923186"/>
            <a:ext cx="0" cy="28384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56E1EF4-76AF-890A-41C7-15434C06AC76}"/>
              </a:ext>
            </a:extLst>
          </p:cNvPr>
          <p:cNvCxnSpPr>
            <a:cxnSpLocks/>
            <a:endCxn id="42" idx="1"/>
          </p:cNvCxnSpPr>
          <p:nvPr/>
        </p:nvCxnSpPr>
        <p:spPr>
          <a:xfrm>
            <a:off x="10037287" y="2746267"/>
            <a:ext cx="34315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C5295B5E-4897-81DB-F32E-D03874297DA1}"/>
              </a:ext>
            </a:extLst>
          </p:cNvPr>
          <p:cNvCxnSpPr>
            <a:cxnSpLocks/>
          </p:cNvCxnSpPr>
          <p:nvPr/>
        </p:nvCxnSpPr>
        <p:spPr>
          <a:xfrm>
            <a:off x="10026862" y="4029543"/>
            <a:ext cx="28255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238DC84D-88A6-74DD-0825-5EDF815F4B73}"/>
              </a:ext>
            </a:extLst>
          </p:cNvPr>
          <p:cNvCxnSpPr>
            <a:cxnSpLocks/>
          </p:cNvCxnSpPr>
          <p:nvPr/>
        </p:nvCxnSpPr>
        <p:spPr>
          <a:xfrm flipH="1">
            <a:off x="9992577" y="4121715"/>
            <a:ext cx="1847617" cy="1200020"/>
          </a:xfrm>
          <a:prstGeom prst="bentConnector3">
            <a:avLst>
              <a:gd name="adj1" fmla="val -15284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49A30772-392A-0B88-2109-C49D3A0EC878}"/>
              </a:ext>
            </a:extLst>
          </p:cNvPr>
          <p:cNvSpPr txBox="1"/>
          <p:nvPr/>
        </p:nvSpPr>
        <p:spPr>
          <a:xfrm>
            <a:off x="1458742" y="1126617"/>
            <a:ext cx="1494934" cy="101566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Log-level: elasticity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Level (raw units)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Delta-log: growth rates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F65E93B9-1732-99EC-FA11-090149694E3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046065" y="1610989"/>
            <a:ext cx="407156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C2773E89-538B-26F1-8128-B4F6DAC6C039}"/>
              </a:ext>
            </a:extLst>
          </p:cNvPr>
          <p:cNvCxnSpPr>
            <a:cxnSpLocks/>
          </p:cNvCxnSpPr>
          <p:nvPr/>
        </p:nvCxnSpPr>
        <p:spPr>
          <a:xfrm>
            <a:off x="2991008" y="517788"/>
            <a:ext cx="224748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3D598747-9DEB-9590-F114-3FA665706B62}"/>
              </a:ext>
            </a:extLst>
          </p:cNvPr>
          <p:cNvSpPr txBox="1"/>
          <p:nvPr/>
        </p:nvSpPr>
        <p:spPr>
          <a:xfrm>
            <a:off x="3963491" y="4899776"/>
            <a:ext cx="1404359" cy="8309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Growth Attribution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Magnitude, Directions, YoY Contribution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FF723BC-3780-45BF-983D-15303E0D1263}"/>
              </a:ext>
            </a:extLst>
          </p:cNvPr>
          <p:cNvSpPr txBox="1"/>
          <p:nvPr/>
        </p:nvSpPr>
        <p:spPr>
          <a:xfrm>
            <a:off x="7951777" y="176055"/>
            <a:ext cx="2021214" cy="58477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Benchmark reference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/>
              <a:t>Analytics / Accounting based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/>
              <a:t>ESF benchmark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A891167-BAA6-6FD1-5E16-DD555498A95D}"/>
              </a:ext>
            </a:extLst>
          </p:cNvPr>
          <p:cNvSpPr txBox="1"/>
          <p:nvPr/>
        </p:nvSpPr>
        <p:spPr>
          <a:xfrm>
            <a:off x="3995789" y="6164035"/>
            <a:ext cx="1404359" cy="2769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Scenario Planning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BEC4F9B1-6AFF-C4A1-9621-CA16697ED2FC}"/>
              </a:ext>
            </a:extLst>
          </p:cNvPr>
          <p:cNvSpPr txBox="1"/>
          <p:nvPr/>
        </p:nvSpPr>
        <p:spPr>
          <a:xfrm>
            <a:off x="7086766" y="5613121"/>
            <a:ext cx="483818" cy="2769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GC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4532360-9A0A-9521-BF21-44FFBC18C3FA}"/>
              </a:ext>
            </a:extLst>
          </p:cNvPr>
          <p:cNvSpPr txBox="1"/>
          <p:nvPr/>
        </p:nvSpPr>
        <p:spPr>
          <a:xfrm>
            <a:off x="7081227" y="5178162"/>
            <a:ext cx="489357" cy="2769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AC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91CF4E4-C934-69C2-4A7B-EE5DE6D28275}"/>
              </a:ext>
            </a:extLst>
          </p:cNvPr>
          <p:cNvSpPr txBox="1"/>
          <p:nvPr/>
        </p:nvSpPr>
        <p:spPr>
          <a:xfrm>
            <a:off x="7068523" y="4768355"/>
            <a:ext cx="502061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dirty="0"/>
              <a:t>Sales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CEA952-2F7B-0598-EFCB-60BA779E6F2D}"/>
              </a:ext>
            </a:extLst>
          </p:cNvPr>
          <p:cNvSpPr txBox="1"/>
          <p:nvPr/>
        </p:nvSpPr>
        <p:spPr>
          <a:xfrm>
            <a:off x="965789" y="1339584"/>
            <a:ext cx="6142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Transfer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65675A2-6469-62DE-649E-8304925CCF97}"/>
              </a:ext>
            </a:extLst>
          </p:cNvPr>
          <p:cNvCxnSpPr>
            <a:cxnSpLocks/>
          </p:cNvCxnSpPr>
          <p:nvPr/>
        </p:nvCxnSpPr>
        <p:spPr>
          <a:xfrm>
            <a:off x="5707228" y="1367495"/>
            <a:ext cx="22445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247E1A1-4B97-FB61-1230-8909F31A33AD}"/>
              </a:ext>
            </a:extLst>
          </p:cNvPr>
          <p:cNvSpPr txBox="1"/>
          <p:nvPr/>
        </p:nvSpPr>
        <p:spPr>
          <a:xfrm>
            <a:off x="8799519" y="713731"/>
            <a:ext cx="3257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/>
              <a:t>+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9A61DD-1D5C-AD73-A752-85F3D8E6F8CA}"/>
              </a:ext>
            </a:extLst>
          </p:cNvPr>
          <p:cNvSpPr txBox="1"/>
          <p:nvPr/>
        </p:nvSpPr>
        <p:spPr>
          <a:xfrm>
            <a:off x="8826607" y="3285051"/>
            <a:ext cx="3257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/>
              <a:t>+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DE4E40-5B3C-49DE-B2E5-D6880E7029BE}"/>
              </a:ext>
            </a:extLst>
          </p:cNvPr>
          <p:cNvCxnSpPr>
            <a:cxnSpLocks/>
          </p:cNvCxnSpPr>
          <p:nvPr/>
        </p:nvCxnSpPr>
        <p:spPr>
          <a:xfrm>
            <a:off x="9972991" y="1339584"/>
            <a:ext cx="407156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AA824EC-8767-8F0B-821A-F04ADCDF0A6C}"/>
              </a:ext>
            </a:extLst>
          </p:cNvPr>
          <p:cNvSpPr txBox="1"/>
          <p:nvPr/>
        </p:nvSpPr>
        <p:spPr>
          <a:xfrm>
            <a:off x="7960326" y="4754330"/>
            <a:ext cx="2021212" cy="10156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Contribution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Magnitude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Direction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Interpretability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Relationship</a:t>
            </a:r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6B66972-D8C8-9074-DB29-8A01EBB08155}"/>
              </a:ext>
            </a:extLst>
          </p:cNvPr>
          <p:cNvCxnSpPr>
            <a:cxnSpLocks/>
          </p:cNvCxnSpPr>
          <p:nvPr/>
        </p:nvCxnSpPr>
        <p:spPr>
          <a:xfrm flipH="1">
            <a:off x="9981539" y="2706496"/>
            <a:ext cx="1829112" cy="2298334"/>
          </a:xfrm>
          <a:prstGeom prst="bentConnector3">
            <a:avLst>
              <a:gd name="adj1" fmla="val -12498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DB5A30A-20AB-6238-4BAA-BE3154908899}"/>
              </a:ext>
            </a:extLst>
          </p:cNvPr>
          <p:cNvCxnSpPr>
            <a:cxnSpLocks/>
            <a:endCxn id="140" idx="3"/>
          </p:cNvCxnSpPr>
          <p:nvPr/>
        </p:nvCxnSpPr>
        <p:spPr>
          <a:xfrm flipH="1">
            <a:off x="7570584" y="4906855"/>
            <a:ext cx="315456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A9EA7EB2-CA28-4447-D49B-E315B66B7E35}"/>
              </a:ext>
            </a:extLst>
          </p:cNvPr>
          <p:cNvCxnSpPr>
            <a:cxnSpLocks/>
          </p:cNvCxnSpPr>
          <p:nvPr/>
        </p:nvCxnSpPr>
        <p:spPr>
          <a:xfrm flipH="1">
            <a:off x="7570584" y="5327347"/>
            <a:ext cx="315456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27D3649-CC49-D109-07B6-316156679E9A}"/>
              </a:ext>
            </a:extLst>
          </p:cNvPr>
          <p:cNvCxnSpPr>
            <a:cxnSpLocks/>
          </p:cNvCxnSpPr>
          <p:nvPr/>
        </p:nvCxnSpPr>
        <p:spPr>
          <a:xfrm flipH="1">
            <a:off x="7570584" y="5713679"/>
            <a:ext cx="315456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85E51153-047B-5A14-6F61-AAAF4C4A974E}"/>
              </a:ext>
            </a:extLst>
          </p:cNvPr>
          <p:cNvCxnSpPr>
            <a:cxnSpLocks/>
          </p:cNvCxnSpPr>
          <p:nvPr/>
        </p:nvCxnSpPr>
        <p:spPr>
          <a:xfrm>
            <a:off x="7337746" y="5890120"/>
            <a:ext cx="0" cy="33792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AEE136B-4DFF-E43D-B79B-8B51E46EB2AE}"/>
              </a:ext>
            </a:extLst>
          </p:cNvPr>
          <p:cNvSpPr txBox="1"/>
          <p:nvPr/>
        </p:nvSpPr>
        <p:spPr>
          <a:xfrm>
            <a:off x="7319553" y="5932707"/>
            <a:ext cx="10070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Reconsolidation</a:t>
            </a:r>
          </a:p>
        </p:txBody>
      </p:sp>
      <p:sp>
        <p:nvSpPr>
          <p:cNvPr id="61" name="Left Brace 60">
            <a:extLst>
              <a:ext uri="{FF2B5EF4-FFF2-40B4-BE49-F238E27FC236}">
                <a16:creationId xmlns:a16="http://schemas.microsoft.com/office/drawing/2014/main" id="{C2836218-92DF-5A63-01AA-601CBB03BDF4}"/>
              </a:ext>
            </a:extLst>
          </p:cNvPr>
          <p:cNvSpPr/>
          <p:nvPr/>
        </p:nvSpPr>
        <p:spPr>
          <a:xfrm>
            <a:off x="6847161" y="5198858"/>
            <a:ext cx="178317" cy="691262"/>
          </a:xfrm>
          <a:prstGeom prst="leftBrac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05EE8EE-C1FE-8829-9E89-6FF3D23609F5}"/>
              </a:ext>
            </a:extLst>
          </p:cNvPr>
          <p:cNvSpPr txBox="1"/>
          <p:nvPr/>
        </p:nvSpPr>
        <p:spPr>
          <a:xfrm>
            <a:off x="5936342" y="5405989"/>
            <a:ext cx="502061" cy="2769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dirty="0"/>
              <a:t>Sales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A004487-EB05-7710-EDC1-0A5876024EEF}"/>
              </a:ext>
            </a:extLst>
          </p:cNvPr>
          <p:cNvCxnSpPr>
            <a:cxnSpLocks/>
            <a:endCxn id="62" idx="3"/>
          </p:cNvCxnSpPr>
          <p:nvPr/>
        </p:nvCxnSpPr>
        <p:spPr>
          <a:xfrm flipH="1">
            <a:off x="6438403" y="5544489"/>
            <a:ext cx="408758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2CD88048-3D56-37BF-17D4-7EE25D3A1D6D}"/>
              </a:ext>
            </a:extLst>
          </p:cNvPr>
          <p:cNvSpPr txBox="1"/>
          <p:nvPr/>
        </p:nvSpPr>
        <p:spPr>
          <a:xfrm>
            <a:off x="6405293" y="5294489"/>
            <a:ext cx="6094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Additive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118FA371-A035-615B-B2C9-87C6CC1A44A6}"/>
              </a:ext>
            </a:extLst>
          </p:cNvPr>
          <p:cNvCxnSpPr>
            <a:cxnSpLocks/>
          </p:cNvCxnSpPr>
          <p:nvPr/>
        </p:nvCxnSpPr>
        <p:spPr>
          <a:xfrm>
            <a:off x="6122002" y="5712180"/>
            <a:ext cx="9246" cy="51586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78BDEBC-FBA9-5E74-10DE-AE4D0EAE20F6}"/>
              </a:ext>
            </a:extLst>
          </p:cNvPr>
          <p:cNvSpPr txBox="1"/>
          <p:nvPr/>
        </p:nvSpPr>
        <p:spPr>
          <a:xfrm>
            <a:off x="5782132" y="5935764"/>
            <a:ext cx="10070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Reconsolidation</a:t>
            </a:r>
          </a:p>
        </p:txBody>
      </p:sp>
      <p:sp>
        <p:nvSpPr>
          <p:cNvPr id="78" name="Left Brace 77">
            <a:extLst>
              <a:ext uri="{FF2B5EF4-FFF2-40B4-BE49-F238E27FC236}">
                <a16:creationId xmlns:a16="http://schemas.microsoft.com/office/drawing/2014/main" id="{4B1DFF59-CE22-B323-5D9C-B7AFEB718F0F}"/>
              </a:ext>
            </a:extLst>
          </p:cNvPr>
          <p:cNvSpPr/>
          <p:nvPr/>
        </p:nvSpPr>
        <p:spPr>
          <a:xfrm>
            <a:off x="5496611" y="4832530"/>
            <a:ext cx="272137" cy="1597841"/>
          </a:xfrm>
          <a:prstGeom prst="leftBrac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AD44279-B146-4CE0-40A8-34978378B2E2}"/>
              </a:ext>
            </a:extLst>
          </p:cNvPr>
          <p:cNvSpPr txBox="1"/>
          <p:nvPr/>
        </p:nvSpPr>
        <p:spPr>
          <a:xfrm>
            <a:off x="4502805" y="5730773"/>
            <a:ext cx="3257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/>
              <a:t>+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7E492C6-1E30-AC4D-0CCD-790F85F733F5}"/>
              </a:ext>
            </a:extLst>
          </p:cNvPr>
          <p:cNvSpPr txBox="1"/>
          <p:nvPr/>
        </p:nvSpPr>
        <p:spPr>
          <a:xfrm>
            <a:off x="10071443" y="6354896"/>
            <a:ext cx="1263487" cy="24622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000" dirty="0"/>
              <a:t>Secondary reference</a:t>
            </a:r>
          </a:p>
        </p:txBody>
      </p:sp>
      <p:pic>
        <p:nvPicPr>
          <p:cNvPr id="1026" name="Picture 2" descr="Experiment research line icon lab flask and gear – Royalty-Free Vector |  VectorStock">
            <a:extLst>
              <a:ext uri="{FF2B5EF4-FFF2-40B4-BE49-F238E27FC236}">
                <a16:creationId xmlns:a16="http://schemas.microsoft.com/office/drawing/2014/main" id="{41978339-6CF3-9823-1563-D35ACDE2AF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852" b="86019" l="13100" r="87200">
                        <a14:foregroundMark x1="13100" y1="60833" x2="13100" y2="60833"/>
                        <a14:foregroundMark x1="27700" y1="58241" x2="27700" y2="58241"/>
                        <a14:foregroundMark x1="39500" y1="82130" x2="39500" y2="82130"/>
                        <a14:foregroundMark x1="38400" y1="86019" x2="38400" y2="86019"/>
                        <a14:foregroundMark x1="87200" y1="60370" x2="87200" y2="60370"/>
                        <a14:foregroundMark x1="69200" y1="6852" x2="69200" y2="6852"/>
                        <a14:backgroundMark x1="42600" y1="53056" x2="42600" y2="5305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860" t="3010" r="6998" b="10422"/>
          <a:stretch>
            <a:fillRect/>
          </a:stretch>
        </p:blipFill>
        <p:spPr bwMode="auto">
          <a:xfrm flipH="1">
            <a:off x="9683357" y="3084172"/>
            <a:ext cx="289634" cy="31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2" descr="Experiment research line icon lab flask and gear – Royalty-Free Vector |  VectorStock">
            <a:extLst>
              <a:ext uri="{FF2B5EF4-FFF2-40B4-BE49-F238E27FC236}">
                <a16:creationId xmlns:a16="http://schemas.microsoft.com/office/drawing/2014/main" id="{A39A3293-6E56-FEEF-48EE-0C83AD4CE8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852" b="86019" l="13100" r="87200">
                        <a14:foregroundMark x1="13100" y1="60833" x2="13100" y2="60833"/>
                        <a14:foregroundMark x1="27700" y1="58241" x2="27700" y2="58241"/>
                        <a14:foregroundMark x1="39500" y1="82130" x2="39500" y2="82130"/>
                        <a14:foregroundMark x1="38400" y1="86019" x2="38400" y2="86019"/>
                        <a14:foregroundMark x1="87200" y1="60370" x2="87200" y2="60370"/>
                        <a14:foregroundMark x1="69200" y1="6852" x2="69200" y2="6852"/>
                        <a14:backgroundMark x1="42600" y1="53056" x2="42600" y2="5305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860" t="3010" r="6998" b="10422"/>
          <a:stretch>
            <a:fillRect/>
          </a:stretch>
        </p:blipFill>
        <p:spPr bwMode="auto">
          <a:xfrm flipH="1">
            <a:off x="9686184" y="4021470"/>
            <a:ext cx="289634" cy="31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1" name="TextBox 100">
            <a:extLst>
              <a:ext uri="{FF2B5EF4-FFF2-40B4-BE49-F238E27FC236}">
                <a16:creationId xmlns:a16="http://schemas.microsoft.com/office/drawing/2014/main" id="{47909F5D-BC34-A35F-E926-ABB2B96887C4}"/>
              </a:ext>
            </a:extLst>
          </p:cNvPr>
          <p:cNvSpPr txBox="1"/>
          <p:nvPr/>
        </p:nvSpPr>
        <p:spPr>
          <a:xfrm>
            <a:off x="122020" y="4495612"/>
            <a:ext cx="3528163" cy="2123658"/>
          </a:xfrm>
          <a:prstGeom prst="rect">
            <a:avLst/>
          </a:prstGeom>
          <a:ln>
            <a:prstDash val="lgDash"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Experiments</a:t>
            </a:r>
            <a:endParaRPr lang="en-US" sz="1200" dirty="0"/>
          </a:p>
          <a:p>
            <a:r>
              <a:rPr lang="en-US" sz="1200" dirty="0"/>
              <a:t>Run heavy structured experiments to select features that are consistently significant, stable and interpretable</a:t>
            </a:r>
          </a:p>
          <a:p>
            <a:endParaRPr lang="en-US" sz="400" dirty="0"/>
          </a:p>
          <a:p>
            <a:r>
              <a:rPr lang="en-US" sz="1200" dirty="0"/>
              <a:t>Experiments by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/>
              <a:t>Feature blocks, Panel controls, Algorithms, Time-split</a:t>
            </a:r>
          </a:p>
          <a:p>
            <a:endParaRPr lang="en-US" sz="400" dirty="0"/>
          </a:p>
          <a:p>
            <a:r>
              <a:rPr lang="en-US" sz="1200" dirty="0"/>
              <a:t>Log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/>
              <a:t>coefficient significance, sign, magnitude, rank</a:t>
            </a:r>
          </a:p>
          <a:p>
            <a:endParaRPr lang="en-US" sz="400" dirty="0"/>
          </a:p>
          <a:p>
            <a:r>
              <a:rPr lang="en-US" sz="1200" dirty="0"/>
              <a:t>Selection criteria per feature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% of runs where selected; % of runs with same sign; % of runs with significance; average rank (or median rank); coefficient CV (std / mean)</a:t>
            </a:r>
          </a:p>
        </p:txBody>
      </p:sp>
      <p:pic>
        <p:nvPicPr>
          <p:cNvPr id="102" name="Picture 2" descr="Experiment research line icon lab flask and gear – Royalty-Free Vector |  VectorStock">
            <a:extLst>
              <a:ext uri="{FF2B5EF4-FFF2-40B4-BE49-F238E27FC236}">
                <a16:creationId xmlns:a16="http://schemas.microsoft.com/office/drawing/2014/main" id="{F2958B4B-F681-50A1-5DBE-6BEE6006DA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852" b="86019" l="13100" r="87200">
                        <a14:foregroundMark x1="13100" y1="60833" x2="13100" y2="60833"/>
                        <a14:foregroundMark x1="27700" y1="58241" x2="27700" y2="58241"/>
                        <a14:foregroundMark x1="39500" y1="82130" x2="39500" y2="82130"/>
                        <a14:foregroundMark x1="38400" y1="86019" x2="38400" y2="86019"/>
                        <a14:foregroundMark x1="87200" y1="60370" x2="87200" y2="60370"/>
                        <a14:foregroundMark x1="69200" y1="6852" x2="69200" y2="6852"/>
                        <a14:backgroundMark x1="42600" y1="53056" x2="42600" y2="5305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860" t="3010" r="6998" b="10422"/>
          <a:stretch>
            <a:fillRect/>
          </a:stretch>
        </p:blipFill>
        <p:spPr bwMode="auto">
          <a:xfrm flipH="1">
            <a:off x="3392623" y="4549938"/>
            <a:ext cx="289634" cy="31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7198695-7EA0-3A10-933C-62560D961B30}"/>
              </a:ext>
            </a:extLst>
          </p:cNvPr>
          <p:cNvCxnSpPr>
            <a:cxnSpLocks/>
            <a:endCxn id="101" idx="0"/>
          </p:cNvCxnSpPr>
          <p:nvPr/>
        </p:nvCxnSpPr>
        <p:spPr>
          <a:xfrm rot="10800000" flipV="1">
            <a:off x="1886102" y="4416900"/>
            <a:ext cx="7942072" cy="78711"/>
          </a:xfrm>
          <a:prstGeom prst="bentConnector2">
            <a:avLst/>
          </a:prstGeom>
          <a:ln>
            <a:solidFill>
              <a:schemeClr val="accent4"/>
            </a:solidFill>
            <a:prstDash val="lgDash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5585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4466A6-2A61-E40C-38D2-D5D8531FC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D5EE1CE-2BCE-4A5D-7A6C-62A6532B6E36}"/>
              </a:ext>
            </a:extLst>
          </p:cNvPr>
          <p:cNvSpPr txBox="1"/>
          <p:nvPr/>
        </p:nvSpPr>
        <p:spPr>
          <a:xfrm>
            <a:off x="135470" y="1103157"/>
            <a:ext cx="910595" cy="10156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Target variable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GC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AC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highlight>
                  <a:srgbClr val="C0C0C0"/>
                </a:highlight>
              </a:rPr>
              <a:t>Sales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BC7182-D624-207E-E38E-090733C88F4D}"/>
              </a:ext>
            </a:extLst>
          </p:cNvPr>
          <p:cNvSpPr txBox="1"/>
          <p:nvPr/>
        </p:nvSpPr>
        <p:spPr>
          <a:xfrm>
            <a:off x="5936343" y="6204428"/>
            <a:ext cx="2086614" cy="2769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YoY Growth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47BC07-706F-DFB9-F86B-0BFD94D01ADA}"/>
              </a:ext>
            </a:extLst>
          </p:cNvPr>
          <p:cNvSpPr txBox="1"/>
          <p:nvPr/>
        </p:nvSpPr>
        <p:spPr>
          <a:xfrm>
            <a:off x="121016" y="223516"/>
            <a:ext cx="2818206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Training data</a:t>
            </a:r>
            <a:r>
              <a:rPr lang="en-US" sz="1200" dirty="0"/>
              <a:t> (‘23-’25)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Primary: store × week </a:t>
            </a:r>
            <a:r>
              <a:rPr lang="en-US" sz="1200" strike="sngStrike" dirty="0"/>
              <a:t>× (*</a:t>
            </a:r>
            <a:r>
              <a:rPr lang="en-US" sz="1200" strike="sngStrike" dirty="0">
                <a:solidFill>
                  <a:srgbClr val="FF0000"/>
                </a:solidFill>
              </a:rPr>
              <a:t>structure</a:t>
            </a:r>
            <a:r>
              <a:rPr lang="en-US" sz="1200" strike="sngStrike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Secondary: market × week </a:t>
            </a:r>
            <a:r>
              <a:rPr lang="en-US" sz="1200" strike="sngStrike" dirty="0"/>
              <a:t>× (</a:t>
            </a:r>
            <a:r>
              <a:rPr lang="en-US" sz="1200" strike="sngStrike" dirty="0">
                <a:solidFill>
                  <a:srgbClr val="FF0000"/>
                </a:solidFill>
              </a:rPr>
              <a:t>structure</a:t>
            </a:r>
            <a:r>
              <a:rPr lang="en-US" sz="1200" strike="sngStrike" dirty="0"/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7283E6-288F-8155-D945-CAD138E991F0}"/>
              </a:ext>
            </a:extLst>
          </p:cNvPr>
          <p:cNvSpPr txBox="1"/>
          <p:nvPr/>
        </p:nvSpPr>
        <p:spPr>
          <a:xfrm>
            <a:off x="9972991" y="6554946"/>
            <a:ext cx="26703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*structure: channel × daypart × category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F2D5E1-F803-B401-6393-6A9F0CB3F1DE}"/>
              </a:ext>
            </a:extLst>
          </p:cNvPr>
          <p:cNvSpPr txBox="1"/>
          <p:nvPr/>
        </p:nvSpPr>
        <p:spPr>
          <a:xfrm>
            <a:off x="3215756" y="233224"/>
            <a:ext cx="2489023" cy="156966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Feature selection </a:t>
            </a:r>
            <a:r>
              <a:rPr lang="en-US" sz="1200" dirty="0"/>
              <a:t>(150+ features)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Pricing, mix share, promo, media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Ops, Out-of-Stock</a:t>
            </a:r>
          </a:p>
          <a:p>
            <a:endParaRPr lang="en-US" sz="1200" b="1" dirty="0"/>
          </a:p>
          <a:p>
            <a:r>
              <a:rPr lang="en-US" sz="1200" b="1" dirty="0"/>
              <a:t>Criteria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Mechanism representation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Redundancy &amp; Collinearity check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Interpretability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6C8291-C857-822C-5145-37D503E6E9ED}"/>
              </a:ext>
            </a:extLst>
          </p:cNvPr>
          <p:cNvSpPr txBox="1"/>
          <p:nvPr/>
        </p:nvSpPr>
        <p:spPr>
          <a:xfrm>
            <a:off x="3215756" y="3817068"/>
            <a:ext cx="2439197" cy="2769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Model-Eligible Feature Set</a:t>
            </a:r>
            <a:endParaRPr lang="en-US" sz="12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157C049-75E6-87C7-E493-202C6A12B83C}"/>
              </a:ext>
            </a:extLst>
          </p:cNvPr>
          <p:cNvCxnSpPr>
            <a:cxnSpLocks/>
          </p:cNvCxnSpPr>
          <p:nvPr/>
        </p:nvCxnSpPr>
        <p:spPr>
          <a:xfrm>
            <a:off x="4251016" y="1804356"/>
            <a:ext cx="0" cy="33792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EFCEE66-022E-76A2-8992-65DC89BDEE0A}"/>
              </a:ext>
            </a:extLst>
          </p:cNvPr>
          <p:cNvSpPr txBox="1"/>
          <p:nvPr/>
        </p:nvSpPr>
        <p:spPr>
          <a:xfrm>
            <a:off x="3215756" y="2155069"/>
            <a:ext cx="2496809" cy="1292662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Pre-selection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Redundancy &amp; Collinearity check (correlation, VIF)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Features consolidation (indices)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Availability (across stores and time)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Stability (smooth across time)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Representation &amp; Interpretability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520A56E-4729-1EBB-B0C9-A462894862B9}"/>
              </a:ext>
            </a:extLst>
          </p:cNvPr>
          <p:cNvCxnSpPr>
            <a:cxnSpLocks/>
          </p:cNvCxnSpPr>
          <p:nvPr/>
        </p:nvCxnSpPr>
        <p:spPr>
          <a:xfrm>
            <a:off x="4261726" y="3493034"/>
            <a:ext cx="0" cy="33792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A8A0933-83D6-C5BB-EB84-FEE44F4748EF}"/>
              </a:ext>
            </a:extLst>
          </p:cNvPr>
          <p:cNvSpPr txBox="1"/>
          <p:nvPr/>
        </p:nvSpPr>
        <p:spPr>
          <a:xfrm>
            <a:off x="7951779" y="1089274"/>
            <a:ext cx="2021214" cy="8309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ML model training (criteria)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Stability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Interpretability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Accuracy (R2, RMSE, MAE)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4BE7D1-EDD5-98C9-7A5F-50A9A5FF1CCF}"/>
              </a:ext>
            </a:extLst>
          </p:cNvPr>
          <p:cNvSpPr txBox="1"/>
          <p:nvPr/>
        </p:nvSpPr>
        <p:spPr>
          <a:xfrm>
            <a:off x="7960327" y="2236508"/>
            <a:ext cx="2021213" cy="126188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Panel structure control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Mundlark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Hierarchical Bayesian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Fixed-effect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Experiment: </a:t>
            </a:r>
            <a:r>
              <a:rPr lang="en-US" sz="800" dirty="0"/>
              <a:t>feature subset, algorithms (OLS, L2, L1+L2), dimensions), target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79C657-A8AC-84D5-67B9-E3ED7A793D55}"/>
              </a:ext>
            </a:extLst>
          </p:cNvPr>
          <p:cNvSpPr txBox="1"/>
          <p:nvPr/>
        </p:nvSpPr>
        <p:spPr>
          <a:xfrm>
            <a:off x="7960327" y="3599741"/>
            <a:ext cx="2021213" cy="76944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Tree-based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RF/XGB/</a:t>
            </a:r>
            <a:r>
              <a:rPr lang="en-US" sz="1200" dirty="0" err="1"/>
              <a:t>LightGBM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Experiment</a:t>
            </a:r>
            <a:r>
              <a:rPr lang="en-US" sz="800" dirty="0"/>
              <a:t>: feature subset, algorithms, dimensions, target</a:t>
            </a: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E47A902-0185-A68E-6A6A-F6FE2FE88045}"/>
              </a:ext>
            </a:extLst>
          </p:cNvPr>
          <p:cNvCxnSpPr>
            <a:cxnSpLocks/>
            <a:stCxn id="16" idx="3"/>
            <a:endCxn id="31" idx="1"/>
          </p:cNvCxnSpPr>
          <p:nvPr/>
        </p:nvCxnSpPr>
        <p:spPr>
          <a:xfrm flipV="1">
            <a:off x="5654953" y="2400951"/>
            <a:ext cx="456509" cy="155461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A676173-0C3B-6A18-A38A-2C9D28CCADE8}"/>
              </a:ext>
            </a:extLst>
          </p:cNvPr>
          <p:cNvSpPr txBox="1"/>
          <p:nvPr/>
        </p:nvSpPr>
        <p:spPr>
          <a:xfrm>
            <a:off x="6111462" y="1739231"/>
            <a:ext cx="1430214" cy="132343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Feature transformation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Log-level: </a:t>
            </a:r>
            <a:r>
              <a:rPr lang="en-US" sz="1000" dirty="0"/>
              <a:t>elasticity (%)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Level </a:t>
            </a:r>
            <a:r>
              <a:rPr lang="en-US" sz="1000" dirty="0"/>
              <a:t>(raw units)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Delta-log: </a:t>
            </a:r>
            <a:r>
              <a:rPr lang="en-US" sz="1000" dirty="0"/>
              <a:t>growth rates (pp)</a:t>
            </a:r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B674546-40F9-5612-0A01-7944C0FFB3CD}"/>
              </a:ext>
            </a:extLst>
          </p:cNvPr>
          <p:cNvCxnSpPr>
            <a:cxnSpLocks/>
            <a:stCxn id="16" idx="3"/>
            <a:endCxn id="27" idx="1"/>
          </p:cNvCxnSpPr>
          <p:nvPr/>
        </p:nvCxnSpPr>
        <p:spPr>
          <a:xfrm>
            <a:off x="5654953" y="3955568"/>
            <a:ext cx="2305374" cy="28894"/>
          </a:xfrm>
          <a:prstGeom prst="bentConnector3">
            <a:avLst>
              <a:gd name="adj1" fmla="val 48056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BA432791-F237-0F8F-DDC8-6F508C3038BE}"/>
              </a:ext>
            </a:extLst>
          </p:cNvPr>
          <p:cNvSpPr txBox="1"/>
          <p:nvPr/>
        </p:nvSpPr>
        <p:spPr>
          <a:xfrm>
            <a:off x="10380147" y="1076737"/>
            <a:ext cx="1419338" cy="8309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Contribution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Interpretability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Decomposition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Reconciliation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C91FBB9-B892-1B94-0896-A54D15736908}"/>
              </a:ext>
            </a:extLst>
          </p:cNvPr>
          <p:cNvSpPr txBox="1"/>
          <p:nvPr/>
        </p:nvSpPr>
        <p:spPr>
          <a:xfrm>
            <a:off x="10380437" y="2238435"/>
            <a:ext cx="1430214" cy="101566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Panel structure control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Significance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Coefficients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Model units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AE523AD-D9DD-5479-496E-E7F071F757C4}"/>
              </a:ext>
            </a:extLst>
          </p:cNvPr>
          <p:cNvSpPr txBox="1"/>
          <p:nvPr/>
        </p:nvSpPr>
        <p:spPr>
          <a:xfrm>
            <a:off x="10398942" y="3580923"/>
            <a:ext cx="1430214" cy="76944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Tree-based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Shap</a:t>
            </a:r>
            <a:r>
              <a:rPr lang="en-US" sz="1200" dirty="0"/>
              <a:t> value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/>
              <a:t>Base contribution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/>
              <a:t>Feature contribution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4C06C29-53BF-539A-9395-A39DF233AFC5}"/>
              </a:ext>
            </a:extLst>
          </p:cNvPr>
          <p:cNvCxnSpPr>
            <a:cxnSpLocks/>
          </p:cNvCxnSpPr>
          <p:nvPr/>
        </p:nvCxnSpPr>
        <p:spPr>
          <a:xfrm>
            <a:off x="7560248" y="2528161"/>
            <a:ext cx="336511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728EBA9-C11D-DAAD-1231-A17C37B69305}"/>
              </a:ext>
            </a:extLst>
          </p:cNvPr>
          <p:cNvCxnSpPr>
            <a:cxnSpLocks/>
          </p:cNvCxnSpPr>
          <p:nvPr/>
        </p:nvCxnSpPr>
        <p:spPr>
          <a:xfrm>
            <a:off x="8970933" y="1923186"/>
            <a:ext cx="0" cy="28384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C05E6B27-3C27-D3E5-FD91-FA49A0C6C48F}"/>
              </a:ext>
            </a:extLst>
          </p:cNvPr>
          <p:cNvCxnSpPr>
            <a:cxnSpLocks/>
            <a:endCxn id="42" idx="1"/>
          </p:cNvCxnSpPr>
          <p:nvPr/>
        </p:nvCxnSpPr>
        <p:spPr>
          <a:xfrm>
            <a:off x="10037287" y="2746267"/>
            <a:ext cx="34315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84FD72A9-C384-FB65-CB64-B4D74DA4FBC9}"/>
              </a:ext>
            </a:extLst>
          </p:cNvPr>
          <p:cNvCxnSpPr>
            <a:cxnSpLocks/>
          </p:cNvCxnSpPr>
          <p:nvPr/>
        </p:nvCxnSpPr>
        <p:spPr>
          <a:xfrm>
            <a:off x="10026862" y="4029543"/>
            <a:ext cx="282550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CDB4E9E8-FC9B-E5F6-C534-9958E5F6110C}"/>
              </a:ext>
            </a:extLst>
          </p:cNvPr>
          <p:cNvCxnSpPr>
            <a:cxnSpLocks/>
          </p:cNvCxnSpPr>
          <p:nvPr/>
        </p:nvCxnSpPr>
        <p:spPr>
          <a:xfrm flipH="1">
            <a:off x="9992577" y="4121715"/>
            <a:ext cx="1847617" cy="1200020"/>
          </a:xfrm>
          <a:prstGeom prst="bentConnector3">
            <a:avLst>
              <a:gd name="adj1" fmla="val -15284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0058C4F6-85B8-15AA-6BEE-76D1A00576F8}"/>
              </a:ext>
            </a:extLst>
          </p:cNvPr>
          <p:cNvSpPr txBox="1"/>
          <p:nvPr/>
        </p:nvSpPr>
        <p:spPr>
          <a:xfrm>
            <a:off x="1458742" y="1126617"/>
            <a:ext cx="1494934" cy="101566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Log-level: elasticity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Level (raw units)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Delta-log: growth rates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A5EF3EC5-C166-6F41-8708-CD64C2C5550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046065" y="1610989"/>
            <a:ext cx="407156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661CF8D1-236B-0769-252C-123949C779E4}"/>
              </a:ext>
            </a:extLst>
          </p:cNvPr>
          <p:cNvCxnSpPr>
            <a:cxnSpLocks/>
          </p:cNvCxnSpPr>
          <p:nvPr/>
        </p:nvCxnSpPr>
        <p:spPr>
          <a:xfrm>
            <a:off x="2991008" y="517788"/>
            <a:ext cx="224748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B18F766A-93E5-746A-0972-A8DBBA14C1F6}"/>
              </a:ext>
            </a:extLst>
          </p:cNvPr>
          <p:cNvSpPr txBox="1"/>
          <p:nvPr/>
        </p:nvSpPr>
        <p:spPr>
          <a:xfrm>
            <a:off x="3963491" y="4899776"/>
            <a:ext cx="1404359" cy="8309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Growth Attribution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Magnitude, Directions, YoY Contribution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387B2851-6E9F-486F-C9E6-B6C95B08B0FD}"/>
              </a:ext>
            </a:extLst>
          </p:cNvPr>
          <p:cNvSpPr txBox="1"/>
          <p:nvPr/>
        </p:nvSpPr>
        <p:spPr>
          <a:xfrm>
            <a:off x="7951777" y="176055"/>
            <a:ext cx="2021214" cy="58477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Benchmark reference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/>
              <a:t>Analytics / Accounting based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/>
              <a:t>ESF benchmark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3715B7E-048E-9D93-2290-47FCBDA919CF}"/>
              </a:ext>
            </a:extLst>
          </p:cNvPr>
          <p:cNvSpPr txBox="1"/>
          <p:nvPr/>
        </p:nvSpPr>
        <p:spPr>
          <a:xfrm>
            <a:off x="3995789" y="6164035"/>
            <a:ext cx="1404359" cy="2769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Scenario Planning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10518E-F3E9-8902-ADD9-BD975C58A1B7}"/>
              </a:ext>
            </a:extLst>
          </p:cNvPr>
          <p:cNvSpPr txBox="1"/>
          <p:nvPr/>
        </p:nvSpPr>
        <p:spPr>
          <a:xfrm>
            <a:off x="7086766" y="5613121"/>
            <a:ext cx="483818" cy="2769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GC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7E5FC1F8-8A60-A2C1-AA0F-24AC55DF7E63}"/>
              </a:ext>
            </a:extLst>
          </p:cNvPr>
          <p:cNvSpPr txBox="1"/>
          <p:nvPr/>
        </p:nvSpPr>
        <p:spPr>
          <a:xfrm>
            <a:off x="7081227" y="5178162"/>
            <a:ext cx="489357" cy="2769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dirty="0"/>
              <a:t>AC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4BA9E7C2-07EE-C4CF-F923-1D2CB7516BCC}"/>
              </a:ext>
            </a:extLst>
          </p:cNvPr>
          <p:cNvSpPr txBox="1"/>
          <p:nvPr/>
        </p:nvSpPr>
        <p:spPr>
          <a:xfrm>
            <a:off x="7068523" y="4768355"/>
            <a:ext cx="502061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dirty="0"/>
              <a:t>Sales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80BEF4-BF07-57DF-E0E5-63982E7BB862}"/>
              </a:ext>
            </a:extLst>
          </p:cNvPr>
          <p:cNvSpPr txBox="1"/>
          <p:nvPr/>
        </p:nvSpPr>
        <p:spPr>
          <a:xfrm>
            <a:off x="965789" y="1339584"/>
            <a:ext cx="6142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Transfer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B611C6F-E1D4-C54D-4110-1CE180C5A610}"/>
              </a:ext>
            </a:extLst>
          </p:cNvPr>
          <p:cNvCxnSpPr>
            <a:cxnSpLocks/>
          </p:cNvCxnSpPr>
          <p:nvPr/>
        </p:nvCxnSpPr>
        <p:spPr>
          <a:xfrm>
            <a:off x="5707228" y="1367495"/>
            <a:ext cx="2244549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7CA20EF-9886-7F8D-70C6-E90233856326}"/>
              </a:ext>
            </a:extLst>
          </p:cNvPr>
          <p:cNvSpPr txBox="1"/>
          <p:nvPr/>
        </p:nvSpPr>
        <p:spPr>
          <a:xfrm>
            <a:off x="8799519" y="713731"/>
            <a:ext cx="3257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/>
              <a:t>+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165716-AB93-5653-EF17-120C273E0ADD}"/>
              </a:ext>
            </a:extLst>
          </p:cNvPr>
          <p:cNvSpPr txBox="1"/>
          <p:nvPr/>
        </p:nvSpPr>
        <p:spPr>
          <a:xfrm>
            <a:off x="8826607" y="3285051"/>
            <a:ext cx="3257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/>
              <a:t>+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7DC3FCE-044C-045A-8574-880A8E5A2F04}"/>
              </a:ext>
            </a:extLst>
          </p:cNvPr>
          <p:cNvCxnSpPr>
            <a:cxnSpLocks/>
          </p:cNvCxnSpPr>
          <p:nvPr/>
        </p:nvCxnSpPr>
        <p:spPr>
          <a:xfrm>
            <a:off x="9972991" y="1339584"/>
            <a:ext cx="407156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EA5E0D55-157A-8ADE-7018-C80B0D5131E4}"/>
              </a:ext>
            </a:extLst>
          </p:cNvPr>
          <p:cNvSpPr txBox="1"/>
          <p:nvPr/>
        </p:nvSpPr>
        <p:spPr>
          <a:xfrm>
            <a:off x="7960326" y="4754330"/>
            <a:ext cx="2021212" cy="10156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Contribution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Magnitude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Direction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Interpretability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F0000"/>
                </a:solidFill>
              </a:rPr>
              <a:t>Relationship</a:t>
            </a:r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8802E15E-7D29-6242-ACDE-01F60DBC3E3D}"/>
              </a:ext>
            </a:extLst>
          </p:cNvPr>
          <p:cNvCxnSpPr>
            <a:cxnSpLocks/>
          </p:cNvCxnSpPr>
          <p:nvPr/>
        </p:nvCxnSpPr>
        <p:spPr>
          <a:xfrm flipH="1">
            <a:off x="9981539" y="2706496"/>
            <a:ext cx="1829112" cy="2298334"/>
          </a:xfrm>
          <a:prstGeom prst="bentConnector3">
            <a:avLst>
              <a:gd name="adj1" fmla="val -12498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5F16FF5-8B7B-B4D1-436A-E4127A1F7149}"/>
              </a:ext>
            </a:extLst>
          </p:cNvPr>
          <p:cNvCxnSpPr>
            <a:cxnSpLocks/>
            <a:endCxn id="140" idx="3"/>
          </p:cNvCxnSpPr>
          <p:nvPr/>
        </p:nvCxnSpPr>
        <p:spPr>
          <a:xfrm flipH="1">
            <a:off x="7570584" y="4906855"/>
            <a:ext cx="315456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425511D-8283-6DF0-F75B-41F3D116F084}"/>
              </a:ext>
            </a:extLst>
          </p:cNvPr>
          <p:cNvCxnSpPr>
            <a:cxnSpLocks/>
          </p:cNvCxnSpPr>
          <p:nvPr/>
        </p:nvCxnSpPr>
        <p:spPr>
          <a:xfrm flipH="1">
            <a:off x="7570584" y="5327347"/>
            <a:ext cx="315456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BC248301-384C-6C33-B6FC-78F7BB9A22F0}"/>
              </a:ext>
            </a:extLst>
          </p:cNvPr>
          <p:cNvCxnSpPr>
            <a:cxnSpLocks/>
          </p:cNvCxnSpPr>
          <p:nvPr/>
        </p:nvCxnSpPr>
        <p:spPr>
          <a:xfrm flipH="1">
            <a:off x="7570584" y="5713679"/>
            <a:ext cx="315456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BFCB2F9-6D70-C841-3F6C-3523D05555BC}"/>
              </a:ext>
            </a:extLst>
          </p:cNvPr>
          <p:cNvCxnSpPr>
            <a:cxnSpLocks/>
          </p:cNvCxnSpPr>
          <p:nvPr/>
        </p:nvCxnSpPr>
        <p:spPr>
          <a:xfrm>
            <a:off x="7337746" y="5890120"/>
            <a:ext cx="0" cy="33792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DCA61FB-2CE6-5601-0995-6EBBB0E18457}"/>
              </a:ext>
            </a:extLst>
          </p:cNvPr>
          <p:cNvSpPr txBox="1"/>
          <p:nvPr/>
        </p:nvSpPr>
        <p:spPr>
          <a:xfrm>
            <a:off x="7319553" y="5932707"/>
            <a:ext cx="10070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>
                <a:solidFill>
                  <a:srgbClr val="FF0000"/>
                </a:solidFill>
              </a:rPr>
              <a:t>Reconsolidation</a:t>
            </a:r>
          </a:p>
        </p:txBody>
      </p:sp>
      <p:sp>
        <p:nvSpPr>
          <p:cNvPr id="61" name="Left Brace 60">
            <a:extLst>
              <a:ext uri="{FF2B5EF4-FFF2-40B4-BE49-F238E27FC236}">
                <a16:creationId xmlns:a16="http://schemas.microsoft.com/office/drawing/2014/main" id="{940C9456-F7F0-DBE3-E6EE-58DDD17C547B}"/>
              </a:ext>
            </a:extLst>
          </p:cNvPr>
          <p:cNvSpPr/>
          <p:nvPr/>
        </p:nvSpPr>
        <p:spPr>
          <a:xfrm>
            <a:off x="6847161" y="5198858"/>
            <a:ext cx="178317" cy="691262"/>
          </a:xfrm>
          <a:prstGeom prst="leftBrac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DDB827E-D7FC-7A5B-4F46-C9ABCB44812F}"/>
              </a:ext>
            </a:extLst>
          </p:cNvPr>
          <p:cNvSpPr txBox="1"/>
          <p:nvPr/>
        </p:nvSpPr>
        <p:spPr>
          <a:xfrm>
            <a:off x="5936342" y="5405989"/>
            <a:ext cx="502061" cy="2769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200" dirty="0"/>
              <a:t>Sales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3A8B5F9-CA2A-8949-BA3A-522F237AB6C5}"/>
              </a:ext>
            </a:extLst>
          </p:cNvPr>
          <p:cNvCxnSpPr>
            <a:cxnSpLocks/>
            <a:endCxn id="62" idx="3"/>
          </p:cNvCxnSpPr>
          <p:nvPr/>
        </p:nvCxnSpPr>
        <p:spPr>
          <a:xfrm flipH="1">
            <a:off x="6438403" y="5544489"/>
            <a:ext cx="408758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D3CB9C4-26C7-EF50-FEFA-29CE02455161}"/>
              </a:ext>
            </a:extLst>
          </p:cNvPr>
          <p:cNvSpPr txBox="1"/>
          <p:nvPr/>
        </p:nvSpPr>
        <p:spPr>
          <a:xfrm>
            <a:off x="6405293" y="5294489"/>
            <a:ext cx="6094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Additive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73EA1806-FA8B-4176-5224-3A19D9C89C80}"/>
              </a:ext>
            </a:extLst>
          </p:cNvPr>
          <p:cNvCxnSpPr>
            <a:cxnSpLocks/>
          </p:cNvCxnSpPr>
          <p:nvPr/>
        </p:nvCxnSpPr>
        <p:spPr>
          <a:xfrm>
            <a:off x="6122002" y="5712180"/>
            <a:ext cx="9246" cy="515864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1371924-687A-2DC1-CD40-F6D2BD04F122}"/>
              </a:ext>
            </a:extLst>
          </p:cNvPr>
          <p:cNvSpPr txBox="1"/>
          <p:nvPr/>
        </p:nvSpPr>
        <p:spPr>
          <a:xfrm>
            <a:off x="5782132" y="5935764"/>
            <a:ext cx="100700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i="1" dirty="0"/>
              <a:t>Reconsolidation</a:t>
            </a:r>
          </a:p>
        </p:txBody>
      </p:sp>
      <p:sp>
        <p:nvSpPr>
          <p:cNvPr id="78" name="Left Brace 77">
            <a:extLst>
              <a:ext uri="{FF2B5EF4-FFF2-40B4-BE49-F238E27FC236}">
                <a16:creationId xmlns:a16="http://schemas.microsoft.com/office/drawing/2014/main" id="{2F534E51-39F2-C62B-B171-0F1E9DD57410}"/>
              </a:ext>
            </a:extLst>
          </p:cNvPr>
          <p:cNvSpPr/>
          <p:nvPr/>
        </p:nvSpPr>
        <p:spPr>
          <a:xfrm>
            <a:off x="5496611" y="4832530"/>
            <a:ext cx="272137" cy="1597841"/>
          </a:xfrm>
          <a:prstGeom prst="leftBrac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E40900C-58B5-D8CA-D2C9-73486E1EDF97}"/>
              </a:ext>
            </a:extLst>
          </p:cNvPr>
          <p:cNvSpPr txBox="1"/>
          <p:nvPr/>
        </p:nvSpPr>
        <p:spPr>
          <a:xfrm>
            <a:off x="4502805" y="5730773"/>
            <a:ext cx="32573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/>
              <a:t>+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79F68CE-3C67-0474-53CA-34C2BCD1FA0C}"/>
              </a:ext>
            </a:extLst>
          </p:cNvPr>
          <p:cNvSpPr txBox="1"/>
          <p:nvPr/>
        </p:nvSpPr>
        <p:spPr>
          <a:xfrm>
            <a:off x="10071443" y="6354896"/>
            <a:ext cx="1263487" cy="24622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000" dirty="0"/>
              <a:t>Secondary reference</a:t>
            </a:r>
          </a:p>
        </p:txBody>
      </p:sp>
      <p:pic>
        <p:nvPicPr>
          <p:cNvPr id="1026" name="Picture 2" descr="Experiment research line icon lab flask and gear – Royalty-Free Vector |  VectorStock">
            <a:extLst>
              <a:ext uri="{FF2B5EF4-FFF2-40B4-BE49-F238E27FC236}">
                <a16:creationId xmlns:a16="http://schemas.microsoft.com/office/drawing/2014/main" id="{45D60699-9151-FBD1-642C-58FBD4DD8A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852" b="86019" l="13100" r="87200">
                        <a14:foregroundMark x1="13100" y1="60833" x2="13100" y2="60833"/>
                        <a14:foregroundMark x1="27700" y1="58241" x2="27700" y2="58241"/>
                        <a14:foregroundMark x1="39500" y1="82130" x2="39500" y2="82130"/>
                        <a14:foregroundMark x1="38400" y1="86019" x2="38400" y2="86019"/>
                        <a14:foregroundMark x1="87200" y1="60370" x2="87200" y2="60370"/>
                        <a14:foregroundMark x1="69200" y1="6852" x2="69200" y2="6852"/>
                        <a14:backgroundMark x1="42600" y1="53056" x2="42600" y2="5305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860" t="3010" r="6998" b="10422"/>
          <a:stretch>
            <a:fillRect/>
          </a:stretch>
        </p:blipFill>
        <p:spPr bwMode="auto">
          <a:xfrm flipH="1">
            <a:off x="9683357" y="3084172"/>
            <a:ext cx="289634" cy="31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2" descr="Experiment research line icon lab flask and gear – Royalty-Free Vector |  VectorStock">
            <a:extLst>
              <a:ext uri="{FF2B5EF4-FFF2-40B4-BE49-F238E27FC236}">
                <a16:creationId xmlns:a16="http://schemas.microsoft.com/office/drawing/2014/main" id="{232CACD9-E909-907F-3B28-8F5ECC2F2A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852" b="86019" l="13100" r="87200">
                        <a14:foregroundMark x1="13100" y1="60833" x2="13100" y2="60833"/>
                        <a14:foregroundMark x1="27700" y1="58241" x2="27700" y2="58241"/>
                        <a14:foregroundMark x1="39500" y1="82130" x2="39500" y2="82130"/>
                        <a14:foregroundMark x1="38400" y1="86019" x2="38400" y2="86019"/>
                        <a14:foregroundMark x1="87200" y1="60370" x2="87200" y2="60370"/>
                        <a14:foregroundMark x1="69200" y1="6852" x2="69200" y2="6852"/>
                        <a14:backgroundMark x1="42600" y1="53056" x2="42600" y2="5305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860" t="3010" r="6998" b="10422"/>
          <a:stretch>
            <a:fillRect/>
          </a:stretch>
        </p:blipFill>
        <p:spPr bwMode="auto">
          <a:xfrm flipH="1">
            <a:off x="9686184" y="4021470"/>
            <a:ext cx="289634" cy="31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1" name="TextBox 100">
            <a:extLst>
              <a:ext uri="{FF2B5EF4-FFF2-40B4-BE49-F238E27FC236}">
                <a16:creationId xmlns:a16="http://schemas.microsoft.com/office/drawing/2014/main" id="{D08B8377-701D-D4E5-5A5E-699FA806416A}"/>
              </a:ext>
            </a:extLst>
          </p:cNvPr>
          <p:cNvSpPr txBox="1"/>
          <p:nvPr/>
        </p:nvSpPr>
        <p:spPr>
          <a:xfrm>
            <a:off x="122020" y="4495612"/>
            <a:ext cx="3528163" cy="2123658"/>
          </a:xfrm>
          <a:prstGeom prst="rect">
            <a:avLst/>
          </a:prstGeom>
          <a:ln>
            <a:prstDash val="lgDash"/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200" b="1" dirty="0"/>
              <a:t>Experiments</a:t>
            </a:r>
            <a:endParaRPr lang="en-US" sz="1200" dirty="0"/>
          </a:p>
          <a:p>
            <a:r>
              <a:rPr lang="en-US" sz="1200" dirty="0"/>
              <a:t>Run heavy structured experiments to select features that are consistently significant, stable and interpretable</a:t>
            </a:r>
          </a:p>
          <a:p>
            <a:endParaRPr lang="en-US" sz="400" dirty="0"/>
          </a:p>
          <a:p>
            <a:r>
              <a:rPr lang="en-US" sz="1200" dirty="0"/>
              <a:t>Experiments by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/>
              <a:t>Feature blocks, Panel controls, Algorithms, Time-split</a:t>
            </a:r>
          </a:p>
          <a:p>
            <a:endParaRPr lang="en-US" sz="400" dirty="0"/>
          </a:p>
          <a:p>
            <a:r>
              <a:rPr lang="en-US" sz="1200" dirty="0"/>
              <a:t>Log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dirty="0"/>
              <a:t>coefficient significance, sign, magnitude, rank</a:t>
            </a:r>
          </a:p>
          <a:p>
            <a:endParaRPr lang="en-US" sz="400" dirty="0"/>
          </a:p>
          <a:p>
            <a:r>
              <a:rPr lang="en-US" sz="1200" dirty="0"/>
              <a:t>Selection criteria per feature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% of runs where selected; % of runs with same sign; % of runs with significance; average rank (or median rank); coefficient CV (std / mean)</a:t>
            </a:r>
          </a:p>
        </p:txBody>
      </p:sp>
      <p:pic>
        <p:nvPicPr>
          <p:cNvPr id="102" name="Picture 2" descr="Experiment research line icon lab flask and gear – Royalty-Free Vector |  VectorStock">
            <a:extLst>
              <a:ext uri="{FF2B5EF4-FFF2-40B4-BE49-F238E27FC236}">
                <a16:creationId xmlns:a16="http://schemas.microsoft.com/office/drawing/2014/main" id="{37996301-6544-1B71-CE4D-BF37ACD0601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852" b="86019" l="13100" r="87200">
                        <a14:foregroundMark x1="13100" y1="60833" x2="13100" y2="60833"/>
                        <a14:foregroundMark x1="27700" y1="58241" x2="27700" y2="58241"/>
                        <a14:foregroundMark x1="39500" y1="82130" x2="39500" y2="82130"/>
                        <a14:foregroundMark x1="38400" y1="86019" x2="38400" y2="86019"/>
                        <a14:foregroundMark x1="87200" y1="60370" x2="87200" y2="60370"/>
                        <a14:foregroundMark x1="69200" y1="6852" x2="69200" y2="6852"/>
                        <a14:backgroundMark x1="42600" y1="53056" x2="42600" y2="5305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860" t="3010" r="6998" b="10422"/>
          <a:stretch>
            <a:fillRect/>
          </a:stretch>
        </p:blipFill>
        <p:spPr bwMode="auto">
          <a:xfrm flipH="1">
            <a:off x="3392623" y="4549938"/>
            <a:ext cx="289634" cy="314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92DCD68-39EA-998A-D527-DC3450625451}"/>
              </a:ext>
            </a:extLst>
          </p:cNvPr>
          <p:cNvCxnSpPr>
            <a:cxnSpLocks/>
            <a:endCxn id="101" idx="0"/>
          </p:cNvCxnSpPr>
          <p:nvPr/>
        </p:nvCxnSpPr>
        <p:spPr>
          <a:xfrm rot="10800000" flipV="1">
            <a:off x="1886102" y="4416900"/>
            <a:ext cx="7942072" cy="78711"/>
          </a:xfrm>
          <a:prstGeom prst="bentConnector2">
            <a:avLst/>
          </a:prstGeom>
          <a:ln>
            <a:solidFill>
              <a:schemeClr val="accent4"/>
            </a:solidFill>
            <a:prstDash val="lgDash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1159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B08108-35C7-FA4D-983E-DE91A96C06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1679" y="1757129"/>
            <a:ext cx="7468642" cy="3343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544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B5CCFA02-AB77-34A2-7E4B-22583E522AD5}"/>
              </a:ext>
            </a:extLst>
          </p:cNvPr>
          <p:cNvSpPr txBox="1"/>
          <p:nvPr/>
        </p:nvSpPr>
        <p:spPr>
          <a:xfrm>
            <a:off x="186813" y="2831192"/>
            <a:ext cx="984865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Hierarchical Bayesian: “Let each store have its own response, but borrow strength” Instead of one coefficient, you have store-specific coefficients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“Stores respond differently — but small stores shouldn’t overreact to noise.”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07EFDBE3-AA94-0C66-D8F3-B55669C376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277594"/>
              </p:ext>
            </p:extLst>
          </p:nvPr>
        </p:nvGraphicFramePr>
        <p:xfrm>
          <a:off x="614516" y="4595182"/>
          <a:ext cx="5871125" cy="2103120"/>
        </p:xfrm>
        <a:graphic>
          <a:graphicData uri="http://schemas.openxmlformats.org/drawingml/2006/table">
            <a:tbl>
              <a:tblPr/>
              <a:tblGrid>
                <a:gridCol w="1174225">
                  <a:extLst>
                    <a:ext uri="{9D8B030D-6E8A-4147-A177-3AD203B41FA5}">
                      <a16:colId xmlns:a16="http://schemas.microsoft.com/office/drawing/2014/main" val="3092346773"/>
                    </a:ext>
                  </a:extLst>
                </a:gridCol>
                <a:gridCol w="1174225">
                  <a:extLst>
                    <a:ext uri="{9D8B030D-6E8A-4147-A177-3AD203B41FA5}">
                      <a16:colId xmlns:a16="http://schemas.microsoft.com/office/drawing/2014/main" val="2918776904"/>
                    </a:ext>
                  </a:extLst>
                </a:gridCol>
                <a:gridCol w="1174225">
                  <a:extLst>
                    <a:ext uri="{9D8B030D-6E8A-4147-A177-3AD203B41FA5}">
                      <a16:colId xmlns:a16="http://schemas.microsoft.com/office/drawing/2014/main" val="3309410403"/>
                    </a:ext>
                  </a:extLst>
                </a:gridCol>
                <a:gridCol w="1174225">
                  <a:extLst>
                    <a:ext uri="{9D8B030D-6E8A-4147-A177-3AD203B41FA5}">
                      <a16:colId xmlns:a16="http://schemas.microsoft.com/office/drawing/2014/main" val="659426796"/>
                    </a:ext>
                  </a:extLst>
                </a:gridCol>
                <a:gridCol w="1174225">
                  <a:extLst>
                    <a:ext uri="{9D8B030D-6E8A-4147-A177-3AD203B41FA5}">
                      <a16:colId xmlns:a16="http://schemas.microsoft.com/office/drawing/2014/main" val="1223247515"/>
                    </a:ext>
                  </a:extLst>
                </a:gridCol>
              </a:tblGrid>
              <a:tr h="5046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week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media_spend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promo_intensity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3979625"/>
                  </a:ext>
                </a:extLst>
              </a:tr>
              <a:tr h="3040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0.10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1,000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43794"/>
                  </a:ext>
                </a:extLst>
              </a:tr>
              <a:tr h="3040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0.10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1,080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7119165"/>
                  </a:ext>
                </a:extLst>
              </a:tr>
              <a:tr h="3040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0.20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600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3221567"/>
                  </a:ext>
                </a:extLst>
              </a:tr>
              <a:tr h="3040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0.30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660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11445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EC984D6D-3F85-5EEC-4C13-C81C1920B9F5}"/>
              </a:ext>
            </a:extLst>
          </p:cNvPr>
          <p:cNvSpPr txBox="1"/>
          <p:nvPr/>
        </p:nvSpPr>
        <p:spPr>
          <a:xfrm>
            <a:off x="545032" y="3948851"/>
            <a:ext cx="5655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stores, 2 weeks</a:t>
            </a:r>
          </a:p>
          <a:p>
            <a:r>
              <a:rPr lang="en-US" dirty="0"/>
              <a:t>Store A is a large, urban store; Store B is a small, rural store</a:t>
            </a:r>
          </a:p>
        </p:txBody>
      </p:sp>
    </p:spTree>
    <p:extLst>
      <p:ext uri="{BB962C8B-B14F-4D97-AF65-F5344CB8AC3E}">
        <p14:creationId xmlns:p14="http://schemas.microsoft.com/office/powerpoint/2010/main" val="40129285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9684B34-6D20-E902-2060-0A916A98BACA}"/>
              </a:ext>
            </a:extLst>
          </p:cNvPr>
          <p:cNvSpPr txBox="1"/>
          <p:nvPr/>
        </p:nvSpPr>
        <p:spPr>
          <a:xfrm>
            <a:off x="186813" y="334748"/>
            <a:ext cx="108253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Fixed Effects (FE): “Compare each store to itself”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“When this same store increases media / promo / CSAT relative to its own average, what happens to sales?”.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EE9097-FE24-1CA6-E533-8A1E471EC4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787" y="1107050"/>
            <a:ext cx="7706801" cy="50775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F92CDFF-B589-2FAE-BC88-008660555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3658" y="2042065"/>
            <a:ext cx="1962424" cy="22863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0EE7DCF-15F8-0610-8163-875B387F182F}"/>
              </a:ext>
            </a:extLst>
          </p:cNvPr>
          <p:cNvSpPr txBox="1"/>
          <p:nvPr/>
        </p:nvSpPr>
        <p:spPr>
          <a:xfrm>
            <a:off x="8186588" y="2464265"/>
            <a:ext cx="60944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log_sales</a:t>
            </a:r>
            <a:r>
              <a:rPr lang="en-US" dirty="0"/>
              <a:t> ~ X + C(</a:t>
            </a:r>
            <a:r>
              <a:rPr lang="en-US" dirty="0" err="1"/>
              <a:t>store_id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91075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FC914C8-A930-F70F-2C52-AA16B0579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227" y="1295927"/>
            <a:ext cx="7297168" cy="230537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421C812-07F3-48F5-9F2D-C053E5958A39}"/>
              </a:ext>
            </a:extLst>
          </p:cNvPr>
          <p:cNvSpPr txBox="1"/>
          <p:nvPr/>
        </p:nvSpPr>
        <p:spPr>
          <a:xfrm>
            <a:off x="512398" y="401648"/>
            <a:ext cx="108253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Mundlak</a:t>
            </a:r>
            <a:r>
              <a:rPr lang="en-US" dirty="0"/>
              <a:t> / CRE: “Split within-store vs between-store effects”.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Mundlak</a:t>
            </a:r>
            <a:r>
              <a:rPr lang="en-US" dirty="0"/>
              <a:t> augments a random-effects model by adding store-level means of time-varying drivers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A6A078-BD05-1B0F-24E8-3F5E8C9ED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2972" y="2073896"/>
            <a:ext cx="5466629" cy="45767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B4556B-2242-5548-B9B6-F7C6880CE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560" y="4053786"/>
            <a:ext cx="4940829" cy="164943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3E1F65E-E2D5-7207-E271-8982E94401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398" y="6016083"/>
            <a:ext cx="5001323" cy="409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736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7ABF1E-4FFA-02DF-DDE4-A6A86BA59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24" y="1789561"/>
            <a:ext cx="7135221" cy="43535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8D81743-6ECE-4025-CF2D-63DFCAAB36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679" y="999241"/>
            <a:ext cx="6269321" cy="5406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974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1298</Words>
  <Application>Microsoft Office PowerPoint</Application>
  <PresentationFormat>Widescreen</PresentationFormat>
  <Paragraphs>260</Paragraphs>
  <Slides>7</Slides>
  <Notes>3</Notes>
  <HiddenSlides>6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Cheng Qian</dc:creator>
  <cp:lastModifiedBy>Cheng Qian</cp:lastModifiedBy>
  <cp:revision>19</cp:revision>
  <dcterms:created xsi:type="dcterms:W3CDTF">2026-01-23T04:30:44Z</dcterms:created>
  <dcterms:modified xsi:type="dcterms:W3CDTF">2026-01-25T02:26:44Z</dcterms:modified>
</cp:coreProperties>
</file>