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95" d="100"/>
          <a:sy n="95" d="100"/>
        </p:scale>
        <p:origin x="113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395F-ABC7-05C2-9003-B902EDFFB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DCE53-2A98-6D7D-69F5-967745EED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45808-2E34-D147-DAE5-487A09844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64E74-BF0D-C0EF-AA27-FA0D6644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8457-2430-6F0B-DBEC-87B8FA30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64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D698-910C-2C93-C087-BB1E9166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AFD0C-ADA9-0F62-B7E4-EFE9F70E4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37236-F9ED-59C6-0985-BF230D39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5B725-3A8D-0848-F926-D9CC8D88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12F92-98B4-60BF-66E8-912F1F75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3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00124-797A-1FFE-1853-CDF9749C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C1B29-BA1C-C535-C2F3-8E796E458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3D2A2-DAA0-F937-494F-20C0F04C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4C9AF-DA67-866D-9570-D94A8484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82B3C-E775-16E4-E75E-73101CD4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0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A6AEB-7BA7-52BB-2CE9-CD1AD1452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6765F-4760-24F4-9372-C24084AF2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98AD3-93F3-EA18-6A99-B7C14041D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52AB8-5726-4C08-341E-1D1CB9FA5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44935-7A4D-0042-659A-9FB491591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A4E00-5B6F-A366-B1B5-2AC8933E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47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33803-1BA4-71F0-3276-014A71071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3A60D-7AF3-D85D-153B-7E15246AF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FEFAF-E1C0-132D-FB7F-6C226290F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F5339-2E7E-82E2-7659-C9C5A8B72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E916D-13F6-379A-A99B-CAA740FE9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E9955E-FFFD-82A9-233B-4A6CDF99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7A3A3-0B86-1A63-DE08-AF775110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C13BFC-114B-6765-1E18-94AD1615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2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EB59-4406-D6BD-91C5-D10CE15E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E28E7F-3137-07B2-D4B6-1BA95F705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A2EDE-8CF2-67BC-29A0-559DEE99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7545A-A13A-F233-4658-67DE98B2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7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2EC40-31AA-1B1F-1BDD-88D8326D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DFCFEC-36F3-E964-07C6-479620C42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04AA8-DF34-16BB-ADC7-4E818F664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1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F7E8-7FE5-1DCD-8F08-8DB92220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8F4C1-09D4-10DA-E879-F94DA61CE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44F69-6282-9453-FF79-A747C0795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FD859-8667-A0C4-F89E-CFFAD682F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3B679-6316-C218-C668-20F4B399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70AB6-A7B2-FB04-E584-B5CC4292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35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91FA2-E3A6-0FD8-E66D-54753697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D0DF4-6BEE-5E6E-EAEA-7FFBCB736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BBF10-83AB-B80B-7A8A-D920C33BA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8F439-3F5B-E613-40BB-1EBD5EF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47691-F2F2-0976-28A3-CB30FD97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45057-EF70-90B2-72D9-15F0819E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5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BCE73-A4B2-C0CD-C97C-40597E83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F646E-F27D-E484-051F-E3B089EAA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006A5-B5F6-03BE-3031-3B7D89A8D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C191E-2A12-7771-0EAE-B37436F1F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478F2-F28C-A1FB-7DC1-DB308925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94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FE052-9C11-CB12-2006-CFDDCE12E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0599B-8240-F4F3-2863-4DC3B9E7B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42AE7-DC88-D108-529C-F4C2904D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51E0E-9C2B-E623-E785-B681F6B7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11B98-0ACD-4998-E9B8-3BBFA17A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2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C164A6-6EE0-3620-8396-56D32DB4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C8D9E-F67B-AD58-8A3D-036655371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7C60F-9691-CCE9-363E-99B9B024E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FE989-0821-4606-9913-C47125167AA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C56E8-171B-10B9-74C4-FB5F70AE1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C3C13-2BC3-909E-3463-5A524B8ED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D05EB-ED98-46D3-A030-FC4A6B6A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0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237169-F990-2217-6AF1-504E3183B5FE}"/>
              </a:ext>
            </a:extLst>
          </p:cNvPr>
          <p:cNvSpPr txBox="1"/>
          <p:nvPr/>
        </p:nvSpPr>
        <p:spPr>
          <a:xfrm>
            <a:off x="81682" y="1097374"/>
            <a:ext cx="91059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Target variable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DF1A2-DBA7-7773-FA7B-9FD11BFFBC35}"/>
              </a:ext>
            </a:extLst>
          </p:cNvPr>
          <p:cNvSpPr txBox="1"/>
          <p:nvPr/>
        </p:nvSpPr>
        <p:spPr>
          <a:xfrm>
            <a:off x="160739" y="4516160"/>
            <a:ext cx="140680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YoY Growth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6E39F-6BB2-14B3-AB81-FAAD21C73A62}"/>
              </a:ext>
            </a:extLst>
          </p:cNvPr>
          <p:cNvSpPr txBox="1"/>
          <p:nvPr/>
        </p:nvSpPr>
        <p:spPr>
          <a:xfrm>
            <a:off x="81682" y="212300"/>
            <a:ext cx="281820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Training data</a:t>
            </a:r>
            <a:r>
              <a:rPr lang="en-US" sz="1200" dirty="0"/>
              <a:t> (‘23-’25)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Primary: store × week × (*structure)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Secondary: market × week × (structure)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4E0DDC-AB6C-3111-4E6F-D908CED8472C}"/>
              </a:ext>
            </a:extLst>
          </p:cNvPr>
          <p:cNvSpPr txBox="1"/>
          <p:nvPr/>
        </p:nvSpPr>
        <p:spPr>
          <a:xfrm>
            <a:off x="9818723" y="5946636"/>
            <a:ext cx="26703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*structure: channel × daypart × category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F128CD-1D39-8A99-007B-A0CCA2893C41}"/>
              </a:ext>
            </a:extLst>
          </p:cNvPr>
          <p:cNvSpPr txBox="1"/>
          <p:nvPr/>
        </p:nvSpPr>
        <p:spPr>
          <a:xfrm>
            <a:off x="3161968" y="227441"/>
            <a:ext cx="2489023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Feature selection </a:t>
            </a:r>
            <a:r>
              <a:rPr lang="en-US" sz="1200" dirty="0"/>
              <a:t>(150+ features)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Pricing, mix share, promo, media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Ops, Out-of-Stock</a:t>
            </a:r>
          </a:p>
          <a:p>
            <a:r>
              <a:rPr lang="en-US" sz="1200" b="1" dirty="0"/>
              <a:t>Criteria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Mechanism representation per bucket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Significance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Stability (sign &amp; rank)</a:t>
            </a:r>
          </a:p>
          <a:p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89B215-5484-4BDB-DAC3-EAA8BD781B91}"/>
              </a:ext>
            </a:extLst>
          </p:cNvPr>
          <p:cNvSpPr txBox="1"/>
          <p:nvPr/>
        </p:nvSpPr>
        <p:spPr>
          <a:xfrm>
            <a:off x="3079928" y="4233790"/>
            <a:ext cx="2489023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Final features (criteria)</a:t>
            </a:r>
            <a:endParaRPr lang="en-US" sz="12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443495-54B0-656F-DD62-3DA7E59C682D}"/>
              </a:ext>
            </a:extLst>
          </p:cNvPr>
          <p:cNvCxnSpPr>
            <a:cxnSpLocks/>
          </p:cNvCxnSpPr>
          <p:nvPr/>
        </p:nvCxnSpPr>
        <p:spPr>
          <a:xfrm>
            <a:off x="3588759" y="2039160"/>
            <a:ext cx="0" cy="33792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12E5480-2A52-0E46-6B48-35B3C4C087D9}"/>
              </a:ext>
            </a:extLst>
          </p:cNvPr>
          <p:cNvSpPr txBox="1"/>
          <p:nvPr/>
        </p:nvSpPr>
        <p:spPr>
          <a:xfrm>
            <a:off x="3156549" y="2364047"/>
            <a:ext cx="2489020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Selection testing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Pre-filter (leakage, redundancy, correlation)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Regularized selection (Ridge / Elastic Net)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Stability validation (time splits, sign/rank) time splits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5BFA0E0-8794-F1E0-3EA3-1A10E4F5AA65}"/>
              </a:ext>
            </a:extLst>
          </p:cNvPr>
          <p:cNvCxnSpPr>
            <a:cxnSpLocks/>
          </p:cNvCxnSpPr>
          <p:nvPr/>
        </p:nvCxnSpPr>
        <p:spPr>
          <a:xfrm>
            <a:off x="3620402" y="3812344"/>
            <a:ext cx="0" cy="33792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6DE7701-9534-08A2-D8B9-50BCB393BE82}"/>
              </a:ext>
            </a:extLst>
          </p:cNvPr>
          <p:cNvSpPr txBox="1"/>
          <p:nvPr/>
        </p:nvSpPr>
        <p:spPr>
          <a:xfrm>
            <a:off x="7897991" y="1083491"/>
            <a:ext cx="2021214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ML model training (criteria)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Interpretability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Accuracy (R2, RMSE, MAE)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B1680C-0A2B-C56C-E427-6B01489909EA}"/>
              </a:ext>
            </a:extLst>
          </p:cNvPr>
          <p:cNvSpPr txBox="1"/>
          <p:nvPr/>
        </p:nvSpPr>
        <p:spPr>
          <a:xfrm>
            <a:off x="7897990" y="2096633"/>
            <a:ext cx="2021213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Panel structure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Mundlark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Fixed-effect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Experiment on: xxx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B734BD-6E2E-1B34-5009-480F426E1B70}"/>
              </a:ext>
            </a:extLst>
          </p:cNvPr>
          <p:cNvSpPr txBox="1"/>
          <p:nvPr/>
        </p:nvSpPr>
        <p:spPr>
          <a:xfrm>
            <a:off x="7897989" y="3207916"/>
            <a:ext cx="202121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Tree-based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RF/XGB/</a:t>
            </a:r>
            <a:r>
              <a:rPr lang="en-US" sz="1200" dirty="0" err="1"/>
              <a:t>LightGBM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Experiment on: xxx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AF9D4846-E330-7BD5-8BF3-A19E65868F5A}"/>
              </a:ext>
            </a:extLst>
          </p:cNvPr>
          <p:cNvCxnSpPr>
            <a:cxnSpLocks/>
            <a:stCxn id="16" idx="3"/>
            <a:endCxn id="31" idx="1"/>
          </p:cNvCxnSpPr>
          <p:nvPr/>
        </p:nvCxnSpPr>
        <p:spPr>
          <a:xfrm flipV="1">
            <a:off x="5568951" y="2497567"/>
            <a:ext cx="527049" cy="18747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961A422-4E7D-6DF6-78B9-13ABB23CA659}"/>
              </a:ext>
            </a:extLst>
          </p:cNvPr>
          <p:cNvSpPr txBox="1"/>
          <p:nvPr/>
        </p:nvSpPr>
        <p:spPr>
          <a:xfrm>
            <a:off x="6096000" y="1989735"/>
            <a:ext cx="1430214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Feature transformation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Log(value)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Delta_log</a:t>
            </a:r>
            <a:r>
              <a:rPr lang="en-US" sz="1200" dirty="0"/>
              <a:t>(value)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Value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F15D32BC-AF3F-1744-7C15-388EAFAE4B4C}"/>
              </a:ext>
            </a:extLst>
          </p:cNvPr>
          <p:cNvCxnSpPr>
            <a:cxnSpLocks/>
            <a:stCxn id="16" idx="3"/>
            <a:endCxn id="27" idx="1"/>
          </p:cNvCxnSpPr>
          <p:nvPr/>
        </p:nvCxnSpPr>
        <p:spPr>
          <a:xfrm flipV="1">
            <a:off x="5568951" y="3531082"/>
            <a:ext cx="2329038" cy="8412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ED7A9AD-675D-F041-3BB1-385A0CDF50F4}"/>
              </a:ext>
            </a:extLst>
          </p:cNvPr>
          <p:cNvSpPr txBox="1"/>
          <p:nvPr/>
        </p:nvSpPr>
        <p:spPr>
          <a:xfrm>
            <a:off x="10077459" y="1076213"/>
            <a:ext cx="1419338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Contribution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Interpretability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Decomposition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Reconciliation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197E47-A2A8-4122-4D34-3DBBEAEB5102}"/>
              </a:ext>
            </a:extLst>
          </p:cNvPr>
          <p:cNvSpPr txBox="1"/>
          <p:nvPr/>
        </p:nvSpPr>
        <p:spPr>
          <a:xfrm>
            <a:off x="10077459" y="2087810"/>
            <a:ext cx="1430214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Regression-based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Significance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Coefficients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Model units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4B9F6E-E9D2-B481-589D-9763E0C27B05}"/>
              </a:ext>
            </a:extLst>
          </p:cNvPr>
          <p:cNvSpPr txBox="1"/>
          <p:nvPr/>
        </p:nvSpPr>
        <p:spPr>
          <a:xfrm>
            <a:off x="10077460" y="3216644"/>
            <a:ext cx="143021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Tree-based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Shap</a:t>
            </a:r>
            <a:r>
              <a:rPr lang="en-US" sz="1200" dirty="0"/>
              <a:t> value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Base contribution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Feature contribution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F5A149F-82DA-3629-7CA5-D6B7E6B4ACDC}"/>
              </a:ext>
            </a:extLst>
          </p:cNvPr>
          <p:cNvCxnSpPr>
            <a:cxnSpLocks/>
            <a:stCxn id="31" idx="3"/>
            <a:endCxn id="26" idx="1"/>
          </p:cNvCxnSpPr>
          <p:nvPr/>
        </p:nvCxnSpPr>
        <p:spPr>
          <a:xfrm>
            <a:off x="7526214" y="2497567"/>
            <a:ext cx="371776" cy="145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4420D56-7B30-B1AD-69C7-CC9168D702E0}"/>
              </a:ext>
            </a:extLst>
          </p:cNvPr>
          <p:cNvCxnSpPr>
            <a:cxnSpLocks/>
          </p:cNvCxnSpPr>
          <p:nvPr/>
        </p:nvCxnSpPr>
        <p:spPr>
          <a:xfrm>
            <a:off x="8936150" y="1783899"/>
            <a:ext cx="0" cy="28384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56E1EF4-76AF-890A-41C7-15434C06AC76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9919203" y="2419796"/>
            <a:ext cx="158256" cy="8351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5295B5E-4897-81DB-F32E-D03874297DA1}"/>
              </a:ext>
            </a:extLst>
          </p:cNvPr>
          <p:cNvCxnSpPr>
            <a:cxnSpLocks/>
          </p:cNvCxnSpPr>
          <p:nvPr/>
        </p:nvCxnSpPr>
        <p:spPr>
          <a:xfrm>
            <a:off x="9927752" y="3479478"/>
            <a:ext cx="14970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2D38EF9-0105-4FF5-B3CA-5F8A515D53A8}"/>
              </a:ext>
            </a:extLst>
          </p:cNvPr>
          <p:cNvSpPr txBox="1"/>
          <p:nvPr/>
        </p:nvSpPr>
        <p:spPr>
          <a:xfrm>
            <a:off x="169261" y="3904359"/>
            <a:ext cx="1404359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/>
              <a:t>Importance ranking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C873F1A-A5F2-B671-D80A-C66E7B894234}"/>
              </a:ext>
            </a:extLst>
          </p:cNvPr>
          <p:cNvSpPr txBox="1"/>
          <p:nvPr/>
        </p:nvSpPr>
        <p:spPr>
          <a:xfrm>
            <a:off x="11591916" y="2043080"/>
            <a:ext cx="114551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Value</a:t>
            </a:r>
          </a:p>
          <a:p>
            <a:r>
              <a:rPr lang="en-US" sz="1200" dirty="0"/>
              <a:t>Log(value)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8470E19-B402-B121-0AE3-A66CA73D2358}"/>
              </a:ext>
            </a:extLst>
          </p:cNvPr>
          <p:cNvSpPr txBox="1"/>
          <p:nvPr/>
        </p:nvSpPr>
        <p:spPr>
          <a:xfrm>
            <a:off x="11610679" y="2650630"/>
            <a:ext cx="129623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err="1"/>
              <a:t>Delta_log</a:t>
            </a:r>
            <a:r>
              <a:rPr lang="en-US" sz="1200" dirty="0"/>
              <a:t>(value)</a:t>
            </a: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238DC84D-88A6-74DD-0825-5EDF815F4B73}"/>
              </a:ext>
            </a:extLst>
          </p:cNvPr>
          <p:cNvCxnSpPr>
            <a:cxnSpLocks/>
            <a:stCxn id="43" idx="2"/>
            <a:endCxn id="9" idx="2"/>
          </p:cNvCxnSpPr>
          <p:nvPr/>
        </p:nvCxnSpPr>
        <p:spPr>
          <a:xfrm rot="5400000">
            <a:off x="5640262" y="-359146"/>
            <a:ext cx="376186" cy="9928424"/>
          </a:xfrm>
          <a:prstGeom prst="bentConnector3">
            <a:avLst>
              <a:gd name="adj1" fmla="val 1607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610C4764-251B-2400-558D-3C869E2AC47E}"/>
              </a:ext>
            </a:extLst>
          </p:cNvPr>
          <p:cNvSpPr txBox="1"/>
          <p:nvPr/>
        </p:nvSpPr>
        <p:spPr>
          <a:xfrm>
            <a:off x="5127643" y="5381502"/>
            <a:ext cx="127315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Reconciliation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848C4DF8-5A6E-3446-6F33-EED5060F57E9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 flipV="1">
            <a:off x="864143" y="2958907"/>
            <a:ext cx="11327858" cy="1834252"/>
          </a:xfrm>
          <a:prstGeom prst="bentConnector4">
            <a:avLst>
              <a:gd name="adj1" fmla="val 1035"/>
              <a:gd name="adj2" fmla="val 16395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7A057130-192D-0B3A-7963-42DE534DB52E}"/>
              </a:ext>
            </a:extLst>
          </p:cNvPr>
          <p:cNvCxnSpPr>
            <a:cxnSpLocks/>
          </p:cNvCxnSpPr>
          <p:nvPr/>
        </p:nvCxnSpPr>
        <p:spPr>
          <a:xfrm rot="5400000">
            <a:off x="5554243" y="-2250276"/>
            <a:ext cx="1563596" cy="11320559"/>
          </a:xfrm>
          <a:prstGeom prst="bentConnector3">
            <a:avLst>
              <a:gd name="adj1" fmla="val 2463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7F446933-F549-7243-F3DD-CD71A4E08C8B}"/>
              </a:ext>
            </a:extLst>
          </p:cNvPr>
          <p:cNvSpPr txBox="1"/>
          <p:nvPr/>
        </p:nvSpPr>
        <p:spPr>
          <a:xfrm>
            <a:off x="5127643" y="5756074"/>
            <a:ext cx="127315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Reconciliation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E616D7B-B2BF-AD97-02F0-123473422BDC}"/>
              </a:ext>
            </a:extLst>
          </p:cNvPr>
          <p:cNvSpPr txBox="1"/>
          <p:nvPr/>
        </p:nvSpPr>
        <p:spPr>
          <a:xfrm>
            <a:off x="5127642" y="6395314"/>
            <a:ext cx="127315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Reconciliation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9A30772-392A-0B88-2109-C49D3A0EC878}"/>
              </a:ext>
            </a:extLst>
          </p:cNvPr>
          <p:cNvSpPr txBox="1"/>
          <p:nvPr/>
        </p:nvSpPr>
        <p:spPr>
          <a:xfrm>
            <a:off x="1404953" y="1120834"/>
            <a:ext cx="156133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log(level): explain </a:t>
            </a:r>
            <a:r>
              <a:rPr lang="en-US" sz="1200" i="1" dirty="0"/>
              <a:t>levels with elasticity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Delta_log</a:t>
            </a:r>
            <a:r>
              <a:rPr lang="en-US" sz="1200" dirty="0"/>
              <a:t>: explain </a:t>
            </a:r>
            <a:r>
              <a:rPr lang="en-US" sz="1200" i="1" dirty="0"/>
              <a:t>growth rates</a:t>
            </a:r>
            <a:endParaRPr lang="en-US" sz="1200" dirty="0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65E93B9-1732-99EC-FA11-090149694E37}"/>
              </a:ext>
            </a:extLst>
          </p:cNvPr>
          <p:cNvCxnSpPr>
            <a:cxnSpLocks/>
            <a:stCxn id="7" idx="3"/>
            <a:endCxn id="104" idx="1"/>
          </p:cNvCxnSpPr>
          <p:nvPr/>
        </p:nvCxnSpPr>
        <p:spPr>
          <a:xfrm>
            <a:off x="992277" y="1697539"/>
            <a:ext cx="412676" cy="23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2773E89-538B-26F1-8128-B4F6DAC6C039}"/>
              </a:ext>
            </a:extLst>
          </p:cNvPr>
          <p:cNvCxnSpPr>
            <a:cxnSpLocks/>
          </p:cNvCxnSpPr>
          <p:nvPr/>
        </p:nvCxnSpPr>
        <p:spPr>
          <a:xfrm>
            <a:off x="2937220" y="512005"/>
            <a:ext cx="224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Arrow: Curved Up 111">
            <a:extLst>
              <a:ext uri="{FF2B5EF4-FFF2-40B4-BE49-F238E27FC236}">
                <a16:creationId xmlns:a16="http://schemas.microsoft.com/office/drawing/2014/main" id="{B29FF54B-2237-CE78-31C8-25AFCEB9238B}"/>
              </a:ext>
            </a:extLst>
          </p:cNvPr>
          <p:cNvSpPr/>
          <p:nvPr/>
        </p:nvSpPr>
        <p:spPr>
          <a:xfrm rot="15958909">
            <a:off x="9300072" y="2435080"/>
            <a:ext cx="632031" cy="163293"/>
          </a:xfrm>
          <a:prstGeom prst="curvedUp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Arrow: Curved Up 112">
            <a:extLst>
              <a:ext uri="{FF2B5EF4-FFF2-40B4-BE49-F238E27FC236}">
                <a16:creationId xmlns:a16="http://schemas.microsoft.com/office/drawing/2014/main" id="{54F954E7-A55D-086D-BB5A-BF89D09BC68A}"/>
              </a:ext>
            </a:extLst>
          </p:cNvPr>
          <p:cNvSpPr/>
          <p:nvPr/>
        </p:nvSpPr>
        <p:spPr>
          <a:xfrm rot="15958909">
            <a:off x="9338389" y="3451640"/>
            <a:ext cx="632031" cy="163293"/>
          </a:xfrm>
          <a:prstGeom prst="curvedUp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4" name="Arrow: Curved Up 113">
            <a:extLst>
              <a:ext uri="{FF2B5EF4-FFF2-40B4-BE49-F238E27FC236}">
                <a16:creationId xmlns:a16="http://schemas.microsoft.com/office/drawing/2014/main" id="{9CCBFEA1-EE82-59E6-74BF-62AE5EB16A11}"/>
              </a:ext>
            </a:extLst>
          </p:cNvPr>
          <p:cNvSpPr/>
          <p:nvPr/>
        </p:nvSpPr>
        <p:spPr>
          <a:xfrm rot="15958909">
            <a:off x="4827121" y="2725530"/>
            <a:ext cx="632031" cy="163293"/>
          </a:xfrm>
          <a:prstGeom prst="curvedUp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D598747-9DEB-9590-F114-3FA665706B62}"/>
              </a:ext>
            </a:extLst>
          </p:cNvPr>
          <p:cNvSpPr txBox="1"/>
          <p:nvPr/>
        </p:nvSpPr>
        <p:spPr>
          <a:xfrm>
            <a:off x="160739" y="3372454"/>
            <a:ext cx="1404359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Final outputs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FF723BC-3780-45BF-983D-15303E0D1263}"/>
              </a:ext>
            </a:extLst>
          </p:cNvPr>
          <p:cNvSpPr txBox="1"/>
          <p:nvPr/>
        </p:nvSpPr>
        <p:spPr>
          <a:xfrm>
            <a:off x="7897989" y="170272"/>
            <a:ext cx="2021214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/>
              <a:t>Baseline model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Analytics / Accounting based</a:t>
            </a:r>
          </a:p>
        </p:txBody>
      </p: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A007FEE0-F092-F82B-B857-2479819ECA8F}"/>
              </a:ext>
            </a:extLst>
          </p:cNvPr>
          <p:cNvCxnSpPr>
            <a:cxnSpLocks/>
            <a:endCxn id="124" idx="0"/>
          </p:cNvCxnSpPr>
          <p:nvPr/>
        </p:nvCxnSpPr>
        <p:spPr>
          <a:xfrm flipV="1">
            <a:off x="1399433" y="170272"/>
            <a:ext cx="7509163" cy="6931"/>
          </a:xfrm>
          <a:prstGeom prst="bentConnector4">
            <a:avLst>
              <a:gd name="adj1" fmla="val 43271"/>
              <a:gd name="adj2" fmla="val 339822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0A891167-BAA6-6FD1-5E16-DD555498A95D}"/>
              </a:ext>
            </a:extLst>
          </p:cNvPr>
          <p:cNvSpPr txBox="1"/>
          <p:nvPr/>
        </p:nvSpPr>
        <p:spPr>
          <a:xfrm>
            <a:off x="156768" y="2901392"/>
            <a:ext cx="1404359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Scenario Planning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EC4F9B1-6AFF-C4A1-9621-CA16697ED2FC}"/>
              </a:ext>
            </a:extLst>
          </p:cNvPr>
          <p:cNvSpPr txBox="1"/>
          <p:nvPr/>
        </p:nvSpPr>
        <p:spPr>
          <a:xfrm>
            <a:off x="1838660" y="3681822"/>
            <a:ext cx="364202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/>
              <a:t>GC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4532360-9A0A-9521-BF21-44FFBC18C3FA}"/>
              </a:ext>
            </a:extLst>
          </p:cNvPr>
          <p:cNvSpPr txBox="1"/>
          <p:nvPr/>
        </p:nvSpPr>
        <p:spPr>
          <a:xfrm>
            <a:off x="1833121" y="4045492"/>
            <a:ext cx="48935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AC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91CF4E4-C934-69C2-4A7B-EE5DE6D28275}"/>
              </a:ext>
            </a:extLst>
          </p:cNvPr>
          <p:cNvSpPr txBox="1"/>
          <p:nvPr/>
        </p:nvSpPr>
        <p:spPr>
          <a:xfrm>
            <a:off x="1798981" y="3254083"/>
            <a:ext cx="50206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/>
              <a:t>Sales</a:t>
            </a:r>
          </a:p>
        </p:txBody>
      </p:sp>
    </p:spTree>
    <p:extLst>
      <p:ext uri="{BB962C8B-B14F-4D97-AF65-F5344CB8AC3E}">
        <p14:creationId xmlns:p14="http://schemas.microsoft.com/office/powerpoint/2010/main" val="3815585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211</Words>
  <Application>Microsoft Office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 Qian</dc:creator>
  <cp:lastModifiedBy>Cheng Qian</cp:lastModifiedBy>
  <cp:revision>5</cp:revision>
  <dcterms:created xsi:type="dcterms:W3CDTF">2026-01-23T04:30:44Z</dcterms:created>
  <dcterms:modified xsi:type="dcterms:W3CDTF">2026-01-23T04:49:54Z</dcterms:modified>
</cp:coreProperties>
</file>