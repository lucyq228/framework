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71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5720"/>
            <a:ext cx="12191695" cy="320040"/>
          </a:xfrm>
          <a:prstGeom prst="rect">
            <a:avLst/>
          </a:prstGeom>
          <a:noFill/>
        </p:spPr>
        <p:txBody>
          <a:bodyPr wrap="none" lIns="9144" tIns="0" rIns="9144" bIns="0" anchor="ctr">
            <a:spAutoFit/>
          </a:bodyPr>
          <a:lstStyle/>
          <a:p>
            <a:pPr algn="ctr"/>
            <a:r>
              <a:rPr sz="2300" b="1" i="0">
                <a:solidFill>
                  <a:srgbClr val="0A2D5F"/>
                </a:solidFill>
                <a:latin typeface="Arial"/>
              </a:rPr>
              <a:t>How Bayesian MMM Can Fit into the MVM Framework</a:t>
            </a:r>
          </a:p>
        </p:txBody>
      </p:sp>
      <p:sp>
        <p:nvSpPr>
          <p:cNvPr id="3" name="Rounded Rectangle 2"/>
          <p:cNvSpPr/>
          <p:nvPr/>
        </p:nvSpPr>
        <p:spPr>
          <a:xfrm>
            <a:off x="54864" y="484632"/>
            <a:ext cx="5212080" cy="5449824"/>
          </a:xfrm>
          <a:prstGeom prst="roundRect">
            <a:avLst/>
          </a:prstGeom>
          <a:solidFill>
            <a:srgbClr val="FFFFFF"/>
          </a:solidFill>
          <a:ln w="13970">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340096" y="484632"/>
            <a:ext cx="6784848" cy="5449824"/>
          </a:xfrm>
          <a:prstGeom prst="roundRect">
            <a:avLst/>
          </a:prstGeom>
          <a:solidFill>
            <a:srgbClr val="FFFFFF"/>
          </a:solidFill>
          <a:ln w="13970">
            <a:solidFill>
              <a:srgbClr val="006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 y="603504"/>
            <a:ext cx="5175504" cy="219456"/>
          </a:xfrm>
          <a:prstGeom prst="rect">
            <a:avLst/>
          </a:prstGeom>
          <a:noFill/>
        </p:spPr>
        <p:txBody>
          <a:bodyPr wrap="none" lIns="9144" tIns="0" rIns="9144" bIns="0" anchor="ctr">
            <a:spAutoFit/>
          </a:bodyPr>
          <a:lstStyle/>
          <a:p>
            <a:pPr algn="ctr"/>
            <a:r>
              <a:rPr sz="1600" b="1" i="0">
                <a:solidFill>
                  <a:srgbClr val="0F4CAA"/>
                </a:solidFill>
                <a:latin typeface="Arial"/>
              </a:rPr>
              <a:t>Current MVM Approach</a:t>
            </a:r>
          </a:p>
        </p:txBody>
      </p:sp>
      <p:sp>
        <p:nvSpPr>
          <p:cNvPr id="6" name="TextBox 5"/>
          <p:cNvSpPr txBox="1"/>
          <p:nvPr/>
        </p:nvSpPr>
        <p:spPr>
          <a:xfrm>
            <a:off x="73152" y="841248"/>
            <a:ext cx="5175504" cy="182880"/>
          </a:xfrm>
          <a:prstGeom prst="rect">
            <a:avLst/>
          </a:prstGeom>
          <a:noFill/>
        </p:spPr>
        <p:txBody>
          <a:bodyPr wrap="none" lIns="9144" tIns="0" rIns="9144" bIns="0" anchor="ctr">
            <a:spAutoFit/>
          </a:bodyPr>
          <a:lstStyle/>
          <a:p>
            <a:pPr algn="ctr"/>
            <a:r>
              <a:rPr sz="1100" b="0" i="1">
                <a:solidFill>
                  <a:srgbClr val="0F4CAA"/>
                </a:solidFill>
                <a:latin typeface="Arial"/>
              </a:rPr>
              <a:t>Panel Fixed Effects Linear Model</a:t>
            </a:r>
          </a:p>
        </p:txBody>
      </p:sp>
      <p:sp>
        <p:nvSpPr>
          <p:cNvPr id="7" name="Oval 6"/>
          <p:cNvSpPr/>
          <p:nvPr/>
        </p:nvSpPr>
        <p:spPr>
          <a:xfrm>
            <a:off x="82296" y="1216152"/>
            <a:ext cx="192024" cy="192024"/>
          </a:xfrm>
          <a:prstGeom prst="ellipse">
            <a:avLst/>
          </a:prstGeom>
          <a:solidFill>
            <a:srgbClr val="0F4CAA"/>
          </a:solidFill>
          <a:ln>
            <a:solidFill>
              <a:srgbClr val="0F4C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1</a:t>
            </a:r>
          </a:p>
        </p:txBody>
      </p:sp>
      <p:sp>
        <p:nvSpPr>
          <p:cNvPr id="8" name="TextBox 7"/>
          <p:cNvSpPr txBox="1"/>
          <p:nvPr/>
        </p:nvSpPr>
        <p:spPr>
          <a:xfrm>
            <a:off x="246888" y="1197864"/>
            <a:ext cx="594360" cy="292608"/>
          </a:xfrm>
          <a:prstGeom prst="rect">
            <a:avLst/>
          </a:prstGeom>
          <a:noFill/>
        </p:spPr>
        <p:txBody>
          <a:bodyPr wrap="none" lIns="9144" tIns="0" rIns="9144" bIns="0" anchor="ctr">
            <a:spAutoFit/>
          </a:bodyPr>
          <a:lstStyle/>
          <a:p>
            <a:pPr algn="ctr"/>
            <a:r>
              <a:rPr sz="620" b="1" i="0">
                <a:solidFill>
                  <a:srgbClr val="0F4CAA"/>
                </a:solidFill>
                <a:latin typeface="Arial"/>
              </a:rPr>
              <a:t>Domain
feature pools</a:t>
            </a:r>
          </a:p>
        </p:txBody>
      </p:sp>
      <p:sp>
        <p:nvSpPr>
          <p:cNvPr id="9" name="Oval 8"/>
          <p:cNvSpPr/>
          <p:nvPr/>
        </p:nvSpPr>
        <p:spPr>
          <a:xfrm>
            <a:off x="1207008" y="1216152"/>
            <a:ext cx="192024" cy="192024"/>
          </a:xfrm>
          <a:prstGeom prst="ellipse">
            <a:avLst/>
          </a:prstGeom>
          <a:solidFill>
            <a:srgbClr val="0F4CAA"/>
          </a:solidFill>
          <a:ln>
            <a:solidFill>
              <a:srgbClr val="0F4C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2</a:t>
            </a:r>
          </a:p>
        </p:txBody>
      </p:sp>
      <p:sp>
        <p:nvSpPr>
          <p:cNvPr id="10" name="TextBox 9"/>
          <p:cNvSpPr txBox="1"/>
          <p:nvPr/>
        </p:nvSpPr>
        <p:spPr>
          <a:xfrm>
            <a:off x="1371600" y="1197864"/>
            <a:ext cx="594360" cy="292608"/>
          </a:xfrm>
          <a:prstGeom prst="rect">
            <a:avLst/>
          </a:prstGeom>
          <a:noFill/>
        </p:spPr>
        <p:txBody>
          <a:bodyPr wrap="none" lIns="9144" tIns="0" rIns="9144" bIns="0" anchor="ctr">
            <a:spAutoFit/>
          </a:bodyPr>
          <a:lstStyle/>
          <a:p>
            <a:pPr algn="ctr"/>
            <a:r>
              <a:rPr sz="620" b="1" i="0">
                <a:solidFill>
                  <a:srgbClr val="0F4CAA"/>
                </a:solidFill>
                <a:latin typeface="Arial"/>
              </a:rPr>
              <a:t>Multiverse
experiments</a:t>
            </a:r>
          </a:p>
        </p:txBody>
      </p:sp>
      <p:sp>
        <p:nvSpPr>
          <p:cNvPr id="11" name="Oval 10"/>
          <p:cNvSpPr/>
          <p:nvPr/>
        </p:nvSpPr>
        <p:spPr>
          <a:xfrm>
            <a:off x="2450591" y="1216152"/>
            <a:ext cx="192024" cy="192024"/>
          </a:xfrm>
          <a:prstGeom prst="ellipse">
            <a:avLst/>
          </a:prstGeom>
          <a:solidFill>
            <a:srgbClr val="0F4CAA"/>
          </a:solidFill>
          <a:ln>
            <a:solidFill>
              <a:srgbClr val="0F4C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3</a:t>
            </a:r>
          </a:p>
        </p:txBody>
      </p:sp>
      <p:sp>
        <p:nvSpPr>
          <p:cNvPr id="12" name="TextBox 11"/>
          <p:cNvSpPr txBox="1"/>
          <p:nvPr/>
        </p:nvSpPr>
        <p:spPr>
          <a:xfrm>
            <a:off x="2615184" y="1197864"/>
            <a:ext cx="594360" cy="292608"/>
          </a:xfrm>
          <a:prstGeom prst="rect">
            <a:avLst/>
          </a:prstGeom>
          <a:noFill/>
        </p:spPr>
        <p:txBody>
          <a:bodyPr wrap="none" lIns="9144" tIns="0" rIns="9144" bIns="0" anchor="ctr">
            <a:spAutoFit/>
          </a:bodyPr>
          <a:lstStyle/>
          <a:p>
            <a:pPr algn="ctr"/>
            <a:r>
              <a:rPr sz="620" b="1" i="0">
                <a:solidFill>
                  <a:srgbClr val="0F4CAA"/>
                </a:solidFill>
                <a:latin typeface="Arial"/>
              </a:rPr>
              <a:t>Gate
criteria</a:t>
            </a:r>
          </a:p>
        </p:txBody>
      </p:sp>
      <p:sp>
        <p:nvSpPr>
          <p:cNvPr id="13" name="Oval 12"/>
          <p:cNvSpPr/>
          <p:nvPr/>
        </p:nvSpPr>
        <p:spPr>
          <a:xfrm>
            <a:off x="3310127" y="1216152"/>
            <a:ext cx="192024" cy="192024"/>
          </a:xfrm>
          <a:prstGeom prst="ellipse">
            <a:avLst/>
          </a:prstGeom>
          <a:solidFill>
            <a:srgbClr val="0F4CAA"/>
          </a:solidFill>
          <a:ln>
            <a:solidFill>
              <a:srgbClr val="0F4C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4</a:t>
            </a:r>
          </a:p>
        </p:txBody>
      </p:sp>
      <p:sp>
        <p:nvSpPr>
          <p:cNvPr id="14" name="TextBox 13"/>
          <p:cNvSpPr txBox="1"/>
          <p:nvPr/>
        </p:nvSpPr>
        <p:spPr>
          <a:xfrm>
            <a:off x="3474720" y="1197864"/>
            <a:ext cx="594360" cy="292608"/>
          </a:xfrm>
          <a:prstGeom prst="rect">
            <a:avLst/>
          </a:prstGeom>
          <a:noFill/>
        </p:spPr>
        <p:txBody>
          <a:bodyPr wrap="none" lIns="9144" tIns="0" rIns="9144" bIns="0" anchor="ctr">
            <a:spAutoFit/>
          </a:bodyPr>
          <a:lstStyle/>
          <a:p>
            <a:pPr algn="ctr"/>
            <a:r>
              <a:rPr sz="620" b="1" i="0">
                <a:solidFill>
                  <a:srgbClr val="0F4CAA"/>
                </a:solidFill>
                <a:latin typeface="Arial"/>
              </a:rPr>
              <a:t>Final panel
model</a:t>
            </a:r>
          </a:p>
        </p:txBody>
      </p:sp>
      <p:sp>
        <p:nvSpPr>
          <p:cNvPr id="15" name="Oval 14"/>
          <p:cNvSpPr/>
          <p:nvPr/>
        </p:nvSpPr>
        <p:spPr>
          <a:xfrm>
            <a:off x="4361688" y="1216152"/>
            <a:ext cx="192024" cy="192024"/>
          </a:xfrm>
          <a:prstGeom prst="ellipse">
            <a:avLst/>
          </a:prstGeom>
          <a:solidFill>
            <a:srgbClr val="0F4CAA"/>
          </a:solidFill>
          <a:ln>
            <a:solidFill>
              <a:srgbClr val="0F4C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5</a:t>
            </a:r>
          </a:p>
        </p:txBody>
      </p:sp>
      <p:sp>
        <p:nvSpPr>
          <p:cNvPr id="16" name="TextBox 15"/>
          <p:cNvSpPr txBox="1"/>
          <p:nvPr/>
        </p:nvSpPr>
        <p:spPr>
          <a:xfrm>
            <a:off x="4526280" y="1197864"/>
            <a:ext cx="594360" cy="292608"/>
          </a:xfrm>
          <a:prstGeom prst="rect">
            <a:avLst/>
          </a:prstGeom>
          <a:noFill/>
        </p:spPr>
        <p:txBody>
          <a:bodyPr wrap="none" lIns="9144" tIns="0" rIns="9144" bIns="0" anchor="ctr">
            <a:spAutoFit/>
          </a:bodyPr>
          <a:lstStyle/>
          <a:p>
            <a:pPr algn="ctr"/>
            <a:r>
              <a:rPr sz="620" b="1" i="0">
                <a:solidFill>
                  <a:srgbClr val="0F4CAA"/>
                </a:solidFill>
                <a:latin typeface="Arial"/>
              </a:rPr>
              <a:t>Outputs</a:t>
            </a:r>
          </a:p>
        </p:txBody>
      </p:sp>
      <p:sp>
        <p:nvSpPr>
          <p:cNvPr id="17" name="Rounded Rectangle 16"/>
          <p:cNvSpPr/>
          <p:nvPr/>
        </p:nvSpPr>
        <p:spPr>
          <a:xfrm>
            <a:off x="146304" y="1572768"/>
            <a:ext cx="877824" cy="713232"/>
          </a:xfrm>
          <a:prstGeom prst="roundRect">
            <a:avLst/>
          </a:prstGeom>
          <a:solidFill>
            <a:srgbClr val="F5F9FF"/>
          </a:solidFill>
          <a:ln w="12700">
            <a:solidFill>
              <a:srgbClr val="0F4C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2880" y="1618488"/>
            <a:ext cx="804672" cy="128016"/>
          </a:xfrm>
          <a:prstGeom prst="rect">
            <a:avLst/>
          </a:prstGeom>
          <a:noFill/>
        </p:spPr>
        <p:txBody>
          <a:bodyPr wrap="none" lIns="9144" tIns="0" rIns="9144" bIns="0" anchor="ctr">
            <a:spAutoFit/>
          </a:bodyPr>
          <a:lstStyle/>
          <a:p>
            <a:pPr algn="ctr"/>
            <a:r>
              <a:rPr sz="760" b="1" i="0">
                <a:solidFill>
                  <a:srgbClr val="0F4CAA"/>
                </a:solidFill>
                <a:latin typeface="Arial"/>
              </a:rPr>
              <a:t>Media</a:t>
            </a:r>
          </a:p>
        </p:txBody>
      </p:sp>
      <p:sp>
        <p:nvSpPr>
          <p:cNvPr id="19" name="Rounded Rectangle 18"/>
          <p:cNvSpPr/>
          <p:nvPr/>
        </p:nvSpPr>
        <p:spPr>
          <a:xfrm>
            <a:off x="228600" y="1792224"/>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Spend</a:t>
            </a:r>
          </a:p>
        </p:txBody>
      </p:sp>
      <p:sp>
        <p:nvSpPr>
          <p:cNvPr id="20" name="Rounded Rectangle 19"/>
          <p:cNvSpPr/>
          <p:nvPr/>
        </p:nvSpPr>
        <p:spPr>
          <a:xfrm>
            <a:off x="228600" y="1947672"/>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Impressions</a:t>
            </a:r>
          </a:p>
        </p:txBody>
      </p:sp>
      <p:sp>
        <p:nvSpPr>
          <p:cNvPr id="21" name="Rounded Rectangle 20"/>
          <p:cNvSpPr/>
          <p:nvPr/>
        </p:nvSpPr>
        <p:spPr>
          <a:xfrm>
            <a:off x="228600" y="2103120"/>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Reach</a:t>
            </a:r>
          </a:p>
        </p:txBody>
      </p:sp>
      <p:sp>
        <p:nvSpPr>
          <p:cNvPr id="22" name="Rounded Rectangle 21"/>
          <p:cNvSpPr/>
          <p:nvPr/>
        </p:nvSpPr>
        <p:spPr>
          <a:xfrm>
            <a:off x="146304" y="2468880"/>
            <a:ext cx="877824" cy="713232"/>
          </a:xfrm>
          <a:prstGeom prst="roundRect">
            <a:avLst/>
          </a:prstGeom>
          <a:solidFill>
            <a:srgbClr val="F5F9FF"/>
          </a:solidFill>
          <a:ln w="12700">
            <a:solidFill>
              <a:srgbClr val="0F4C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2880" y="2514600"/>
            <a:ext cx="804672" cy="128016"/>
          </a:xfrm>
          <a:prstGeom prst="rect">
            <a:avLst/>
          </a:prstGeom>
          <a:noFill/>
        </p:spPr>
        <p:txBody>
          <a:bodyPr wrap="none" lIns="9144" tIns="0" rIns="9144" bIns="0" anchor="ctr">
            <a:spAutoFit/>
          </a:bodyPr>
          <a:lstStyle/>
          <a:p>
            <a:pPr algn="ctr"/>
            <a:r>
              <a:rPr sz="760" b="1" i="0">
                <a:solidFill>
                  <a:srgbClr val="0F4CAA"/>
                </a:solidFill>
                <a:latin typeface="Arial"/>
              </a:rPr>
              <a:t>Promo</a:t>
            </a:r>
          </a:p>
        </p:txBody>
      </p:sp>
      <p:sp>
        <p:nvSpPr>
          <p:cNvPr id="24" name="Rounded Rectangle 23"/>
          <p:cNvSpPr/>
          <p:nvPr/>
        </p:nvSpPr>
        <p:spPr>
          <a:xfrm>
            <a:off x="228600" y="2688336"/>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Discount depth</a:t>
            </a:r>
          </a:p>
        </p:txBody>
      </p:sp>
      <p:sp>
        <p:nvSpPr>
          <p:cNvPr id="25" name="Rounded Rectangle 24"/>
          <p:cNvSpPr/>
          <p:nvPr/>
        </p:nvSpPr>
        <p:spPr>
          <a:xfrm>
            <a:off x="228600" y="2843784"/>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Offer count</a:t>
            </a:r>
          </a:p>
        </p:txBody>
      </p:sp>
      <p:sp>
        <p:nvSpPr>
          <p:cNvPr id="26" name="Rounded Rectangle 25"/>
          <p:cNvSpPr/>
          <p:nvPr/>
        </p:nvSpPr>
        <p:spPr>
          <a:xfrm>
            <a:off x="228600" y="2999232"/>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Promo mix</a:t>
            </a:r>
          </a:p>
        </p:txBody>
      </p:sp>
      <p:sp>
        <p:nvSpPr>
          <p:cNvPr id="27" name="Rounded Rectangle 26"/>
          <p:cNvSpPr/>
          <p:nvPr/>
        </p:nvSpPr>
        <p:spPr>
          <a:xfrm>
            <a:off x="146304" y="3364992"/>
            <a:ext cx="877824" cy="713232"/>
          </a:xfrm>
          <a:prstGeom prst="roundRect">
            <a:avLst/>
          </a:prstGeom>
          <a:solidFill>
            <a:srgbClr val="F5F9FF"/>
          </a:solidFill>
          <a:ln w="12700">
            <a:solidFill>
              <a:srgbClr val="0F4C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2880" y="3410712"/>
            <a:ext cx="804672" cy="128016"/>
          </a:xfrm>
          <a:prstGeom prst="rect">
            <a:avLst/>
          </a:prstGeom>
          <a:noFill/>
        </p:spPr>
        <p:txBody>
          <a:bodyPr wrap="none" lIns="9144" tIns="0" rIns="9144" bIns="0" anchor="ctr">
            <a:spAutoFit/>
          </a:bodyPr>
          <a:lstStyle/>
          <a:p>
            <a:pPr algn="ctr"/>
            <a:r>
              <a:rPr sz="760" b="1" i="0">
                <a:solidFill>
                  <a:srgbClr val="0F4CAA"/>
                </a:solidFill>
                <a:latin typeface="Arial"/>
              </a:rPr>
              <a:t>Operations</a:t>
            </a:r>
          </a:p>
        </p:txBody>
      </p:sp>
      <p:sp>
        <p:nvSpPr>
          <p:cNvPr id="29" name="Rounded Rectangle 28"/>
          <p:cNvSpPr/>
          <p:nvPr/>
        </p:nvSpPr>
        <p:spPr>
          <a:xfrm>
            <a:off x="228600" y="3584448"/>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Speed</a:t>
            </a:r>
          </a:p>
        </p:txBody>
      </p:sp>
      <p:sp>
        <p:nvSpPr>
          <p:cNvPr id="30" name="Rounded Rectangle 29"/>
          <p:cNvSpPr/>
          <p:nvPr/>
        </p:nvSpPr>
        <p:spPr>
          <a:xfrm>
            <a:off x="228600" y="3739896"/>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Staffing</a:t>
            </a:r>
          </a:p>
        </p:txBody>
      </p:sp>
      <p:sp>
        <p:nvSpPr>
          <p:cNvPr id="31" name="Rounded Rectangle 30"/>
          <p:cNvSpPr/>
          <p:nvPr/>
        </p:nvSpPr>
        <p:spPr>
          <a:xfrm>
            <a:off x="228600" y="3895344"/>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CX</a:t>
            </a:r>
          </a:p>
        </p:txBody>
      </p:sp>
      <p:sp>
        <p:nvSpPr>
          <p:cNvPr id="32" name="Rounded Rectangle 31"/>
          <p:cNvSpPr/>
          <p:nvPr/>
        </p:nvSpPr>
        <p:spPr>
          <a:xfrm>
            <a:off x="146304" y="4261104"/>
            <a:ext cx="877824" cy="713232"/>
          </a:xfrm>
          <a:prstGeom prst="roundRect">
            <a:avLst/>
          </a:prstGeom>
          <a:solidFill>
            <a:srgbClr val="F5F9FF"/>
          </a:solidFill>
          <a:ln w="12700">
            <a:solidFill>
              <a:srgbClr val="0F4C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82880" y="4306824"/>
            <a:ext cx="804672" cy="128016"/>
          </a:xfrm>
          <a:prstGeom prst="rect">
            <a:avLst/>
          </a:prstGeom>
          <a:noFill/>
        </p:spPr>
        <p:txBody>
          <a:bodyPr wrap="none" lIns="9144" tIns="0" rIns="9144" bIns="0" anchor="ctr">
            <a:spAutoFit/>
          </a:bodyPr>
          <a:lstStyle/>
          <a:p>
            <a:pPr algn="ctr"/>
            <a:r>
              <a:rPr sz="760" b="1" i="0">
                <a:solidFill>
                  <a:srgbClr val="0F4CAA"/>
                </a:solidFill>
                <a:latin typeface="Arial"/>
              </a:rPr>
              <a:t>Macro</a:t>
            </a:r>
          </a:p>
        </p:txBody>
      </p:sp>
      <p:sp>
        <p:nvSpPr>
          <p:cNvPr id="34" name="Rounded Rectangle 33"/>
          <p:cNvSpPr/>
          <p:nvPr/>
        </p:nvSpPr>
        <p:spPr>
          <a:xfrm>
            <a:off x="228600" y="4480560"/>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CPI</a:t>
            </a:r>
          </a:p>
        </p:txBody>
      </p:sp>
      <p:sp>
        <p:nvSpPr>
          <p:cNvPr id="35" name="Rounded Rectangle 34"/>
          <p:cNvSpPr/>
          <p:nvPr/>
        </p:nvSpPr>
        <p:spPr>
          <a:xfrm>
            <a:off x="228600" y="4636008"/>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Unemployment</a:t>
            </a:r>
          </a:p>
        </p:txBody>
      </p:sp>
      <p:sp>
        <p:nvSpPr>
          <p:cNvPr id="36" name="Rounded Rectangle 35"/>
          <p:cNvSpPr/>
          <p:nvPr/>
        </p:nvSpPr>
        <p:spPr>
          <a:xfrm>
            <a:off x="228600" y="4791456"/>
            <a:ext cx="640080" cy="109728"/>
          </a:xfrm>
          <a:prstGeom prst="roundRect">
            <a:avLst/>
          </a:prstGeom>
          <a:solidFill>
            <a:srgbClr val="FFFFFF"/>
          </a:solidFill>
          <a:ln w="8890">
            <a:solidFill>
              <a:srgbClr val="0F4CAA"/>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80" b="0">
                <a:solidFill>
                  <a:srgbClr val="1E2D41"/>
                </a:solidFill>
                <a:latin typeface="Arial"/>
              </a:rPr>
              <a:t>Gas price</a:t>
            </a:r>
          </a:p>
        </p:txBody>
      </p:sp>
      <p:sp>
        <p:nvSpPr>
          <p:cNvPr id="37" name="Rounded Rectangle 36"/>
          <p:cNvSpPr/>
          <p:nvPr/>
        </p:nvSpPr>
        <p:spPr>
          <a:xfrm>
            <a:off x="1243584" y="1481328"/>
            <a:ext cx="1298448" cy="3529584"/>
          </a:xfrm>
          <a:prstGeom prst="roundRect">
            <a:avLst/>
          </a:prstGeom>
          <a:solidFill>
            <a:srgbClr val="FFFFFF"/>
          </a:solidFill>
          <a:ln w="12700">
            <a:solidFill>
              <a:srgbClr val="0F4C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335024" y="1591056"/>
            <a:ext cx="1115568" cy="347472"/>
          </a:xfrm>
          <a:prstGeom prst="rect">
            <a:avLst/>
          </a:prstGeom>
          <a:noFill/>
        </p:spPr>
        <p:txBody>
          <a:bodyPr wrap="none" lIns="9144" tIns="0" rIns="9144" bIns="0" anchor="ctr">
            <a:spAutoFit/>
          </a:bodyPr>
          <a:lstStyle/>
          <a:p>
            <a:pPr algn="ctr"/>
            <a:r>
              <a:rPr sz="740" b="1" i="0">
                <a:solidFill>
                  <a:srgbClr val="0F4CAA"/>
                </a:solidFill>
                <a:latin typeface="Arial"/>
              </a:rPr>
              <a:t>Multiverse experiments
(hundreds of regressions)</a:t>
            </a:r>
          </a:p>
        </p:txBody>
      </p:sp>
      <p:sp>
        <p:nvSpPr>
          <p:cNvPr id="39" name="Rounded Rectangle 38"/>
          <p:cNvSpPr/>
          <p:nvPr/>
        </p:nvSpPr>
        <p:spPr>
          <a:xfrm>
            <a:off x="1362456" y="2267712"/>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1</a:t>
            </a:r>
          </a:p>
        </p:txBody>
      </p:sp>
      <p:sp>
        <p:nvSpPr>
          <p:cNvPr id="40" name="Rounded Rectangle 39"/>
          <p:cNvSpPr/>
          <p:nvPr/>
        </p:nvSpPr>
        <p:spPr>
          <a:xfrm>
            <a:off x="1655064" y="2267712"/>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2</a:t>
            </a:r>
          </a:p>
        </p:txBody>
      </p:sp>
      <p:sp>
        <p:nvSpPr>
          <p:cNvPr id="41" name="Rounded Rectangle 40"/>
          <p:cNvSpPr/>
          <p:nvPr/>
        </p:nvSpPr>
        <p:spPr>
          <a:xfrm>
            <a:off x="1947672" y="2267712"/>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3</a:t>
            </a:r>
          </a:p>
        </p:txBody>
      </p:sp>
      <p:sp>
        <p:nvSpPr>
          <p:cNvPr id="42" name="TextBox 41"/>
          <p:cNvSpPr txBox="1"/>
          <p:nvPr/>
        </p:nvSpPr>
        <p:spPr>
          <a:xfrm>
            <a:off x="2240280" y="2286000"/>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sp>
        <p:nvSpPr>
          <p:cNvPr id="43" name="Rounded Rectangle 42"/>
          <p:cNvSpPr/>
          <p:nvPr/>
        </p:nvSpPr>
        <p:spPr>
          <a:xfrm>
            <a:off x="1362456" y="2734056"/>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11</a:t>
            </a:r>
          </a:p>
        </p:txBody>
      </p:sp>
      <p:sp>
        <p:nvSpPr>
          <p:cNvPr id="44" name="Rounded Rectangle 43"/>
          <p:cNvSpPr/>
          <p:nvPr/>
        </p:nvSpPr>
        <p:spPr>
          <a:xfrm>
            <a:off x="1655064" y="2734056"/>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12</a:t>
            </a:r>
          </a:p>
        </p:txBody>
      </p:sp>
      <p:sp>
        <p:nvSpPr>
          <p:cNvPr id="45" name="Rounded Rectangle 44"/>
          <p:cNvSpPr/>
          <p:nvPr/>
        </p:nvSpPr>
        <p:spPr>
          <a:xfrm>
            <a:off x="1947672" y="2734056"/>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13</a:t>
            </a:r>
          </a:p>
        </p:txBody>
      </p:sp>
      <p:sp>
        <p:nvSpPr>
          <p:cNvPr id="46" name="TextBox 45"/>
          <p:cNvSpPr txBox="1"/>
          <p:nvPr/>
        </p:nvSpPr>
        <p:spPr>
          <a:xfrm>
            <a:off x="2240280" y="2752344"/>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sp>
        <p:nvSpPr>
          <p:cNvPr id="47" name="Rounded Rectangle 46"/>
          <p:cNvSpPr/>
          <p:nvPr/>
        </p:nvSpPr>
        <p:spPr>
          <a:xfrm>
            <a:off x="1362456" y="3200400"/>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21</a:t>
            </a:r>
          </a:p>
        </p:txBody>
      </p:sp>
      <p:sp>
        <p:nvSpPr>
          <p:cNvPr id="48" name="Rounded Rectangle 47"/>
          <p:cNvSpPr/>
          <p:nvPr/>
        </p:nvSpPr>
        <p:spPr>
          <a:xfrm>
            <a:off x="1655064" y="3200400"/>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22</a:t>
            </a:r>
          </a:p>
        </p:txBody>
      </p:sp>
      <p:sp>
        <p:nvSpPr>
          <p:cNvPr id="49" name="Rounded Rectangle 48"/>
          <p:cNvSpPr/>
          <p:nvPr/>
        </p:nvSpPr>
        <p:spPr>
          <a:xfrm>
            <a:off x="1947672" y="3200400"/>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23</a:t>
            </a:r>
          </a:p>
        </p:txBody>
      </p:sp>
      <p:sp>
        <p:nvSpPr>
          <p:cNvPr id="50" name="TextBox 49"/>
          <p:cNvSpPr txBox="1"/>
          <p:nvPr/>
        </p:nvSpPr>
        <p:spPr>
          <a:xfrm>
            <a:off x="2240280" y="3218688"/>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sp>
        <p:nvSpPr>
          <p:cNvPr id="51" name="TextBox 50"/>
          <p:cNvSpPr txBox="1"/>
          <p:nvPr/>
        </p:nvSpPr>
        <p:spPr>
          <a:xfrm>
            <a:off x="1362456" y="3685031"/>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sp>
        <p:nvSpPr>
          <p:cNvPr id="52" name="TextBox 51"/>
          <p:cNvSpPr txBox="1"/>
          <p:nvPr/>
        </p:nvSpPr>
        <p:spPr>
          <a:xfrm>
            <a:off x="1655064" y="3685031"/>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sp>
        <p:nvSpPr>
          <p:cNvPr id="53" name="TextBox 52"/>
          <p:cNvSpPr txBox="1"/>
          <p:nvPr/>
        </p:nvSpPr>
        <p:spPr>
          <a:xfrm>
            <a:off x="1947672" y="3685031"/>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sp>
        <p:nvSpPr>
          <p:cNvPr id="54" name="TextBox 53"/>
          <p:cNvSpPr txBox="1"/>
          <p:nvPr/>
        </p:nvSpPr>
        <p:spPr>
          <a:xfrm>
            <a:off x="2240280" y="3685031"/>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sp>
        <p:nvSpPr>
          <p:cNvPr id="55" name="TextBox 54"/>
          <p:cNvSpPr txBox="1"/>
          <p:nvPr/>
        </p:nvSpPr>
        <p:spPr>
          <a:xfrm>
            <a:off x="1362456" y="4151375"/>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sp>
        <p:nvSpPr>
          <p:cNvPr id="56" name="TextBox 55"/>
          <p:cNvSpPr txBox="1"/>
          <p:nvPr/>
        </p:nvSpPr>
        <p:spPr>
          <a:xfrm>
            <a:off x="1655064" y="4151375"/>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sp>
        <p:nvSpPr>
          <p:cNvPr id="57" name="TextBox 56"/>
          <p:cNvSpPr txBox="1"/>
          <p:nvPr/>
        </p:nvSpPr>
        <p:spPr>
          <a:xfrm>
            <a:off x="1947672" y="4151375"/>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sp>
        <p:nvSpPr>
          <p:cNvPr id="58" name="TextBox 57"/>
          <p:cNvSpPr txBox="1"/>
          <p:nvPr/>
        </p:nvSpPr>
        <p:spPr>
          <a:xfrm>
            <a:off x="2240280" y="4151375"/>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sp>
        <p:nvSpPr>
          <p:cNvPr id="59" name="Rounded Rectangle 58"/>
          <p:cNvSpPr/>
          <p:nvPr/>
        </p:nvSpPr>
        <p:spPr>
          <a:xfrm>
            <a:off x="1362456" y="4599431"/>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n-2</a:t>
            </a:r>
          </a:p>
        </p:txBody>
      </p:sp>
      <p:sp>
        <p:nvSpPr>
          <p:cNvPr id="60" name="Rounded Rectangle 59"/>
          <p:cNvSpPr/>
          <p:nvPr/>
        </p:nvSpPr>
        <p:spPr>
          <a:xfrm>
            <a:off x="1655064" y="4599431"/>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n-1</a:t>
            </a:r>
          </a:p>
        </p:txBody>
      </p:sp>
      <p:sp>
        <p:nvSpPr>
          <p:cNvPr id="61" name="Rounded Rectangle 60"/>
          <p:cNvSpPr/>
          <p:nvPr/>
        </p:nvSpPr>
        <p:spPr>
          <a:xfrm>
            <a:off x="1947672" y="4599431"/>
            <a:ext cx="210312" cy="201168"/>
          </a:xfrm>
          <a:prstGeom prst="roundRect">
            <a:avLst/>
          </a:prstGeom>
          <a:solidFill>
            <a:srgbClr val="FFFFFF"/>
          </a:solidFill>
          <a:ln w="8890">
            <a:solidFill>
              <a:srgbClr val="4480E1"/>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0">
                <a:solidFill>
                  <a:srgbClr val="1E2D41"/>
                </a:solidFill>
                <a:latin typeface="Arial"/>
              </a:rPr>
              <a:t>LR n</a:t>
            </a:r>
          </a:p>
        </p:txBody>
      </p:sp>
      <p:sp>
        <p:nvSpPr>
          <p:cNvPr id="62" name="TextBox 61"/>
          <p:cNvSpPr txBox="1"/>
          <p:nvPr/>
        </p:nvSpPr>
        <p:spPr>
          <a:xfrm>
            <a:off x="2240280" y="4617719"/>
            <a:ext cx="201168" cy="137160"/>
          </a:xfrm>
          <a:prstGeom prst="rect">
            <a:avLst/>
          </a:prstGeom>
          <a:noFill/>
        </p:spPr>
        <p:txBody>
          <a:bodyPr wrap="none" lIns="9144" tIns="0" rIns="9144" bIns="0" anchor="ctr">
            <a:spAutoFit/>
          </a:bodyPr>
          <a:lstStyle/>
          <a:p>
            <a:pPr algn="ctr"/>
            <a:r>
              <a:rPr sz="800" b="1" i="0">
                <a:solidFill>
                  <a:srgbClr val="0F4CAA"/>
                </a:solidFill>
                <a:latin typeface="Arial"/>
              </a:rPr>
              <a:t>...</a:t>
            </a:r>
          </a:p>
        </p:txBody>
      </p:sp>
      <p:cxnSp>
        <p:nvCxnSpPr>
          <p:cNvPr id="63" name="Connector 62"/>
          <p:cNvCxnSpPr/>
          <p:nvPr/>
        </p:nvCxnSpPr>
        <p:spPr>
          <a:xfrm>
            <a:off x="868680" y="1847088"/>
            <a:ext cx="493776" cy="521208"/>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68680" y="1847088"/>
            <a:ext cx="493776" cy="987552"/>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68680" y="1847088"/>
            <a:ext cx="493776" cy="1453896"/>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68680" y="1847088"/>
            <a:ext cx="493776" cy="2852928"/>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68680" y="2002536"/>
            <a:ext cx="1078992" cy="365760"/>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68680" y="2002536"/>
            <a:ext cx="1078992" cy="832104"/>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68680" y="2002536"/>
            <a:ext cx="1078992" cy="1298448"/>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68680" y="2002536"/>
            <a:ext cx="1078992" cy="2697480"/>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68680" y="2157984"/>
            <a:ext cx="786384" cy="676656"/>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68680" y="2157984"/>
            <a:ext cx="786384" cy="1143000"/>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68680" y="2157984"/>
            <a:ext cx="786384" cy="2542032"/>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68680" y="2157984"/>
            <a:ext cx="786384" cy="210312"/>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68680" y="2743200"/>
            <a:ext cx="493776" cy="557784"/>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68680" y="2743200"/>
            <a:ext cx="493776" cy="1956816"/>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868680" y="2368296"/>
            <a:ext cx="493776" cy="374904"/>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68680" y="2743200"/>
            <a:ext cx="493776" cy="91440"/>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68680" y="2898648"/>
            <a:ext cx="1078992" cy="402336"/>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68680" y="2898648"/>
            <a:ext cx="1078992" cy="1801368"/>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868680" y="2368296"/>
            <a:ext cx="1078992" cy="530352"/>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868680" y="2834640"/>
            <a:ext cx="1078992" cy="64008"/>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868680" y="3054096"/>
            <a:ext cx="786384" cy="1645920"/>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868680" y="2368296"/>
            <a:ext cx="786384" cy="685800"/>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868680" y="2834640"/>
            <a:ext cx="786384" cy="219456"/>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868680" y="3054096"/>
            <a:ext cx="786384" cy="246888"/>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868680" y="2368296"/>
            <a:ext cx="493776" cy="1271016"/>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868680" y="2834640"/>
            <a:ext cx="493776" cy="804672"/>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868680" y="3300984"/>
            <a:ext cx="493776" cy="338328"/>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68680" y="3639312"/>
            <a:ext cx="493776" cy="1060704"/>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868680" y="2368296"/>
            <a:ext cx="1078992" cy="1426463"/>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868680" y="2834640"/>
            <a:ext cx="1078992" cy="960119"/>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868680" y="3300984"/>
            <a:ext cx="1078992" cy="493775"/>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68680" y="3794759"/>
            <a:ext cx="1078992" cy="905257"/>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868680" y="2834640"/>
            <a:ext cx="786384" cy="1115567"/>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868680" y="3300984"/>
            <a:ext cx="786384" cy="649223"/>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68680" y="3950207"/>
            <a:ext cx="786384" cy="749809"/>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868680" y="2368296"/>
            <a:ext cx="786384" cy="1581911"/>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868680" y="3300984"/>
            <a:ext cx="493776" cy="1234440"/>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68680" y="4535424"/>
            <a:ext cx="493776" cy="164592"/>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868680" y="2368296"/>
            <a:ext cx="493776" cy="2167128"/>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868680" y="2834640"/>
            <a:ext cx="493776" cy="1700784"/>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868680" y="3300984"/>
            <a:ext cx="1078992" cy="1389888"/>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868680" y="4690872"/>
            <a:ext cx="1078992" cy="9144"/>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868680" y="2368296"/>
            <a:ext cx="1078992" cy="2322576"/>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868680" y="2834640"/>
            <a:ext cx="1078992" cy="1856232"/>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868680" y="4700016"/>
            <a:ext cx="786384" cy="146304"/>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868680" y="2368296"/>
            <a:ext cx="786384" cy="2478024"/>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868680" y="2834640"/>
            <a:ext cx="786384" cy="2011680"/>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868680" y="3300984"/>
            <a:ext cx="786384" cy="1545336"/>
          </a:xfrm>
          <a:prstGeom prst="line">
            <a:avLst/>
          </a:prstGeom>
          <a:ln w="4445">
            <a:solidFill>
              <a:srgbClr val="4C7DD2"/>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2542032" y="3246120"/>
            <a:ext cx="201168" cy="0"/>
          </a:xfrm>
          <a:prstGeom prst="line">
            <a:avLst/>
          </a:prstGeom>
          <a:ln w="11430">
            <a:solidFill>
              <a:srgbClr val="0F4CAA"/>
            </a:solidFill>
          </a:ln>
          <a:effectLst/>
        </p:spPr>
        <p:style>
          <a:lnRef idx="2">
            <a:schemeClr val="accent1"/>
          </a:lnRef>
          <a:fillRef idx="0">
            <a:schemeClr val="accent1"/>
          </a:fillRef>
          <a:effectRef idx="1">
            <a:schemeClr val="accent1"/>
          </a:effectRef>
          <a:fontRef idx="minor">
            <a:schemeClr val="tx1"/>
          </a:fontRef>
        </p:style>
      </p:cxnSp>
      <p:sp>
        <p:nvSpPr>
          <p:cNvPr id="112" name="Rounded Rectangle 111"/>
          <p:cNvSpPr/>
          <p:nvPr/>
        </p:nvSpPr>
        <p:spPr>
          <a:xfrm>
            <a:off x="2761488" y="2395728"/>
            <a:ext cx="585216" cy="1691640"/>
          </a:xfrm>
          <a:prstGeom prst="roundRect">
            <a:avLst/>
          </a:prstGeom>
          <a:solidFill>
            <a:srgbClr val="FFFFFF"/>
          </a:solidFill>
          <a:ln w="12700">
            <a:solidFill>
              <a:srgbClr val="0F4CAA"/>
            </a:solidFill>
          </a:ln>
          <a:effectLst/>
        </p:spPr>
        <p:style>
          <a:lnRef idx="1">
            <a:schemeClr val="accent1"/>
          </a:lnRef>
          <a:fillRef idx="3">
            <a:schemeClr val="accent1"/>
          </a:fillRef>
          <a:effectRef idx="2">
            <a:schemeClr val="accent1"/>
          </a:effectRef>
          <a:fontRef idx="minor">
            <a:schemeClr val="lt1"/>
          </a:fontRef>
        </p:style>
        <p:txBody>
          <a:bodyPr lIns="45720" tIns="36576" rIns="36576" bIns="18288" rtlCol="0" anchor="ctr"/>
          <a:lstStyle/>
          <a:p>
            <a:pPr algn="ctr"/>
            <a:r>
              <a:rPr sz="720" b="1">
                <a:solidFill>
                  <a:srgbClr val="0F4CAA"/>
                </a:solidFill>
                <a:latin typeface="Arial"/>
              </a:rPr>
              <a:t>Gate criteria</a:t>
            </a:r>
          </a:p>
          <a:p>
            <a:pPr algn="l"/>
            <a:r>
              <a:rPr sz="560">
                <a:solidFill>
                  <a:srgbClr val="1E2D41"/>
                </a:solidFill>
                <a:latin typeface="Arial"/>
              </a:rPr>
              <a:t>• Performance</a:t>
            </a:r>
          </a:p>
          <a:p>
            <a:pPr algn="l"/>
            <a:r>
              <a:rPr sz="560">
                <a:solidFill>
                  <a:srgbClr val="1E2D41"/>
                </a:solidFill>
                <a:latin typeface="Arial"/>
              </a:rPr>
              <a:t>• Stability</a:t>
            </a:r>
          </a:p>
          <a:p>
            <a:pPr algn="l"/>
            <a:r>
              <a:rPr sz="560">
                <a:solidFill>
                  <a:srgbClr val="1E2D41"/>
                </a:solidFill>
                <a:latin typeface="Arial"/>
              </a:rPr>
              <a:t>• Sign / business
logic</a:t>
            </a:r>
          </a:p>
          <a:p>
            <a:pPr algn="l"/>
            <a:r>
              <a:rPr sz="560">
                <a:solidFill>
                  <a:srgbClr val="1E2D41"/>
                </a:solidFill>
                <a:latin typeface="Arial"/>
              </a:rPr>
              <a:t>• Data quality</a:t>
            </a:r>
          </a:p>
        </p:txBody>
      </p:sp>
      <p:cxnSp>
        <p:nvCxnSpPr>
          <p:cNvPr id="113" name="Connector 112"/>
          <p:cNvCxnSpPr/>
          <p:nvPr/>
        </p:nvCxnSpPr>
        <p:spPr>
          <a:xfrm>
            <a:off x="3346704" y="3246120"/>
            <a:ext cx="338328" cy="0"/>
          </a:xfrm>
          <a:prstGeom prst="line">
            <a:avLst/>
          </a:prstGeom>
          <a:ln w="11430">
            <a:solidFill>
              <a:srgbClr val="0F4CAA"/>
            </a:solidFill>
          </a:ln>
          <a:effectLst/>
        </p:spPr>
        <p:style>
          <a:lnRef idx="2">
            <a:schemeClr val="accent1"/>
          </a:lnRef>
          <a:fillRef idx="0">
            <a:schemeClr val="accent1"/>
          </a:fillRef>
          <a:effectRef idx="1">
            <a:schemeClr val="accent1"/>
          </a:effectRef>
          <a:fontRef idx="minor">
            <a:schemeClr val="tx1"/>
          </a:fontRef>
        </p:style>
      </p:cxnSp>
      <p:sp>
        <p:nvSpPr>
          <p:cNvPr id="114" name="Rounded Rectangle 113"/>
          <p:cNvSpPr/>
          <p:nvPr/>
        </p:nvSpPr>
        <p:spPr>
          <a:xfrm>
            <a:off x="3694176" y="1874519"/>
            <a:ext cx="960120" cy="2880360"/>
          </a:xfrm>
          <a:prstGeom prst="roundRect">
            <a:avLst/>
          </a:prstGeom>
          <a:solidFill>
            <a:srgbClr val="FFFFFF"/>
          </a:solidFill>
          <a:ln w="12700">
            <a:solidFill>
              <a:srgbClr val="0F4C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3767328" y="2011679"/>
            <a:ext cx="813816" cy="256032"/>
          </a:xfrm>
          <a:prstGeom prst="rect">
            <a:avLst/>
          </a:prstGeom>
          <a:noFill/>
        </p:spPr>
        <p:txBody>
          <a:bodyPr wrap="none" lIns="9144" tIns="0" rIns="9144" bIns="0" anchor="ctr">
            <a:spAutoFit/>
          </a:bodyPr>
          <a:lstStyle/>
          <a:p>
            <a:pPr algn="ctr"/>
            <a:r>
              <a:rPr sz="680" b="1" i="0">
                <a:solidFill>
                  <a:srgbClr val="0F4CAA"/>
                </a:solidFill>
                <a:latin typeface="Arial"/>
              </a:rPr>
              <a:t>Selected best model</a:t>
            </a:r>
          </a:p>
        </p:txBody>
      </p:sp>
      <p:sp>
        <p:nvSpPr>
          <p:cNvPr id="116" name="TextBox 115"/>
          <p:cNvSpPr txBox="1"/>
          <p:nvPr/>
        </p:nvSpPr>
        <p:spPr>
          <a:xfrm>
            <a:off x="3767328" y="2532887"/>
            <a:ext cx="813816" cy="402336"/>
          </a:xfrm>
          <a:prstGeom prst="rect">
            <a:avLst/>
          </a:prstGeom>
          <a:noFill/>
        </p:spPr>
        <p:txBody>
          <a:bodyPr wrap="none" lIns="9144" tIns="0" rIns="9144" bIns="0" anchor="ctr">
            <a:spAutoFit/>
          </a:bodyPr>
          <a:lstStyle/>
          <a:p>
            <a:pPr algn="ctr"/>
            <a:r>
              <a:rPr sz="760" b="1" i="0">
                <a:solidFill>
                  <a:srgbClr val="0F4CAA"/>
                </a:solidFill>
                <a:latin typeface="Arial"/>
              </a:rPr>
              <a:t>Panel FE
Linear Regression</a:t>
            </a:r>
          </a:p>
        </p:txBody>
      </p:sp>
      <p:sp>
        <p:nvSpPr>
          <p:cNvPr id="117" name="TextBox 116"/>
          <p:cNvSpPr txBox="1"/>
          <p:nvPr/>
        </p:nvSpPr>
        <p:spPr>
          <a:xfrm>
            <a:off x="3785615" y="2999232"/>
            <a:ext cx="777240" cy="228600"/>
          </a:xfrm>
          <a:prstGeom prst="rect">
            <a:avLst/>
          </a:prstGeom>
          <a:noFill/>
        </p:spPr>
        <p:txBody>
          <a:bodyPr wrap="none" lIns="9144" tIns="0" rIns="9144" bIns="0" anchor="ctr">
            <a:spAutoFit/>
          </a:bodyPr>
          <a:lstStyle/>
          <a:p>
            <a:pPr algn="ctr"/>
            <a:r>
              <a:rPr sz="650" b="0" i="0">
                <a:solidFill>
                  <a:srgbClr val="1E2D41"/>
                </a:solidFill>
                <a:latin typeface="Arial"/>
              </a:rPr>
              <a:t>Salesᵢₜ = αᵢ + γₜ + εᵢₜ</a:t>
            </a:r>
          </a:p>
        </p:txBody>
      </p:sp>
      <p:sp>
        <p:nvSpPr>
          <p:cNvPr id="118" name="Rounded Rectangle 117"/>
          <p:cNvSpPr/>
          <p:nvPr/>
        </p:nvSpPr>
        <p:spPr>
          <a:xfrm>
            <a:off x="3904488" y="3319272"/>
            <a:ext cx="539496" cy="566928"/>
          </a:xfrm>
          <a:prstGeom prst="roundRect">
            <a:avLst/>
          </a:prstGeom>
          <a:solidFill>
            <a:srgbClr val="FFFFFF"/>
          </a:solidFill>
          <a:ln w="10160">
            <a:solidFill>
              <a:srgbClr val="B9CD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9" name="Connector 118"/>
          <p:cNvCxnSpPr/>
          <p:nvPr/>
        </p:nvCxnSpPr>
        <p:spPr>
          <a:xfrm flipV="1">
            <a:off x="3986784" y="3429000"/>
            <a:ext cx="457200" cy="329183"/>
          </a:xfrm>
          <a:prstGeom prst="line">
            <a:avLst/>
          </a:prstGeom>
          <a:ln w="12700">
            <a:solidFill>
              <a:srgbClr val="0F4CAA"/>
            </a:solidFill>
          </a:ln>
        </p:spPr>
        <p:style>
          <a:lnRef idx="2">
            <a:schemeClr val="accent1"/>
          </a:lnRef>
          <a:fillRef idx="0">
            <a:schemeClr val="accent1"/>
          </a:fillRef>
          <a:effectRef idx="1">
            <a:schemeClr val="accent1"/>
          </a:effectRef>
          <a:fontRef idx="minor">
            <a:schemeClr val="tx1"/>
          </a:fontRef>
        </p:style>
      </p:cxnSp>
      <p:sp>
        <p:nvSpPr>
          <p:cNvPr id="120" name="Oval 119"/>
          <p:cNvSpPr/>
          <p:nvPr/>
        </p:nvSpPr>
        <p:spPr>
          <a:xfrm>
            <a:off x="3986784" y="3712463"/>
            <a:ext cx="36576" cy="36576"/>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4078224" y="3666744"/>
            <a:ext cx="36576" cy="36576"/>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4160520" y="3602735"/>
            <a:ext cx="36576" cy="36576"/>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4261104" y="3538728"/>
            <a:ext cx="36576" cy="36576"/>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4334256" y="3447287"/>
            <a:ext cx="36576" cy="36576"/>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4407408" y="3401568"/>
            <a:ext cx="36576" cy="36576"/>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4197096" y="3703320"/>
            <a:ext cx="36576" cy="36576"/>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4352544" y="3621024"/>
            <a:ext cx="36576" cy="36576"/>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3822191" y="4096512"/>
            <a:ext cx="704088" cy="457200"/>
          </a:xfrm>
          <a:prstGeom prst="rect">
            <a:avLst/>
          </a:prstGeom>
          <a:noFill/>
        </p:spPr>
        <p:txBody>
          <a:bodyPr wrap="none" lIns="9144" tIns="0" rIns="9144" bIns="0" anchor="ctr">
            <a:spAutoFit/>
          </a:bodyPr>
          <a:lstStyle/>
          <a:p>
            <a:pPr algn="ctr"/>
            <a:r>
              <a:rPr sz="600" b="0" i="0">
                <a:solidFill>
                  <a:srgbClr val="1E2D41"/>
                </a:solidFill>
                <a:latin typeface="Arial"/>
              </a:rPr>
              <a:t>+ representative
variable per domain
in final model</a:t>
            </a:r>
          </a:p>
        </p:txBody>
      </p:sp>
      <p:cxnSp>
        <p:nvCxnSpPr>
          <p:cNvPr id="129" name="Connector 128"/>
          <p:cNvCxnSpPr/>
          <p:nvPr/>
        </p:nvCxnSpPr>
        <p:spPr>
          <a:xfrm>
            <a:off x="4654296" y="3246120"/>
            <a:ext cx="100584" cy="0"/>
          </a:xfrm>
          <a:prstGeom prst="line">
            <a:avLst/>
          </a:prstGeom>
          <a:ln w="11430">
            <a:solidFill>
              <a:srgbClr val="0F4CAA"/>
            </a:solidFill>
          </a:ln>
          <a:effectLst/>
        </p:spPr>
        <p:style>
          <a:lnRef idx="2">
            <a:schemeClr val="accent1"/>
          </a:lnRef>
          <a:fillRef idx="0">
            <a:schemeClr val="accent1"/>
          </a:fillRef>
          <a:effectRef idx="1">
            <a:schemeClr val="accent1"/>
          </a:effectRef>
          <a:fontRef idx="minor">
            <a:schemeClr val="tx1"/>
          </a:fontRef>
        </p:style>
      </p:cxnSp>
      <p:sp>
        <p:nvSpPr>
          <p:cNvPr id="130" name="Rounded Rectangle 129"/>
          <p:cNvSpPr/>
          <p:nvPr/>
        </p:nvSpPr>
        <p:spPr>
          <a:xfrm>
            <a:off x="4754880" y="2331720"/>
            <a:ext cx="502920" cy="1508760"/>
          </a:xfrm>
          <a:prstGeom prst="roundRect">
            <a:avLst/>
          </a:prstGeom>
          <a:solidFill>
            <a:srgbClr val="FFFFFF"/>
          </a:solidFill>
          <a:ln w="12700">
            <a:solidFill>
              <a:srgbClr val="0F4CAA"/>
            </a:solidFill>
          </a:ln>
          <a:effectLst/>
        </p:spPr>
        <p:style>
          <a:lnRef idx="1">
            <a:schemeClr val="accent1"/>
          </a:lnRef>
          <a:fillRef idx="3">
            <a:schemeClr val="accent1"/>
          </a:fillRef>
          <a:effectRef idx="2">
            <a:schemeClr val="accent1"/>
          </a:effectRef>
          <a:fontRef idx="minor">
            <a:schemeClr val="lt1"/>
          </a:fontRef>
        </p:style>
        <p:txBody>
          <a:bodyPr lIns="45720" tIns="36576" rIns="36576" bIns="18288" rtlCol="0" anchor="ctr"/>
          <a:lstStyle/>
          <a:p>
            <a:pPr algn="ctr"/>
            <a:r>
              <a:rPr sz="720" b="1">
                <a:solidFill>
                  <a:srgbClr val="0F4CAA"/>
                </a:solidFill>
                <a:latin typeface="Arial"/>
              </a:rPr>
              <a:t>Outputs</a:t>
            </a:r>
          </a:p>
          <a:p>
            <a:pPr algn="l"/>
            <a:r>
              <a:rPr sz="509">
                <a:solidFill>
                  <a:srgbClr val="1E2D41"/>
                </a:solidFill>
                <a:latin typeface="Arial"/>
              </a:rPr>
              <a:t>• Point
coefficients</a:t>
            </a:r>
          </a:p>
          <a:p>
            <a:pPr algn="l"/>
            <a:r>
              <a:rPr sz="509">
                <a:solidFill>
                  <a:srgbClr val="1E2D41"/>
                </a:solidFill>
                <a:latin typeface="Arial"/>
              </a:rPr>
              <a:t>• Contribution /
waterfall</a:t>
            </a:r>
          </a:p>
          <a:p>
            <a:pPr algn="l"/>
            <a:r>
              <a:rPr sz="509">
                <a:solidFill>
                  <a:srgbClr val="1E2D41"/>
                </a:solidFill>
                <a:latin typeface="Arial"/>
              </a:rPr>
              <a:t>• Quarterly
refresh</a:t>
            </a:r>
          </a:p>
        </p:txBody>
      </p:sp>
      <p:sp>
        <p:nvSpPr>
          <p:cNvPr id="131" name="Rounded Rectangle 130"/>
          <p:cNvSpPr/>
          <p:nvPr/>
        </p:nvSpPr>
        <p:spPr>
          <a:xfrm>
            <a:off x="685800" y="5449824"/>
            <a:ext cx="4069080" cy="384048"/>
          </a:xfrm>
          <a:prstGeom prst="roundRect">
            <a:avLst/>
          </a:prstGeom>
          <a:solidFill>
            <a:srgbClr val="F5F9FF"/>
          </a:solidFill>
          <a:ln w="10160">
            <a:solidFill>
              <a:srgbClr val="A8C4F0"/>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710" b="1" dirty="0">
                <a:solidFill>
                  <a:srgbClr val="0F4CAA"/>
                </a:solidFill>
                <a:latin typeface="Arial"/>
              </a:rPr>
              <a:t>Coefficients mainly come from the selected panel model after screening many stand-alone regressions.</a:t>
            </a:r>
          </a:p>
        </p:txBody>
      </p:sp>
      <p:sp>
        <p:nvSpPr>
          <p:cNvPr id="132" name="TextBox 131"/>
          <p:cNvSpPr txBox="1"/>
          <p:nvPr/>
        </p:nvSpPr>
        <p:spPr>
          <a:xfrm>
            <a:off x="5285232" y="603504"/>
            <a:ext cx="6803136" cy="219456"/>
          </a:xfrm>
          <a:prstGeom prst="rect">
            <a:avLst/>
          </a:prstGeom>
          <a:noFill/>
        </p:spPr>
        <p:txBody>
          <a:bodyPr wrap="none" lIns="9144" tIns="0" rIns="9144" bIns="0" anchor="ctr">
            <a:spAutoFit/>
          </a:bodyPr>
          <a:lstStyle/>
          <a:p>
            <a:pPr algn="ctr"/>
            <a:r>
              <a:rPr sz="1550" b="1" i="0">
                <a:solidFill>
                  <a:srgbClr val="006F6E"/>
                </a:solidFill>
                <a:latin typeface="Arial"/>
              </a:rPr>
              <a:t>Bayesian-Enhanced MVM</a:t>
            </a:r>
          </a:p>
        </p:txBody>
      </p:sp>
      <p:sp>
        <p:nvSpPr>
          <p:cNvPr id="133" name="TextBox 132"/>
          <p:cNvSpPr txBox="1"/>
          <p:nvPr/>
        </p:nvSpPr>
        <p:spPr>
          <a:xfrm>
            <a:off x="5285232" y="841248"/>
            <a:ext cx="6803136" cy="182880"/>
          </a:xfrm>
          <a:prstGeom prst="rect">
            <a:avLst/>
          </a:prstGeom>
          <a:noFill/>
        </p:spPr>
        <p:txBody>
          <a:bodyPr wrap="none" lIns="9144" tIns="0" rIns="9144" bIns="0" anchor="ctr">
            <a:spAutoFit/>
          </a:bodyPr>
          <a:lstStyle/>
          <a:p>
            <a:pPr algn="ctr"/>
            <a:r>
              <a:rPr sz="1050" b="0" i="1">
                <a:solidFill>
                  <a:srgbClr val="006F6E"/>
                </a:solidFill>
                <a:latin typeface="Arial"/>
              </a:rPr>
              <a:t>Priors + Panel Data Update Domain Effects</a:t>
            </a:r>
          </a:p>
        </p:txBody>
      </p:sp>
      <p:sp>
        <p:nvSpPr>
          <p:cNvPr id="134" name="Oval 133"/>
          <p:cNvSpPr/>
          <p:nvPr/>
        </p:nvSpPr>
        <p:spPr>
          <a:xfrm>
            <a:off x="5394960" y="1216152"/>
            <a:ext cx="192024" cy="192024"/>
          </a:xfrm>
          <a:prstGeom prst="ellipse">
            <a:avLst/>
          </a:prstGeom>
          <a:solidFill>
            <a:srgbClr val="006F6E"/>
          </a:solidFill>
          <a:ln>
            <a:solidFill>
              <a:srgbClr val="006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1</a:t>
            </a:r>
          </a:p>
        </p:txBody>
      </p:sp>
      <p:sp>
        <p:nvSpPr>
          <p:cNvPr id="135" name="TextBox 134"/>
          <p:cNvSpPr txBox="1"/>
          <p:nvPr/>
        </p:nvSpPr>
        <p:spPr>
          <a:xfrm>
            <a:off x="5596128" y="1170432"/>
            <a:ext cx="594360" cy="365760"/>
          </a:xfrm>
          <a:prstGeom prst="rect">
            <a:avLst/>
          </a:prstGeom>
          <a:noFill/>
        </p:spPr>
        <p:txBody>
          <a:bodyPr wrap="none" lIns="9144" tIns="0" rIns="9144" bIns="0" anchor="ctr">
            <a:spAutoFit/>
          </a:bodyPr>
          <a:lstStyle/>
          <a:p>
            <a:pPr algn="ctr"/>
            <a:r>
              <a:rPr sz="530" b="1" i="0">
                <a:solidFill>
                  <a:srgbClr val="006F6E"/>
                </a:solidFill>
                <a:latin typeface="Arial"/>
              </a:rPr>
              <a:t>Standalone
evidence /
experiments</a:t>
            </a:r>
          </a:p>
        </p:txBody>
      </p:sp>
      <p:sp>
        <p:nvSpPr>
          <p:cNvPr id="136" name="Oval 135"/>
          <p:cNvSpPr/>
          <p:nvPr/>
        </p:nvSpPr>
        <p:spPr>
          <a:xfrm>
            <a:off x="6336792" y="1216152"/>
            <a:ext cx="192024" cy="192024"/>
          </a:xfrm>
          <a:prstGeom prst="ellipse">
            <a:avLst/>
          </a:prstGeom>
          <a:solidFill>
            <a:srgbClr val="006F6E"/>
          </a:solidFill>
          <a:ln>
            <a:solidFill>
              <a:srgbClr val="006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2</a:t>
            </a:r>
          </a:p>
        </p:txBody>
      </p:sp>
      <p:sp>
        <p:nvSpPr>
          <p:cNvPr id="137" name="TextBox 136"/>
          <p:cNvSpPr txBox="1"/>
          <p:nvPr/>
        </p:nvSpPr>
        <p:spPr>
          <a:xfrm>
            <a:off x="6537960" y="1170432"/>
            <a:ext cx="594360" cy="365760"/>
          </a:xfrm>
          <a:prstGeom prst="rect">
            <a:avLst/>
          </a:prstGeom>
          <a:noFill/>
        </p:spPr>
        <p:txBody>
          <a:bodyPr wrap="none" lIns="9144" tIns="0" rIns="9144" bIns="0" anchor="ctr">
            <a:spAutoFit/>
          </a:bodyPr>
          <a:lstStyle/>
          <a:p>
            <a:pPr algn="ctr"/>
            <a:r>
              <a:rPr sz="530" b="1" i="0">
                <a:solidFill>
                  <a:srgbClr val="006F6E"/>
                </a:solidFill>
                <a:latin typeface="Arial"/>
              </a:rPr>
              <a:t>1 domain
variable / index</a:t>
            </a:r>
          </a:p>
        </p:txBody>
      </p:sp>
      <p:sp>
        <p:nvSpPr>
          <p:cNvPr id="138" name="Oval 137"/>
          <p:cNvSpPr/>
          <p:nvPr/>
        </p:nvSpPr>
        <p:spPr>
          <a:xfrm>
            <a:off x="6986016" y="1216152"/>
            <a:ext cx="192024" cy="192024"/>
          </a:xfrm>
          <a:prstGeom prst="ellipse">
            <a:avLst/>
          </a:prstGeom>
          <a:solidFill>
            <a:srgbClr val="006F6E"/>
          </a:solidFill>
          <a:ln>
            <a:solidFill>
              <a:srgbClr val="006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3</a:t>
            </a:r>
          </a:p>
        </p:txBody>
      </p:sp>
      <p:sp>
        <p:nvSpPr>
          <p:cNvPr id="139" name="TextBox 138"/>
          <p:cNvSpPr txBox="1"/>
          <p:nvPr/>
        </p:nvSpPr>
        <p:spPr>
          <a:xfrm>
            <a:off x="7187184" y="1170432"/>
            <a:ext cx="594360" cy="365760"/>
          </a:xfrm>
          <a:prstGeom prst="rect">
            <a:avLst/>
          </a:prstGeom>
          <a:noFill/>
        </p:spPr>
        <p:txBody>
          <a:bodyPr wrap="none" lIns="9144" tIns="0" rIns="9144" bIns="0" anchor="ctr">
            <a:spAutoFit/>
          </a:bodyPr>
          <a:lstStyle/>
          <a:p>
            <a:pPr algn="ctr"/>
            <a:r>
              <a:rPr sz="530" b="1" i="0">
                <a:solidFill>
                  <a:srgbClr val="006F6E"/>
                </a:solidFill>
                <a:latin typeface="Arial"/>
              </a:rPr>
              <a:t>Prior for βₐ</a:t>
            </a:r>
          </a:p>
        </p:txBody>
      </p:sp>
      <p:sp>
        <p:nvSpPr>
          <p:cNvPr id="140" name="Oval 139"/>
          <p:cNvSpPr/>
          <p:nvPr/>
        </p:nvSpPr>
        <p:spPr>
          <a:xfrm>
            <a:off x="7690104" y="1216152"/>
            <a:ext cx="192024" cy="192024"/>
          </a:xfrm>
          <a:prstGeom prst="ellipse">
            <a:avLst/>
          </a:prstGeom>
          <a:solidFill>
            <a:srgbClr val="006F6E"/>
          </a:solidFill>
          <a:ln>
            <a:solidFill>
              <a:srgbClr val="006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4</a:t>
            </a:r>
          </a:p>
        </p:txBody>
      </p:sp>
      <p:sp>
        <p:nvSpPr>
          <p:cNvPr id="141" name="TextBox 140"/>
          <p:cNvSpPr txBox="1"/>
          <p:nvPr/>
        </p:nvSpPr>
        <p:spPr>
          <a:xfrm>
            <a:off x="7891272" y="1170432"/>
            <a:ext cx="594360" cy="365760"/>
          </a:xfrm>
          <a:prstGeom prst="rect">
            <a:avLst/>
          </a:prstGeom>
          <a:noFill/>
        </p:spPr>
        <p:txBody>
          <a:bodyPr wrap="none" lIns="9144" tIns="0" rIns="9144" bIns="0" anchor="ctr">
            <a:spAutoFit/>
          </a:bodyPr>
          <a:lstStyle/>
          <a:p>
            <a:pPr algn="ctr"/>
            <a:r>
              <a:rPr sz="530" b="1" i="0">
                <a:solidFill>
                  <a:srgbClr val="006F6E"/>
                </a:solidFill>
                <a:latin typeface="Arial"/>
              </a:rPr>
              <a:t>One joint panel OLS
with all domain
variables</a:t>
            </a:r>
          </a:p>
        </p:txBody>
      </p:sp>
      <p:sp>
        <p:nvSpPr>
          <p:cNvPr id="142" name="Oval 141"/>
          <p:cNvSpPr/>
          <p:nvPr/>
        </p:nvSpPr>
        <p:spPr>
          <a:xfrm>
            <a:off x="8924544" y="1216152"/>
            <a:ext cx="192024" cy="192024"/>
          </a:xfrm>
          <a:prstGeom prst="ellipse">
            <a:avLst/>
          </a:prstGeom>
          <a:solidFill>
            <a:srgbClr val="006F6E"/>
          </a:solidFill>
          <a:ln>
            <a:solidFill>
              <a:srgbClr val="006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5</a:t>
            </a:r>
          </a:p>
        </p:txBody>
      </p:sp>
      <p:sp>
        <p:nvSpPr>
          <p:cNvPr id="143" name="TextBox 142"/>
          <p:cNvSpPr txBox="1"/>
          <p:nvPr/>
        </p:nvSpPr>
        <p:spPr>
          <a:xfrm>
            <a:off x="9125712" y="1170432"/>
            <a:ext cx="594360" cy="365760"/>
          </a:xfrm>
          <a:prstGeom prst="rect">
            <a:avLst/>
          </a:prstGeom>
          <a:noFill/>
        </p:spPr>
        <p:txBody>
          <a:bodyPr wrap="none" lIns="9144" tIns="0" rIns="9144" bIns="0" anchor="ctr">
            <a:spAutoFit/>
          </a:bodyPr>
          <a:lstStyle/>
          <a:p>
            <a:pPr algn="ctr"/>
            <a:r>
              <a:rPr sz="530" b="1" i="0">
                <a:solidFill>
                  <a:srgbClr val="006F6E"/>
                </a:solidFill>
                <a:latin typeface="Arial"/>
              </a:rPr>
              <a:t>Likelihood summary
for each domain</a:t>
            </a:r>
          </a:p>
        </p:txBody>
      </p:sp>
      <p:sp>
        <p:nvSpPr>
          <p:cNvPr id="144" name="Oval 143"/>
          <p:cNvSpPr/>
          <p:nvPr/>
        </p:nvSpPr>
        <p:spPr>
          <a:xfrm>
            <a:off x="9729215" y="1216152"/>
            <a:ext cx="192024" cy="192024"/>
          </a:xfrm>
          <a:prstGeom prst="ellipse">
            <a:avLst/>
          </a:prstGeom>
          <a:solidFill>
            <a:srgbClr val="006F6E"/>
          </a:solidFill>
          <a:ln>
            <a:solidFill>
              <a:srgbClr val="006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6</a:t>
            </a:r>
          </a:p>
        </p:txBody>
      </p:sp>
      <p:sp>
        <p:nvSpPr>
          <p:cNvPr id="145" name="TextBox 144"/>
          <p:cNvSpPr txBox="1"/>
          <p:nvPr/>
        </p:nvSpPr>
        <p:spPr>
          <a:xfrm>
            <a:off x="9930384" y="1170432"/>
            <a:ext cx="594360" cy="365760"/>
          </a:xfrm>
          <a:prstGeom prst="rect">
            <a:avLst/>
          </a:prstGeom>
          <a:noFill/>
        </p:spPr>
        <p:txBody>
          <a:bodyPr wrap="none" lIns="9144" tIns="0" rIns="9144" bIns="0" anchor="ctr">
            <a:spAutoFit/>
          </a:bodyPr>
          <a:lstStyle/>
          <a:p>
            <a:pPr algn="ctr"/>
            <a:r>
              <a:rPr sz="530" b="1" i="0">
                <a:solidFill>
                  <a:srgbClr val="006F6E"/>
                </a:solidFill>
                <a:latin typeface="Arial"/>
              </a:rPr>
              <a:t>Posterior
for βₐ</a:t>
            </a:r>
          </a:p>
        </p:txBody>
      </p:sp>
      <p:sp>
        <p:nvSpPr>
          <p:cNvPr id="146" name="Oval 145"/>
          <p:cNvSpPr/>
          <p:nvPr/>
        </p:nvSpPr>
        <p:spPr>
          <a:xfrm>
            <a:off x="10460736" y="1216152"/>
            <a:ext cx="192024" cy="192024"/>
          </a:xfrm>
          <a:prstGeom prst="ellipse">
            <a:avLst/>
          </a:prstGeom>
          <a:solidFill>
            <a:srgbClr val="006F6E"/>
          </a:solidFill>
          <a:ln>
            <a:solidFill>
              <a:srgbClr val="006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7</a:t>
            </a:r>
          </a:p>
        </p:txBody>
      </p:sp>
      <p:sp>
        <p:nvSpPr>
          <p:cNvPr id="147" name="TextBox 146"/>
          <p:cNvSpPr txBox="1"/>
          <p:nvPr/>
        </p:nvSpPr>
        <p:spPr>
          <a:xfrm>
            <a:off x="10661904" y="1170432"/>
            <a:ext cx="594360" cy="365760"/>
          </a:xfrm>
          <a:prstGeom prst="rect">
            <a:avLst/>
          </a:prstGeom>
          <a:noFill/>
        </p:spPr>
        <p:txBody>
          <a:bodyPr wrap="none" lIns="9144" tIns="0" rIns="9144" bIns="0" anchor="ctr">
            <a:spAutoFit/>
          </a:bodyPr>
          <a:lstStyle/>
          <a:p>
            <a:pPr algn="ctr"/>
            <a:r>
              <a:rPr sz="530" b="1" i="0">
                <a:solidFill>
                  <a:srgbClr val="006F6E"/>
                </a:solidFill>
                <a:latin typeface="Arial"/>
              </a:rPr>
              <a:t>Combine posteriors
in Bayesian model</a:t>
            </a:r>
          </a:p>
        </p:txBody>
      </p:sp>
      <p:sp>
        <p:nvSpPr>
          <p:cNvPr id="148" name="Oval 147"/>
          <p:cNvSpPr/>
          <p:nvPr/>
        </p:nvSpPr>
        <p:spPr>
          <a:xfrm>
            <a:off x="11333988" y="1232916"/>
            <a:ext cx="192024" cy="192024"/>
          </a:xfrm>
          <a:prstGeom prst="ellipse">
            <a:avLst/>
          </a:prstGeom>
          <a:solidFill>
            <a:srgbClr val="006F6E"/>
          </a:solidFill>
          <a:ln>
            <a:solidFill>
              <a:srgbClr val="006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rial"/>
              </a:rPr>
              <a:t>8</a:t>
            </a:r>
          </a:p>
        </p:txBody>
      </p:sp>
      <p:sp>
        <p:nvSpPr>
          <p:cNvPr id="149" name="TextBox 148"/>
          <p:cNvSpPr txBox="1"/>
          <p:nvPr/>
        </p:nvSpPr>
        <p:spPr>
          <a:xfrm>
            <a:off x="11393424" y="1170432"/>
            <a:ext cx="594360" cy="365760"/>
          </a:xfrm>
          <a:prstGeom prst="rect">
            <a:avLst/>
          </a:prstGeom>
          <a:noFill/>
        </p:spPr>
        <p:txBody>
          <a:bodyPr wrap="none" lIns="9144" tIns="0" rIns="9144" bIns="0" anchor="ctr">
            <a:spAutoFit/>
          </a:bodyPr>
          <a:lstStyle/>
          <a:p>
            <a:pPr algn="ctr"/>
            <a:r>
              <a:rPr sz="530" b="1" i="0">
                <a:solidFill>
                  <a:srgbClr val="006F6E"/>
                </a:solidFill>
                <a:latin typeface="Arial"/>
              </a:rPr>
              <a:t>Outputs</a:t>
            </a:r>
          </a:p>
        </p:txBody>
      </p:sp>
      <p:sp>
        <p:nvSpPr>
          <p:cNvPr id="150" name="TextBox 149"/>
          <p:cNvSpPr txBox="1"/>
          <p:nvPr/>
        </p:nvSpPr>
        <p:spPr>
          <a:xfrm>
            <a:off x="5358384" y="1929384"/>
            <a:ext cx="347472" cy="164592"/>
          </a:xfrm>
          <a:prstGeom prst="rect">
            <a:avLst/>
          </a:prstGeom>
          <a:noFill/>
        </p:spPr>
        <p:txBody>
          <a:bodyPr wrap="none" lIns="9144" tIns="0" rIns="9144" bIns="0" anchor="ctr">
            <a:spAutoFit/>
          </a:bodyPr>
          <a:lstStyle/>
          <a:p>
            <a:pPr algn="l"/>
            <a:r>
              <a:rPr sz="590" b="1" i="0">
                <a:solidFill>
                  <a:srgbClr val="006F6E"/>
                </a:solidFill>
                <a:latin typeface="Arial"/>
              </a:rPr>
              <a:t>Media</a:t>
            </a:r>
          </a:p>
        </p:txBody>
      </p:sp>
      <p:sp>
        <p:nvSpPr>
          <p:cNvPr id="152" name="Rounded Rectangle 151"/>
          <p:cNvSpPr/>
          <p:nvPr/>
        </p:nvSpPr>
        <p:spPr>
          <a:xfrm>
            <a:off x="5779008" y="1700784"/>
            <a:ext cx="713232" cy="612648"/>
          </a:xfrm>
          <a:prstGeom prst="roundRect">
            <a:avLst/>
          </a:prstGeom>
          <a:solidFill>
            <a:srgbClr val="FFFFFF"/>
          </a:solidFill>
          <a:ln w="12700">
            <a:solidFill>
              <a:srgbClr val="006F6E"/>
            </a:solidFill>
          </a:ln>
          <a:effectLst/>
        </p:spPr>
        <p:style>
          <a:lnRef idx="1">
            <a:schemeClr val="accent1"/>
          </a:lnRef>
          <a:fillRef idx="3">
            <a:schemeClr val="accent1"/>
          </a:fillRef>
          <a:effectRef idx="2">
            <a:schemeClr val="accent1"/>
          </a:effectRef>
          <a:fontRef idx="minor">
            <a:schemeClr val="lt1"/>
          </a:fontRef>
        </p:style>
        <p:txBody>
          <a:bodyPr lIns="45720" tIns="36576" rIns="36576" bIns="18288" rtlCol="0" anchor="ctr"/>
          <a:lstStyle/>
          <a:p>
            <a:pPr algn="ctr"/>
            <a:r>
              <a:rPr sz="470" b="1" dirty="0">
                <a:solidFill>
                  <a:srgbClr val="006F6E"/>
                </a:solidFill>
                <a:latin typeface="Arial"/>
              </a:rPr>
              <a:t>Standalone evidence /
experiments</a:t>
            </a:r>
          </a:p>
          <a:p>
            <a:pPr algn="l"/>
            <a:r>
              <a:rPr sz="450" dirty="0">
                <a:solidFill>
                  <a:srgbClr val="1E2D41"/>
                </a:solidFill>
                <a:latin typeface="Arial"/>
              </a:rPr>
              <a:t>• A/B tests</a:t>
            </a:r>
          </a:p>
          <a:p>
            <a:pPr algn="l"/>
            <a:r>
              <a:rPr sz="450" dirty="0">
                <a:solidFill>
                  <a:srgbClr val="1E2D41"/>
                </a:solidFill>
                <a:latin typeface="Arial"/>
              </a:rPr>
              <a:t>• Quasi experiments</a:t>
            </a:r>
          </a:p>
          <a:p>
            <a:pPr algn="l"/>
            <a:r>
              <a:rPr sz="450" dirty="0">
                <a:solidFill>
                  <a:srgbClr val="1E2D41"/>
                </a:solidFill>
                <a:latin typeface="Arial"/>
              </a:rPr>
              <a:t>• Prior analysis</a:t>
            </a:r>
          </a:p>
          <a:p>
            <a:pPr algn="l"/>
            <a:r>
              <a:rPr sz="450" dirty="0">
                <a:solidFill>
                  <a:srgbClr val="1E2D41"/>
                </a:solidFill>
                <a:latin typeface="Arial"/>
              </a:rPr>
              <a:t>• Benchmarks</a:t>
            </a:r>
          </a:p>
        </p:txBody>
      </p:sp>
      <p:cxnSp>
        <p:nvCxnSpPr>
          <p:cNvPr id="153" name="Connector 152"/>
          <p:cNvCxnSpPr/>
          <p:nvPr/>
        </p:nvCxnSpPr>
        <p:spPr>
          <a:xfrm>
            <a:off x="6492240" y="2011680"/>
            <a:ext cx="100584" cy="0"/>
          </a:xfrm>
          <a:prstGeom prst="line">
            <a:avLst/>
          </a:prstGeom>
          <a:ln w="10160">
            <a:solidFill>
              <a:srgbClr val="006F6E"/>
            </a:solidFill>
          </a:ln>
        </p:spPr>
        <p:style>
          <a:lnRef idx="2">
            <a:schemeClr val="accent1"/>
          </a:lnRef>
          <a:fillRef idx="0">
            <a:schemeClr val="accent1"/>
          </a:fillRef>
          <a:effectRef idx="1">
            <a:schemeClr val="accent1"/>
          </a:effectRef>
          <a:fontRef idx="minor">
            <a:schemeClr val="tx1"/>
          </a:fontRef>
        </p:style>
      </p:cxnSp>
      <p:sp>
        <p:nvSpPr>
          <p:cNvPr id="154" name="Rounded Rectangle 153"/>
          <p:cNvSpPr/>
          <p:nvPr/>
        </p:nvSpPr>
        <p:spPr>
          <a:xfrm>
            <a:off x="6592824" y="1792224"/>
            <a:ext cx="438912" cy="438912"/>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1">
                <a:solidFill>
                  <a:srgbClr val="006F6E"/>
                </a:solidFill>
                <a:latin typeface="Arial"/>
              </a:rPr>
              <a:t>1 domain
variable /
index</a:t>
            </a:r>
          </a:p>
        </p:txBody>
      </p:sp>
      <p:cxnSp>
        <p:nvCxnSpPr>
          <p:cNvPr id="155" name="Connector 154"/>
          <p:cNvCxnSpPr/>
          <p:nvPr/>
        </p:nvCxnSpPr>
        <p:spPr>
          <a:xfrm>
            <a:off x="7031736" y="2011680"/>
            <a:ext cx="118872" cy="0"/>
          </a:xfrm>
          <a:prstGeom prst="line">
            <a:avLst/>
          </a:prstGeom>
          <a:ln w="10160">
            <a:solidFill>
              <a:srgbClr val="006F6E"/>
            </a:solidFill>
          </a:ln>
        </p:spPr>
        <p:style>
          <a:lnRef idx="2">
            <a:schemeClr val="accent1"/>
          </a:lnRef>
          <a:fillRef idx="0">
            <a:schemeClr val="accent1"/>
          </a:fillRef>
          <a:effectRef idx="1">
            <a:schemeClr val="accent1"/>
          </a:effectRef>
          <a:fontRef idx="minor">
            <a:schemeClr val="tx1"/>
          </a:fontRef>
        </p:style>
      </p:cxnSp>
      <p:sp>
        <p:nvSpPr>
          <p:cNvPr id="156" name="Rounded Rectangle 155"/>
          <p:cNvSpPr/>
          <p:nvPr/>
        </p:nvSpPr>
        <p:spPr>
          <a:xfrm>
            <a:off x="7150608" y="1764792"/>
            <a:ext cx="438912" cy="493776"/>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00" b="1">
                <a:solidFill>
                  <a:srgbClr val="006F6E"/>
                </a:solidFill>
                <a:latin typeface="Arial"/>
              </a:rPr>
              <a:t>Prior for β
media</a:t>
            </a:r>
          </a:p>
        </p:txBody>
      </p:sp>
      <p:pic>
        <p:nvPicPr>
          <p:cNvPr id="157" name="Picture 156" descr="bell.png"/>
          <p:cNvPicPr>
            <a:picLocks noChangeAspect="1"/>
          </p:cNvPicPr>
          <p:nvPr/>
        </p:nvPicPr>
        <p:blipFill>
          <a:blip r:embed="rId2"/>
          <a:stretch>
            <a:fillRect/>
          </a:stretch>
        </p:blipFill>
        <p:spPr>
          <a:xfrm>
            <a:off x="7269480" y="2048256"/>
            <a:ext cx="219456" cy="109728"/>
          </a:xfrm>
          <a:prstGeom prst="rect">
            <a:avLst/>
          </a:prstGeom>
        </p:spPr>
      </p:pic>
      <p:cxnSp>
        <p:nvCxnSpPr>
          <p:cNvPr id="158" name="Connector 157"/>
          <p:cNvCxnSpPr/>
          <p:nvPr/>
        </p:nvCxnSpPr>
        <p:spPr>
          <a:xfrm>
            <a:off x="7031736" y="2011680"/>
            <a:ext cx="832104" cy="0"/>
          </a:xfrm>
          <a:prstGeom prst="line">
            <a:avLst/>
          </a:prstGeom>
          <a:ln w="889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358384" y="2770632"/>
            <a:ext cx="347472" cy="164592"/>
          </a:xfrm>
          <a:prstGeom prst="rect">
            <a:avLst/>
          </a:prstGeom>
          <a:noFill/>
        </p:spPr>
        <p:txBody>
          <a:bodyPr wrap="none" lIns="9144" tIns="0" rIns="9144" bIns="0" anchor="ctr">
            <a:spAutoFit/>
          </a:bodyPr>
          <a:lstStyle/>
          <a:p>
            <a:pPr algn="l"/>
            <a:r>
              <a:rPr sz="590" b="1" i="0">
                <a:solidFill>
                  <a:srgbClr val="006F6E"/>
                </a:solidFill>
                <a:latin typeface="Arial"/>
              </a:rPr>
              <a:t>Promo</a:t>
            </a:r>
          </a:p>
        </p:txBody>
      </p:sp>
      <p:sp>
        <p:nvSpPr>
          <p:cNvPr id="161" name="Rounded Rectangle 160"/>
          <p:cNvSpPr/>
          <p:nvPr/>
        </p:nvSpPr>
        <p:spPr>
          <a:xfrm>
            <a:off x="5779008" y="2542032"/>
            <a:ext cx="713232" cy="612648"/>
          </a:xfrm>
          <a:prstGeom prst="roundRect">
            <a:avLst/>
          </a:prstGeom>
          <a:solidFill>
            <a:srgbClr val="FFFFFF"/>
          </a:solidFill>
          <a:ln w="12700">
            <a:solidFill>
              <a:srgbClr val="006F6E"/>
            </a:solidFill>
          </a:ln>
          <a:effectLst/>
        </p:spPr>
        <p:style>
          <a:lnRef idx="1">
            <a:schemeClr val="accent1"/>
          </a:lnRef>
          <a:fillRef idx="3">
            <a:schemeClr val="accent1"/>
          </a:fillRef>
          <a:effectRef idx="2">
            <a:schemeClr val="accent1"/>
          </a:effectRef>
          <a:fontRef idx="minor">
            <a:schemeClr val="lt1"/>
          </a:fontRef>
        </p:style>
        <p:txBody>
          <a:bodyPr lIns="45720" tIns="36576" rIns="36576" bIns="18288" rtlCol="0" anchor="ctr"/>
          <a:lstStyle/>
          <a:p>
            <a:pPr algn="ctr"/>
            <a:r>
              <a:rPr sz="470" b="1">
                <a:solidFill>
                  <a:srgbClr val="006F6E"/>
                </a:solidFill>
                <a:latin typeface="Arial"/>
              </a:rPr>
              <a:t>Standalone evidence /
experiments</a:t>
            </a:r>
          </a:p>
          <a:p>
            <a:pPr algn="l"/>
            <a:r>
              <a:rPr sz="450">
                <a:solidFill>
                  <a:srgbClr val="1E2D41"/>
                </a:solidFill>
                <a:latin typeface="Arial"/>
              </a:rPr>
              <a:t>• A/B tests</a:t>
            </a:r>
          </a:p>
          <a:p>
            <a:pPr algn="l"/>
            <a:r>
              <a:rPr sz="450">
                <a:solidFill>
                  <a:srgbClr val="1E2D41"/>
                </a:solidFill>
                <a:latin typeface="Arial"/>
              </a:rPr>
              <a:t>• Quasi experiments</a:t>
            </a:r>
          </a:p>
          <a:p>
            <a:pPr algn="l"/>
            <a:r>
              <a:rPr sz="450">
                <a:solidFill>
                  <a:srgbClr val="1E2D41"/>
                </a:solidFill>
                <a:latin typeface="Arial"/>
              </a:rPr>
              <a:t>• Prior analysis</a:t>
            </a:r>
          </a:p>
          <a:p>
            <a:pPr algn="l"/>
            <a:r>
              <a:rPr sz="450">
                <a:solidFill>
                  <a:srgbClr val="1E2D41"/>
                </a:solidFill>
                <a:latin typeface="Arial"/>
              </a:rPr>
              <a:t>• Benchmarks</a:t>
            </a:r>
          </a:p>
        </p:txBody>
      </p:sp>
      <p:cxnSp>
        <p:nvCxnSpPr>
          <p:cNvPr id="162" name="Connector 161"/>
          <p:cNvCxnSpPr/>
          <p:nvPr/>
        </p:nvCxnSpPr>
        <p:spPr>
          <a:xfrm>
            <a:off x="6492240" y="2852927"/>
            <a:ext cx="100584" cy="0"/>
          </a:xfrm>
          <a:prstGeom prst="line">
            <a:avLst/>
          </a:prstGeom>
          <a:ln w="10160">
            <a:solidFill>
              <a:srgbClr val="006F6E"/>
            </a:solidFill>
          </a:ln>
        </p:spPr>
        <p:style>
          <a:lnRef idx="2">
            <a:schemeClr val="accent1"/>
          </a:lnRef>
          <a:fillRef idx="0">
            <a:schemeClr val="accent1"/>
          </a:fillRef>
          <a:effectRef idx="1">
            <a:schemeClr val="accent1"/>
          </a:effectRef>
          <a:fontRef idx="minor">
            <a:schemeClr val="tx1"/>
          </a:fontRef>
        </p:style>
      </p:cxnSp>
      <p:sp>
        <p:nvSpPr>
          <p:cNvPr id="163" name="Rounded Rectangle 162"/>
          <p:cNvSpPr/>
          <p:nvPr/>
        </p:nvSpPr>
        <p:spPr>
          <a:xfrm>
            <a:off x="6592824" y="2633472"/>
            <a:ext cx="438912" cy="438912"/>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1">
                <a:solidFill>
                  <a:srgbClr val="006F6E"/>
                </a:solidFill>
                <a:latin typeface="Arial"/>
              </a:rPr>
              <a:t>1 domain
variable /
index</a:t>
            </a:r>
          </a:p>
        </p:txBody>
      </p:sp>
      <p:cxnSp>
        <p:nvCxnSpPr>
          <p:cNvPr id="164" name="Connector 163"/>
          <p:cNvCxnSpPr/>
          <p:nvPr/>
        </p:nvCxnSpPr>
        <p:spPr>
          <a:xfrm>
            <a:off x="7031736" y="2852927"/>
            <a:ext cx="118872" cy="0"/>
          </a:xfrm>
          <a:prstGeom prst="line">
            <a:avLst/>
          </a:prstGeom>
          <a:ln w="10160">
            <a:solidFill>
              <a:srgbClr val="006F6E"/>
            </a:solidFill>
          </a:ln>
        </p:spPr>
        <p:style>
          <a:lnRef idx="2">
            <a:schemeClr val="accent1"/>
          </a:lnRef>
          <a:fillRef idx="0">
            <a:schemeClr val="accent1"/>
          </a:fillRef>
          <a:effectRef idx="1">
            <a:schemeClr val="accent1"/>
          </a:effectRef>
          <a:fontRef idx="minor">
            <a:schemeClr val="tx1"/>
          </a:fontRef>
        </p:style>
      </p:cxnSp>
      <p:sp>
        <p:nvSpPr>
          <p:cNvPr id="165" name="Rounded Rectangle 164"/>
          <p:cNvSpPr/>
          <p:nvPr/>
        </p:nvSpPr>
        <p:spPr>
          <a:xfrm>
            <a:off x="7150608" y="2606039"/>
            <a:ext cx="438912" cy="493776"/>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00" b="1">
                <a:solidFill>
                  <a:srgbClr val="006F6E"/>
                </a:solidFill>
                <a:latin typeface="Arial"/>
              </a:rPr>
              <a:t>Prior for β
promo</a:t>
            </a:r>
          </a:p>
        </p:txBody>
      </p:sp>
      <p:pic>
        <p:nvPicPr>
          <p:cNvPr id="166" name="Picture 165" descr="bell.png"/>
          <p:cNvPicPr>
            <a:picLocks noChangeAspect="1"/>
          </p:cNvPicPr>
          <p:nvPr/>
        </p:nvPicPr>
        <p:blipFill>
          <a:blip r:embed="rId2"/>
          <a:stretch>
            <a:fillRect/>
          </a:stretch>
        </p:blipFill>
        <p:spPr>
          <a:xfrm>
            <a:off x="7269480" y="2889503"/>
            <a:ext cx="219456" cy="109728"/>
          </a:xfrm>
          <a:prstGeom prst="rect">
            <a:avLst/>
          </a:prstGeom>
        </p:spPr>
      </p:pic>
      <p:cxnSp>
        <p:nvCxnSpPr>
          <p:cNvPr id="167" name="Connector 166"/>
          <p:cNvCxnSpPr/>
          <p:nvPr/>
        </p:nvCxnSpPr>
        <p:spPr>
          <a:xfrm>
            <a:off x="7031736" y="2852927"/>
            <a:ext cx="832104" cy="0"/>
          </a:xfrm>
          <a:prstGeom prst="line">
            <a:avLst/>
          </a:prstGeom>
          <a:ln w="889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168" name="TextBox 167"/>
          <p:cNvSpPr txBox="1"/>
          <p:nvPr/>
        </p:nvSpPr>
        <p:spPr>
          <a:xfrm>
            <a:off x="5358384" y="3611880"/>
            <a:ext cx="347472" cy="164592"/>
          </a:xfrm>
          <a:prstGeom prst="rect">
            <a:avLst/>
          </a:prstGeom>
          <a:noFill/>
        </p:spPr>
        <p:txBody>
          <a:bodyPr wrap="none" lIns="9144" tIns="0" rIns="9144" bIns="0" anchor="ctr">
            <a:spAutoFit/>
          </a:bodyPr>
          <a:lstStyle/>
          <a:p>
            <a:pPr algn="l"/>
            <a:r>
              <a:rPr sz="590" b="1" i="0">
                <a:solidFill>
                  <a:srgbClr val="006F6E"/>
                </a:solidFill>
                <a:latin typeface="Arial"/>
              </a:rPr>
              <a:t>Operations</a:t>
            </a:r>
          </a:p>
        </p:txBody>
      </p:sp>
      <p:sp>
        <p:nvSpPr>
          <p:cNvPr id="170" name="Rounded Rectangle 169"/>
          <p:cNvSpPr/>
          <p:nvPr/>
        </p:nvSpPr>
        <p:spPr>
          <a:xfrm>
            <a:off x="5779008" y="3383280"/>
            <a:ext cx="713232" cy="612648"/>
          </a:xfrm>
          <a:prstGeom prst="roundRect">
            <a:avLst/>
          </a:prstGeom>
          <a:solidFill>
            <a:srgbClr val="FFFFFF"/>
          </a:solidFill>
          <a:ln w="12700">
            <a:solidFill>
              <a:srgbClr val="006F6E"/>
            </a:solidFill>
          </a:ln>
          <a:effectLst/>
        </p:spPr>
        <p:style>
          <a:lnRef idx="1">
            <a:schemeClr val="accent1"/>
          </a:lnRef>
          <a:fillRef idx="3">
            <a:schemeClr val="accent1"/>
          </a:fillRef>
          <a:effectRef idx="2">
            <a:schemeClr val="accent1"/>
          </a:effectRef>
          <a:fontRef idx="minor">
            <a:schemeClr val="lt1"/>
          </a:fontRef>
        </p:style>
        <p:txBody>
          <a:bodyPr lIns="45720" tIns="36576" rIns="36576" bIns="18288" rtlCol="0" anchor="ctr"/>
          <a:lstStyle/>
          <a:p>
            <a:pPr algn="ctr"/>
            <a:r>
              <a:rPr sz="470" b="1">
                <a:solidFill>
                  <a:srgbClr val="006F6E"/>
                </a:solidFill>
                <a:latin typeface="Arial"/>
              </a:rPr>
              <a:t>Standalone evidence /
experiments</a:t>
            </a:r>
          </a:p>
          <a:p>
            <a:pPr algn="l"/>
            <a:r>
              <a:rPr sz="450">
                <a:solidFill>
                  <a:srgbClr val="1E2D41"/>
                </a:solidFill>
                <a:latin typeface="Arial"/>
              </a:rPr>
              <a:t>• A/B tests</a:t>
            </a:r>
          </a:p>
          <a:p>
            <a:pPr algn="l"/>
            <a:r>
              <a:rPr sz="450">
                <a:solidFill>
                  <a:srgbClr val="1E2D41"/>
                </a:solidFill>
                <a:latin typeface="Arial"/>
              </a:rPr>
              <a:t>• Quasi experiments</a:t>
            </a:r>
          </a:p>
          <a:p>
            <a:pPr algn="l"/>
            <a:r>
              <a:rPr sz="450">
                <a:solidFill>
                  <a:srgbClr val="1E2D41"/>
                </a:solidFill>
                <a:latin typeface="Arial"/>
              </a:rPr>
              <a:t>• Prior analysis</a:t>
            </a:r>
          </a:p>
          <a:p>
            <a:pPr algn="l"/>
            <a:r>
              <a:rPr sz="450">
                <a:solidFill>
                  <a:srgbClr val="1E2D41"/>
                </a:solidFill>
                <a:latin typeface="Arial"/>
              </a:rPr>
              <a:t>• Benchmarks</a:t>
            </a:r>
          </a:p>
        </p:txBody>
      </p:sp>
      <p:cxnSp>
        <p:nvCxnSpPr>
          <p:cNvPr id="171" name="Connector 170"/>
          <p:cNvCxnSpPr/>
          <p:nvPr/>
        </p:nvCxnSpPr>
        <p:spPr>
          <a:xfrm>
            <a:off x="6492240" y="3694176"/>
            <a:ext cx="100584" cy="0"/>
          </a:xfrm>
          <a:prstGeom prst="line">
            <a:avLst/>
          </a:prstGeom>
          <a:ln w="10160">
            <a:solidFill>
              <a:srgbClr val="006F6E"/>
            </a:solidFill>
          </a:ln>
        </p:spPr>
        <p:style>
          <a:lnRef idx="2">
            <a:schemeClr val="accent1"/>
          </a:lnRef>
          <a:fillRef idx="0">
            <a:schemeClr val="accent1"/>
          </a:fillRef>
          <a:effectRef idx="1">
            <a:schemeClr val="accent1"/>
          </a:effectRef>
          <a:fontRef idx="minor">
            <a:schemeClr val="tx1"/>
          </a:fontRef>
        </p:style>
      </p:cxnSp>
      <p:sp>
        <p:nvSpPr>
          <p:cNvPr id="172" name="Rounded Rectangle 171"/>
          <p:cNvSpPr/>
          <p:nvPr/>
        </p:nvSpPr>
        <p:spPr>
          <a:xfrm>
            <a:off x="6592824" y="3474720"/>
            <a:ext cx="438912" cy="438912"/>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1">
                <a:solidFill>
                  <a:srgbClr val="006F6E"/>
                </a:solidFill>
                <a:latin typeface="Arial"/>
              </a:rPr>
              <a:t>1 domain
variable /
index</a:t>
            </a:r>
          </a:p>
        </p:txBody>
      </p:sp>
      <p:cxnSp>
        <p:nvCxnSpPr>
          <p:cNvPr id="173" name="Connector 172"/>
          <p:cNvCxnSpPr/>
          <p:nvPr/>
        </p:nvCxnSpPr>
        <p:spPr>
          <a:xfrm>
            <a:off x="7031736" y="3694176"/>
            <a:ext cx="118872" cy="0"/>
          </a:xfrm>
          <a:prstGeom prst="line">
            <a:avLst/>
          </a:prstGeom>
          <a:ln w="10160">
            <a:solidFill>
              <a:srgbClr val="006F6E"/>
            </a:solidFill>
          </a:ln>
        </p:spPr>
        <p:style>
          <a:lnRef idx="2">
            <a:schemeClr val="accent1"/>
          </a:lnRef>
          <a:fillRef idx="0">
            <a:schemeClr val="accent1"/>
          </a:fillRef>
          <a:effectRef idx="1">
            <a:schemeClr val="accent1"/>
          </a:effectRef>
          <a:fontRef idx="minor">
            <a:schemeClr val="tx1"/>
          </a:fontRef>
        </p:style>
      </p:cxnSp>
      <p:sp>
        <p:nvSpPr>
          <p:cNvPr id="174" name="Rounded Rectangle 173"/>
          <p:cNvSpPr/>
          <p:nvPr/>
        </p:nvSpPr>
        <p:spPr>
          <a:xfrm>
            <a:off x="7150608" y="3447288"/>
            <a:ext cx="438912" cy="493776"/>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00" b="1">
                <a:solidFill>
                  <a:srgbClr val="006F6E"/>
                </a:solidFill>
                <a:latin typeface="Arial"/>
              </a:rPr>
              <a:t>Prior for β
operations</a:t>
            </a:r>
          </a:p>
        </p:txBody>
      </p:sp>
      <p:pic>
        <p:nvPicPr>
          <p:cNvPr id="175" name="Picture 174" descr="bell.png"/>
          <p:cNvPicPr>
            <a:picLocks noChangeAspect="1"/>
          </p:cNvPicPr>
          <p:nvPr/>
        </p:nvPicPr>
        <p:blipFill>
          <a:blip r:embed="rId2"/>
          <a:stretch>
            <a:fillRect/>
          </a:stretch>
        </p:blipFill>
        <p:spPr>
          <a:xfrm>
            <a:off x="7269480" y="3730752"/>
            <a:ext cx="219456" cy="109728"/>
          </a:xfrm>
          <a:prstGeom prst="rect">
            <a:avLst/>
          </a:prstGeom>
        </p:spPr>
      </p:pic>
      <p:cxnSp>
        <p:nvCxnSpPr>
          <p:cNvPr id="176" name="Connector 175"/>
          <p:cNvCxnSpPr/>
          <p:nvPr/>
        </p:nvCxnSpPr>
        <p:spPr>
          <a:xfrm>
            <a:off x="7031736" y="3694176"/>
            <a:ext cx="832104" cy="0"/>
          </a:xfrm>
          <a:prstGeom prst="line">
            <a:avLst/>
          </a:prstGeom>
          <a:ln w="889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5358384" y="4453128"/>
            <a:ext cx="347472" cy="164592"/>
          </a:xfrm>
          <a:prstGeom prst="rect">
            <a:avLst/>
          </a:prstGeom>
          <a:noFill/>
        </p:spPr>
        <p:txBody>
          <a:bodyPr wrap="none" lIns="9144" tIns="0" rIns="9144" bIns="0" anchor="ctr">
            <a:spAutoFit/>
          </a:bodyPr>
          <a:lstStyle/>
          <a:p>
            <a:pPr algn="l"/>
            <a:r>
              <a:rPr sz="590" b="1" i="0">
                <a:solidFill>
                  <a:srgbClr val="006F6E"/>
                </a:solidFill>
                <a:latin typeface="Arial"/>
              </a:rPr>
              <a:t>Macro</a:t>
            </a:r>
          </a:p>
        </p:txBody>
      </p:sp>
      <p:sp>
        <p:nvSpPr>
          <p:cNvPr id="179" name="Rounded Rectangle 178"/>
          <p:cNvSpPr/>
          <p:nvPr/>
        </p:nvSpPr>
        <p:spPr>
          <a:xfrm>
            <a:off x="5779008" y="4224528"/>
            <a:ext cx="713232" cy="612648"/>
          </a:xfrm>
          <a:prstGeom prst="roundRect">
            <a:avLst/>
          </a:prstGeom>
          <a:solidFill>
            <a:srgbClr val="FFFFFF"/>
          </a:solidFill>
          <a:ln w="12700">
            <a:solidFill>
              <a:srgbClr val="006F6E"/>
            </a:solidFill>
          </a:ln>
          <a:effectLst/>
        </p:spPr>
        <p:style>
          <a:lnRef idx="1">
            <a:schemeClr val="accent1"/>
          </a:lnRef>
          <a:fillRef idx="3">
            <a:schemeClr val="accent1"/>
          </a:fillRef>
          <a:effectRef idx="2">
            <a:schemeClr val="accent1"/>
          </a:effectRef>
          <a:fontRef idx="minor">
            <a:schemeClr val="lt1"/>
          </a:fontRef>
        </p:style>
        <p:txBody>
          <a:bodyPr lIns="45720" tIns="36576" rIns="36576" bIns="18288" rtlCol="0" anchor="ctr"/>
          <a:lstStyle/>
          <a:p>
            <a:pPr algn="ctr"/>
            <a:r>
              <a:rPr sz="470" b="1">
                <a:solidFill>
                  <a:srgbClr val="006F6E"/>
                </a:solidFill>
                <a:latin typeface="Arial"/>
              </a:rPr>
              <a:t>Standalone evidence /
experiments</a:t>
            </a:r>
          </a:p>
          <a:p>
            <a:pPr algn="l"/>
            <a:r>
              <a:rPr sz="450">
                <a:solidFill>
                  <a:srgbClr val="1E2D41"/>
                </a:solidFill>
                <a:latin typeface="Arial"/>
              </a:rPr>
              <a:t>• A/B tests</a:t>
            </a:r>
          </a:p>
          <a:p>
            <a:pPr algn="l"/>
            <a:r>
              <a:rPr sz="450">
                <a:solidFill>
                  <a:srgbClr val="1E2D41"/>
                </a:solidFill>
                <a:latin typeface="Arial"/>
              </a:rPr>
              <a:t>• Quasi experiments</a:t>
            </a:r>
          </a:p>
          <a:p>
            <a:pPr algn="l"/>
            <a:r>
              <a:rPr sz="450">
                <a:solidFill>
                  <a:srgbClr val="1E2D41"/>
                </a:solidFill>
                <a:latin typeface="Arial"/>
              </a:rPr>
              <a:t>• Prior analysis</a:t>
            </a:r>
          </a:p>
          <a:p>
            <a:pPr algn="l"/>
            <a:r>
              <a:rPr sz="450">
                <a:solidFill>
                  <a:srgbClr val="1E2D41"/>
                </a:solidFill>
                <a:latin typeface="Arial"/>
              </a:rPr>
              <a:t>• Benchmarks</a:t>
            </a:r>
          </a:p>
        </p:txBody>
      </p:sp>
      <p:cxnSp>
        <p:nvCxnSpPr>
          <p:cNvPr id="180" name="Connector 179"/>
          <p:cNvCxnSpPr/>
          <p:nvPr/>
        </p:nvCxnSpPr>
        <p:spPr>
          <a:xfrm>
            <a:off x="6492240" y="4535424"/>
            <a:ext cx="100584" cy="0"/>
          </a:xfrm>
          <a:prstGeom prst="line">
            <a:avLst/>
          </a:prstGeom>
          <a:ln w="10160">
            <a:solidFill>
              <a:srgbClr val="006F6E"/>
            </a:solidFill>
          </a:ln>
        </p:spPr>
        <p:style>
          <a:lnRef idx="2">
            <a:schemeClr val="accent1"/>
          </a:lnRef>
          <a:fillRef idx="0">
            <a:schemeClr val="accent1"/>
          </a:fillRef>
          <a:effectRef idx="1">
            <a:schemeClr val="accent1"/>
          </a:effectRef>
          <a:fontRef idx="minor">
            <a:schemeClr val="tx1"/>
          </a:fontRef>
        </p:style>
      </p:cxnSp>
      <p:sp>
        <p:nvSpPr>
          <p:cNvPr id="181" name="Rounded Rectangle 180"/>
          <p:cNvSpPr/>
          <p:nvPr/>
        </p:nvSpPr>
        <p:spPr>
          <a:xfrm>
            <a:off x="6592824" y="4315968"/>
            <a:ext cx="438912" cy="438912"/>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20" b="1">
                <a:solidFill>
                  <a:srgbClr val="006F6E"/>
                </a:solidFill>
                <a:latin typeface="Arial"/>
              </a:rPr>
              <a:t>1 domain
variable /
index</a:t>
            </a:r>
          </a:p>
        </p:txBody>
      </p:sp>
      <p:cxnSp>
        <p:nvCxnSpPr>
          <p:cNvPr id="182" name="Connector 181"/>
          <p:cNvCxnSpPr/>
          <p:nvPr/>
        </p:nvCxnSpPr>
        <p:spPr>
          <a:xfrm>
            <a:off x="7031736" y="4535424"/>
            <a:ext cx="118872" cy="0"/>
          </a:xfrm>
          <a:prstGeom prst="line">
            <a:avLst/>
          </a:prstGeom>
          <a:ln w="10160">
            <a:solidFill>
              <a:srgbClr val="006F6E"/>
            </a:solidFill>
          </a:ln>
        </p:spPr>
        <p:style>
          <a:lnRef idx="2">
            <a:schemeClr val="accent1"/>
          </a:lnRef>
          <a:fillRef idx="0">
            <a:schemeClr val="accent1"/>
          </a:fillRef>
          <a:effectRef idx="1">
            <a:schemeClr val="accent1"/>
          </a:effectRef>
          <a:fontRef idx="minor">
            <a:schemeClr val="tx1"/>
          </a:fontRef>
        </p:style>
      </p:cxnSp>
      <p:sp>
        <p:nvSpPr>
          <p:cNvPr id="183" name="Rounded Rectangle 182"/>
          <p:cNvSpPr/>
          <p:nvPr/>
        </p:nvSpPr>
        <p:spPr>
          <a:xfrm>
            <a:off x="7150608" y="4288536"/>
            <a:ext cx="438912" cy="493776"/>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00" b="1">
                <a:solidFill>
                  <a:srgbClr val="006F6E"/>
                </a:solidFill>
                <a:latin typeface="Arial"/>
              </a:rPr>
              <a:t>Prior for β
macro</a:t>
            </a:r>
          </a:p>
        </p:txBody>
      </p:sp>
      <p:pic>
        <p:nvPicPr>
          <p:cNvPr id="184" name="Picture 183" descr="bell.png"/>
          <p:cNvPicPr>
            <a:picLocks noChangeAspect="1"/>
          </p:cNvPicPr>
          <p:nvPr/>
        </p:nvPicPr>
        <p:blipFill>
          <a:blip r:embed="rId2"/>
          <a:stretch>
            <a:fillRect/>
          </a:stretch>
        </p:blipFill>
        <p:spPr>
          <a:xfrm>
            <a:off x="7269480" y="4572000"/>
            <a:ext cx="219456" cy="109728"/>
          </a:xfrm>
          <a:prstGeom prst="rect">
            <a:avLst/>
          </a:prstGeom>
        </p:spPr>
      </p:pic>
      <p:cxnSp>
        <p:nvCxnSpPr>
          <p:cNvPr id="185" name="Connector 184"/>
          <p:cNvCxnSpPr/>
          <p:nvPr/>
        </p:nvCxnSpPr>
        <p:spPr>
          <a:xfrm>
            <a:off x="7031736" y="4535424"/>
            <a:ext cx="832104" cy="0"/>
          </a:xfrm>
          <a:prstGeom prst="line">
            <a:avLst/>
          </a:prstGeom>
          <a:ln w="889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186" name="Rounded Rectangle 185"/>
          <p:cNvSpPr/>
          <p:nvPr/>
        </p:nvSpPr>
        <p:spPr>
          <a:xfrm>
            <a:off x="7863840" y="1874519"/>
            <a:ext cx="960120" cy="2953512"/>
          </a:xfrm>
          <a:prstGeom prst="roundRect">
            <a:avLst/>
          </a:prstGeom>
          <a:solidFill>
            <a:srgbClr val="FFFFFF"/>
          </a:solidFill>
          <a:ln w="12700">
            <a:solidFill>
              <a:srgbClr val="006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7936992" y="2039112"/>
            <a:ext cx="813816" cy="347472"/>
          </a:xfrm>
          <a:prstGeom prst="rect">
            <a:avLst/>
          </a:prstGeom>
          <a:noFill/>
        </p:spPr>
        <p:txBody>
          <a:bodyPr wrap="none" lIns="9144" tIns="0" rIns="9144" bIns="0" anchor="ctr">
            <a:spAutoFit/>
          </a:bodyPr>
          <a:lstStyle/>
          <a:p>
            <a:pPr algn="ctr"/>
            <a:r>
              <a:rPr sz="950" b="1" i="0">
                <a:solidFill>
                  <a:srgbClr val="006F6E"/>
                </a:solidFill>
                <a:latin typeface="Arial"/>
              </a:rPr>
              <a:t>One Joint
Panel OLS</a:t>
            </a:r>
          </a:p>
        </p:txBody>
      </p:sp>
      <p:sp>
        <p:nvSpPr>
          <p:cNvPr id="188" name="TextBox 187"/>
          <p:cNvSpPr txBox="1"/>
          <p:nvPr/>
        </p:nvSpPr>
        <p:spPr>
          <a:xfrm>
            <a:off x="7973567" y="2441448"/>
            <a:ext cx="740664" cy="329184"/>
          </a:xfrm>
          <a:prstGeom prst="rect">
            <a:avLst/>
          </a:prstGeom>
          <a:noFill/>
        </p:spPr>
        <p:txBody>
          <a:bodyPr wrap="none" lIns="9144" tIns="0" rIns="9144" bIns="0" anchor="ctr">
            <a:spAutoFit/>
          </a:bodyPr>
          <a:lstStyle/>
          <a:p>
            <a:pPr algn="ctr"/>
            <a:r>
              <a:rPr sz="530" b="1" i="1">
                <a:solidFill>
                  <a:srgbClr val="006F6E"/>
                </a:solidFill>
                <a:latin typeface="Arial"/>
              </a:rPr>
              <a:t>using all selected
domain variables
together</a:t>
            </a:r>
          </a:p>
        </p:txBody>
      </p:sp>
      <p:sp>
        <p:nvSpPr>
          <p:cNvPr id="190" name="Rounded Rectangle 189"/>
          <p:cNvSpPr/>
          <p:nvPr/>
        </p:nvSpPr>
        <p:spPr>
          <a:xfrm>
            <a:off x="8055864" y="3429000"/>
            <a:ext cx="576072" cy="502920"/>
          </a:xfrm>
          <a:prstGeom prst="roundRect">
            <a:avLst/>
          </a:prstGeom>
          <a:solidFill>
            <a:srgbClr val="FFFFFF"/>
          </a:solidFill>
          <a:ln w="10160">
            <a:solidFill>
              <a:srgbClr val="C8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1" name="Connector 190"/>
          <p:cNvCxnSpPr/>
          <p:nvPr/>
        </p:nvCxnSpPr>
        <p:spPr>
          <a:xfrm flipV="1">
            <a:off x="8147304" y="3520439"/>
            <a:ext cx="466344" cy="274321"/>
          </a:xfrm>
          <a:prstGeom prst="line">
            <a:avLst/>
          </a:prstGeom>
          <a:ln w="12700">
            <a:solidFill>
              <a:srgbClr val="006F6E"/>
            </a:solidFill>
          </a:ln>
        </p:spPr>
        <p:style>
          <a:lnRef idx="2">
            <a:schemeClr val="accent1"/>
          </a:lnRef>
          <a:fillRef idx="0">
            <a:schemeClr val="accent1"/>
          </a:fillRef>
          <a:effectRef idx="1">
            <a:schemeClr val="accent1"/>
          </a:effectRef>
          <a:fontRef idx="minor">
            <a:schemeClr val="tx1"/>
          </a:fontRef>
        </p:style>
      </p:cxnSp>
      <p:sp>
        <p:nvSpPr>
          <p:cNvPr id="192" name="Oval 191"/>
          <p:cNvSpPr/>
          <p:nvPr/>
        </p:nvSpPr>
        <p:spPr>
          <a:xfrm>
            <a:off x="8156448" y="3776472"/>
            <a:ext cx="32004" cy="32004"/>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p:cNvSpPr/>
          <p:nvPr/>
        </p:nvSpPr>
        <p:spPr>
          <a:xfrm>
            <a:off x="8247888" y="3739896"/>
            <a:ext cx="32004" cy="32004"/>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193"/>
          <p:cNvSpPr/>
          <p:nvPr/>
        </p:nvSpPr>
        <p:spPr>
          <a:xfrm>
            <a:off x="8321040" y="3685031"/>
            <a:ext cx="32004" cy="32004"/>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8403336" y="3648456"/>
            <a:ext cx="32004" cy="32004"/>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val 195"/>
          <p:cNvSpPr/>
          <p:nvPr/>
        </p:nvSpPr>
        <p:spPr>
          <a:xfrm>
            <a:off x="8485632" y="3575304"/>
            <a:ext cx="32004" cy="32004"/>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196"/>
          <p:cNvSpPr/>
          <p:nvPr/>
        </p:nvSpPr>
        <p:spPr>
          <a:xfrm>
            <a:off x="8577072" y="3538728"/>
            <a:ext cx="32004" cy="32004"/>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7985211" y="4148362"/>
            <a:ext cx="717377" cy="307777"/>
          </a:xfrm>
          <a:prstGeom prst="rect">
            <a:avLst/>
          </a:prstGeom>
          <a:noFill/>
        </p:spPr>
        <p:txBody>
          <a:bodyPr wrap="none" lIns="9144" tIns="0" rIns="9144" bIns="0" anchor="ctr">
            <a:spAutoFit/>
          </a:bodyPr>
          <a:lstStyle/>
          <a:p>
            <a:pPr algn="ctr"/>
            <a:r>
              <a:rPr lang="en-US" sz="500" b="1" i="1" dirty="0">
                <a:solidFill>
                  <a:srgbClr val="006F6E"/>
                </a:solidFill>
                <a:latin typeface="Arial"/>
              </a:rPr>
              <a:t>One s</a:t>
            </a:r>
            <a:r>
              <a:rPr sz="500" b="1" i="1" dirty="0">
                <a:solidFill>
                  <a:srgbClr val="006F6E"/>
                </a:solidFill>
                <a:latin typeface="Arial"/>
              </a:rPr>
              <a:t>ingle OLS / panel
regression with all
domain variables
jointly estimated</a:t>
            </a:r>
          </a:p>
        </p:txBody>
      </p:sp>
      <p:cxnSp>
        <p:nvCxnSpPr>
          <p:cNvPr id="199" name="Connector 198"/>
          <p:cNvCxnSpPr/>
          <p:nvPr/>
        </p:nvCxnSpPr>
        <p:spPr>
          <a:xfrm>
            <a:off x="8823960" y="2011680"/>
            <a:ext cx="210312" cy="0"/>
          </a:xfrm>
          <a:prstGeom prst="line">
            <a:avLst/>
          </a:prstGeom>
          <a:ln w="1016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200" name="Rounded Rectangle 199"/>
          <p:cNvSpPr/>
          <p:nvPr/>
        </p:nvSpPr>
        <p:spPr>
          <a:xfrm>
            <a:off x="9034272" y="1719072"/>
            <a:ext cx="713232" cy="566928"/>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30" b="1">
                <a:solidFill>
                  <a:srgbClr val="006F6E"/>
                </a:solidFill>
                <a:latin typeface="Arial"/>
              </a:rPr>
              <a:t>Media likelihood
summary:
β̂_media, SE(β̂_media)</a:t>
            </a:r>
          </a:p>
        </p:txBody>
      </p:sp>
      <p:cxnSp>
        <p:nvCxnSpPr>
          <p:cNvPr id="201" name="Connector 200"/>
          <p:cNvCxnSpPr/>
          <p:nvPr/>
        </p:nvCxnSpPr>
        <p:spPr>
          <a:xfrm flipV="1">
            <a:off x="9208008" y="2029968"/>
            <a:ext cx="338328" cy="146304"/>
          </a:xfrm>
          <a:prstGeom prst="line">
            <a:avLst/>
          </a:prstGeom>
          <a:ln w="9525">
            <a:solidFill>
              <a:srgbClr val="0F4CAA"/>
            </a:solidFill>
          </a:ln>
        </p:spPr>
        <p:style>
          <a:lnRef idx="2">
            <a:schemeClr val="accent1"/>
          </a:lnRef>
          <a:fillRef idx="0">
            <a:schemeClr val="accent1"/>
          </a:fillRef>
          <a:effectRef idx="1">
            <a:schemeClr val="accent1"/>
          </a:effectRef>
          <a:fontRef idx="minor">
            <a:schemeClr val="tx1"/>
          </a:fontRef>
        </p:style>
      </p:cxnSp>
      <p:sp>
        <p:nvSpPr>
          <p:cNvPr id="202" name="Oval 201"/>
          <p:cNvSpPr/>
          <p:nvPr/>
        </p:nvSpPr>
        <p:spPr>
          <a:xfrm>
            <a:off x="9226296" y="2157984"/>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val 202"/>
          <p:cNvSpPr/>
          <p:nvPr/>
        </p:nvSpPr>
        <p:spPr>
          <a:xfrm>
            <a:off x="9317736" y="2130552"/>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val 203"/>
          <p:cNvSpPr/>
          <p:nvPr/>
        </p:nvSpPr>
        <p:spPr>
          <a:xfrm>
            <a:off x="9418320" y="2084832"/>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val 204"/>
          <p:cNvSpPr/>
          <p:nvPr/>
        </p:nvSpPr>
        <p:spPr>
          <a:xfrm>
            <a:off x="9491472" y="2057400"/>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8869680" y="1920240"/>
            <a:ext cx="109728" cy="109728"/>
          </a:xfrm>
          <a:prstGeom prst="rect">
            <a:avLst/>
          </a:prstGeom>
          <a:noFill/>
          <a:effectLst/>
        </p:spPr>
        <p:txBody>
          <a:bodyPr wrap="none" lIns="9144" tIns="0" rIns="9144" bIns="0" anchor="ctr">
            <a:spAutoFit/>
          </a:bodyPr>
          <a:lstStyle/>
          <a:p>
            <a:pPr algn="ctr"/>
            <a:r>
              <a:rPr sz="1100" b="1" i="0" dirty="0">
                <a:solidFill>
                  <a:srgbClr val="1E2D41"/>
                </a:solidFill>
                <a:latin typeface="Arial"/>
              </a:rPr>
              <a:t>×</a:t>
            </a:r>
          </a:p>
        </p:txBody>
      </p:sp>
      <p:cxnSp>
        <p:nvCxnSpPr>
          <p:cNvPr id="207" name="Connector 206"/>
          <p:cNvCxnSpPr/>
          <p:nvPr/>
        </p:nvCxnSpPr>
        <p:spPr>
          <a:xfrm>
            <a:off x="9747504" y="2011680"/>
            <a:ext cx="100584" cy="0"/>
          </a:xfrm>
          <a:prstGeom prst="line">
            <a:avLst/>
          </a:prstGeom>
          <a:ln w="1016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208" name="Rounded Rectangle 207"/>
          <p:cNvSpPr/>
          <p:nvPr/>
        </p:nvSpPr>
        <p:spPr>
          <a:xfrm>
            <a:off x="9848088" y="1737360"/>
            <a:ext cx="566928" cy="530352"/>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00" b="1">
                <a:solidFill>
                  <a:srgbClr val="006F6E"/>
                </a:solidFill>
                <a:latin typeface="Arial"/>
              </a:rPr>
              <a:t>Posterior for β
media</a:t>
            </a:r>
          </a:p>
        </p:txBody>
      </p:sp>
      <p:pic>
        <p:nvPicPr>
          <p:cNvPr id="209" name="Picture 208" descr="bell.png"/>
          <p:cNvPicPr>
            <a:picLocks noChangeAspect="1"/>
          </p:cNvPicPr>
          <p:nvPr/>
        </p:nvPicPr>
        <p:blipFill>
          <a:blip r:embed="rId2"/>
          <a:stretch>
            <a:fillRect/>
          </a:stretch>
        </p:blipFill>
        <p:spPr>
          <a:xfrm>
            <a:off x="10021824" y="2048256"/>
            <a:ext cx="228600" cy="109728"/>
          </a:xfrm>
          <a:prstGeom prst="rect">
            <a:avLst/>
          </a:prstGeom>
        </p:spPr>
      </p:pic>
      <p:cxnSp>
        <p:nvCxnSpPr>
          <p:cNvPr id="210" name="Connector 209"/>
          <p:cNvCxnSpPr/>
          <p:nvPr/>
        </p:nvCxnSpPr>
        <p:spPr>
          <a:xfrm>
            <a:off x="8823960" y="2852927"/>
            <a:ext cx="210312" cy="0"/>
          </a:xfrm>
          <a:prstGeom prst="line">
            <a:avLst/>
          </a:prstGeom>
          <a:ln w="1016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211" name="Rounded Rectangle 210"/>
          <p:cNvSpPr/>
          <p:nvPr/>
        </p:nvSpPr>
        <p:spPr>
          <a:xfrm>
            <a:off x="9034272" y="2560320"/>
            <a:ext cx="713232" cy="566928"/>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30" b="1">
                <a:solidFill>
                  <a:srgbClr val="006F6E"/>
                </a:solidFill>
                <a:latin typeface="Arial"/>
              </a:rPr>
              <a:t>Promo likelihood
summary:
β̂_promo, SE(β̂_promo)</a:t>
            </a:r>
          </a:p>
        </p:txBody>
      </p:sp>
      <p:cxnSp>
        <p:nvCxnSpPr>
          <p:cNvPr id="212" name="Connector 211"/>
          <p:cNvCxnSpPr/>
          <p:nvPr/>
        </p:nvCxnSpPr>
        <p:spPr>
          <a:xfrm flipV="1">
            <a:off x="9208008" y="2871215"/>
            <a:ext cx="338328" cy="146305"/>
          </a:xfrm>
          <a:prstGeom prst="line">
            <a:avLst/>
          </a:prstGeom>
          <a:ln w="9525">
            <a:solidFill>
              <a:srgbClr val="0F4CAA"/>
            </a:solidFill>
          </a:ln>
        </p:spPr>
        <p:style>
          <a:lnRef idx="2">
            <a:schemeClr val="accent1"/>
          </a:lnRef>
          <a:fillRef idx="0">
            <a:schemeClr val="accent1"/>
          </a:fillRef>
          <a:effectRef idx="1">
            <a:schemeClr val="accent1"/>
          </a:effectRef>
          <a:fontRef idx="minor">
            <a:schemeClr val="tx1"/>
          </a:fontRef>
        </p:style>
      </p:cxnSp>
      <p:sp>
        <p:nvSpPr>
          <p:cNvPr id="213" name="Oval 212"/>
          <p:cNvSpPr/>
          <p:nvPr/>
        </p:nvSpPr>
        <p:spPr>
          <a:xfrm>
            <a:off x="9226296" y="2999232"/>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val 213"/>
          <p:cNvSpPr/>
          <p:nvPr/>
        </p:nvSpPr>
        <p:spPr>
          <a:xfrm>
            <a:off x="9317736" y="2971800"/>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val 214"/>
          <p:cNvSpPr/>
          <p:nvPr/>
        </p:nvSpPr>
        <p:spPr>
          <a:xfrm>
            <a:off x="9418320" y="2926079"/>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val 215"/>
          <p:cNvSpPr/>
          <p:nvPr/>
        </p:nvSpPr>
        <p:spPr>
          <a:xfrm>
            <a:off x="9491472" y="2898648"/>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TextBox 216"/>
          <p:cNvSpPr txBox="1"/>
          <p:nvPr/>
        </p:nvSpPr>
        <p:spPr>
          <a:xfrm>
            <a:off x="8869680" y="2743199"/>
            <a:ext cx="109728" cy="109728"/>
          </a:xfrm>
          <a:prstGeom prst="rect">
            <a:avLst/>
          </a:prstGeom>
          <a:noFill/>
        </p:spPr>
        <p:txBody>
          <a:bodyPr wrap="none" lIns="9144" tIns="0" rIns="9144" bIns="0" anchor="ctr">
            <a:spAutoFit/>
          </a:bodyPr>
          <a:lstStyle/>
          <a:p>
            <a:pPr algn="ctr"/>
            <a:r>
              <a:rPr sz="1100" b="1" i="0" dirty="0">
                <a:solidFill>
                  <a:srgbClr val="1E2D41"/>
                </a:solidFill>
                <a:latin typeface="Arial"/>
              </a:rPr>
              <a:t>×</a:t>
            </a:r>
          </a:p>
        </p:txBody>
      </p:sp>
      <p:cxnSp>
        <p:nvCxnSpPr>
          <p:cNvPr id="218" name="Connector 217"/>
          <p:cNvCxnSpPr/>
          <p:nvPr/>
        </p:nvCxnSpPr>
        <p:spPr>
          <a:xfrm>
            <a:off x="9747504" y="2852927"/>
            <a:ext cx="100584" cy="0"/>
          </a:xfrm>
          <a:prstGeom prst="line">
            <a:avLst/>
          </a:prstGeom>
          <a:ln w="1016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219" name="Rounded Rectangle 218"/>
          <p:cNvSpPr/>
          <p:nvPr/>
        </p:nvSpPr>
        <p:spPr>
          <a:xfrm>
            <a:off x="9848088" y="2578608"/>
            <a:ext cx="566928" cy="530352"/>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00" b="1">
                <a:solidFill>
                  <a:srgbClr val="006F6E"/>
                </a:solidFill>
                <a:latin typeface="Arial"/>
              </a:rPr>
              <a:t>Posterior for β
promo</a:t>
            </a:r>
          </a:p>
        </p:txBody>
      </p:sp>
      <p:pic>
        <p:nvPicPr>
          <p:cNvPr id="220" name="Picture 219" descr="bell.png"/>
          <p:cNvPicPr>
            <a:picLocks noChangeAspect="1"/>
          </p:cNvPicPr>
          <p:nvPr/>
        </p:nvPicPr>
        <p:blipFill>
          <a:blip r:embed="rId2"/>
          <a:stretch>
            <a:fillRect/>
          </a:stretch>
        </p:blipFill>
        <p:spPr>
          <a:xfrm>
            <a:off x="10021824" y="2889503"/>
            <a:ext cx="228600" cy="109728"/>
          </a:xfrm>
          <a:prstGeom prst="rect">
            <a:avLst/>
          </a:prstGeom>
        </p:spPr>
      </p:pic>
      <p:cxnSp>
        <p:nvCxnSpPr>
          <p:cNvPr id="221" name="Connector 220"/>
          <p:cNvCxnSpPr/>
          <p:nvPr/>
        </p:nvCxnSpPr>
        <p:spPr>
          <a:xfrm>
            <a:off x="8823960" y="3694176"/>
            <a:ext cx="210312" cy="0"/>
          </a:xfrm>
          <a:prstGeom prst="line">
            <a:avLst/>
          </a:prstGeom>
          <a:ln w="1016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222" name="Rounded Rectangle 221"/>
          <p:cNvSpPr/>
          <p:nvPr/>
        </p:nvSpPr>
        <p:spPr>
          <a:xfrm>
            <a:off x="9034272" y="3401568"/>
            <a:ext cx="713232" cy="566928"/>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30" b="1">
                <a:solidFill>
                  <a:srgbClr val="006F6E"/>
                </a:solidFill>
                <a:latin typeface="Arial"/>
              </a:rPr>
              <a:t>Operations likelihood
summary:
β̂_ops, SE(β̂_ops)</a:t>
            </a:r>
          </a:p>
        </p:txBody>
      </p:sp>
      <p:cxnSp>
        <p:nvCxnSpPr>
          <p:cNvPr id="223" name="Connector 222"/>
          <p:cNvCxnSpPr/>
          <p:nvPr/>
        </p:nvCxnSpPr>
        <p:spPr>
          <a:xfrm flipV="1">
            <a:off x="9208008" y="3712464"/>
            <a:ext cx="338328" cy="146304"/>
          </a:xfrm>
          <a:prstGeom prst="line">
            <a:avLst/>
          </a:prstGeom>
          <a:ln w="9525">
            <a:solidFill>
              <a:srgbClr val="0F4CAA"/>
            </a:solidFill>
          </a:ln>
        </p:spPr>
        <p:style>
          <a:lnRef idx="2">
            <a:schemeClr val="accent1"/>
          </a:lnRef>
          <a:fillRef idx="0">
            <a:schemeClr val="accent1"/>
          </a:fillRef>
          <a:effectRef idx="1">
            <a:schemeClr val="accent1"/>
          </a:effectRef>
          <a:fontRef idx="minor">
            <a:schemeClr val="tx1"/>
          </a:fontRef>
        </p:style>
      </p:cxnSp>
      <p:sp>
        <p:nvSpPr>
          <p:cNvPr id="224" name="Oval 223"/>
          <p:cNvSpPr/>
          <p:nvPr/>
        </p:nvSpPr>
        <p:spPr>
          <a:xfrm>
            <a:off x="9226296" y="3840480"/>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val 224"/>
          <p:cNvSpPr/>
          <p:nvPr/>
        </p:nvSpPr>
        <p:spPr>
          <a:xfrm>
            <a:off x="9317736" y="3813048"/>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val 225"/>
          <p:cNvSpPr/>
          <p:nvPr/>
        </p:nvSpPr>
        <p:spPr>
          <a:xfrm>
            <a:off x="9418320" y="3767328"/>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val 226"/>
          <p:cNvSpPr/>
          <p:nvPr/>
        </p:nvSpPr>
        <p:spPr>
          <a:xfrm>
            <a:off x="9491472" y="3739896"/>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8869680" y="3589020"/>
            <a:ext cx="109728" cy="109728"/>
          </a:xfrm>
          <a:prstGeom prst="rect">
            <a:avLst/>
          </a:prstGeom>
          <a:noFill/>
        </p:spPr>
        <p:txBody>
          <a:bodyPr wrap="none" lIns="9144" tIns="0" rIns="9144" bIns="0" anchor="ctr">
            <a:spAutoFit/>
          </a:bodyPr>
          <a:lstStyle/>
          <a:p>
            <a:pPr algn="ctr"/>
            <a:r>
              <a:rPr sz="1100" b="1" i="0" dirty="0">
                <a:solidFill>
                  <a:srgbClr val="1E2D41"/>
                </a:solidFill>
                <a:latin typeface="Arial"/>
              </a:rPr>
              <a:t>×</a:t>
            </a:r>
          </a:p>
        </p:txBody>
      </p:sp>
      <p:cxnSp>
        <p:nvCxnSpPr>
          <p:cNvPr id="229" name="Connector 228"/>
          <p:cNvCxnSpPr/>
          <p:nvPr/>
        </p:nvCxnSpPr>
        <p:spPr>
          <a:xfrm>
            <a:off x="9747504" y="3694176"/>
            <a:ext cx="100584" cy="0"/>
          </a:xfrm>
          <a:prstGeom prst="line">
            <a:avLst/>
          </a:prstGeom>
          <a:ln w="1016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230" name="Rounded Rectangle 229"/>
          <p:cNvSpPr/>
          <p:nvPr/>
        </p:nvSpPr>
        <p:spPr>
          <a:xfrm>
            <a:off x="9848088" y="3419856"/>
            <a:ext cx="566928" cy="530352"/>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00" b="1">
                <a:solidFill>
                  <a:srgbClr val="006F6E"/>
                </a:solidFill>
                <a:latin typeface="Arial"/>
              </a:rPr>
              <a:t>Posterior for β
ops</a:t>
            </a:r>
          </a:p>
        </p:txBody>
      </p:sp>
      <p:pic>
        <p:nvPicPr>
          <p:cNvPr id="231" name="Picture 230" descr="bell.png"/>
          <p:cNvPicPr>
            <a:picLocks noChangeAspect="1"/>
          </p:cNvPicPr>
          <p:nvPr/>
        </p:nvPicPr>
        <p:blipFill>
          <a:blip r:embed="rId2"/>
          <a:stretch>
            <a:fillRect/>
          </a:stretch>
        </p:blipFill>
        <p:spPr>
          <a:xfrm>
            <a:off x="10021824" y="3730752"/>
            <a:ext cx="228600" cy="109728"/>
          </a:xfrm>
          <a:prstGeom prst="rect">
            <a:avLst/>
          </a:prstGeom>
        </p:spPr>
      </p:pic>
      <p:cxnSp>
        <p:nvCxnSpPr>
          <p:cNvPr id="232" name="Connector 231"/>
          <p:cNvCxnSpPr/>
          <p:nvPr/>
        </p:nvCxnSpPr>
        <p:spPr>
          <a:xfrm>
            <a:off x="8823960" y="4535424"/>
            <a:ext cx="210312" cy="0"/>
          </a:xfrm>
          <a:prstGeom prst="line">
            <a:avLst/>
          </a:prstGeom>
          <a:ln w="1016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233" name="Rounded Rectangle 232"/>
          <p:cNvSpPr/>
          <p:nvPr/>
        </p:nvSpPr>
        <p:spPr>
          <a:xfrm>
            <a:off x="9034272" y="4242816"/>
            <a:ext cx="713232" cy="566928"/>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430" b="1">
                <a:solidFill>
                  <a:srgbClr val="006F6E"/>
                </a:solidFill>
                <a:latin typeface="Arial"/>
              </a:rPr>
              <a:t>Macro likelihood
summary:
β̂_macro, SE(β̂_macro)</a:t>
            </a:r>
          </a:p>
        </p:txBody>
      </p:sp>
      <p:cxnSp>
        <p:nvCxnSpPr>
          <p:cNvPr id="234" name="Connector 233"/>
          <p:cNvCxnSpPr/>
          <p:nvPr/>
        </p:nvCxnSpPr>
        <p:spPr>
          <a:xfrm flipV="1">
            <a:off x="9208008" y="4553712"/>
            <a:ext cx="338328" cy="146304"/>
          </a:xfrm>
          <a:prstGeom prst="line">
            <a:avLst/>
          </a:prstGeom>
          <a:ln w="9525">
            <a:solidFill>
              <a:srgbClr val="0F4CAA"/>
            </a:solidFill>
          </a:ln>
        </p:spPr>
        <p:style>
          <a:lnRef idx="2">
            <a:schemeClr val="accent1"/>
          </a:lnRef>
          <a:fillRef idx="0">
            <a:schemeClr val="accent1"/>
          </a:fillRef>
          <a:effectRef idx="1">
            <a:schemeClr val="accent1"/>
          </a:effectRef>
          <a:fontRef idx="minor">
            <a:schemeClr val="tx1"/>
          </a:fontRef>
        </p:style>
      </p:cxnSp>
      <p:sp>
        <p:nvSpPr>
          <p:cNvPr id="235" name="Oval 234"/>
          <p:cNvSpPr/>
          <p:nvPr/>
        </p:nvSpPr>
        <p:spPr>
          <a:xfrm>
            <a:off x="9226296" y="4681728"/>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val 235"/>
          <p:cNvSpPr/>
          <p:nvPr/>
        </p:nvSpPr>
        <p:spPr>
          <a:xfrm>
            <a:off x="9317736" y="4654296"/>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val 236"/>
          <p:cNvSpPr/>
          <p:nvPr/>
        </p:nvSpPr>
        <p:spPr>
          <a:xfrm>
            <a:off x="9418320" y="4608576"/>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val 237"/>
          <p:cNvSpPr/>
          <p:nvPr/>
        </p:nvSpPr>
        <p:spPr>
          <a:xfrm>
            <a:off x="9491472" y="4581144"/>
            <a:ext cx="22860" cy="22860"/>
          </a:xfrm>
          <a:prstGeom prst="ellipse">
            <a:avLst/>
          </a:prstGeom>
          <a:solidFill>
            <a:srgbClr val="0F4CAA"/>
          </a:solidFill>
          <a:ln>
            <a:solidFill>
              <a:srgbClr val="0F4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TextBox 238"/>
          <p:cNvSpPr txBox="1"/>
          <p:nvPr/>
        </p:nvSpPr>
        <p:spPr>
          <a:xfrm>
            <a:off x="8869680" y="4425696"/>
            <a:ext cx="109728" cy="109728"/>
          </a:xfrm>
          <a:prstGeom prst="rect">
            <a:avLst/>
          </a:prstGeom>
          <a:noFill/>
          <a:effectLst/>
        </p:spPr>
        <p:txBody>
          <a:bodyPr wrap="none" lIns="9144" tIns="0" rIns="9144" bIns="0" anchor="ctr">
            <a:spAutoFit/>
          </a:bodyPr>
          <a:lstStyle/>
          <a:p>
            <a:pPr algn="ctr"/>
            <a:r>
              <a:rPr sz="1100" b="1" i="0" dirty="0">
                <a:solidFill>
                  <a:srgbClr val="1E2D41"/>
                </a:solidFill>
                <a:latin typeface="Arial"/>
              </a:rPr>
              <a:t>×</a:t>
            </a:r>
          </a:p>
        </p:txBody>
      </p:sp>
      <p:cxnSp>
        <p:nvCxnSpPr>
          <p:cNvPr id="240" name="Connector 239"/>
          <p:cNvCxnSpPr/>
          <p:nvPr/>
        </p:nvCxnSpPr>
        <p:spPr>
          <a:xfrm>
            <a:off x="9747504" y="4535424"/>
            <a:ext cx="100584" cy="0"/>
          </a:xfrm>
          <a:prstGeom prst="line">
            <a:avLst/>
          </a:prstGeom>
          <a:ln w="1016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241" name="Rounded Rectangle 240"/>
          <p:cNvSpPr/>
          <p:nvPr/>
        </p:nvSpPr>
        <p:spPr>
          <a:xfrm>
            <a:off x="9848088" y="4261104"/>
            <a:ext cx="566928" cy="530352"/>
          </a:xfrm>
          <a:prstGeom prst="roundRect">
            <a:avLst/>
          </a:prstGeom>
          <a:solidFill>
            <a:srgbClr val="FFFFFF"/>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00" b="1">
                <a:solidFill>
                  <a:srgbClr val="006F6E"/>
                </a:solidFill>
                <a:latin typeface="Arial"/>
              </a:rPr>
              <a:t>Posterior for β
macro</a:t>
            </a:r>
          </a:p>
        </p:txBody>
      </p:sp>
      <p:pic>
        <p:nvPicPr>
          <p:cNvPr id="242" name="Picture 241" descr="bell.png"/>
          <p:cNvPicPr>
            <a:picLocks noChangeAspect="1"/>
          </p:cNvPicPr>
          <p:nvPr/>
        </p:nvPicPr>
        <p:blipFill>
          <a:blip r:embed="rId2"/>
          <a:stretch>
            <a:fillRect/>
          </a:stretch>
        </p:blipFill>
        <p:spPr>
          <a:xfrm>
            <a:off x="10021824" y="4572000"/>
            <a:ext cx="228600" cy="109728"/>
          </a:xfrm>
          <a:prstGeom prst="rect">
            <a:avLst/>
          </a:prstGeom>
        </p:spPr>
      </p:pic>
      <p:sp>
        <p:nvSpPr>
          <p:cNvPr id="243" name="Rounded Rectangle 242"/>
          <p:cNvSpPr/>
          <p:nvPr/>
        </p:nvSpPr>
        <p:spPr>
          <a:xfrm>
            <a:off x="7825526" y="4901184"/>
            <a:ext cx="1099018" cy="384048"/>
          </a:xfrm>
          <a:prstGeom prst="roundRect">
            <a:avLst/>
          </a:prstGeom>
          <a:solidFill>
            <a:srgbClr val="EEFAFA"/>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530" b="1" dirty="0">
                <a:solidFill>
                  <a:srgbClr val="006F6E"/>
                </a:solidFill>
                <a:latin typeface="Arial"/>
              </a:rPr>
              <a:t>These likelihood inputs are
extracted from one joint OLS /
panel model, not separate
one-feature regressions.</a:t>
            </a:r>
          </a:p>
        </p:txBody>
      </p:sp>
      <p:sp>
        <p:nvSpPr>
          <p:cNvPr id="244" name="Rounded Rectangle 243"/>
          <p:cNvSpPr/>
          <p:nvPr/>
        </p:nvSpPr>
        <p:spPr>
          <a:xfrm>
            <a:off x="10561320" y="2423160"/>
            <a:ext cx="749808" cy="1737360"/>
          </a:xfrm>
          <a:prstGeom prst="roundRect">
            <a:avLst/>
          </a:prstGeom>
          <a:solidFill>
            <a:srgbClr val="FFFFFF"/>
          </a:solidFill>
          <a:ln w="12700">
            <a:solidFill>
              <a:srgbClr val="006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TextBox 244"/>
          <p:cNvSpPr txBox="1"/>
          <p:nvPr/>
        </p:nvSpPr>
        <p:spPr>
          <a:xfrm>
            <a:off x="10616184" y="2587752"/>
            <a:ext cx="640080" cy="310896"/>
          </a:xfrm>
          <a:prstGeom prst="rect">
            <a:avLst/>
          </a:prstGeom>
          <a:noFill/>
        </p:spPr>
        <p:txBody>
          <a:bodyPr wrap="none" lIns="9144" tIns="0" rIns="9144" bIns="0" anchor="ctr">
            <a:spAutoFit/>
          </a:bodyPr>
          <a:lstStyle/>
          <a:p>
            <a:pPr algn="ctr"/>
            <a:r>
              <a:rPr sz="600" b="1" i="0">
                <a:solidFill>
                  <a:srgbClr val="006F6E"/>
                </a:solidFill>
                <a:latin typeface="Arial"/>
              </a:rPr>
              <a:t>Bayesian Panel
Model / MMM</a:t>
            </a:r>
          </a:p>
        </p:txBody>
      </p:sp>
      <p:sp>
        <p:nvSpPr>
          <p:cNvPr id="246" name="TextBox 245"/>
          <p:cNvSpPr txBox="1"/>
          <p:nvPr/>
        </p:nvSpPr>
        <p:spPr>
          <a:xfrm>
            <a:off x="10625328" y="2953512"/>
            <a:ext cx="621792" cy="640080"/>
          </a:xfrm>
          <a:prstGeom prst="rect">
            <a:avLst/>
          </a:prstGeom>
          <a:noFill/>
        </p:spPr>
        <p:txBody>
          <a:bodyPr wrap="none" lIns="9144" tIns="0" rIns="9144" bIns="0" anchor="ctr">
            <a:spAutoFit/>
          </a:bodyPr>
          <a:lstStyle/>
          <a:p>
            <a:pPr algn="ctr"/>
            <a:r>
              <a:rPr sz="480" b="1" i="0">
                <a:solidFill>
                  <a:srgbClr val="1E2D41"/>
                </a:solidFill>
                <a:latin typeface="Arial"/>
              </a:rPr>
              <a:t>Combines domain
posteriors to
estimate overall
effects and make
predictions.</a:t>
            </a:r>
          </a:p>
        </p:txBody>
      </p:sp>
      <p:sp>
        <p:nvSpPr>
          <p:cNvPr id="247" name="Rectangle 246"/>
          <p:cNvSpPr/>
          <p:nvPr/>
        </p:nvSpPr>
        <p:spPr>
          <a:xfrm>
            <a:off x="10725912" y="3639312"/>
            <a:ext cx="64008" cy="201168"/>
          </a:xfrm>
          <a:prstGeom prst="rect">
            <a:avLst/>
          </a:prstGeom>
          <a:solidFill>
            <a:srgbClr val="006F6E"/>
          </a:solidFill>
          <a:ln>
            <a:solidFill>
              <a:srgbClr val="006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Rectangle 247"/>
          <p:cNvSpPr/>
          <p:nvPr/>
        </p:nvSpPr>
        <p:spPr>
          <a:xfrm>
            <a:off x="10863072" y="3529584"/>
            <a:ext cx="64008" cy="310896"/>
          </a:xfrm>
          <a:prstGeom prst="rect">
            <a:avLst/>
          </a:prstGeom>
          <a:solidFill>
            <a:srgbClr val="006F6E"/>
          </a:solidFill>
          <a:ln>
            <a:solidFill>
              <a:srgbClr val="006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Rectangle 248"/>
          <p:cNvSpPr/>
          <p:nvPr/>
        </p:nvSpPr>
        <p:spPr>
          <a:xfrm>
            <a:off x="11000232" y="3401568"/>
            <a:ext cx="64008" cy="438912"/>
          </a:xfrm>
          <a:prstGeom prst="rect">
            <a:avLst/>
          </a:prstGeom>
          <a:solidFill>
            <a:srgbClr val="006F6E"/>
          </a:solidFill>
          <a:ln>
            <a:solidFill>
              <a:srgbClr val="006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0" name="Connector 249"/>
          <p:cNvCxnSpPr/>
          <p:nvPr/>
        </p:nvCxnSpPr>
        <p:spPr>
          <a:xfrm>
            <a:off x="10488167" y="2011680"/>
            <a:ext cx="73153" cy="1280159"/>
          </a:xfrm>
          <a:prstGeom prst="line">
            <a:avLst/>
          </a:prstGeom>
          <a:ln w="7620">
            <a:solidFill>
              <a:srgbClr val="006F6E"/>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a:off x="10488167" y="2852927"/>
            <a:ext cx="73153" cy="438912"/>
          </a:xfrm>
          <a:prstGeom prst="line">
            <a:avLst/>
          </a:prstGeom>
          <a:ln w="7620">
            <a:solidFill>
              <a:srgbClr val="006F6E"/>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0488167" y="3291839"/>
            <a:ext cx="73153" cy="402337"/>
          </a:xfrm>
          <a:prstGeom prst="line">
            <a:avLst/>
          </a:prstGeom>
          <a:ln w="7620">
            <a:solidFill>
              <a:srgbClr val="006F6E"/>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0488167" y="3291839"/>
            <a:ext cx="73153" cy="1243585"/>
          </a:xfrm>
          <a:prstGeom prst="line">
            <a:avLst/>
          </a:prstGeom>
          <a:ln w="7620">
            <a:solidFill>
              <a:srgbClr val="006F6E"/>
            </a:solidFill>
          </a:ln>
        </p:spPr>
        <p:style>
          <a:lnRef idx="2">
            <a:schemeClr val="accent1"/>
          </a:lnRef>
          <a:fillRef idx="0">
            <a:schemeClr val="accent1"/>
          </a:fillRef>
          <a:effectRef idx="1">
            <a:schemeClr val="accent1"/>
          </a:effectRef>
          <a:fontRef idx="minor">
            <a:schemeClr val="tx1"/>
          </a:fontRef>
        </p:style>
      </p:cxnSp>
      <p:sp>
        <p:nvSpPr>
          <p:cNvPr id="254" name="Rounded Rectangle 253"/>
          <p:cNvSpPr/>
          <p:nvPr/>
        </p:nvSpPr>
        <p:spPr>
          <a:xfrm>
            <a:off x="11411712" y="2212848"/>
            <a:ext cx="612648" cy="2286000"/>
          </a:xfrm>
          <a:prstGeom prst="roundRect">
            <a:avLst/>
          </a:prstGeom>
          <a:solidFill>
            <a:srgbClr val="FFFFFF"/>
          </a:solidFill>
          <a:ln w="12700">
            <a:solidFill>
              <a:srgbClr val="006F6E"/>
            </a:solidFill>
          </a:ln>
          <a:effectLst/>
        </p:spPr>
        <p:style>
          <a:lnRef idx="1">
            <a:schemeClr val="accent1"/>
          </a:lnRef>
          <a:fillRef idx="3">
            <a:schemeClr val="accent1"/>
          </a:fillRef>
          <a:effectRef idx="2">
            <a:schemeClr val="accent1"/>
          </a:effectRef>
          <a:fontRef idx="minor">
            <a:schemeClr val="lt1"/>
          </a:fontRef>
        </p:style>
        <p:txBody>
          <a:bodyPr lIns="45720" tIns="36576" rIns="36576" bIns="18288" rtlCol="0" anchor="ctr"/>
          <a:lstStyle/>
          <a:p>
            <a:pPr algn="ctr"/>
            <a:r>
              <a:rPr sz="630" b="1" dirty="0">
                <a:solidFill>
                  <a:srgbClr val="006F6E"/>
                </a:solidFill>
                <a:latin typeface="Arial"/>
              </a:rPr>
              <a:t>Outputs</a:t>
            </a:r>
          </a:p>
          <a:p>
            <a:pPr algn="l"/>
            <a:endParaRPr lang="en-US" sz="470" dirty="0">
              <a:solidFill>
                <a:srgbClr val="1E2D41"/>
              </a:solidFill>
              <a:latin typeface="Arial"/>
            </a:endParaRPr>
          </a:p>
          <a:p>
            <a:pPr algn="ctr"/>
            <a:r>
              <a:rPr sz="470" dirty="0">
                <a:solidFill>
                  <a:srgbClr val="1E2D41"/>
                </a:solidFill>
                <a:latin typeface="Arial"/>
              </a:rPr>
              <a:t>• Posterior
coefficients</a:t>
            </a:r>
          </a:p>
          <a:p>
            <a:pPr algn="ctr"/>
            <a:r>
              <a:rPr sz="470" dirty="0">
                <a:solidFill>
                  <a:srgbClr val="1E2D41"/>
                </a:solidFill>
                <a:latin typeface="Arial"/>
              </a:rPr>
              <a:t>• Credible
intervals</a:t>
            </a:r>
          </a:p>
          <a:p>
            <a:pPr algn="ctr"/>
            <a:r>
              <a:rPr sz="470" dirty="0">
                <a:solidFill>
                  <a:srgbClr val="1E2D41"/>
                </a:solidFill>
                <a:latin typeface="Arial"/>
              </a:rPr>
              <a:t>• Counterfactual
incrementality</a:t>
            </a:r>
          </a:p>
          <a:p>
            <a:pPr algn="ctr"/>
            <a:r>
              <a:rPr sz="470" dirty="0">
                <a:solidFill>
                  <a:srgbClr val="1E2D41"/>
                </a:solidFill>
                <a:latin typeface="Arial"/>
              </a:rPr>
              <a:t>• Scenario
simulation</a:t>
            </a:r>
          </a:p>
          <a:p>
            <a:pPr algn="ctr"/>
            <a:r>
              <a:rPr sz="470" dirty="0">
                <a:solidFill>
                  <a:srgbClr val="1E2D41"/>
                </a:solidFill>
                <a:latin typeface="Arial"/>
              </a:rPr>
              <a:t>• More stable
estimates</a:t>
            </a:r>
          </a:p>
        </p:txBody>
      </p:sp>
      <p:cxnSp>
        <p:nvCxnSpPr>
          <p:cNvPr id="255" name="Connector 254"/>
          <p:cNvCxnSpPr/>
          <p:nvPr/>
        </p:nvCxnSpPr>
        <p:spPr>
          <a:xfrm>
            <a:off x="11311128" y="3291839"/>
            <a:ext cx="100584" cy="0"/>
          </a:xfrm>
          <a:prstGeom prst="line">
            <a:avLst/>
          </a:prstGeom>
          <a:ln w="10160">
            <a:solidFill>
              <a:srgbClr val="006F6E"/>
            </a:solidFill>
          </a:ln>
          <a:effectLst/>
        </p:spPr>
        <p:style>
          <a:lnRef idx="2">
            <a:schemeClr val="accent1"/>
          </a:lnRef>
          <a:fillRef idx="0">
            <a:schemeClr val="accent1"/>
          </a:fillRef>
          <a:effectRef idx="1">
            <a:schemeClr val="accent1"/>
          </a:effectRef>
          <a:fontRef idx="minor">
            <a:schemeClr val="tx1"/>
          </a:fontRef>
        </p:style>
      </p:cxnSp>
      <p:sp>
        <p:nvSpPr>
          <p:cNvPr id="256" name="Rounded Rectangle 255"/>
          <p:cNvSpPr/>
          <p:nvPr/>
        </p:nvSpPr>
        <p:spPr>
          <a:xfrm>
            <a:off x="6096000" y="5440680"/>
            <a:ext cx="4831080" cy="393192"/>
          </a:xfrm>
          <a:prstGeom prst="roundRect">
            <a:avLst/>
          </a:prstGeom>
          <a:solidFill>
            <a:srgbClr val="EFFDFB"/>
          </a:solidFill>
          <a:ln w="10160">
            <a:solidFill>
              <a:srgbClr val="8AC8C4"/>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sz="700" b="1" dirty="0">
                <a:solidFill>
                  <a:srgbClr val="006F6E"/>
                </a:solidFill>
                <a:latin typeface="Arial"/>
              </a:rPr>
              <a:t>Each domain still uses one representative variable, but priors are updated using
coefficient estimates and standard errors from one joint panel OLS model.</a:t>
            </a:r>
          </a:p>
        </p:txBody>
      </p:sp>
      <p:sp>
        <p:nvSpPr>
          <p:cNvPr id="257" name="Rounded Rectangle 256"/>
          <p:cNvSpPr/>
          <p:nvPr/>
        </p:nvSpPr>
        <p:spPr>
          <a:xfrm>
            <a:off x="429768" y="6053328"/>
            <a:ext cx="11338560" cy="566928"/>
          </a:xfrm>
          <a:prstGeom prst="roundRect">
            <a:avLst/>
          </a:prstGeom>
          <a:solidFill>
            <a:srgbClr val="FFF9EB"/>
          </a:solidFill>
          <a:ln w="12700">
            <a:solidFill>
              <a:srgbClr val="ED8E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val 257"/>
          <p:cNvSpPr/>
          <p:nvPr/>
        </p:nvSpPr>
        <p:spPr>
          <a:xfrm>
            <a:off x="640080" y="6199632"/>
            <a:ext cx="274320" cy="274320"/>
          </a:xfrm>
          <a:prstGeom prst="ellipse">
            <a:avLst/>
          </a:prstGeom>
          <a:solidFill>
            <a:srgbClr val="ED8E11"/>
          </a:solidFill>
          <a:ln>
            <a:solidFill>
              <a:srgbClr val="ED8E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TextBox 258"/>
          <p:cNvSpPr txBox="1"/>
          <p:nvPr/>
        </p:nvSpPr>
        <p:spPr>
          <a:xfrm>
            <a:off x="640080" y="6199632"/>
            <a:ext cx="274320" cy="274320"/>
          </a:xfrm>
          <a:prstGeom prst="rect">
            <a:avLst/>
          </a:prstGeom>
          <a:noFill/>
        </p:spPr>
        <p:txBody>
          <a:bodyPr wrap="none" lIns="9144" tIns="0" rIns="9144" bIns="0" anchor="ctr">
            <a:spAutoFit/>
          </a:bodyPr>
          <a:lstStyle/>
          <a:p>
            <a:pPr algn="ctr"/>
            <a:r>
              <a:rPr sz="1300" b="1" i="0">
                <a:solidFill>
                  <a:srgbClr val="FFFFFF"/>
                </a:solidFill>
                <a:latin typeface="Arial"/>
              </a:rPr>
              <a:t>!</a:t>
            </a:r>
          </a:p>
        </p:txBody>
      </p:sp>
      <p:sp>
        <p:nvSpPr>
          <p:cNvPr id="260" name="TextBox 259"/>
          <p:cNvSpPr txBox="1"/>
          <p:nvPr/>
        </p:nvSpPr>
        <p:spPr>
          <a:xfrm>
            <a:off x="1051560" y="6135624"/>
            <a:ext cx="1188720" cy="365760"/>
          </a:xfrm>
          <a:prstGeom prst="rect">
            <a:avLst/>
          </a:prstGeom>
          <a:noFill/>
        </p:spPr>
        <p:txBody>
          <a:bodyPr wrap="none" lIns="9144" tIns="0" rIns="9144" bIns="0" anchor="ctr">
            <a:spAutoFit/>
          </a:bodyPr>
          <a:lstStyle/>
          <a:p>
            <a:pPr algn="l"/>
            <a:r>
              <a:rPr sz="1200" b="1" i="0">
                <a:solidFill>
                  <a:srgbClr val="ED8E11"/>
                </a:solidFill>
                <a:latin typeface="Arial"/>
              </a:rPr>
              <a:t>Key difference:</a:t>
            </a:r>
          </a:p>
        </p:txBody>
      </p:sp>
      <p:sp>
        <p:nvSpPr>
          <p:cNvPr id="261" name="TextBox 260"/>
          <p:cNvSpPr txBox="1"/>
          <p:nvPr/>
        </p:nvSpPr>
        <p:spPr>
          <a:xfrm>
            <a:off x="2240280" y="6135624"/>
            <a:ext cx="9189720" cy="365760"/>
          </a:xfrm>
          <a:prstGeom prst="rect">
            <a:avLst/>
          </a:prstGeom>
          <a:noFill/>
        </p:spPr>
        <p:txBody>
          <a:bodyPr wrap="none" lIns="9144" tIns="0" rIns="9144" bIns="0" anchor="ctr">
            <a:spAutoFit/>
          </a:bodyPr>
          <a:lstStyle/>
          <a:p>
            <a:pPr algn="l"/>
            <a:r>
              <a:rPr sz="740" b="1" i="0">
                <a:solidFill>
                  <a:srgbClr val="1E2D41"/>
                </a:solidFill>
                <a:latin typeface="Arial"/>
              </a:rPr>
              <a:t>Current MVM estimates coefficients mostly from the selected panel regression, while Bayesian MVM
uses standalone experiments to inform priors and then updates them using likelihood evidence from one joint panel OLS model to estimate posterior effects.</a:t>
            </a:r>
          </a:p>
        </p:txBody>
      </p:sp>
      <p:pic>
        <p:nvPicPr>
          <p:cNvPr id="265" name="Picture 264">
            <a:extLst>
              <a:ext uri="{FF2B5EF4-FFF2-40B4-BE49-F238E27FC236}">
                <a16:creationId xmlns:a16="http://schemas.microsoft.com/office/drawing/2014/main" id="{BDD94629-6A93-DE3B-2310-7EEB638A9D49}"/>
              </a:ext>
            </a:extLst>
          </p:cNvPr>
          <p:cNvPicPr>
            <a:picLocks noChangeAspect="1"/>
          </p:cNvPicPr>
          <p:nvPr/>
        </p:nvPicPr>
        <p:blipFill>
          <a:blip r:embed="rId3"/>
          <a:stretch>
            <a:fillRect/>
          </a:stretch>
        </p:blipFill>
        <p:spPr>
          <a:xfrm>
            <a:off x="8050396" y="2866644"/>
            <a:ext cx="705879" cy="438912"/>
          </a:xfrm>
          <a:prstGeom prst="rect">
            <a:avLst/>
          </a:prstGeom>
        </p:spPr>
      </p:pic>
      <p:sp>
        <p:nvSpPr>
          <p:cNvPr id="267" name="Rounded Rectangle 242">
            <a:extLst>
              <a:ext uri="{FF2B5EF4-FFF2-40B4-BE49-F238E27FC236}">
                <a16:creationId xmlns:a16="http://schemas.microsoft.com/office/drawing/2014/main" id="{6B73F209-4212-049D-AE70-050431579BD8}"/>
              </a:ext>
            </a:extLst>
          </p:cNvPr>
          <p:cNvSpPr/>
          <p:nvPr/>
        </p:nvSpPr>
        <p:spPr>
          <a:xfrm>
            <a:off x="7132320" y="4881118"/>
            <a:ext cx="457200" cy="384048"/>
          </a:xfrm>
          <a:prstGeom prst="roundRect">
            <a:avLst/>
          </a:prstGeom>
          <a:solidFill>
            <a:srgbClr val="EEFAFA"/>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lang="en-US" sz="530" b="1" dirty="0">
                <a:solidFill>
                  <a:srgbClr val="006F6E"/>
                </a:solidFill>
                <a:latin typeface="Arial"/>
              </a:rPr>
              <a:t>Output:</a:t>
            </a:r>
          </a:p>
          <a:p>
            <a:pPr algn="ctr"/>
            <a:r>
              <a:rPr lang="en-US" sz="530" b="1" dirty="0">
                <a:solidFill>
                  <a:srgbClr val="006F6E"/>
                </a:solidFill>
                <a:latin typeface="Arial"/>
              </a:rPr>
              <a:t>mean + prior </a:t>
            </a:r>
            <a:r>
              <a:rPr lang="en-US" sz="530" b="1" dirty="0" err="1">
                <a:solidFill>
                  <a:srgbClr val="006F6E"/>
                </a:solidFill>
                <a:latin typeface="Arial"/>
              </a:rPr>
              <a:t>sd</a:t>
            </a:r>
            <a:endParaRPr lang="en-US" sz="530" b="1" dirty="0">
              <a:solidFill>
                <a:srgbClr val="006F6E"/>
              </a:solidFill>
              <a:latin typeface="Arial"/>
            </a:endParaRPr>
          </a:p>
        </p:txBody>
      </p:sp>
      <p:sp>
        <p:nvSpPr>
          <p:cNvPr id="269" name="Rounded Rectangle 242">
            <a:extLst>
              <a:ext uri="{FF2B5EF4-FFF2-40B4-BE49-F238E27FC236}">
                <a16:creationId xmlns:a16="http://schemas.microsoft.com/office/drawing/2014/main" id="{2835C82A-6BE2-35AE-FAB8-C0EB8F6445DA}"/>
              </a:ext>
            </a:extLst>
          </p:cNvPr>
          <p:cNvSpPr/>
          <p:nvPr/>
        </p:nvSpPr>
        <p:spPr>
          <a:xfrm>
            <a:off x="9094216" y="4901184"/>
            <a:ext cx="625856" cy="384048"/>
          </a:xfrm>
          <a:prstGeom prst="roundRect">
            <a:avLst/>
          </a:prstGeom>
          <a:solidFill>
            <a:srgbClr val="EEFAFA"/>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lang="en-US" sz="530" b="1" dirty="0">
                <a:solidFill>
                  <a:srgbClr val="006F6E"/>
                </a:solidFill>
                <a:latin typeface="Arial"/>
              </a:rPr>
              <a:t>Output:</a:t>
            </a:r>
          </a:p>
          <a:p>
            <a:pPr algn="ctr"/>
            <a:r>
              <a:rPr lang="en-US" sz="530" b="1" dirty="0">
                <a:solidFill>
                  <a:srgbClr val="006F6E"/>
                </a:solidFill>
                <a:latin typeface="Arial"/>
              </a:rPr>
              <a:t>coefficient estimate + standard error</a:t>
            </a:r>
          </a:p>
        </p:txBody>
      </p:sp>
      <p:sp>
        <p:nvSpPr>
          <p:cNvPr id="271" name="Rounded Rectangle 242">
            <a:extLst>
              <a:ext uri="{FF2B5EF4-FFF2-40B4-BE49-F238E27FC236}">
                <a16:creationId xmlns:a16="http://schemas.microsoft.com/office/drawing/2014/main" id="{1239C95E-6ED9-FF15-E8A8-32F09B7838C3}"/>
              </a:ext>
            </a:extLst>
          </p:cNvPr>
          <p:cNvSpPr/>
          <p:nvPr/>
        </p:nvSpPr>
        <p:spPr>
          <a:xfrm>
            <a:off x="9872726" y="4911852"/>
            <a:ext cx="557784" cy="384048"/>
          </a:xfrm>
          <a:prstGeom prst="roundRect">
            <a:avLst/>
          </a:prstGeom>
          <a:solidFill>
            <a:srgbClr val="EEFAFA"/>
          </a:solidFill>
          <a:ln w="10160">
            <a:solidFill>
              <a:srgbClr val="006F6E"/>
            </a:solidFill>
          </a:ln>
          <a:effectLst/>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r>
              <a:rPr lang="en-US" sz="530" b="1" dirty="0">
                <a:solidFill>
                  <a:srgbClr val="006F6E"/>
                </a:solidFill>
                <a:latin typeface="Arial"/>
              </a:rPr>
              <a:t>Output:</a:t>
            </a:r>
          </a:p>
          <a:p>
            <a:pPr algn="ctr"/>
            <a:r>
              <a:rPr lang="en-US" sz="530" b="1" dirty="0">
                <a:solidFill>
                  <a:srgbClr val="006F6E"/>
                </a:solidFill>
                <a:latin typeface="Arial"/>
              </a:rPr>
              <a:t>posterior mean + posterior </a:t>
            </a:r>
            <a:r>
              <a:rPr lang="en-US" sz="530" b="1" dirty="0" err="1">
                <a:solidFill>
                  <a:srgbClr val="006F6E"/>
                </a:solidFill>
                <a:latin typeface="Arial"/>
              </a:rPr>
              <a:t>sd</a:t>
            </a:r>
            <a:endParaRPr lang="en-US" sz="530" b="1" dirty="0">
              <a:solidFill>
                <a:srgbClr val="006F6E"/>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TotalTime>
  <Words>633</Words>
  <Application>Microsoft Office PowerPoint</Application>
  <PresentationFormat>Widescreen</PresentationFormat>
  <Paragraphs>153</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Cheng Qian</cp:lastModifiedBy>
  <cp:revision>2</cp:revision>
  <dcterms:created xsi:type="dcterms:W3CDTF">2013-01-27T09:14:16Z</dcterms:created>
  <dcterms:modified xsi:type="dcterms:W3CDTF">2026-06-22T14:19:07Z</dcterms:modified>
  <cp:category/>
</cp:coreProperties>
</file>