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6" d="100"/>
          <a:sy n="26" d="100"/>
        </p:scale>
        <p:origin x="70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04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MVM v1 built the attribution backbone; v2 adds causal proof, counterfactuals, and long-horizon context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 status: what can be leveraged from v1 vs. what must be closed to reach a decision-ready v2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11411712" cy="0"/>
          </a:xfrm>
          <a:prstGeom prst="line">
            <a:avLst/>
          </a:prstGeom>
          <a:noFill/>
          <a:ln w="8890">
            <a:solidFill>
              <a:srgbClr val="B8C0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87168" y="1517904"/>
            <a:ext cx="7150608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8912" y="1335024"/>
            <a:ext cx="1993392" cy="480060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35024"/>
            <a:ext cx="1993392" cy="5303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4630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MVM v1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&amp; usable now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3008376"/>
            <a:ext cx="1481328" cy="2862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Regression-based framework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Waterfall credit decomposition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 → driver drill-down logic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Automated end-to-end pipelines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 reduction / model simplification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9802368" y="1335024"/>
            <a:ext cx="1965960" cy="4800600"/>
          </a:xfrm>
          <a:prstGeom prst="roundRect">
            <a:avLst>
              <a:gd name="adj" fmla="val 10233"/>
            </a:avLst>
          </a:prstGeom>
          <a:solidFill>
            <a:srgbClr val="FFFFFF"/>
          </a:solidFill>
          <a:ln w="25400">
            <a:solidFill>
              <a:srgbClr val="E875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02368" y="1335024"/>
            <a:ext cx="1965960" cy="530352"/>
          </a:xfrm>
          <a:prstGeom prst="rect">
            <a:avLst/>
          </a:prstGeom>
          <a:solidFill>
            <a:srgbClr val="E8752B"/>
          </a:solidFill>
          <a:ln w="12700">
            <a:solidFill>
              <a:srgbClr val="E875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146304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MVM v2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03536" y="2121408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7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Decision-ready methodology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0" y="3008376"/>
            <a:ext cx="1453896" cy="2862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Causal confidence by lever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Protected-base / weak-foundation credit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Long-term macro scenario baseline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Clearer split: foundation, external context, growth momentum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2816352" y="1143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v1 gives us to leverage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7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gaps to close for v2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171907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EBF8F1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1764792"/>
            <a:ext cx="73152" cy="1097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184708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2990088" y="208483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engine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2990088" y="244144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Estimates sales / guest-count relationships across business levers.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4517136" y="171907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EBF8F1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2856" y="1764792"/>
            <a:ext cx="73152" cy="1097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184708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718304" y="208483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Waterfall logic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4718304" y="244144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Translates model outputs into credit buckets leaders can review.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2788920" y="318211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EBF8F1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3227832"/>
            <a:ext cx="73152" cy="1097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0088" y="331012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990088" y="354787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Drill-down method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2990088" y="390448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top-line movement to domains, drivers, and KPIs.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4517136" y="318211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EBF8F1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62856" y="3227832"/>
            <a:ext cx="73152" cy="1097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31012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718304" y="354787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+ feature reduction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4718304" y="390448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Refreshes outputs end-to-end while keeping the model stable and explainable.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382512" y="171907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FFF0E5"/>
          </a:solidFill>
          <a:ln w="15875">
            <a:solidFill>
              <a:srgbClr val="E875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28232" y="1764792"/>
            <a:ext cx="73152" cy="1097280"/>
          </a:xfrm>
          <a:prstGeom prst="rect">
            <a:avLst/>
          </a:prstGeom>
          <a:solidFill>
            <a:srgbClr val="E8752B"/>
          </a:solidFill>
          <a:ln w="12700">
            <a:solidFill>
              <a:srgbClr val="E8752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184708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E87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1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6583680" y="208483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Quasi-experiments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6583680" y="244144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 matched-control / geo analyses to validate causal impact.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8101584" y="171907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FFF0E5"/>
          </a:solidFill>
          <a:ln w="15875">
            <a:solidFill>
              <a:srgbClr val="E875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47304" y="1764792"/>
            <a:ext cx="73152" cy="1097280"/>
          </a:xfrm>
          <a:prstGeom prst="rect">
            <a:avLst/>
          </a:prstGeom>
          <a:solidFill>
            <a:srgbClr val="E8752B"/>
          </a:solidFill>
          <a:ln w="12700">
            <a:solidFill>
              <a:srgbClr val="E8752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02752" y="184708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E87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2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8302752" y="208483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Counterfactuals</a:t>
            </a:r>
            <a:endParaRPr lang="en-US" sz="1280" dirty="0"/>
          </a:p>
        </p:txBody>
      </p:sp>
      <p:sp>
        <p:nvSpPr>
          <p:cNvPr id="47" name="Text 45"/>
          <p:cNvSpPr/>
          <p:nvPr/>
        </p:nvSpPr>
        <p:spPr>
          <a:xfrm>
            <a:off x="8302752" y="244144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weak-foundation scenarios to quantify protected performance.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6382512" y="318211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FFF0E5"/>
          </a:solidFill>
          <a:ln w="15875">
            <a:solidFill>
              <a:srgbClr val="E875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28232" y="3227832"/>
            <a:ext cx="73152" cy="1097280"/>
          </a:xfrm>
          <a:prstGeom prst="rect">
            <a:avLst/>
          </a:prstGeom>
          <a:solidFill>
            <a:srgbClr val="E8752B"/>
          </a:solidFill>
          <a:ln w="12700">
            <a:solidFill>
              <a:srgbClr val="E8752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31012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E87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3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83680" y="354787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10-year macro model</a:t>
            </a:r>
            <a:endParaRPr lang="en-US" sz="1280" dirty="0"/>
          </a:p>
        </p:txBody>
      </p:sp>
      <p:sp>
        <p:nvSpPr>
          <p:cNvPr id="52" name="Text 50"/>
          <p:cNvSpPr/>
          <p:nvPr/>
        </p:nvSpPr>
        <p:spPr>
          <a:xfrm>
            <a:off x="6583680" y="390448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long-horizon external baselines for planning and attribution context.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8101584" y="3182112"/>
            <a:ext cx="1572768" cy="1188720"/>
          </a:xfrm>
          <a:prstGeom prst="roundRect">
            <a:avLst>
              <a:gd name="adj" fmla="val 12308"/>
            </a:avLst>
          </a:prstGeom>
          <a:solidFill>
            <a:srgbClr val="FFF0E5"/>
          </a:solidFill>
          <a:ln w="15875">
            <a:solidFill>
              <a:srgbClr val="E875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47304" y="3227832"/>
            <a:ext cx="73152" cy="1097280"/>
          </a:xfrm>
          <a:prstGeom prst="rect">
            <a:avLst/>
          </a:prstGeom>
          <a:solidFill>
            <a:srgbClr val="E8752B"/>
          </a:solidFill>
          <a:ln w="12700">
            <a:solidFill>
              <a:srgbClr val="E8752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02752" y="331012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E87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8302752" y="3547872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D2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calibration</a:t>
            </a:r>
            <a:endParaRPr lang="en-US" sz="1280" dirty="0"/>
          </a:p>
        </p:txBody>
      </p:sp>
      <p:sp>
        <p:nvSpPr>
          <p:cNvPr id="57" name="Text 55"/>
          <p:cNvSpPr/>
          <p:nvPr/>
        </p:nvSpPr>
        <p:spPr>
          <a:xfrm>
            <a:off x="8302752" y="390448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 feedback on external vs. foundation vs. growth buckets and lever interactions.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2788920" y="4818888"/>
            <a:ext cx="6885432" cy="850392"/>
          </a:xfrm>
          <a:prstGeom prst="roundRect">
            <a:avLst>
              <a:gd name="adj" fmla="val 19355"/>
            </a:avLst>
          </a:prstGeom>
          <a:solidFill>
            <a:srgbClr val="EAF1F8"/>
          </a:solidFill>
          <a:ln w="12700">
            <a:solidFill>
              <a:srgbClr val="D4E2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4956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 should be framed as an extension, not a rebuild</a:t>
            </a:r>
            <a:endParaRPr lang="en-US" sz="1380" dirty="0"/>
          </a:p>
        </p:txBody>
      </p:sp>
      <p:sp>
        <p:nvSpPr>
          <p:cNvPr id="60" name="Text 58"/>
          <p:cNvSpPr/>
          <p:nvPr/>
        </p:nvSpPr>
        <p:spPr>
          <a:xfrm>
            <a:off x="3017520" y="527608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v1 regression + waterfall engine as the backbone, then add a validation layer that answers: “Is the credit causal, what is the protected base, and how much is external context?”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247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Next-Gen MVM Technical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502920"/>
            <a:ext cx="9966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protected foundation, external context, and growth momentum before final reconciliation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201400" cy="786384"/>
          </a:xfrm>
          <a:prstGeom prst="roundRect">
            <a:avLst>
              <a:gd name="adj" fmla="val 16279"/>
            </a:avLst>
          </a:prstGeom>
          <a:solidFill>
            <a:srgbClr val="F3F5F8"/>
          </a:solidFill>
          <a:ln w="17780">
            <a:solidFill>
              <a:srgbClr val="0B1F45"/>
            </a:solidFill>
            <a:prstDash val="solid"/>
          </a:ln>
          <a:effectLst>
            <a:outerShdw blurRad="12700" dist="50800" dir="2700000" algn="bl" rotWithShape="0">
              <a:srgbClr val="C9CDD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Feature Tables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0" y="932688"/>
            <a:ext cx="4480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store + training datasets at the right grain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179576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F7A3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F7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KPIs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1F7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· CSAT · OOS · uptime · staffing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3858768" y="1179576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E95A0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E95A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drivers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E95A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· macro · competition · industry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986016" y="1179576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F5BD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F5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levers</a:t>
            </a:r>
            <a:endParaRPr lang="en-US" sz="740" dirty="0"/>
          </a:p>
          <a:p>
            <a:pPr marL="0" indent="0" algn="ctr">
              <a:buNone/>
            </a:pPr>
            <a:r>
              <a:rPr lang="en-US" sz="740" b="1" dirty="0">
                <a:solidFill>
                  <a:srgbClr val="1F5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· promo · media · menu/LTO · loyalty · delivery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8933688" y="896112"/>
            <a:ext cx="257860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8CFD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Restaurant-week / market-week / market-month history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874520"/>
            <a:ext cx="3611880" cy="2926080"/>
          </a:xfrm>
          <a:prstGeom prst="roundRect">
            <a:avLst>
              <a:gd name="adj" fmla="val 4375"/>
            </a:avLst>
          </a:prstGeom>
          <a:solidFill>
            <a:srgbClr val="EAF6EE"/>
          </a:solidFill>
          <a:ln w="17780">
            <a:solidFill>
              <a:srgbClr val="1F7A3A"/>
            </a:solidFill>
            <a:prstDash val="solid"/>
          </a:ln>
          <a:effectLst>
            <a:outerShdw blurRad="12700" dist="50800" dir="2700000" algn="bl" rotWithShape="0">
              <a:srgbClr val="C9CDD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874520"/>
            <a:ext cx="3611880" cy="2926080"/>
          </a:xfrm>
          <a:prstGeom prst="roundRect">
            <a:avLst>
              <a:gd name="adj" fmla="val 4375"/>
            </a:avLst>
          </a:prstGeom>
          <a:solidFill>
            <a:srgbClr val="FFF0E7"/>
          </a:solidFill>
          <a:ln w="17780">
            <a:solidFill>
              <a:srgbClr val="E95A0C"/>
            </a:solidFill>
            <a:prstDash val="solid"/>
          </a:ln>
          <a:effectLst>
            <a:outerShdw blurRad="12700" dist="50800" dir="2700000" algn="bl" rotWithShape="0">
              <a:srgbClr val="C9CDD5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874520"/>
            <a:ext cx="3611880" cy="2926080"/>
          </a:xfrm>
          <a:prstGeom prst="roundRect">
            <a:avLst>
              <a:gd name="adj" fmla="val 4375"/>
            </a:avLst>
          </a:prstGeom>
          <a:solidFill>
            <a:srgbClr val="EAF2FF"/>
          </a:solidFill>
          <a:ln w="17780">
            <a:solidFill>
              <a:srgbClr val="1F5BD7"/>
            </a:solidFill>
            <a:prstDash val="solid"/>
          </a:ln>
          <a:effectLst>
            <a:outerShdw blurRad="12700" dist="50800" dir="2700000" algn="bl" rotWithShape="0">
              <a:srgbClr val="C9CDD5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" y="2011680"/>
            <a:ext cx="3218688" cy="329184"/>
          </a:xfrm>
          <a:prstGeom prst="roundRect">
            <a:avLst>
              <a:gd name="adj" fmla="val 22222"/>
            </a:avLst>
          </a:prstGeom>
          <a:solidFill>
            <a:srgbClr val="1F7A3A"/>
          </a:solidFill>
          <a:ln w="12700">
            <a:solidFill>
              <a:srgbClr val="1F7A3A"/>
            </a:solidFill>
          </a:ln>
          <a:effectLst>
            <a:outerShdw blurRad="12700" dist="50800" dir="2700000" algn="bl" rotWithShape="0">
              <a:srgbClr val="D0D4DB">
                <a:alpha val="22000"/>
              </a:srgbClr>
            </a:outerShdw>
          </a:effectLst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Foundation protection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9704" y="2011680"/>
            <a:ext cx="3218688" cy="329184"/>
          </a:xfrm>
          <a:prstGeom prst="roundRect">
            <a:avLst>
              <a:gd name="adj" fmla="val 22222"/>
            </a:avLst>
          </a:prstGeom>
          <a:solidFill>
            <a:srgbClr val="E95A0C"/>
          </a:solidFill>
          <a:ln w="12700">
            <a:solidFill>
              <a:srgbClr val="E95A0C"/>
            </a:solidFill>
          </a:ln>
          <a:effectLst>
            <a:outerShdw blurRad="12700" dist="50800" dir="2700000" algn="bl" rotWithShape="0">
              <a:srgbClr val="D0D4DB">
                <a:alpha val="22000"/>
              </a:srgbClr>
            </a:outerShdw>
          </a:effectLst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External context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84464" y="2011680"/>
            <a:ext cx="3218688" cy="329184"/>
          </a:xfrm>
          <a:prstGeom prst="roundRect">
            <a:avLst>
              <a:gd name="adj" fmla="val 22222"/>
            </a:avLst>
          </a:prstGeom>
          <a:solidFill>
            <a:srgbClr val="1F5BD7"/>
          </a:solidFill>
          <a:ln w="12700">
            <a:solidFill>
              <a:srgbClr val="1F5BD7"/>
            </a:solidFill>
          </a:ln>
          <a:effectLst>
            <a:outerShdw blurRad="12700" dist="50800" dir="2700000" algn="bl" rotWithShape="0">
              <a:srgbClr val="D0D4DB">
                <a:alpha val="22000"/>
              </a:srgbClr>
            </a:outerShdw>
          </a:effectLst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Growth momentum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450592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quantify avoided loss from maintaining healthy foundation conditions.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04672" y="2816352"/>
            <a:ext cx="299923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F7A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Weak-threshold library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P90 when higher is worse · P10 when lower is worse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04672" y="3328416"/>
            <a:ext cx="299923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F7A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Evidence + regression fit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weak tail → train foundation regression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04672" y="3840480"/>
            <a:ext cx="299923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F7A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Scenario scoring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portfolio: current/reference vs weak foundation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04672" y="4352544"/>
            <a:ext cx="2999232" cy="310896"/>
          </a:xfrm>
          <a:prstGeom prst="roundRect">
            <a:avLst>
              <a:gd name="adj" fmla="val 23529"/>
            </a:avLst>
          </a:prstGeom>
          <a:solidFill>
            <a:srgbClr val="DFF2E5"/>
          </a:solidFill>
          <a:ln w="12700">
            <a:solidFill>
              <a:srgbClr val="1F7A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7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Protected GC + domain drill-down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F7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as avoided loss, not pure growth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2450592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isolate market conditions that should not be credited to foundation or growth.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99432" y="2816352"/>
            <a:ext cx="29992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95A0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external model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10 years when definitions are consistent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599432" y="3383280"/>
            <a:ext cx="29992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95A0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normal/reference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· macro · competition · industry · calendar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99432" y="3950208"/>
            <a:ext cx="29992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95A0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sub-models allowed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grain/history/business logic differs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599432" y="4443984"/>
            <a:ext cx="2999232" cy="219456"/>
          </a:xfrm>
          <a:prstGeom prst="roundRect">
            <a:avLst>
              <a:gd name="adj" fmla="val 33333"/>
            </a:avLst>
          </a:prstGeom>
          <a:solidFill>
            <a:srgbClr val="FFE3D4"/>
          </a:solidFill>
          <a:ln w="12700">
            <a:solidFill>
              <a:srgbClr val="E95A0C"/>
            </a:solidFill>
          </a:ln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E95A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context headwind / tailwind</a:t>
            </a:r>
            <a:endParaRPr lang="en-US" sz="770" dirty="0"/>
          </a:p>
          <a:p>
            <a:pPr marL="0" indent="0" algn="ctr">
              <a:buNone/>
            </a:pPr>
            <a:r>
              <a:rPr lang="en-US" sz="770" b="1" dirty="0">
                <a:solidFill>
                  <a:srgbClr val="E95A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context − normal context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8366760" y="2450592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estimate incremental actions with prior evidence, experiments, and validation.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94192" y="2816352"/>
            <a:ext cx="29992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F5BD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repository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experiments · MMM · QBR · price/LTO studies · CRM tests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94192" y="3383280"/>
            <a:ext cx="29992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F5BD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Quasi-experiments / matching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where prior analysis can validate direction and range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394192" y="3950208"/>
            <a:ext cx="29992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F5BD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Prior-informed estimate ranges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working estimates using current execution + model evidence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94192" y="4443984"/>
            <a:ext cx="2999232" cy="219456"/>
          </a:xfrm>
          <a:prstGeom prst="roundRect">
            <a:avLst>
              <a:gd name="adj" fmla="val 33333"/>
            </a:avLst>
          </a:prstGeom>
          <a:solidFill>
            <a:srgbClr val="DCEBFF"/>
          </a:solidFill>
          <a:ln w="12700">
            <a:solidFill>
              <a:srgbClr val="1F5BD7"/>
            </a:solidFill>
          </a:ln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growth momentum contribution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5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general MVMs and final reconciliation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" y="5102352"/>
            <a:ext cx="11201400" cy="841248"/>
          </a:xfrm>
          <a:prstGeom prst="roundRect">
            <a:avLst>
              <a:gd name="adj" fmla="val 15217"/>
            </a:avLst>
          </a:prstGeom>
          <a:solidFill>
            <a:srgbClr val="F7F9FC"/>
          </a:solidFill>
          <a:ln w="17780">
            <a:solidFill>
              <a:srgbClr val="0B1F45"/>
            </a:solidFill>
            <a:prstDash val="solid"/>
          </a:ln>
          <a:effectLst>
            <a:outerShdw blurRad="12700" dist="50800" dir="2700000" algn="bl" rotWithShape="0">
              <a:srgbClr val="C9CDD5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" y="5212080"/>
            <a:ext cx="3246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MVM Regression &amp; Reconciliation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41648" y="5212080"/>
            <a:ext cx="6995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three estimate families into one explainable waterfall; keep residual/data gaps explicit to avoid double-counting.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841248" y="55321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5E7EB"/>
          </a:solidFill>
          <a:ln w="12700">
            <a:solidFill>
              <a:srgbClr val="AAB2C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foundation base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313432" y="5532120"/>
            <a:ext cx="14630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14600" y="553212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FF2E5"/>
          </a:solidFill>
          <a:ln w="12700">
            <a:solidFill>
              <a:srgbClr val="1F7A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7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GC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813048" y="5532120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+/−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96512" y="5532120"/>
            <a:ext cx="1307592" cy="256032"/>
          </a:xfrm>
          <a:prstGeom prst="roundRect">
            <a:avLst>
              <a:gd name="adj" fmla="val 28571"/>
            </a:avLst>
          </a:prstGeom>
          <a:solidFill>
            <a:srgbClr val="FFE3D4"/>
          </a:solidFill>
          <a:ln w="12700">
            <a:solidFill>
              <a:srgbClr val="E95A0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95A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context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468112" y="5532120"/>
            <a:ext cx="14630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0" y="55321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CEBFF"/>
          </a:solidFill>
          <a:ln w="12700">
            <a:solidFill>
              <a:srgbClr val="1F5BD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momentum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32320" y="5532120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+/−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24928" y="553212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9AA3B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/ data gap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851392" y="5532120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34856" y="5532120"/>
            <a:ext cx="2176272" cy="256032"/>
          </a:xfrm>
          <a:prstGeom prst="roundRect">
            <a:avLst>
              <a:gd name="adj" fmla="val 28571"/>
            </a:avLst>
          </a:prstGeom>
          <a:solidFill>
            <a:srgbClr val="0B1F45"/>
          </a:solidFill>
          <a:ln w="12700">
            <a:solidFill>
              <a:srgbClr val="0B1F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GC + domain waterfall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" y="6190488"/>
            <a:ext cx="1120140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7780">
            <a:solidFill>
              <a:srgbClr val="0B1F45"/>
            </a:solidFill>
            <a:prstDash val="solid"/>
          </a:ln>
          <a:effectLst>
            <a:outerShdw blurRad="12700" dist="50800" dir="2700000" algn="bl" rotWithShape="0">
              <a:srgbClr val="C9CDD5">
                <a:alpha val="2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13232" y="6291072"/>
            <a:ext cx="1051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outputs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856232" y="6272784"/>
            <a:ext cx="111556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3970">
            <a:solidFill>
              <a:srgbClr val="0B1F4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Waterfall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3145536" y="6272784"/>
            <a:ext cx="148132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3970">
            <a:solidFill>
              <a:srgbClr val="0B1F4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drill-downs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4800600" y="6272784"/>
            <a:ext cx="171907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3970">
            <a:solidFill>
              <a:srgbClr val="0B1F4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+ uncertainty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6702552" y="6272784"/>
            <a:ext cx="144475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3970">
            <a:solidFill>
              <a:srgbClr val="0B1F4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alignment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8321040" y="6272784"/>
            <a:ext cx="3127248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3970">
            <a:solidFill>
              <a:srgbClr val="0B1F45"/>
            </a:solidFill>
          </a:ln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1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domain validation: Menu · RGM · Marketing · Ops · Tech · People · Supply · Finance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105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MVM v1 to v2 Methodology Status</dc:title>
  <dc:subject>MVM v1 to v2 methodology status</dc:subject>
  <dc:creator>OpenAI</dc:creator>
  <cp:lastModifiedBy>Cheng Qian</cp:lastModifiedBy>
  <cp:revision>2</cp:revision>
  <dcterms:created xsi:type="dcterms:W3CDTF">2026-09-03T16:00:21Z</dcterms:created>
  <dcterms:modified xsi:type="dcterms:W3CDTF">2026-09-03T16:47:37Z</dcterms:modified>
</cp:coreProperties>
</file>