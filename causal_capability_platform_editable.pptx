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84" r:id="rId4"/>
    <p:sldId id="315" r:id="rId5"/>
    <p:sldId id="302" r:id="rId6"/>
    <p:sldId id="274" r:id="rId7"/>
    <p:sldId id="297" r:id="rId8"/>
    <p:sldId id="300" r:id="rId9"/>
    <p:sldId id="306" r:id="rId10"/>
    <p:sldId id="307" r:id="rId11"/>
    <p:sldId id="308" r:id="rId12"/>
    <p:sldId id="310" r:id="rId13"/>
    <p:sldId id="309" r:id="rId14"/>
    <p:sldId id="298" r:id="rId15"/>
    <p:sldId id="311" r:id="rId16"/>
    <p:sldId id="312" r:id="rId17"/>
    <p:sldId id="314"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3" d="100"/>
          <a:sy n="113" d="100"/>
        </p:scale>
        <p:origin x="47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0075448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0D63C0-20C3-2D6B-1145-979CEC5FE5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E29583-D03C-74DE-DEC6-6874966182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D49A2C-20DE-E4C3-86E3-F40047037BE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ADF9AA6-4B92-5120-C760-955BBEBB1CEA}"/>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23693683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a:t>Expected Incremental Profit=</a:t>
            </a:r>
            <a:r>
              <a:rPr lang="en-US" dirty="0" err="1"/>
              <a:t>Uplift×Margin−Offer</a:t>
            </a:r>
            <a:r>
              <a:rPr lang="en-US" dirty="0"/>
              <a:t> Cost−Cannibalization Risk</a:t>
            </a:r>
          </a:p>
        </p:txBody>
      </p:sp>
    </p:spTree>
    <p:extLst>
      <p:ext uri="{BB962C8B-B14F-4D97-AF65-F5344CB8AC3E}">
        <p14:creationId xmlns:p14="http://schemas.microsoft.com/office/powerpoint/2010/main" val="388359397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0541803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BFC"/>
        </a:solidFill>
        <a:effectLst/>
      </p:bgPr>
    </p:bg>
    <p:spTree>
      <p:nvGrpSpPr>
        <p:cNvPr id="1" name=""/>
        <p:cNvGrpSpPr/>
        <p:nvPr/>
      </p:nvGrpSpPr>
      <p:grpSpPr>
        <a:xfrm>
          <a:off x="0" y="0"/>
          <a:ext cx="0" cy="0"/>
          <a:chOff x="0" y="0"/>
          <a:chExt cx="0" cy="0"/>
        </a:xfrm>
      </p:grpSpPr>
      <p:sp>
        <p:nvSpPr>
          <p:cNvPr id="2" name="Text 0"/>
          <p:cNvSpPr/>
          <p:nvPr/>
        </p:nvSpPr>
        <p:spPr>
          <a:xfrm>
            <a:off x="777240" y="2121408"/>
            <a:ext cx="10698480" cy="621792"/>
          </a:xfrm>
          <a:prstGeom prst="rect">
            <a:avLst/>
          </a:prstGeom>
          <a:noFill/>
          <a:ln/>
        </p:spPr>
        <p:txBody>
          <a:bodyPr wrap="square" lIns="0" tIns="0" rIns="0" bIns="0" rtlCol="0" anchor="ctr"/>
          <a:lstStyle/>
          <a:p>
            <a:pPr marL="0" indent="0" algn="ctr">
              <a:buNone/>
            </a:pPr>
            <a:r>
              <a:rPr lang="en-US" sz="4200" b="1" dirty="0">
                <a:solidFill>
                  <a:srgbClr val="17324D"/>
                </a:solidFill>
                <a:latin typeface="Aptos Display" pitchFamily="34" charset="0"/>
                <a:ea typeface="Aptos Display" pitchFamily="34" charset="-122"/>
                <a:cs typeface="Aptos Display" pitchFamily="34" charset="-120"/>
              </a:rPr>
              <a:t>Causal Capability Platform</a:t>
            </a:r>
            <a:endParaRPr lang="en-US" sz="4200" dirty="0"/>
          </a:p>
        </p:txBody>
      </p:sp>
      <p:sp>
        <p:nvSpPr>
          <p:cNvPr id="3" name="Text 1"/>
          <p:cNvSpPr/>
          <p:nvPr/>
        </p:nvSpPr>
        <p:spPr>
          <a:xfrm>
            <a:off x="1554480" y="2880360"/>
            <a:ext cx="9098280" cy="320040"/>
          </a:xfrm>
          <a:prstGeom prst="rect">
            <a:avLst/>
          </a:prstGeom>
          <a:noFill/>
          <a:ln/>
        </p:spPr>
        <p:txBody>
          <a:bodyPr wrap="square" lIns="0" tIns="0" rIns="0" bIns="0" rtlCol="0" anchor="ctr"/>
          <a:lstStyle/>
          <a:p>
            <a:pPr marL="0" indent="0" algn="ctr">
              <a:buNone/>
            </a:pPr>
            <a:r>
              <a:rPr lang="en-US" sz="2000" dirty="0">
                <a:solidFill>
                  <a:srgbClr val="59606A"/>
                </a:solidFill>
                <a:latin typeface="Aptos" pitchFamily="34" charset="0"/>
                <a:ea typeface="Aptos" pitchFamily="34" charset="-122"/>
                <a:cs typeface="Aptos" pitchFamily="34" charset="-120"/>
              </a:rPr>
              <a:t>Capability → Project Cases → Shared Tools &amp; Methods</a:t>
            </a:r>
            <a:endParaRPr lang="en-US" sz="2000" dirty="0"/>
          </a:p>
        </p:txBody>
      </p:sp>
      <p:sp>
        <p:nvSpPr>
          <p:cNvPr id="4" name="Text 2"/>
          <p:cNvSpPr/>
          <p:nvPr/>
        </p:nvSpPr>
        <p:spPr>
          <a:xfrm>
            <a:off x="2743200" y="3703320"/>
            <a:ext cx="1920240" cy="512064"/>
          </a:xfrm>
          <a:prstGeom prst="roundRect">
            <a:avLst>
              <a:gd name="adj" fmla="val 14286"/>
            </a:avLst>
          </a:prstGeom>
          <a:solidFill>
            <a:srgbClr val="E6F5F2"/>
          </a:solidFill>
          <a:ln w="12700">
            <a:solidFill>
              <a:srgbClr val="9CCFC5"/>
            </a:solidFill>
          </a:ln>
        </p:spPr>
        <p:txBody>
          <a:bodyPr wrap="square" lIns="1016" tIns="1016" rIns="1016" bIns="1016" rtlCol="0" anchor="ctr">
            <a:normAutofit/>
          </a:bodyPr>
          <a:lstStyle/>
          <a:p>
            <a:pPr marL="0" indent="0" algn="ctr">
              <a:buNone/>
            </a:pPr>
            <a:r>
              <a:rPr lang="en-US" sz="1300" b="1" dirty="0">
                <a:solidFill>
                  <a:srgbClr val="0F766E"/>
                </a:solidFill>
                <a:latin typeface="Aptos" pitchFamily="34" charset="0"/>
                <a:ea typeface="Aptos" pitchFamily="34" charset="-122"/>
                <a:cs typeface="Aptos" pitchFamily="34" charset="-120"/>
              </a:rPr>
              <a:t>Causal</a:t>
            </a:r>
            <a:endParaRPr lang="en-US" sz="1300" dirty="0"/>
          </a:p>
          <a:p>
            <a:pPr marL="0" indent="0" algn="ctr">
              <a:buNone/>
            </a:pPr>
            <a:r>
              <a:rPr lang="en-US" sz="1300" b="1" dirty="0">
                <a:solidFill>
                  <a:srgbClr val="0F766E"/>
                </a:solidFill>
                <a:latin typeface="Aptos" pitchFamily="34" charset="0"/>
                <a:ea typeface="Aptos" pitchFamily="34" charset="-122"/>
                <a:cs typeface="Aptos" pitchFamily="34" charset="-120"/>
              </a:rPr>
              <a:t>Capabilities</a:t>
            </a:r>
            <a:endParaRPr lang="en-US" sz="1300" dirty="0"/>
          </a:p>
        </p:txBody>
      </p:sp>
      <p:sp>
        <p:nvSpPr>
          <p:cNvPr id="5" name="Text 3"/>
          <p:cNvSpPr/>
          <p:nvPr/>
        </p:nvSpPr>
        <p:spPr>
          <a:xfrm>
            <a:off x="5047488" y="3703320"/>
            <a:ext cx="1920240" cy="512064"/>
          </a:xfrm>
          <a:prstGeom prst="roundRect">
            <a:avLst>
              <a:gd name="adj" fmla="val 14286"/>
            </a:avLst>
          </a:prstGeom>
          <a:solidFill>
            <a:srgbClr val="EAF2FF"/>
          </a:solidFill>
          <a:ln w="12700">
            <a:solidFill>
              <a:srgbClr val="AFC6F6"/>
            </a:solidFill>
          </a:ln>
        </p:spPr>
        <p:txBody>
          <a:bodyPr wrap="square" lIns="1016" tIns="1016" rIns="1016" bIns="1016" rtlCol="0" anchor="ctr">
            <a:normAutofit/>
          </a:bodyPr>
          <a:lstStyle/>
          <a:p>
            <a:pPr marL="0" indent="0" algn="ctr">
              <a:buNone/>
            </a:pPr>
            <a:r>
              <a:rPr lang="en-US" sz="1300" b="1" dirty="0">
                <a:solidFill>
                  <a:srgbClr val="2D6CDF"/>
                </a:solidFill>
                <a:latin typeface="Aptos" pitchFamily="34" charset="0"/>
                <a:ea typeface="Aptos" pitchFamily="34" charset="-122"/>
                <a:cs typeface="Aptos" pitchFamily="34" charset="-120"/>
              </a:rPr>
              <a:t>Project</a:t>
            </a:r>
            <a:endParaRPr lang="en-US" sz="1300" dirty="0"/>
          </a:p>
          <a:p>
            <a:pPr marL="0" indent="0" algn="ctr">
              <a:buNone/>
            </a:pPr>
            <a:r>
              <a:rPr lang="en-US" sz="1300" b="1" dirty="0">
                <a:solidFill>
                  <a:srgbClr val="2D6CDF"/>
                </a:solidFill>
                <a:latin typeface="Aptos" pitchFamily="34" charset="0"/>
                <a:ea typeface="Aptos" pitchFamily="34" charset="-122"/>
                <a:cs typeface="Aptos" pitchFamily="34" charset="-120"/>
              </a:rPr>
              <a:t>Cases</a:t>
            </a:r>
            <a:endParaRPr lang="en-US" sz="1300" dirty="0"/>
          </a:p>
        </p:txBody>
      </p:sp>
      <p:sp>
        <p:nvSpPr>
          <p:cNvPr id="6" name="Text 4"/>
          <p:cNvSpPr/>
          <p:nvPr/>
        </p:nvSpPr>
        <p:spPr>
          <a:xfrm>
            <a:off x="7351776" y="3703320"/>
            <a:ext cx="1920240" cy="512064"/>
          </a:xfrm>
          <a:prstGeom prst="roundRect">
            <a:avLst>
              <a:gd name="adj" fmla="val 14286"/>
            </a:avLst>
          </a:prstGeom>
          <a:solidFill>
            <a:srgbClr val="F0EDFF"/>
          </a:solidFill>
          <a:ln w="12700">
            <a:solidFill>
              <a:srgbClr val="BFB7ED"/>
            </a:solidFill>
          </a:ln>
        </p:spPr>
        <p:txBody>
          <a:bodyPr wrap="square" lIns="1016" tIns="1016" rIns="1016" bIns="1016" rtlCol="0" anchor="ctr">
            <a:normAutofit/>
          </a:bodyPr>
          <a:lstStyle/>
          <a:p>
            <a:pPr marL="0" indent="0" algn="ctr">
              <a:buNone/>
            </a:pPr>
            <a:r>
              <a:rPr lang="en-US" sz="1300" b="1" dirty="0">
                <a:solidFill>
                  <a:srgbClr val="6D5BD0"/>
                </a:solidFill>
                <a:latin typeface="Aptos" pitchFamily="34" charset="0"/>
                <a:ea typeface="Aptos" pitchFamily="34" charset="-122"/>
                <a:cs typeface="Aptos" pitchFamily="34" charset="-120"/>
              </a:rPr>
              <a:t>Shared</a:t>
            </a:r>
            <a:endParaRPr lang="en-US" sz="1300" dirty="0"/>
          </a:p>
          <a:p>
            <a:pPr marL="0" indent="0" algn="ctr">
              <a:buNone/>
            </a:pPr>
            <a:r>
              <a:rPr lang="en-US" sz="1300" b="1" dirty="0">
                <a:solidFill>
                  <a:srgbClr val="6D5BD0"/>
                </a:solidFill>
                <a:latin typeface="Aptos" pitchFamily="34" charset="0"/>
                <a:ea typeface="Aptos" pitchFamily="34" charset="-122"/>
                <a:cs typeface="Aptos" pitchFamily="34" charset="-120"/>
              </a:rPr>
              <a:t>Lego Modules</a:t>
            </a:r>
            <a:endParaRPr lang="en-US" sz="1300" dirty="0"/>
          </a:p>
        </p:txBody>
      </p:sp>
      <p:sp>
        <p:nvSpPr>
          <p:cNvPr id="7" name="Shape 5"/>
          <p:cNvSpPr/>
          <p:nvPr/>
        </p:nvSpPr>
        <p:spPr>
          <a:xfrm>
            <a:off x="4727448" y="3959352"/>
            <a:ext cx="256032" cy="0"/>
          </a:xfrm>
          <a:prstGeom prst="line">
            <a:avLst/>
          </a:prstGeom>
          <a:noFill/>
          <a:ln w="15240">
            <a:solidFill>
              <a:srgbClr val="AAB2BD"/>
            </a:solidFill>
            <a:prstDash val="solid"/>
            <a:headEnd type="none"/>
            <a:tailEnd type="triangle"/>
          </a:ln>
        </p:spPr>
      </p:sp>
      <p:sp>
        <p:nvSpPr>
          <p:cNvPr id="8" name="Shape 6"/>
          <p:cNvSpPr/>
          <p:nvPr/>
        </p:nvSpPr>
        <p:spPr>
          <a:xfrm>
            <a:off x="7031736" y="3959352"/>
            <a:ext cx="256032" cy="0"/>
          </a:xfrm>
          <a:prstGeom prst="line">
            <a:avLst/>
          </a:prstGeom>
          <a:noFill/>
          <a:ln w="15240">
            <a:solidFill>
              <a:srgbClr val="AAB2BD"/>
            </a:solidFill>
            <a:prstDash val="solid"/>
            <a:headEnd type="none"/>
            <a:tailEnd type="triangle"/>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BFC"/>
        </a:solidFill>
        <a:effectLst/>
      </p:bgPr>
    </p:bg>
    <p:spTree>
      <p:nvGrpSpPr>
        <p:cNvPr id="1" name=""/>
        <p:cNvGrpSpPr/>
        <p:nvPr/>
      </p:nvGrpSpPr>
      <p:grpSpPr>
        <a:xfrm>
          <a:off x="0" y="0"/>
          <a:ext cx="0" cy="0"/>
          <a:chOff x="0" y="0"/>
          <a:chExt cx="0" cy="0"/>
        </a:xfrm>
      </p:grpSpPr>
      <p:sp>
        <p:nvSpPr>
          <p:cNvPr id="2" name="Text 0"/>
          <p:cNvSpPr/>
          <p:nvPr/>
        </p:nvSpPr>
        <p:spPr>
          <a:xfrm>
            <a:off x="320040" y="164592"/>
            <a:ext cx="11521440" cy="329184"/>
          </a:xfrm>
          <a:prstGeom prst="rect">
            <a:avLst/>
          </a:prstGeom>
          <a:noFill/>
          <a:ln/>
        </p:spPr>
        <p:txBody>
          <a:bodyPr wrap="square" lIns="0" tIns="0" rIns="0" bIns="0" rtlCol="0" anchor="ctr"/>
          <a:lstStyle/>
          <a:p>
            <a:pPr marL="0" indent="0" algn="ctr">
              <a:buNone/>
            </a:pPr>
            <a:r>
              <a:rPr lang="en-US" sz="2400" b="1" dirty="0">
                <a:solidFill>
                  <a:srgbClr val="17324D"/>
                </a:solidFill>
                <a:latin typeface="Aptos Display" pitchFamily="34" charset="0"/>
                <a:ea typeface="Aptos Display" pitchFamily="34" charset="-122"/>
                <a:cs typeface="Aptos Display" pitchFamily="34" charset="-120"/>
              </a:rPr>
              <a:t>Causal Capability Platform — Conceptual Map</a:t>
            </a:r>
            <a:endParaRPr lang="en-US" sz="2400" dirty="0"/>
          </a:p>
        </p:txBody>
      </p:sp>
      <p:sp>
        <p:nvSpPr>
          <p:cNvPr id="3" name="Text 1"/>
          <p:cNvSpPr/>
          <p:nvPr/>
        </p:nvSpPr>
        <p:spPr>
          <a:xfrm>
            <a:off x="1234440" y="530352"/>
            <a:ext cx="10149840" cy="228600"/>
          </a:xfrm>
          <a:prstGeom prst="rect">
            <a:avLst/>
          </a:prstGeom>
          <a:noFill/>
          <a:ln/>
        </p:spPr>
        <p:txBody>
          <a:bodyPr wrap="square" lIns="0" tIns="0" rIns="0" bIns="0" rtlCol="0" anchor="ctr"/>
          <a:lstStyle/>
          <a:p>
            <a:pPr marL="0" indent="0" algn="ctr">
              <a:buNone/>
            </a:pPr>
            <a:r>
              <a:rPr lang="en-US" sz="1150" dirty="0">
                <a:solidFill>
                  <a:srgbClr val="59606A"/>
                </a:solidFill>
                <a:latin typeface="Aptos" pitchFamily="34" charset="0"/>
                <a:ea typeface="Aptos" pitchFamily="34" charset="-122"/>
                <a:cs typeface="Aptos" pitchFamily="34" charset="-120"/>
              </a:rPr>
              <a:t>Shared causal “Lego modules” can be assembled across capabilities and project cases</a:t>
            </a:r>
            <a:endParaRPr lang="en-US" sz="1150" dirty="0"/>
          </a:p>
        </p:txBody>
      </p:sp>
      <p:sp>
        <p:nvSpPr>
          <p:cNvPr id="4" name="Shape 2"/>
          <p:cNvSpPr/>
          <p:nvPr/>
        </p:nvSpPr>
        <p:spPr>
          <a:xfrm>
            <a:off x="1179576" y="804672"/>
            <a:ext cx="10808208" cy="1371600"/>
          </a:xfrm>
          <a:prstGeom prst="roundRect">
            <a:avLst>
              <a:gd name="adj" fmla="val 8000"/>
            </a:avLst>
          </a:prstGeom>
          <a:solidFill>
            <a:srgbClr val="F7FBFA"/>
          </a:solidFill>
          <a:ln w="12700">
            <a:solidFill>
              <a:srgbClr val="DDEDEA"/>
            </a:solidFill>
            <a:prstDash val="solid"/>
          </a:ln>
        </p:spPr>
      </p:sp>
      <p:sp>
        <p:nvSpPr>
          <p:cNvPr id="5" name="Shape 3"/>
          <p:cNvSpPr/>
          <p:nvPr/>
        </p:nvSpPr>
        <p:spPr>
          <a:xfrm>
            <a:off x="1179576" y="2194560"/>
            <a:ext cx="10808208" cy="2139696"/>
          </a:xfrm>
          <a:prstGeom prst="roundRect">
            <a:avLst>
              <a:gd name="adj" fmla="val 5128"/>
            </a:avLst>
          </a:prstGeom>
          <a:solidFill>
            <a:srgbClr val="F8FAFE"/>
          </a:solidFill>
          <a:ln w="12700">
            <a:solidFill>
              <a:srgbClr val="DDE6F7"/>
            </a:solidFill>
            <a:prstDash val="solid"/>
          </a:ln>
        </p:spPr>
      </p:sp>
      <p:sp>
        <p:nvSpPr>
          <p:cNvPr id="6" name="Shape 4"/>
          <p:cNvSpPr/>
          <p:nvPr/>
        </p:nvSpPr>
        <p:spPr>
          <a:xfrm>
            <a:off x="1179576" y="4425696"/>
            <a:ext cx="10808208" cy="2212848"/>
          </a:xfrm>
          <a:prstGeom prst="roundRect">
            <a:avLst>
              <a:gd name="adj" fmla="val 4959"/>
            </a:avLst>
          </a:prstGeom>
          <a:solidFill>
            <a:srgbClr val="FCFAF7"/>
          </a:solidFill>
          <a:ln w="12700">
            <a:solidFill>
              <a:srgbClr val="EFE2D0"/>
            </a:solidFill>
            <a:prstDash val="solid"/>
          </a:ln>
        </p:spPr>
      </p:sp>
      <p:sp>
        <p:nvSpPr>
          <p:cNvPr id="7" name="Text 5"/>
          <p:cNvSpPr/>
          <p:nvPr/>
        </p:nvSpPr>
        <p:spPr>
          <a:xfrm>
            <a:off x="228600" y="1033272"/>
            <a:ext cx="950976" cy="786384"/>
          </a:xfrm>
          <a:prstGeom prst="rect">
            <a:avLst/>
          </a:prstGeom>
          <a:noFill/>
          <a:ln/>
        </p:spPr>
        <p:txBody>
          <a:bodyPr wrap="square" lIns="254" tIns="254" rIns="254" bIns="254" rtlCol="0" anchor="ctr">
            <a:normAutofit/>
          </a:bodyPr>
          <a:lstStyle/>
          <a:p>
            <a:pPr marL="0" indent="0" algn="r">
              <a:buNone/>
            </a:pPr>
            <a:r>
              <a:rPr lang="en-US" sz="1050" b="1" dirty="0">
                <a:solidFill>
                  <a:srgbClr val="0F766E"/>
                </a:solidFill>
                <a:latin typeface="Aptos" pitchFamily="34" charset="0"/>
                <a:ea typeface="Aptos" pitchFamily="34" charset="-122"/>
                <a:cs typeface="Aptos" pitchFamily="34" charset="-120"/>
              </a:rPr>
              <a:t>Row 1</a:t>
            </a:r>
            <a:endParaRPr lang="en-US" sz="1050" dirty="0"/>
          </a:p>
          <a:p>
            <a:pPr marL="0" indent="0" algn="r">
              <a:buNone/>
            </a:pPr>
            <a:r>
              <a:rPr lang="en-US" sz="1050" b="1" dirty="0">
                <a:solidFill>
                  <a:srgbClr val="0F766E"/>
                </a:solidFill>
                <a:latin typeface="Aptos" pitchFamily="34" charset="0"/>
                <a:ea typeface="Aptos" pitchFamily="34" charset="-122"/>
                <a:cs typeface="Aptos" pitchFamily="34" charset="-120"/>
              </a:rPr>
              <a:t>Causal</a:t>
            </a:r>
            <a:endParaRPr lang="en-US" sz="1050" dirty="0"/>
          </a:p>
          <a:p>
            <a:pPr marL="0" indent="0" algn="r">
              <a:buNone/>
            </a:pPr>
            <a:r>
              <a:rPr lang="en-US" sz="1050" b="1" dirty="0">
                <a:solidFill>
                  <a:srgbClr val="0F766E"/>
                </a:solidFill>
                <a:latin typeface="Aptos" pitchFamily="34" charset="0"/>
                <a:ea typeface="Aptos" pitchFamily="34" charset="-122"/>
                <a:cs typeface="Aptos" pitchFamily="34" charset="-120"/>
              </a:rPr>
              <a:t>Capabilities</a:t>
            </a:r>
            <a:endParaRPr lang="en-US" sz="1050" dirty="0"/>
          </a:p>
        </p:txBody>
      </p:sp>
      <p:sp>
        <p:nvSpPr>
          <p:cNvPr id="8" name="Text 6"/>
          <p:cNvSpPr/>
          <p:nvPr/>
        </p:nvSpPr>
        <p:spPr>
          <a:xfrm>
            <a:off x="228600" y="2834640"/>
            <a:ext cx="950976" cy="713232"/>
          </a:xfrm>
          <a:prstGeom prst="rect">
            <a:avLst/>
          </a:prstGeom>
          <a:noFill/>
          <a:ln/>
        </p:spPr>
        <p:txBody>
          <a:bodyPr wrap="square" lIns="254" tIns="254" rIns="254" bIns="254" rtlCol="0" anchor="ctr">
            <a:normAutofit/>
          </a:bodyPr>
          <a:lstStyle/>
          <a:p>
            <a:pPr marL="0" indent="0" algn="r">
              <a:buNone/>
            </a:pPr>
            <a:r>
              <a:rPr lang="en-US" sz="1050" b="1" dirty="0">
                <a:solidFill>
                  <a:srgbClr val="2D6CDF"/>
                </a:solidFill>
                <a:latin typeface="Aptos" pitchFamily="34" charset="0"/>
                <a:ea typeface="Aptos" pitchFamily="34" charset="-122"/>
                <a:cs typeface="Aptos" pitchFamily="34" charset="-120"/>
              </a:rPr>
              <a:t>Row 2</a:t>
            </a:r>
            <a:endParaRPr lang="en-US" sz="1050" dirty="0"/>
          </a:p>
          <a:p>
            <a:pPr marL="0" indent="0" algn="r">
              <a:buNone/>
            </a:pPr>
            <a:r>
              <a:rPr lang="en-US" sz="1050" b="1" dirty="0">
                <a:solidFill>
                  <a:srgbClr val="2D6CDF"/>
                </a:solidFill>
                <a:latin typeface="Aptos" pitchFamily="34" charset="0"/>
                <a:ea typeface="Aptos" pitchFamily="34" charset="-122"/>
                <a:cs typeface="Aptos" pitchFamily="34" charset="-120"/>
              </a:rPr>
              <a:t>Project</a:t>
            </a:r>
            <a:endParaRPr lang="en-US" sz="1050" dirty="0"/>
          </a:p>
          <a:p>
            <a:pPr marL="0" indent="0" algn="r">
              <a:buNone/>
            </a:pPr>
            <a:r>
              <a:rPr lang="en-US" sz="1050" b="1" dirty="0">
                <a:solidFill>
                  <a:srgbClr val="2D6CDF"/>
                </a:solidFill>
                <a:latin typeface="Aptos" pitchFamily="34" charset="0"/>
                <a:ea typeface="Aptos" pitchFamily="34" charset="-122"/>
                <a:cs typeface="Aptos" pitchFamily="34" charset="-120"/>
              </a:rPr>
              <a:t>Cases</a:t>
            </a:r>
            <a:endParaRPr lang="en-US" sz="1050" dirty="0"/>
          </a:p>
        </p:txBody>
      </p:sp>
      <p:sp>
        <p:nvSpPr>
          <p:cNvPr id="9" name="Text 7"/>
          <p:cNvSpPr/>
          <p:nvPr/>
        </p:nvSpPr>
        <p:spPr>
          <a:xfrm>
            <a:off x="228600" y="5093208"/>
            <a:ext cx="950976" cy="859536"/>
          </a:xfrm>
          <a:prstGeom prst="rect">
            <a:avLst/>
          </a:prstGeom>
          <a:noFill/>
          <a:ln/>
        </p:spPr>
        <p:txBody>
          <a:bodyPr wrap="square" lIns="254" tIns="254" rIns="254" bIns="254" rtlCol="0" anchor="ctr">
            <a:normAutofit/>
          </a:bodyPr>
          <a:lstStyle/>
          <a:p>
            <a:pPr marL="0" indent="0" algn="r">
              <a:buNone/>
            </a:pPr>
            <a:r>
              <a:rPr lang="en-US" sz="1050" b="1" dirty="0">
                <a:solidFill>
                  <a:srgbClr val="C76B29"/>
                </a:solidFill>
                <a:latin typeface="Aptos" pitchFamily="34" charset="0"/>
                <a:ea typeface="Aptos" pitchFamily="34" charset="-122"/>
                <a:cs typeface="Aptos" pitchFamily="34" charset="-120"/>
              </a:rPr>
              <a:t>Row 3</a:t>
            </a:r>
            <a:endParaRPr lang="en-US" sz="1050" dirty="0"/>
          </a:p>
          <a:p>
            <a:pPr marL="0" indent="0" algn="r">
              <a:buNone/>
            </a:pPr>
            <a:r>
              <a:rPr lang="en-US" sz="1050" b="1" dirty="0">
                <a:solidFill>
                  <a:srgbClr val="C76B29"/>
                </a:solidFill>
                <a:latin typeface="Aptos" pitchFamily="34" charset="0"/>
                <a:ea typeface="Aptos" pitchFamily="34" charset="-122"/>
                <a:cs typeface="Aptos" pitchFamily="34" charset="-120"/>
              </a:rPr>
              <a:t>Shared Tools</a:t>
            </a:r>
            <a:endParaRPr lang="en-US" sz="1050" dirty="0"/>
          </a:p>
          <a:p>
            <a:pPr marL="0" indent="0" algn="r">
              <a:buNone/>
            </a:pPr>
            <a:r>
              <a:rPr lang="en-US" sz="1050" b="1" dirty="0">
                <a:solidFill>
                  <a:srgbClr val="C76B29"/>
                </a:solidFill>
                <a:latin typeface="Aptos" pitchFamily="34" charset="0"/>
                <a:ea typeface="Aptos" pitchFamily="34" charset="-122"/>
                <a:cs typeface="Aptos" pitchFamily="34" charset="-120"/>
              </a:rPr>
              <a:t>&amp; Methods</a:t>
            </a:r>
            <a:endParaRPr lang="en-US" sz="1050" dirty="0"/>
          </a:p>
        </p:txBody>
      </p:sp>
      <p:sp>
        <p:nvSpPr>
          <p:cNvPr id="10" name="Text 8"/>
          <p:cNvSpPr/>
          <p:nvPr/>
        </p:nvSpPr>
        <p:spPr>
          <a:xfrm>
            <a:off x="1234440" y="950976"/>
            <a:ext cx="1691640" cy="1051560"/>
          </a:xfrm>
          <a:prstGeom prst="roundRect">
            <a:avLst>
              <a:gd name="adj" fmla="val 6957"/>
            </a:avLst>
          </a:prstGeom>
          <a:solidFill>
            <a:srgbClr val="E6F5F2"/>
          </a:solidFill>
          <a:ln w="12700">
            <a:solidFill>
              <a:srgbClr val="9CCFC5"/>
            </a:solidFill>
          </a:ln>
        </p:spPr>
        <p:txBody>
          <a:bodyPr wrap="square" lIns="762" tIns="762" rIns="762" bIns="762" rtlCol="0" anchor="ctr">
            <a:normAutofit/>
          </a:bodyPr>
          <a:lstStyle/>
          <a:p>
            <a:pPr marL="0" indent="0" algn="ctr">
              <a:buNone/>
            </a:pPr>
            <a:r>
              <a:rPr lang="en-US" sz="920" b="1" dirty="0">
                <a:solidFill>
                  <a:srgbClr val="0F766E"/>
                </a:solidFill>
                <a:latin typeface="Aptos" pitchFamily="34" charset="0"/>
                <a:ea typeface="Aptos" pitchFamily="34" charset="-122"/>
                <a:cs typeface="Aptos" pitchFamily="34" charset="-120"/>
              </a:rPr>
              <a:t>Incremental</a:t>
            </a:r>
            <a:endParaRPr lang="en-US" sz="920" dirty="0"/>
          </a:p>
          <a:p>
            <a:pPr marL="0" indent="0" algn="ctr">
              <a:buNone/>
            </a:pPr>
            <a:r>
              <a:rPr lang="en-US" sz="920" b="1" dirty="0">
                <a:solidFill>
                  <a:srgbClr val="0F766E"/>
                </a:solidFill>
                <a:latin typeface="Aptos" pitchFamily="34" charset="0"/>
                <a:ea typeface="Aptos" pitchFamily="34" charset="-122"/>
                <a:cs typeface="Aptos" pitchFamily="34" charset="-120"/>
              </a:rPr>
              <a:t>Impact</a:t>
            </a:r>
            <a:endParaRPr lang="en-US" sz="920" dirty="0"/>
          </a:p>
          <a:p>
            <a:pPr marL="0" indent="0" algn="ctr">
              <a:buNone/>
            </a:pPr>
            <a:r>
              <a:rPr lang="en-US" sz="920" b="1" dirty="0">
                <a:solidFill>
                  <a:srgbClr val="0F766E"/>
                </a:solidFill>
                <a:latin typeface="Aptos" pitchFamily="34" charset="0"/>
                <a:ea typeface="Aptos" pitchFamily="34" charset="-122"/>
                <a:cs typeface="Aptos" pitchFamily="34" charset="-120"/>
              </a:rPr>
              <a:t>Did it work?</a:t>
            </a:r>
            <a:endParaRPr lang="en-US" sz="920" dirty="0"/>
          </a:p>
        </p:txBody>
      </p:sp>
      <p:sp>
        <p:nvSpPr>
          <p:cNvPr id="11" name="Text 9"/>
          <p:cNvSpPr/>
          <p:nvPr/>
        </p:nvSpPr>
        <p:spPr>
          <a:xfrm>
            <a:off x="3035808" y="950976"/>
            <a:ext cx="1691640" cy="1051560"/>
          </a:xfrm>
          <a:prstGeom prst="roundRect">
            <a:avLst>
              <a:gd name="adj" fmla="val 6957"/>
            </a:avLst>
          </a:prstGeom>
          <a:solidFill>
            <a:srgbClr val="E8F0FF"/>
          </a:solidFill>
          <a:ln w="12700">
            <a:solidFill>
              <a:srgbClr val="AFC6F6"/>
            </a:solidFill>
          </a:ln>
        </p:spPr>
        <p:txBody>
          <a:bodyPr wrap="square" lIns="762" tIns="762" rIns="762" bIns="762" rtlCol="0" anchor="ctr">
            <a:normAutofit/>
          </a:bodyPr>
          <a:lstStyle/>
          <a:p>
            <a:pPr marL="0" indent="0" algn="ctr">
              <a:buNone/>
            </a:pPr>
            <a:r>
              <a:rPr lang="en-US" sz="920" b="1" dirty="0">
                <a:solidFill>
                  <a:srgbClr val="2D6CDF"/>
                </a:solidFill>
                <a:latin typeface="Aptos" pitchFamily="34" charset="0"/>
                <a:ea typeface="Aptos" pitchFamily="34" charset="-122"/>
                <a:cs typeface="Aptos" pitchFamily="34" charset="-120"/>
              </a:rPr>
              <a:t>Root Cause &amp;</a:t>
            </a:r>
            <a:endParaRPr lang="en-US" sz="920" dirty="0"/>
          </a:p>
          <a:p>
            <a:pPr marL="0" indent="0" algn="ctr">
              <a:buNone/>
            </a:pPr>
            <a:r>
              <a:rPr lang="en-US" sz="920" b="1" dirty="0">
                <a:solidFill>
                  <a:srgbClr val="2D6CDF"/>
                </a:solidFill>
                <a:latin typeface="Aptos" pitchFamily="34" charset="0"/>
                <a:ea typeface="Aptos" pitchFamily="34" charset="-122"/>
                <a:cs typeface="Aptos" pitchFamily="34" charset="-120"/>
              </a:rPr>
              <a:t>Business Drivers</a:t>
            </a:r>
            <a:endParaRPr lang="en-US" sz="920" dirty="0"/>
          </a:p>
          <a:p>
            <a:pPr marL="0" indent="0" algn="ctr">
              <a:buNone/>
            </a:pPr>
            <a:r>
              <a:rPr lang="en-US" sz="920" b="1" dirty="0">
                <a:solidFill>
                  <a:srgbClr val="2D6CDF"/>
                </a:solidFill>
                <a:latin typeface="Aptos" pitchFamily="34" charset="0"/>
                <a:ea typeface="Aptos" pitchFamily="34" charset="-122"/>
                <a:cs typeface="Aptos" pitchFamily="34" charset="-120"/>
              </a:rPr>
              <a:t>Why did KPI move?</a:t>
            </a:r>
            <a:endParaRPr lang="en-US" sz="920" dirty="0"/>
          </a:p>
        </p:txBody>
      </p:sp>
      <p:sp>
        <p:nvSpPr>
          <p:cNvPr id="12" name="Text 10"/>
          <p:cNvSpPr/>
          <p:nvPr/>
        </p:nvSpPr>
        <p:spPr>
          <a:xfrm>
            <a:off x="4837176" y="950976"/>
            <a:ext cx="1691640" cy="1051560"/>
          </a:xfrm>
          <a:prstGeom prst="roundRect">
            <a:avLst>
              <a:gd name="adj" fmla="val 6957"/>
            </a:avLst>
          </a:prstGeom>
          <a:solidFill>
            <a:srgbClr val="F0EDFF"/>
          </a:solidFill>
          <a:ln w="12700">
            <a:solidFill>
              <a:srgbClr val="BFB7ED"/>
            </a:solidFill>
          </a:ln>
        </p:spPr>
        <p:txBody>
          <a:bodyPr wrap="square" lIns="762" tIns="762" rIns="762" bIns="762" rtlCol="0" anchor="ctr">
            <a:normAutofit/>
          </a:bodyPr>
          <a:lstStyle/>
          <a:p>
            <a:pPr marL="0" indent="0" algn="ctr">
              <a:buNone/>
            </a:pPr>
            <a:r>
              <a:rPr lang="en-US" sz="920" b="1" dirty="0">
                <a:solidFill>
                  <a:srgbClr val="6D5BD0"/>
                </a:solidFill>
                <a:latin typeface="Aptos" pitchFamily="34" charset="0"/>
                <a:ea typeface="Aptos" pitchFamily="34" charset="-122"/>
                <a:cs typeface="Aptos" pitchFamily="34" charset="-120"/>
              </a:rPr>
              <a:t>Demand Shift &amp;</a:t>
            </a:r>
            <a:endParaRPr lang="en-US" sz="920" dirty="0"/>
          </a:p>
          <a:p>
            <a:pPr marL="0" indent="0" algn="ctr">
              <a:buNone/>
            </a:pPr>
            <a:r>
              <a:rPr lang="en-US" sz="920" b="1" dirty="0">
                <a:solidFill>
                  <a:srgbClr val="6D5BD0"/>
                </a:solidFill>
                <a:latin typeface="Aptos" pitchFamily="34" charset="0"/>
                <a:ea typeface="Aptos" pitchFamily="34" charset="-122"/>
                <a:cs typeface="Aptos" pitchFamily="34" charset="-120"/>
              </a:rPr>
              <a:t>Choice Behavior</a:t>
            </a:r>
            <a:endParaRPr lang="en-US" sz="920" dirty="0"/>
          </a:p>
          <a:p>
            <a:pPr marL="0" indent="0" algn="ctr">
              <a:buNone/>
            </a:pPr>
            <a:r>
              <a:rPr lang="en-US" sz="920" b="1" dirty="0">
                <a:solidFill>
                  <a:srgbClr val="6D5BD0"/>
                </a:solidFill>
                <a:latin typeface="Aptos" pitchFamily="34" charset="0"/>
                <a:ea typeface="Aptos" pitchFamily="34" charset="-122"/>
                <a:cs typeface="Aptos" pitchFamily="34" charset="-120"/>
              </a:rPr>
              <a:t>What behavior shifted?</a:t>
            </a:r>
            <a:endParaRPr lang="en-US" sz="920" dirty="0"/>
          </a:p>
        </p:txBody>
      </p:sp>
      <p:sp>
        <p:nvSpPr>
          <p:cNvPr id="13" name="Text 11"/>
          <p:cNvSpPr/>
          <p:nvPr/>
        </p:nvSpPr>
        <p:spPr>
          <a:xfrm>
            <a:off x="6638544" y="950976"/>
            <a:ext cx="1691640" cy="1051560"/>
          </a:xfrm>
          <a:prstGeom prst="roundRect">
            <a:avLst>
              <a:gd name="adj" fmla="val 6957"/>
            </a:avLst>
          </a:prstGeom>
          <a:solidFill>
            <a:srgbClr val="FFF4E6"/>
          </a:solidFill>
          <a:ln w="12700">
            <a:solidFill>
              <a:srgbClr val="E4B47C"/>
            </a:solidFill>
          </a:ln>
        </p:spPr>
        <p:txBody>
          <a:bodyPr wrap="square" lIns="762" tIns="762" rIns="762" bIns="762" rtlCol="0" anchor="ctr">
            <a:normAutofit/>
          </a:bodyPr>
          <a:lstStyle/>
          <a:p>
            <a:pPr marL="0" indent="0" algn="ctr">
              <a:buNone/>
            </a:pPr>
            <a:r>
              <a:rPr lang="en-US" sz="920" b="1" dirty="0">
                <a:solidFill>
                  <a:srgbClr val="C76B29"/>
                </a:solidFill>
                <a:latin typeface="Aptos" pitchFamily="34" charset="0"/>
                <a:ea typeface="Aptos" pitchFamily="34" charset="-122"/>
                <a:cs typeface="Aptos" pitchFamily="34" charset="-120"/>
              </a:rPr>
              <a:t>Pathway /</a:t>
            </a:r>
            <a:endParaRPr lang="en-US" sz="920" dirty="0"/>
          </a:p>
          <a:p>
            <a:pPr marL="0" indent="0" algn="ctr">
              <a:buNone/>
            </a:pPr>
            <a:r>
              <a:rPr lang="en-US" sz="920" b="1" dirty="0">
                <a:solidFill>
                  <a:srgbClr val="C76B29"/>
                </a:solidFill>
                <a:latin typeface="Aptos" pitchFamily="34" charset="0"/>
                <a:ea typeface="Aptos" pitchFamily="34" charset="-122"/>
                <a:cs typeface="Aptos" pitchFamily="34" charset="-120"/>
              </a:rPr>
              <a:t>Mediation</a:t>
            </a:r>
            <a:endParaRPr lang="en-US" sz="920" dirty="0"/>
          </a:p>
          <a:p>
            <a:pPr marL="0" indent="0" algn="ctr">
              <a:buNone/>
            </a:pPr>
            <a:r>
              <a:rPr lang="en-US" sz="920" b="1" dirty="0">
                <a:solidFill>
                  <a:srgbClr val="C76B29"/>
                </a:solidFill>
                <a:latin typeface="Aptos" pitchFamily="34" charset="0"/>
                <a:ea typeface="Aptos" pitchFamily="34" charset="-122"/>
                <a:cs typeface="Aptos" pitchFamily="34" charset="-120"/>
              </a:rPr>
              <a:t>How did it work?</a:t>
            </a:r>
            <a:endParaRPr lang="en-US" sz="920" dirty="0"/>
          </a:p>
        </p:txBody>
      </p:sp>
      <p:sp>
        <p:nvSpPr>
          <p:cNvPr id="14" name="Text 12"/>
          <p:cNvSpPr/>
          <p:nvPr/>
        </p:nvSpPr>
        <p:spPr>
          <a:xfrm>
            <a:off x="8439912" y="950976"/>
            <a:ext cx="1691640" cy="1051560"/>
          </a:xfrm>
          <a:prstGeom prst="roundRect">
            <a:avLst>
              <a:gd name="adj" fmla="val 6957"/>
            </a:avLst>
          </a:prstGeom>
          <a:solidFill>
            <a:srgbClr val="EAF7EA"/>
          </a:solidFill>
          <a:ln w="12700">
            <a:solidFill>
              <a:srgbClr val="B4D7B5"/>
            </a:solidFill>
          </a:ln>
        </p:spPr>
        <p:txBody>
          <a:bodyPr wrap="square" lIns="762" tIns="762" rIns="762" bIns="762" rtlCol="0" anchor="ctr">
            <a:normAutofit/>
          </a:bodyPr>
          <a:lstStyle/>
          <a:p>
            <a:pPr marL="0" indent="0" algn="ctr">
              <a:buNone/>
            </a:pPr>
            <a:r>
              <a:rPr lang="en-US" sz="920" b="1" dirty="0">
                <a:solidFill>
                  <a:srgbClr val="2E7D32"/>
                </a:solidFill>
                <a:latin typeface="Aptos" pitchFamily="34" charset="0"/>
                <a:ea typeface="Aptos" pitchFamily="34" charset="-122"/>
                <a:cs typeface="Aptos" pitchFamily="34" charset="-120"/>
              </a:rPr>
              <a:t>Effect</a:t>
            </a:r>
            <a:endParaRPr lang="en-US" sz="920" dirty="0"/>
          </a:p>
          <a:p>
            <a:pPr marL="0" indent="0" algn="ctr">
              <a:buNone/>
            </a:pPr>
            <a:r>
              <a:rPr lang="en-US" sz="920" b="1" dirty="0">
                <a:solidFill>
                  <a:srgbClr val="2E7D32"/>
                </a:solidFill>
                <a:latin typeface="Aptos" pitchFamily="34" charset="0"/>
                <a:ea typeface="Aptos" pitchFamily="34" charset="-122"/>
                <a:cs typeface="Aptos" pitchFamily="34" charset="-120"/>
              </a:rPr>
              <a:t>Heterogeneity</a:t>
            </a:r>
            <a:endParaRPr lang="en-US" sz="920" dirty="0"/>
          </a:p>
          <a:p>
            <a:pPr marL="0" indent="0" algn="ctr">
              <a:buNone/>
            </a:pPr>
            <a:r>
              <a:rPr lang="en-US" sz="920" b="1" dirty="0">
                <a:solidFill>
                  <a:srgbClr val="2E7D32"/>
                </a:solidFill>
                <a:latin typeface="Aptos" pitchFamily="34" charset="0"/>
                <a:ea typeface="Aptos" pitchFamily="34" charset="-122"/>
                <a:cs typeface="Aptos" pitchFamily="34" charset="-120"/>
              </a:rPr>
              <a:t>Where / for whom?</a:t>
            </a:r>
            <a:endParaRPr lang="en-US" sz="920" dirty="0"/>
          </a:p>
        </p:txBody>
      </p:sp>
      <p:sp>
        <p:nvSpPr>
          <p:cNvPr id="15" name="Text 13"/>
          <p:cNvSpPr/>
          <p:nvPr/>
        </p:nvSpPr>
        <p:spPr>
          <a:xfrm>
            <a:off x="10241280" y="950976"/>
            <a:ext cx="1691640" cy="1051560"/>
          </a:xfrm>
          <a:prstGeom prst="roundRect">
            <a:avLst>
              <a:gd name="adj" fmla="val 6957"/>
            </a:avLst>
          </a:prstGeom>
          <a:solidFill>
            <a:srgbClr val="F1F3F6"/>
          </a:solidFill>
          <a:ln w="12700">
            <a:solidFill>
              <a:srgbClr val="C6CDD8"/>
            </a:solidFill>
          </a:ln>
        </p:spPr>
        <p:txBody>
          <a:bodyPr wrap="square" lIns="762" tIns="762" rIns="762" bIns="762" rtlCol="0" anchor="ctr">
            <a:normAutofit/>
          </a:bodyPr>
          <a:lstStyle/>
          <a:p>
            <a:pPr marL="0" indent="0" algn="ctr">
              <a:buNone/>
            </a:pPr>
            <a:r>
              <a:rPr lang="en-US" sz="920" b="1" dirty="0">
                <a:solidFill>
                  <a:srgbClr val="17324D"/>
                </a:solidFill>
                <a:latin typeface="Aptos" pitchFamily="34" charset="0"/>
                <a:ea typeface="Aptos" pitchFamily="34" charset="-122"/>
                <a:cs typeface="Aptos" pitchFamily="34" charset="-120"/>
              </a:rPr>
              <a:t>Decision</a:t>
            </a:r>
            <a:endParaRPr lang="en-US" sz="920" dirty="0"/>
          </a:p>
          <a:p>
            <a:pPr marL="0" indent="0" algn="ctr">
              <a:buNone/>
            </a:pPr>
            <a:r>
              <a:rPr lang="en-US" sz="920" b="1" dirty="0">
                <a:solidFill>
                  <a:srgbClr val="17324D"/>
                </a:solidFill>
                <a:latin typeface="Aptos" pitchFamily="34" charset="0"/>
                <a:ea typeface="Aptos" pitchFamily="34" charset="-122"/>
                <a:cs typeface="Aptos" pitchFamily="34" charset="-120"/>
              </a:rPr>
              <a:t>Optimization</a:t>
            </a:r>
            <a:endParaRPr lang="en-US" sz="920" dirty="0"/>
          </a:p>
          <a:p>
            <a:pPr marL="0" indent="0" algn="ctr">
              <a:buNone/>
            </a:pPr>
            <a:r>
              <a:rPr lang="en-US" sz="920" b="1" dirty="0">
                <a:solidFill>
                  <a:srgbClr val="17324D"/>
                </a:solidFill>
                <a:latin typeface="Aptos" pitchFamily="34" charset="0"/>
                <a:ea typeface="Aptos" pitchFamily="34" charset="-122"/>
                <a:cs typeface="Aptos" pitchFamily="34" charset="-120"/>
              </a:rPr>
              <a:t>What should we do next?</a:t>
            </a:r>
            <a:endParaRPr lang="en-US" sz="920" dirty="0"/>
          </a:p>
        </p:txBody>
      </p:sp>
      <p:sp>
        <p:nvSpPr>
          <p:cNvPr id="16" name="Text 14"/>
          <p:cNvSpPr/>
          <p:nvPr/>
        </p:nvSpPr>
        <p:spPr>
          <a:xfrm>
            <a:off x="1234440" y="2286000"/>
            <a:ext cx="10698480" cy="219456"/>
          </a:xfrm>
          <a:prstGeom prst="rect">
            <a:avLst/>
          </a:prstGeom>
          <a:solidFill>
            <a:srgbClr val="F8FAFE"/>
          </a:solidFill>
          <a:ln>
            <a:solidFill>
              <a:srgbClr val="F8FAFE">
                <a:alpha val="0"/>
              </a:srgbClr>
            </a:solidFill>
          </a:ln>
        </p:spPr>
        <p:txBody>
          <a:bodyPr wrap="square" lIns="762" tIns="762" rIns="762" bIns="762" rtlCol="0" anchor="ctr">
            <a:normAutofit/>
          </a:bodyPr>
          <a:lstStyle/>
          <a:p>
            <a:pPr marL="0" indent="0" algn="l">
              <a:buNone/>
            </a:pPr>
            <a:r>
              <a:rPr lang="en-US" sz="1100" b="1" dirty="0">
                <a:solidFill>
                  <a:srgbClr val="2D6CDF"/>
                </a:solidFill>
                <a:latin typeface="Aptos" pitchFamily="34" charset="0"/>
                <a:ea typeface="Aptos" pitchFamily="34" charset="-122"/>
                <a:cs typeface="Aptos" pitchFamily="34" charset="-120"/>
              </a:rPr>
              <a:t>Example project cases can span multiple capabilities</a:t>
            </a:r>
            <a:endParaRPr lang="en-US" sz="1100" dirty="0"/>
          </a:p>
        </p:txBody>
      </p:sp>
      <p:sp>
        <p:nvSpPr>
          <p:cNvPr id="17" name="Text 15"/>
          <p:cNvSpPr/>
          <p:nvPr/>
        </p:nvSpPr>
        <p:spPr>
          <a:xfrm>
            <a:off x="1234440" y="2615184"/>
            <a:ext cx="3090672" cy="603504"/>
          </a:xfrm>
          <a:prstGeom prst="roundRect">
            <a:avLst>
              <a:gd name="adj" fmla="val 12121"/>
            </a:avLst>
          </a:prstGeom>
          <a:solidFill>
            <a:srgbClr val="E6F5F2"/>
          </a:solidFill>
          <a:ln w="12700">
            <a:solidFill>
              <a:srgbClr val="9CCFC5"/>
            </a:solidFill>
          </a:ln>
        </p:spPr>
        <p:txBody>
          <a:bodyPr wrap="square" lIns="762" tIns="762" rIns="762" bIns="762" rtlCol="0" anchor="ctr">
            <a:normAutofit/>
          </a:bodyPr>
          <a:lstStyle/>
          <a:p>
            <a:pPr marL="0" indent="0" algn="ctr">
              <a:buNone/>
            </a:pPr>
            <a:r>
              <a:rPr lang="en-US" sz="920" b="1" dirty="0">
                <a:solidFill>
                  <a:srgbClr val="0F766E"/>
                </a:solidFill>
                <a:latin typeface="Aptos" pitchFamily="34" charset="0"/>
                <a:ea typeface="Aptos" pitchFamily="34" charset="-122"/>
                <a:cs typeface="Aptos" pitchFamily="34" charset="-120"/>
              </a:rPr>
              <a:t>Product Launch Measurement</a:t>
            </a:r>
            <a:endParaRPr lang="en-US" sz="920" dirty="0"/>
          </a:p>
          <a:p>
            <a:pPr marL="0" indent="0" algn="ctr">
              <a:buNone/>
            </a:pPr>
            <a:r>
              <a:rPr lang="en-US" sz="920" b="1" dirty="0">
                <a:solidFill>
                  <a:srgbClr val="0F766E"/>
                </a:solidFill>
                <a:latin typeface="Aptos" pitchFamily="34" charset="0"/>
                <a:ea typeface="Aptos" pitchFamily="34" charset="-122"/>
                <a:cs typeface="Aptos" pitchFamily="34" charset="-120"/>
              </a:rPr>
              <a:t>impact + demand shift + decision</a:t>
            </a:r>
            <a:endParaRPr lang="en-US" sz="920" dirty="0"/>
          </a:p>
        </p:txBody>
      </p:sp>
      <p:sp>
        <p:nvSpPr>
          <p:cNvPr id="18" name="Text 16"/>
          <p:cNvSpPr/>
          <p:nvPr/>
        </p:nvSpPr>
        <p:spPr>
          <a:xfrm>
            <a:off x="4489704" y="2615184"/>
            <a:ext cx="3090672" cy="603504"/>
          </a:xfrm>
          <a:prstGeom prst="roundRect">
            <a:avLst>
              <a:gd name="adj" fmla="val 12121"/>
            </a:avLst>
          </a:prstGeom>
          <a:solidFill>
            <a:srgbClr val="E8F0FF"/>
          </a:solidFill>
          <a:ln w="12700">
            <a:solidFill>
              <a:srgbClr val="AFC6F6"/>
            </a:solidFill>
          </a:ln>
        </p:spPr>
        <p:txBody>
          <a:bodyPr wrap="square" lIns="762" tIns="762" rIns="762" bIns="762" rtlCol="0" anchor="ctr">
            <a:normAutofit/>
          </a:bodyPr>
          <a:lstStyle/>
          <a:p>
            <a:pPr marL="0" indent="0" algn="ctr">
              <a:buNone/>
            </a:pPr>
            <a:r>
              <a:rPr lang="en-US" sz="920" b="1" dirty="0">
                <a:solidFill>
                  <a:srgbClr val="2D6CDF"/>
                </a:solidFill>
                <a:latin typeface="Aptos" pitchFamily="34" charset="0"/>
                <a:ea typeface="Aptos" pitchFamily="34" charset="-122"/>
                <a:cs typeface="Aptos" pitchFamily="34" charset="-120"/>
              </a:rPr>
              <a:t>Sales Growth Decomposition / MVM</a:t>
            </a:r>
            <a:endParaRPr lang="en-US" sz="920" dirty="0"/>
          </a:p>
          <a:p>
            <a:pPr marL="0" indent="0" algn="ctr">
              <a:buNone/>
            </a:pPr>
            <a:r>
              <a:rPr lang="en-US" sz="920" b="1" dirty="0">
                <a:solidFill>
                  <a:srgbClr val="2D6CDF"/>
                </a:solidFill>
                <a:latin typeface="Aptos" pitchFamily="34" charset="0"/>
                <a:ea typeface="Aptos" pitchFamily="34" charset="-122"/>
                <a:cs typeface="Aptos" pitchFamily="34" charset="-120"/>
              </a:rPr>
              <a:t>root cause + pathway</a:t>
            </a:r>
            <a:endParaRPr lang="en-US" sz="920" dirty="0"/>
          </a:p>
        </p:txBody>
      </p:sp>
      <p:sp>
        <p:nvSpPr>
          <p:cNvPr id="19" name="Text 17"/>
          <p:cNvSpPr/>
          <p:nvPr/>
        </p:nvSpPr>
        <p:spPr>
          <a:xfrm>
            <a:off x="7744968" y="2615184"/>
            <a:ext cx="4151376" cy="603504"/>
          </a:xfrm>
          <a:prstGeom prst="roundRect">
            <a:avLst>
              <a:gd name="adj" fmla="val 12121"/>
            </a:avLst>
          </a:prstGeom>
          <a:solidFill>
            <a:srgbClr val="EAF7EA"/>
          </a:solidFill>
          <a:ln w="12700">
            <a:solidFill>
              <a:srgbClr val="B4D7B5"/>
            </a:solidFill>
          </a:ln>
        </p:spPr>
        <p:txBody>
          <a:bodyPr wrap="square" lIns="762" tIns="762" rIns="762" bIns="762" rtlCol="0" anchor="ctr">
            <a:normAutofit/>
          </a:bodyPr>
          <a:lstStyle/>
          <a:p>
            <a:pPr marL="0" indent="0" algn="ctr">
              <a:buNone/>
            </a:pPr>
            <a:r>
              <a:rPr lang="en-US" sz="920" b="1" dirty="0">
                <a:solidFill>
                  <a:srgbClr val="2E7D32"/>
                </a:solidFill>
                <a:latin typeface="Aptos" pitchFamily="34" charset="0"/>
                <a:ea typeface="Aptos" pitchFamily="34" charset="-122"/>
                <a:cs typeface="Aptos" pitchFamily="34" charset="-120"/>
              </a:rPr>
              <a:t>Campaign / Coupon Incrementality</a:t>
            </a:r>
            <a:endParaRPr lang="en-US" sz="920" dirty="0"/>
          </a:p>
          <a:p>
            <a:pPr marL="0" indent="0" algn="ctr">
              <a:buNone/>
            </a:pPr>
            <a:r>
              <a:rPr lang="en-US" sz="920" b="1" dirty="0">
                <a:solidFill>
                  <a:srgbClr val="2E7D32"/>
                </a:solidFill>
                <a:latin typeface="Aptos" pitchFamily="34" charset="0"/>
                <a:ea typeface="Aptos" pitchFamily="34" charset="-122"/>
                <a:cs typeface="Aptos" pitchFamily="34" charset="-120"/>
              </a:rPr>
              <a:t>impact + heterogeneity + optimization</a:t>
            </a:r>
            <a:endParaRPr lang="en-US" sz="920" dirty="0"/>
          </a:p>
        </p:txBody>
      </p:sp>
      <p:sp>
        <p:nvSpPr>
          <p:cNvPr id="20" name="Text 18"/>
          <p:cNvSpPr/>
          <p:nvPr/>
        </p:nvSpPr>
        <p:spPr>
          <a:xfrm>
            <a:off x="1234440" y="3438144"/>
            <a:ext cx="3090672" cy="603504"/>
          </a:xfrm>
          <a:prstGeom prst="roundRect">
            <a:avLst>
              <a:gd name="adj" fmla="val 12121"/>
            </a:avLst>
          </a:prstGeom>
          <a:solidFill>
            <a:srgbClr val="F0EDFF"/>
          </a:solidFill>
          <a:ln w="12700">
            <a:solidFill>
              <a:srgbClr val="BFB7ED"/>
            </a:solidFill>
          </a:ln>
        </p:spPr>
        <p:txBody>
          <a:bodyPr wrap="square" lIns="762" tIns="762" rIns="762" bIns="762" rtlCol="0" anchor="ctr">
            <a:normAutofit/>
          </a:bodyPr>
          <a:lstStyle/>
          <a:p>
            <a:pPr marL="0" indent="0" algn="ctr">
              <a:buNone/>
            </a:pPr>
            <a:r>
              <a:rPr lang="en-US" sz="920" b="1" dirty="0">
                <a:solidFill>
                  <a:srgbClr val="6D5BD0"/>
                </a:solidFill>
                <a:latin typeface="Aptos" pitchFamily="34" charset="0"/>
                <a:ea typeface="Aptos" pitchFamily="34" charset="-122"/>
                <a:cs typeface="Aptos" pitchFamily="34" charset="-120"/>
              </a:rPr>
              <a:t>Traffic Decline / Anomaly Diagnosis</a:t>
            </a:r>
            <a:endParaRPr lang="en-US" sz="920" dirty="0"/>
          </a:p>
          <a:p>
            <a:pPr marL="0" indent="0" algn="ctr">
              <a:buNone/>
            </a:pPr>
            <a:r>
              <a:rPr lang="en-US" sz="920" b="1" dirty="0">
                <a:solidFill>
                  <a:srgbClr val="6D5BD0"/>
                </a:solidFill>
                <a:latin typeface="Aptos" pitchFamily="34" charset="0"/>
                <a:ea typeface="Aptos" pitchFamily="34" charset="-122"/>
                <a:cs typeface="Aptos" pitchFamily="34" charset="-120"/>
              </a:rPr>
              <a:t>root cause + demand shift</a:t>
            </a:r>
            <a:endParaRPr lang="en-US" sz="920" dirty="0"/>
          </a:p>
        </p:txBody>
      </p:sp>
      <p:sp>
        <p:nvSpPr>
          <p:cNvPr id="21" name="Text 19"/>
          <p:cNvSpPr/>
          <p:nvPr/>
        </p:nvSpPr>
        <p:spPr>
          <a:xfrm>
            <a:off x="4489704" y="3438144"/>
            <a:ext cx="3090672" cy="603504"/>
          </a:xfrm>
          <a:prstGeom prst="roundRect">
            <a:avLst>
              <a:gd name="adj" fmla="val 12121"/>
            </a:avLst>
          </a:prstGeom>
          <a:solidFill>
            <a:srgbClr val="FFF4E6"/>
          </a:solidFill>
          <a:ln w="12700">
            <a:solidFill>
              <a:srgbClr val="E4B47C"/>
            </a:solidFill>
          </a:ln>
        </p:spPr>
        <p:txBody>
          <a:bodyPr wrap="square" lIns="762" tIns="762" rIns="762" bIns="762" rtlCol="0" anchor="ctr">
            <a:normAutofit/>
          </a:bodyPr>
          <a:lstStyle/>
          <a:p>
            <a:pPr marL="0" indent="0" algn="ctr">
              <a:buNone/>
            </a:pPr>
            <a:r>
              <a:rPr lang="en-US" sz="920" b="1" dirty="0">
                <a:solidFill>
                  <a:srgbClr val="C76B29"/>
                </a:solidFill>
                <a:latin typeface="Aptos" pitchFamily="34" charset="0"/>
                <a:ea typeface="Aptos" pitchFamily="34" charset="-122"/>
                <a:cs typeface="Aptos" pitchFamily="34" charset="-120"/>
              </a:rPr>
              <a:t>Menu / Category Demand Shift</a:t>
            </a:r>
            <a:endParaRPr lang="en-US" sz="920" dirty="0"/>
          </a:p>
          <a:p>
            <a:pPr marL="0" indent="0" algn="ctr">
              <a:buNone/>
            </a:pPr>
            <a:r>
              <a:rPr lang="en-US" sz="920" b="1" dirty="0">
                <a:solidFill>
                  <a:srgbClr val="C76B29"/>
                </a:solidFill>
                <a:latin typeface="Aptos" pitchFamily="34" charset="0"/>
                <a:ea typeface="Aptos" pitchFamily="34" charset="-122"/>
                <a:cs typeface="Aptos" pitchFamily="34" charset="-120"/>
              </a:rPr>
              <a:t>choice behavior + mediation</a:t>
            </a:r>
            <a:endParaRPr lang="en-US" sz="920" dirty="0"/>
          </a:p>
        </p:txBody>
      </p:sp>
      <p:sp>
        <p:nvSpPr>
          <p:cNvPr id="22" name="Text 20"/>
          <p:cNvSpPr/>
          <p:nvPr/>
        </p:nvSpPr>
        <p:spPr>
          <a:xfrm>
            <a:off x="7744968" y="3438144"/>
            <a:ext cx="4151376" cy="603504"/>
          </a:xfrm>
          <a:prstGeom prst="roundRect">
            <a:avLst>
              <a:gd name="adj" fmla="val 12121"/>
            </a:avLst>
          </a:prstGeom>
          <a:solidFill>
            <a:srgbClr val="F1F3F6"/>
          </a:solidFill>
          <a:ln w="12700">
            <a:solidFill>
              <a:srgbClr val="C6CDD8"/>
            </a:solidFill>
          </a:ln>
        </p:spPr>
        <p:txBody>
          <a:bodyPr wrap="square" lIns="762" tIns="762" rIns="762" bIns="762" rtlCol="0" anchor="ctr">
            <a:normAutofit/>
          </a:bodyPr>
          <a:lstStyle/>
          <a:p>
            <a:pPr marL="0" indent="0" algn="ctr">
              <a:buNone/>
            </a:pPr>
            <a:r>
              <a:rPr lang="en-US" sz="920" b="1" dirty="0">
                <a:solidFill>
                  <a:srgbClr val="17324D"/>
                </a:solidFill>
                <a:latin typeface="Aptos" pitchFamily="34" charset="0"/>
                <a:ea typeface="Aptos" pitchFamily="34" charset="-122"/>
                <a:cs typeface="Aptos" pitchFamily="34" charset="-120"/>
              </a:rPr>
              <a:t>Customer / Store Targeting &amp; Rollout</a:t>
            </a:r>
            <a:endParaRPr lang="en-US" sz="920" dirty="0"/>
          </a:p>
          <a:p>
            <a:pPr marL="0" indent="0" algn="ctr">
              <a:buNone/>
            </a:pPr>
            <a:r>
              <a:rPr lang="en-US" sz="920" b="1" dirty="0">
                <a:solidFill>
                  <a:srgbClr val="17324D"/>
                </a:solidFill>
                <a:latin typeface="Aptos" pitchFamily="34" charset="0"/>
                <a:ea typeface="Aptos" pitchFamily="34" charset="-122"/>
                <a:cs typeface="Aptos" pitchFamily="34" charset="-120"/>
              </a:rPr>
              <a:t>heterogeneity + decision optimization</a:t>
            </a:r>
            <a:endParaRPr lang="en-US" sz="920" dirty="0"/>
          </a:p>
        </p:txBody>
      </p:sp>
      <p:sp>
        <p:nvSpPr>
          <p:cNvPr id="23" name="Text 21"/>
          <p:cNvSpPr/>
          <p:nvPr/>
        </p:nvSpPr>
        <p:spPr>
          <a:xfrm>
            <a:off x="1234440" y="4517136"/>
            <a:ext cx="10698480" cy="219456"/>
          </a:xfrm>
          <a:prstGeom prst="rect">
            <a:avLst/>
          </a:prstGeom>
          <a:solidFill>
            <a:srgbClr val="FCFAF7"/>
          </a:solidFill>
          <a:ln>
            <a:solidFill>
              <a:srgbClr val="FCFAF7">
                <a:alpha val="0"/>
              </a:srgbClr>
            </a:solidFill>
          </a:ln>
        </p:spPr>
        <p:txBody>
          <a:bodyPr wrap="square" lIns="762" tIns="762" rIns="762" bIns="762" rtlCol="0" anchor="ctr">
            <a:normAutofit/>
          </a:bodyPr>
          <a:lstStyle/>
          <a:p>
            <a:pPr marL="0" indent="0" algn="l">
              <a:buNone/>
            </a:pPr>
            <a:r>
              <a:rPr lang="en-US" sz="1100" b="1" dirty="0">
                <a:solidFill>
                  <a:srgbClr val="C76B29"/>
                </a:solidFill>
                <a:latin typeface="Aptos" pitchFamily="34" charset="0"/>
                <a:ea typeface="Aptos" pitchFamily="34" charset="-122"/>
                <a:cs typeface="Aptos" pitchFamily="34" charset="-120"/>
              </a:rPr>
              <a:t>Reusable causal method modules — shared across all capabilities and cases</a:t>
            </a:r>
            <a:endParaRPr lang="en-US" sz="1100" dirty="0"/>
          </a:p>
        </p:txBody>
      </p:sp>
      <p:sp>
        <p:nvSpPr>
          <p:cNvPr id="24" name="Text 22"/>
          <p:cNvSpPr/>
          <p:nvPr/>
        </p:nvSpPr>
        <p:spPr>
          <a:xfrm>
            <a:off x="1234440" y="4919472"/>
            <a:ext cx="1691640" cy="384048"/>
          </a:xfrm>
          <a:prstGeom prst="roundRect">
            <a:avLst>
              <a:gd name="adj" fmla="val 19048"/>
            </a:avLst>
          </a:prstGeom>
          <a:solidFill>
            <a:srgbClr val="FFF7ED"/>
          </a:solidFill>
          <a:ln w="12700">
            <a:solidFill>
              <a:srgbClr val="E4B47C"/>
            </a:solidFill>
          </a:ln>
        </p:spPr>
        <p:txBody>
          <a:bodyPr wrap="square" lIns="508" tIns="508" rIns="508" bIns="508" rtlCol="0" anchor="ctr">
            <a:normAutofit/>
          </a:bodyPr>
          <a:lstStyle/>
          <a:p>
            <a:pPr marL="0" indent="0" algn="ctr">
              <a:buNone/>
            </a:pPr>
            <a:r>
              <a:rPr lang="en-US" sz="780" b="1" dirty="0">
                <a:solidFill>
                  <a:srgbClr val="C76B29"/>
                </a:solidFill>
                <a:latin typeface="Aptos" pitchFamily="34" charset="0"/>
                <a:ea typeface="Aptos" pitchFamily="34" charset="-122"/>
                <a:cs typeface="Aptos" pitchFamily="34" charset="-120"/>
              </a:rPr>
              <a:t>Causal Design</a:t>
            </a:r>
            <a:endParaRPr lang="en-US" sz="780" dirty="0"/>
          </a:p>
          <a:p>
            <a:pPr marL="0" indent="0" algn="ctr">
              <a:buNone/>
            </a:pPr>
            <a:r>
              <a:rPr lang="en-US" sz="780" b="1" dirty="0">
                <a:solidFill>
                  <a:srgbClr val="C76B29"/>
                </a:solidFill>
                <a:latin typeface="Aptos" pitchFamily="34" charset="0"/>
                <a:ea typeface="Aptos" pitchFamily="34" charset="-122"/>
                <a:cs typeface="Aptos" pitchFamily="34" charset="-120"/>
              </a:rPr>
              <a:t>Intake</a:t>
            </a:r>
            <a:endParaRPr lang="en-US" sz="780" dirty="0"/>
          </a:p>
        </p:txBody>
      </p:sp>
      <p:sp>
        <p:nvSpPr>
          <p:cNvPr id="25" name="Text 23"/>
          <p:cNvSpPr/>
          <p:nvPr/>
        </p:nvSpPr>
        <p:spPr>
          <a:xfrm>
            <a:off x="3035808" y="4919472"/>
            <a:ext cx="1691640" cy="384048"/>
          </a:xfrm>
          <a:prstGeom prst="roundRect">
            <a:avLst>
              <a:gd name="adj" fmla="val 19048"/>
            </a:avLst>
          </a:prstGeom>
          <a:solidFill>
            <a:srgbClr val="E6F5F2"/>
          </a:solidFill>
          <a:ln w="12700">
            <a:solidFill>
              <a:srgbClr val="9CCFC5"/>
            </a:solidFill>
          </a:ln>
        </p:spPr>
        <p:txBody>
          <a:bodyPr wrap="square" lIns="508" tIns="508" rIns="508" bIns="508" rtlCol="0" anchor="ctr">
            <a:normAutofit/>
          </a:bodyPr>
          <a:lstStyle/>
          <a:p>
            <a:pPr marL="0" indent="0" algn="ctr">
              <a:buNone/>
            </a:pPr>
            <a:r>
              <a:rPr lang="en-US" sz="780" b="1" dirty="0">
                <a:solidFill>
                  <a:srgbClr val="0F766E"/>
                </a:solidFill>
                <a:latin typeface="Aptos" pitchFamily="34" charset="0"/>
                <a:ea typeface="Aptos" pitchFamily="34" charset="-122"/>
                <a:cs typeface="Aptos" pitchFamily="34" charset="-120"/>
              </a:rPr>
              <a:t>Experimentation</a:t>
            </a:r>
            <a:endParaRPr lang="en-US" sz="780" dirty="0"/>
          </a:p>
          <a:p>
            <a:pPr marL="0" indent="0" algn="ctr">
              <a:buNone/>
            </a:pPr>
            <a:r>
              <a:rPr lang="en-US" sz="780" b="1" dirty="0">
                <a:solidFill>
                  <a:srgbClr val="0F766E"/>
                </a:solidFill>
                <a:latin typeface="Aptos" pitchFamily="34" charset="0"/>
                <a:ea typeface="Aptos" pitchFamily="34" charset="-122"/>
                <a:cs typeface="Aptos" pitchFamily="34" charset="-120"/>
              </a:rPr>
              <a:t>A/B · geo · switchback</a:t>
            </a:r>
            <a:endParaRPr lang="en-US" sz="780" dirty="0"/>
          </a:p>
        </p:txBody>
      </p:sp>
      <p:sp>
        <p:nvSpPr>
          <p:cNvPr id="26" name="Text 24"/>
          <p:cNvSpPr/>
          <p:nvPr/>
        </p:nvSpPr>
        <p:spPr>
          <a:xfrm>
            <a:off x="4837176" y="4919472"/>
            <a:ext cx="1691640" cy="384048"/>
          </a:xfrm>
          <a:prstGeom prst="roundRect">
            <a:avLst>
              <a:gd name="adj" fmla="val 19048"/>
            </a:avLst>
          </a:prstGeom>
          <a:solidFill>
            <a:srgbClr val="E8F0FF"/>
          </a:solidFill>
          <a:ln w="12700">
            <a:solidFill>
              <a:srgbClr val="AFC6F6"/>
            </a:solidFill>
          </a:ln>
        </p:spPr>
        <p:txBody>
          <a:bodyPr wrap="square" lIns="508" tIns="508" rIns="508" bIns="508" rtlCol="0" anchor="ctr">
            <a:normAutofit/>
          </a:bodyPr>
          <a:lstStyle/>
          <a:p>
            <a:pPr marL="0" indent="0" algn="ctr">
              <a:buNone/>
            </a:pPr>
            <a:r>
              <a:rPr lang="en-US" sz="780" b="1" dirty="0">
                <a:solidFill>
                  <a:srgbClr val="2D6CDF"/>
                </a:solidFill>
                <a:latin typeface="Aptos" pitchFamily="34" charset="0"/>
                <a:ea typeface="Aptos" pitchFamily="34" charset="-122"/>
                <a:cs typeface="Aptos" pitchFamily="34" charset="-120"/>
              </a:rPr>
              <a:t>Quasi-Experiments</a:t>
            </a:r>
            <a:endParaRPr lang="en-US" sz="780" dirty="0"/>
          </a:p>
          <a:p>
            <a:pPr marL="0" indent="0" algn="ctr">
              <a:buNone/>
            </a:pPr>
            <a:r>
              <a:rPr lang="en-US" sz="780" b="1" dirty="0">
                <a:solidFill>
                  <a:srgbClr val="2D6CDF"/>
                </a:solidFill>
                <a:latin typeface="Aptos" pitchFamily="34" charset="0"/>
                <a:ea typeface="Aptos" pitchFamily="34" charset="-122"/>
                <a:cs typeface="Aptos" pitchFamily="34" charset="-120"/>
              </a:rPr>
              <a:t>DiD · synthetic control</a:t>
            </a:r>
            <a:endParaRPr lang="en-US" sz="780" dirty="0"/>
          </a:p>
        </p:txBody>
      </p:sp>
      <p:sp>
        <p:nvSpPr>
          <p:cNvPr id="27" name="Text 25"/>
          <p:cNvSpPr/>
          <p:nvPr/>
        </p:nvSpPr>
        <p:spPr>
          <a:xfrm>
            <a:off x="6638544" y="4919472"/>
            <a:ext cx="1691640" cy="384048"/>
          </a:xfrm>
          <a:prstGeom prst="roundRect">
            <a:avLst>
              <a:gd name="adj" fmla="val 19048"/>
            </a:avLst>
          </a:prstGeom>
          <a:solidFill>
            <a:srgbClr val="F0EDFF"/>
          </a:solidFill>
          <a:ln w="12700">
            <a:solidFill>
              <a:srgbClr val="BFB7ED"/>
            </a:solidFill>
          </a:ln>
        </p:spPr>
        <p:txBody>
          <a:bodyPr wrap="square" lIns="508" tIns="508" rIns="508" bIns="508" rtlCol="0" anchor="ctr">
            <a:normAutofit/>
          </a:bodyPr>
          <a:lstStyle/>
          <a:p>
            <a:pPr marL="0" indent="0" algn="ctr">
              <a:buNone/>
            </a:pPr>
            <a:r>
              <a:rPr lang="en-US" sz="780" b="1" dirty="0">
                <a:solidFill>
                  <a:srgbClr val="6D5BD0"/>
                </a:solidFill>
                <a:latin typeface="Aptos" pitchFamily="34" charset="0"/>
                <a:ea typeface="Aptos" pitchFamily="34" charset="-122"/>
                <a:cs typeface="Aptos" pitchFamily="34" charset="-120"/>
              </a:rPr>
              <a:t>Matching / Weighting</a:t>
            </a:r>
            <a:endParaRPr lang="en-US" sz="780" dirty="0"/>
          </a:p>
          <a:p>
            <a:pPr marL="0" indent="0" algn="ctr">
              <a:buNone/>
            </a:pPr>
            <a:r>
              <a:rPr lang="en-US" sz="780" b="1" dirty="0">
                <a:solidFill>
                  <a:srgbClr val="6D5BD0"/>
                </a:solidFill>
                <a:latin typeface="Aptos" pitchFamily="34" charset="0"/>
                <a:ea typeface="Aptos" pitchFamily="34" charset="-122"/>
                <a:cs typeface="Aptos" pitchFamily="34" charset="-120"/>
              </a:rPr>
              <a:t>PSM · IPW · DR</a:t>
            </a:r>
            <a:endParaRPr lang="en-US" sz="780" dirty="0"/>
          </a:p>
        </p:txBody>
      </p:sp>
      <p:sp>
        <p:nvSpPr>
          <p:cNvPr id="28" name="Text 26"/>
          <p:cNvSpPr/>
          <p:nvPr/>
        </p:nvSpPr>
        <p:spPr>
          <a:xfrm>
            <a:off x="8439912" y="4919472"/>
            <a:ext cx="1691640" cy="384048"/>
          </a:xfrm>
          <a:prstGeom prst="roundRect">
            <a:avLst>
              <a:gd name="adj" fmla="val 19048"/>
            </a:avLst>
          </a:prstGeom>
          <a:solidFill>
            <a:srgbClr val="F1F3F6"/>
          </a:solidFill>
          <a:ln w="12700">
            <a:solidFill>
              <a:srgbClr val="C6CDD8"/>
            </a:solidFill>
          </a:ln>
        </p:spPr>
        <p:txBody>
          <a:bodyPr wrap="square" lIns="508" tIns="508" rIns="508" bIns="508" rtlCol="0" anchor="ctr">
            <a:normAutofit/>
          </a:bodyPr>
          <a:lstStyle/>
          <a:p>
            <a:pPr marL="0" indent="0" algn="ctr">
              <a:buNone/>
            </a:pPr>
            <a:r>
              <a:rPr lang="en-US" sz="780" b="1" dirty="0">
                <a:solidFill>
                  <a:srgbClr val="17324D"/>
                </a:solidFill>
                <a:latin typeface="Aptos" pitchFamily="34" charset="0"/>
                <a:ea typeface="Aptos" pitchFamily="34" charset="-122"/>
                <a:cs typeface="Aptos" pitchFamily="34" charset="-120"/>
              </a:rPr>
              <a:t>DAG / SCM</a:t>
            </a:r>
            <a:endParaRPr lang="en-US" sz="780" dirty="0"/>
          </a:p>
          <a:p>
            <a:pPr marL="0" indent="0" algn="ctr">
              <a:buNone/>
            </a:pPr>
            <a:r>
              <a:rPr lang="en-US" sz="780" b="1" dirty="0">
                <a:solidFill>
                  <a:srgbClr val="17324D"/>
                </a:solidFill>
                <a:latin typeface="Aptos" pitchFamily="34" charset="0"/>
                <a:ea typeface="Aptos" pitchFamily="34" charset="-122"/>
                <a:cs typeface="Aptos" pitchFamily="34" charset="-120"/>
              </a:rPr>
              <a:t>causal structure</a:t>
            </a:r>
            <a:endParaRPr lang="en-US" sz="780" dirty="0"/>
          </a:p>
        </p:txBody>
      </p:sp>
      <p:sp>
        <p:nvSpPr>
          <p:cNvPr id="29" name="Text 27"/>
          <p:cNvSpPr/>
          <p:nvPr/>
        </p:nvSpPr>
        <p:spPr>
          <a:xfrm>
            <a:off x="10241280" y="4919472"/>
            <a:ext cx="1691640" cy="384048"/>
          </a:xfrm>
          <a:prstGeom prst="roundRect">
            <a:avLst>
              <a:gd name="adj" fmla="val 19048"/>
            </a:avLst>
          </a:prstGeom>
          <a:solidFill>
            <a:srgbClr val="FFF4E6"/>
          </a:solidFill>
          <a:ln w="12700">
            <a:solidFill>
              <a:srgbClr val="E4B47C"/>
            </a:solidFill>
          </a:ln>
        </p:spPr>
        <p:txBody>
          <a:bodyPr wrap="square" lIns="508" tIns="508" rIns="508" bIns="508" rtlCol="0" anchor="ctr">
            <a:normAutofit/>
          </a:bodyPr>
          <a:lstStyle/>
          <a:p>
            <a:pPr marL="0" indent="0" algn="ctr">
              <a:buNone/>
            </a:pPr>
            <a:r>
              <a:rPr lang="en-US" sz="780" b="1" dirty="0">
                <a:solidFill>
                  <a:srgbClr val="C76B29"/>
                </a:solidFill>
                <a:latin typeface="Aptos" pitchFamily="34" charset="0"/>
                <a:ea typeface="Aptos" pitchFamily="34" charset="-122"/>
                <a:cs typeface="Aptos" pitchFamily="34" charset="-120"/>
              </a:rPr>
              <a:t>Mediation / Pathway</a:t>
            </a:r>
            <a:endParaRPr lang="en-US" sz="780" dirty="0"/>
          </a:p>
          <a:p>
            <a:pPr marL="0" indent="0" algn="ctr">
              <a:buNone/>
            </a:pPr>
            <a:r>
              <a:rPr lang="en-US" sz="780" b="1" dirty="0">
                <a:solidFill>
                  <a:srgbClr val="C76B29"/>
                </a:solidFill>
                <a:latin typeface="Aptos" pitchFamily="34" charset="0"/>
                <a:ea typeface="Aptos" pitchFamily="34" charset="-122"/>
                <a:cs typeface="Aptos" pitchFamily="34" charset="-120"/>
              </a:rPr>
              <a:t>direct · indirect</a:t>
            </a:r>
            <a:endParaRPr lang="en-US" sz="780" dirty="0"/>
          </a:p>
        </p:txBody>
      </p:sp>
      <p:sp>
        <p:nvSpPr>
          <p:cNvPr id="30" name="Text 28"/>
          <p:cNvSpPr/>
          <p:nvPr/>
        </p:nvSpPr>
        <p:spPr>
          <a:xfrm>
            <a:off x="1234440" y="5394960"/>
            <a:ext cx="1691640" cy="384048"/>
          </a:xfrm>
          <a:prstGeom prst="roundRect">
            <a:avLst>
              <a:gd name="adj" fmla="val 19048"/>
            </a:avLst>
          </a:prstGeom>
          <a:solidFill>
            <a:srgbClr val="EAF7EA"/>
          </a:solidFill>
          <a:ln w="12700">
            <a:solidFill>
              <a:srgbClr val="B4D7B5"/>
            </a:solidFill>
          </a:ln>
        </p:spPr>
        <p:txBody>
          <a:bodyPr wrap="square" lIns="508" tIns="508" rIns="508" bIns="508" rtlCol="0" anchor="ctr">
            <a:normAutofit/>
          </a:bodyPr>
          <a:lstStyle/>
          <a:p>
            <a:pPr marL="0" indent="0" algn="ctr">
              <a:buNone/>
            </a:pPr>
            <a:r>
              <a:rPr lang="en-US" sz="780" b="1" dirty="0">
                <a:solidFill>
                  <a:srgbClr val="2E7D32"/>
                </a:solidFill>
                <a:latin typeface="Aptos" pitchFamily="34" charset="0"/>
                <a:ea typeface="Aptos" pitchFamily="34" charset="-122"/>
                <a:cs typeface="Aptos" pitchFamily="34" charset="-120"/>
              </a:rPr>
              <a:t>Causal ML / Uplift</a:t>
            </a:r>
            <a:endParaRPr lang="en-US" sz="780" dirty="0"/>
          </a:p>
          <a:p>
            <a:pPr marL="0" indent="0" algn="ctr">
              <a:buNone/>
            </a:pPr>
            <a:r>
              <a:rPr lang="en-US" sz="780" b="1" dirty="0">
                <a:solidFill>
                  <a:srgbClr val="2E7D32"/>
                </a:solidFill>
                <a:latin typeface="Aptos" pitchFamily="34" charset="0"/>
                <a:ea typeface="Aptos" pitchFamily="34" charset="-122"/>
                <a:cs typeface="Aptos" pitchFamily="34" charset="-120"/>
              </a:rPr>
              <a:t>CATE · causal forest</a:t>
            </a:r>
            <a:endParaRPr lang="en-US" sz="780" dirty="0"/>
          </a:p>
        </p:txBody>
      </p:sp>
      <p:sp>
        <p:nvSpPr>
          <p:cNvPr id="31" name="Text 29"/>
          <p:cNvSpPr/>
          <p:nvPr/>
        </p:nvSpPr>
        <p:spPr>
          <a:xfrm>
            <a:off x="3035808" y="5394960"/>
            <a:ext cx="1691640" cy="384048"/>
          </a:xfrm>
          <a:prstGeom prst="roundRect">
            <a:avLst>
              <a:gd name="adj" fmla="val 19048"/>
            </a:avLst>
          </a:prstGeom>
          <a:solidFill>
            <a:srgbClr val="E8F0FF"/>
          </a:solidFill>
          <a:ln w="12700">
            <a:solidFill>
              <a:srgbClr val="AFC6F6"/>
            </a:solidFill>
          </a:ln>
        </p:spPr>
        <p:txBody>
          <a:bodyPr wrap="square" lIns="508" tIns="508" rIns="508" bIns="508" rtlCol="0" anchor="ctr">
            <a:normAutofit/>
          </a:bodyPr>
          <a:lstStyle/>
          <a:p>
            <a:pPr marL="0" indent="0" algn="ctr">
              <a:buNone/>
            </a:pPr>
            <a:r>
              <a:rPr lang="en-US" sz="780" b="1" dirty="0">
                <a:solidFill>
                  <a:srgbClr val="2D6CDF"/>
                </a:solidFill>
                <a:latin typeface="Aptos" pitchFamily="34" charset="0"/>
                <a:ea typeface="Aptos" pitchFamily="34" charset="-122"/>
                <a:cs typeface="Aptos" pitchFamily="34" charset="-120"/>
              </a:rPr>
              <a:t>Root Cause</a:t>
            </a:r>
            <a:endParaRPr lang="en-US" sz="780" dirty="0"/>
          </a:p>
          <a:p>
            <a:pPr marL="0" indent="0" algn="ctr">
              <a:buNone/>
            </a:pPr>
            <a:r>
              <a:rPr lang="en-US" sz="780" b="1" dirty="0">
                <a:solidFill>
                  <a:srgbClr val="2D6CDF"/>
                </a:solidFill>
                <a:latin typeface="Aptos" pitchFamily="34" charset="0"/>
                <a:ea typeface="Aptos" pitchFamily="34" charset="-122"/>
                <a:cs typeface="Aptos" pitchFamily="34" charset="-120"/>
              </a:rPr>
              <a:t>&amp; anomaly attribution</a:t>
            </a:r>
            <a:endParaRPr lang="en-US" sz="780" dirty="0"/>
          </a:p>
        </p:txBody>
      </p:sp>
      <p:sp>
        <p:nvSpPr>
          <p:cNvPr id="32" name="Text 30"/>
          <p:cNvSpPr/>
          <p:nvPr/>
        </p:nvSpPr>
        <p:spPr>
          <a:xfrm>
            <a:off x="4837176" y="5394960"/>
            <a:ext cx="1691640" cy="384048"/>
          </a:xfrm>
          <a:prstGeom prst="roundRect">
            <a:avLst>
              <a:gd name="adj" fmla="val 19048"/>
            </a:avLst>
          </a:prstGeom>
          <a:solidFill>
            <a:srgbClr val="F0EDFF"/>
          </a:solidFill>
          <a:ln w="12700">
            <a:solidFill>
              <a:srgbClr val="BFB7ED"/>
            </a:solidFill>
          </a:ln>
        </p:spPr>
        <p:txBody>
          <a:bodyPr wrap="square" lIns="508" tIns="508" rIns="508" bIns="508" rtlCol="0" anchor="ctr">
            <a:normAutofit/>
          </a:bodyPr>
          <a:lstStyle/>
          <a:p>
            <a:pPr marL="0" indent="0" algn="ctr">
              <a:buNone/>
            </a:pPr>
            <a:r>
              <a:rPr lang="en-US" sz="780" b="1" dirty="0">
                <a:solidFill>
                  <a:srgbClr val="6D5BD0"/>
                </a:solidFill>
                <a:latin typeface="Aptos" pitchFamily="34" charset="0"/>
                <a:ea typeface="Aptos" pitchFamily="34" charset="-122"/>
                <a:cs typeface="Aptos" pitchFamily="34" charset="-120"/>
              </a:rPr>
              <a:t>Demand Migration</a:t>
            </a:r>
            <a:endParaRPr lang="en-US" sz="780" dirty="0"/>
          </a:p>
          <a:p>
            <a:pPr marL="0" indent="0" algn="ctr">
              <a:buNone/>
            </a:pPr>
            <a:r>
              <a:rPr lang="en-US" sz="780" b="1" dirty="0">
                <a:solidFill>
                  <a:srgbClr val="6D5BD0"/>
                </a:solidFill>
                <a:latin typeface="Aptos" pitchFamily="34" charset="0"/>
                <a:ea typeface="Aptos" pitchFamily="34" charset="-122"/>
                <a:cs typeface="Aptos" pitchFamily="34" charset="-120"/>
              </a:rPr>
              <a:t>substitution · halo</a:t>
            </a:r>
            <a:endParaRPr lang="en-US" sz="780" dirty="0"/>
          </a:p>
        </p:txBody>
      </p:sp>
      <p:sp>
        <p:nvSpPr>
          <p:cNvPr id="33" name="Text 31"/>
          <p:cNvSpPr/>
          <p:nvPr/>
        </p:nvSpPr>
        <p:spPr>
          <a:xfrm>
            <a:off x="6638544" y="5394960"/>
            <a:ext cx="1691640" cy="384048"/>
          </a:xfrm>
          <a:prstGeom prst="roundRect">
            <a:avLst>
              <a:gd name="adj" fmla="val 19048"/>
            </a:avLst>
          </a:prstGeom>
          <a:solidFill>
            <a:srgbClr val="F1F3F6"/>
          </a:solidFill>
          <a:ln w="12700">
            <a:solidFill>
              <a:srgbClr val="C6CDD8"/>
            </a:solidFill>
          </a:ln>
        </p:spPr>
        <p:txBody>
          <a:bodyPr wrap="square" lIns="508" tIns="508" rIns="508" bIns="508" rtlCol="0" anchor="ctr">
            <a:normAutofit/>
          </a:bodyPr>
          <a:lstStyle/>
          <a:p>
            <a:pPr marL="0" indent="0" algn="ctr">
              <a:buNone/>
            </a:pPr>
            <a:r>
              <a:rPr lang="en-US" sz="780" b="1" dirty="0">
                <a:solidFill>
                  <a:srgbClr val="17324D"/>
                </a:solidFill>
                <a:latin typeface="Aptos" pitchFamily="34" charset="0"/>
                <a:ea typeface="Aptos" pitchFamily="34" charset="-122"/>
                <a:cs typeface="Aptos" pitchFamily="34" charset="-120"/>
              </a:rPr>
              <a:t>What-if</a:t>
            </a:r>
            <a:endParaRPr lang="en-US" sz="780" dirty="0"/>
          </a:p>
          <a:p>
            <a:pPr marL="0" indent="0" algn="ctr">
              <a:buNone/>
            </a:pPr>
            <a:r>
              <a:rPr lang="en-US" sz="780" b="1" dirty="0">
                <a:solidFill>
                  <a:srgbClr val="17324D"/>
                </a:solidFill>
                <a:latin typeface="Aptos" pitchFamily="34" charset="0"/>
                <a:ea typeface="Aptos" pitchFamily="34" charset="-122"/>
                <a:cs typeface="Aptos" pitchFamily="34" charset="-120"/>
              </a:rPr>
              <a:t>Simulation</a:t>
            </a:r>
            <a:endParaRPr lang="en-US" sz="780" dirty="0"/>
          </a:p>
        </p:txBody>
      </p:sp>
      <p:sp>
        <p:nvSpPr>
          <p:cNvPr id="34" name="Text 32"/>
          <p:cNvSpPr/>
          <p:nvPr/>
        </p:nvSpPr>
        <p:spPr>
          <a:xfrm>
            <a:off x="8439912" y="5394960"/>
            <a:ext cx="1691640" cy="384048"/>
          </a:xfrm>
          <a:prstGeom prst="roundRect">
            <a:avLst>
              <a:gd name="adj" fmla="val 19048"/>
            </a:avLst>
          </a:prstGeom>
          <a:solidFill>
            <a:srgbClr val="EAF7EA"/>
          </a:solidFill>
          <a:ln w="12700">
            <a:solidFill>
              <a:srgbClr val="B4D7B5"/>
            </a:solidFill>
          </a:ln>
        </p:spPr>
        <p:txBody>
          <a:bodyPr wrap="square" lIns="508" tIns="508" rIns="508" bIns="508" rtlCol="0" anchor="ctr">
            <a:normAutofit/>
          </a:bodyPr>
          <a:lstStyle/>
          <a:p>
            <a:pPr marL="0" indent="0" algn="ctr">
              <a:buNone/>
            </a:pPr>
            <a:r>
              <a:rPr lang="en-US" sz="780" b="1" dirty="0">
                <a:solidFill>
                  <a:srgbClr val="2E7D32"/>
                </a:solidFill>
                <a:latin typeface="Aptos" pitchFamily="34" charset="0"/>
                <a:ea typeface="Aptos" pitchFamily="34" charset="-122"/>
                <a:cs typeface="Aptos" pitchFamily="34" charset="-120"/>
              </a:rPr>
              <a:t>Policy</a:t>
            </a:r>
            <a:endParaRPr lang="en-US" sz="780" dirty="0"/>
          </a:p>
          <a:p>
            <a:pPr marL="0" indent="0" algn="ctr">
              <a:buNone/>
            </a:pPr>
            <a:r>
              <a:rPr lang="en-US" sz="780" b="1" dirty="0">
                <a:solidFill>
                  <a:srgbClr val="2E7D32"/>
                </a:solidFill>
                <a:latin typeface="Aptos" pitchFamily="34" charset="0"/>
                <a:ea typeface="Aptos" pitchFamily="34" charset="-122"/>
                <a:cs typeface="Aptos" pitchFamily="34" charset="-120"/>
              </a:rPr>
              <a:t>Optimization</a:t>
            </a:r>
            <a:endParaRPr lang="en-US" sz="780" dirty="0"/>
          </a:p>
        </p:txBody>
      </p:sp>
      <p:sp>
        <p:nvSpPr>
          <p:cNvPr id="35" name="Text 33"/>
          <p:cNvSpPr/>
          <p:nvPr/>
        </p:nvSpPr>
        <p:spPr>
          <a:xfrm>
            <a:off x="10241280" y="5394960"/>
            <a:ext cx="1691640" cy="384048"/>
          </a:xfrm>
          <a:prstGeom prst="roundRect">
            <a:avLst>
              <a:gd name="adj" fmla="val 19048"/>
            </a:avLst>
          </a:prstGeom>
          <a:solidFill>
            <a:srgbClr val="FFF7ED"/>
          </a:solidFill>
          <a:ln w="12700">
            <a:solidFill>
              <a:srgbClr val="E4B47C"/>
            </a:solidFill>
          </a:ln>
        </p:spPr>
        <p:txBody>
          <a:bodyPr wrap="square" lIns="508" tIns="508" rIns="508" bIns="508" rtlCol="0" anchor="ctr">
            <a:normAutofit/>
          </a:bodyPr>
          <a:lstStyle/>
          <a:p>
            <a:pPr marL="0" indent="0" algn="ctr">
              <a:buNone/>
            </a:pPr>
            <a:r>
              <a:rPr lang="en-US" sz="780" b="1" dirty="0">
                <a:solidFill>
                  <a:srgbClr val="C76B29"/>
                </a:solidFill>
                <a:latin typeface="Aptos" pitchFamily="34" charset="0"/>
                <a:ea typeface="Aptos" pitchFamily="34" charset="-122"/>
                <a:cs typeface="Aptos" pitchFamily="34" charset="-120"/>
              </a:rPr>
              <a:t>Validation</a:t>
            </a:r>
            <a:endParaRPr lang="en-US" sz="780" dirty="0"/>
          </a:p>
          <a:p>
            <a:pPr marL="0" indent="0" algn="ctr">
              <a:buNone/>
            </a:pPr>
            <a:r>
              <a:rPr lang="en-US" sz="780" b="1" dirty="0">
                <a:solidFill>
                  <a:srgbClr val="C76B29"/>
                </a:solidFill>
                <a:latin typeface="Aptos" pitchFamily="34" charset="0"/>
                <a:ea typeface="Aptos" pitchFamily="34" charset="-122"/>
                <a:cs typeface="Aptos" pitchFamily="34" charset="-120"/>
              </a:rPr>
              <a:t>refutation · sensitivity</a:t>
            </a:r>
            <a:endParaRPr lang="en-US" sz="780" dirty="0"/>
          </a:p>
        </p:txBody>
      </p:sp>
      <p:sp>
        <p:nvSpPr>
          <p:cNvPr id="36" name="Text 34"/>
          <p:cNvSpPr/>
          <p:nvPr/>
        </p:nvSpPr>
        <p:spPr>
          <a:xfrm>
            <a:off x="3936492" y="5870448"/>
            <a:ext cx="1691640" cy="384048"/>
          </a:xfrm>
          <a:prstGeom prst="roundRect">
            <a:avLst>
              <a:gd name="adj" fmla="val 19048"/>
            </a:avLst>
          </a:prstGeom>
          <a:solidFill>
            <a:srgbClr val="E8F0FF"/>
          </a:solidFill>
          <a:ln w="12700">
            <a:solidFill>
              <a:srgbClr val="AFC6F6"/>
            </a:solidFill>
          </a:ln>
        </p:spPr>
        <p:txBody>
          <a:bodyPr wrap="square" lIns="508" tIns="508" rIns="508" bIns="508" rtlCol="0" anchor="ctr">
            <a:normAutofit/>
          </a:bodyPr>
          <a:lstStyle/>
          <a:p>
            <a:pPr marL="0" indent="0" algn="ctr">
              <a:buNone/>
            </a:pPr>
            <a:r>
              <a:rPr lang="en-US" sz="780" b="1" dirty="0">
                <a:solidFill>
                  <a:srgbClr val="2D6CDF"/>
                </a:solidFill>
                <a:latin typeface="Aptos" pitchFamily="34" charset="0"/>
                <a:ea typeface="Aptos" pitchFamily="34" charset="-122"/>
                <a:cs typeface="Aptos" pitchFamily="34" charset="-120"/>
              </a:rPr>
              <a:t>Effect Store</a:t>
            </a:r>
            <a:endParaRPr lang="en-US" sz="780" dirty="0"/>
          </a:p>
          <a:p>
            <a:pPr marL="0" indent="0" algn="ctr">
              <a:buNone/>
            </a:pPr>
            <a:r>
              <a:rPr lang="en-US" sz="780" b="1" dirty="0">
                <a:solidFill>
                  <a:srgbClr val="2D6CDF"/>
                </a:solidFill>
                <a:latin typeface="Aptos" pitchFamily="34" charset="0"/>
                <a:ea typeface="Aptos" pitchFamily="34" charset="-122"/>
                <a:cs typeface="Aptos" pitchFamily="34" charset="-120"/>
              </a:rPr>
              <a:t>impact library</a:t>
            </a:r>
            <a:endParaRPr lang="en-US" sz="780" dirty="0"/>
          </a:p>
        </p:txBody>
      </p:sp>
      <p:sp>
        <p:nvSpPr>
          <p:cNvPr id="37" name="Text 35"/>
          <p:cNvSpPr/>
          <p:nvPr/>
        </p:nvSpPr>
        <p:spPr>
          <a:xfrm>
            <a:off x="5737860" y="5870448"/>
            <a:ext cx="1691640" cy="384048"/>
          </a:xfrm>
          <a:prstGeom prst="roundRect">
            <a:avLst>
              <a:gd name="adj" fmla="val 19048"/>
            </a:avLst>
          </a:prstGeom>
          <a:solidFill>
            <a:srgbClr val="F0EDFF"/>
          </a:solidFill>
          <a:ln w="12700">
            <a:solidFill>
              <a:srgbClr val="BFB7ED"/>
            </a:solidFill>
          </a:ln>
        </p:spPr>
        <p:txBody>
          <a:bodyPr wrap="square" lIns="508" tIns="508" rIns="508" bIns="508" rtlCol="0" anchor="ctr">
            <a:normAutofit/>
          </a:bodyPr>
          <a:lstStyle/>
          <a:p>
            <a:pPr marL="0" indent="0" algn="ctr">
              <a:buNone/>
            </a:pPr>
            <a:r>
              <a:rPr lang="en-US" sz="780" b="1" dirty="0">
                <a:solidFill>
                  <a:srgbClr val="6D5BD0"/>
                </a:solidFill>
                <a:latin typeface="Aptos" pitchFamily="34" charset="0"/>
                <a:ea typeface="Aptos" pitchFamily="34" charset="-122"/>
                <a:cs typeface="Aptos" pitchFamily="34" charset="-120"/>
              </a:rPr>
              <a:t>Guardrails</a:t>
            </a:r>
            <a:endParaRPr lang="en-US" sz="780" dirty="0"/>
          </a:p>
          <a:p>
            <a:pPr marL="0" indent="0" algn="ctr">
              <a:buNone/>
            </a:pPr>
            <a:r>
              <a:rPr lang="en-US" sz="780" b="1" dirty="0">
                <a:solidFill>
                  <a:srgbClr val="6D5BD0"/>
                </a:solidFill>
                <a:latin typeface="Aptos" pitchFamily="34" charset="0"/>
                <a:ea typeface="Aptos" pitchFamily="34" charset="-122"/>
                <a:cs typeface="Aptos" pitchFamily="34" charset="-120"/>
              </a:rPr>
              <a:t>spillover · long-term</a:t>
            </a:r>
            <a:endParaRPr lang="en-US" sz="780" dirty="0"/>
          </a:p>
        </p:txBody>
      </p:sp>
      <p:sp>
        <p:nvSpPr>
          <p:cNvPr id="38" name="Text 36"/>
          <p:cNvSpPr/>
          <p:nvPr/>
        </p:nvSpPr>
        <p:spPr>
          <a:xfrm>
            <a:off x="7539228" y="5870448"/>
            <a:ext cx="1691640" cy="384048"/>
          </a:xfrm>
          <a:prstGeom prst="roundRect">
            <a:avLst>
              <a:gd name="adj" fmla="val 19048"/>
            </a:avLst>
          </a:prstGeom>
          <a:solidFill>
            <a:srgbClr val="F1F3F6"/>
          </a:solidFill>
          <a:ln w="12700">
            <a:solidFill>
              <a:srgbClr val="C6CDD8"/>
            </a:solidFill>
          </a:ln>
        </p:spPr>
        <p:txBody>
          <a:bodyPr wrap="square" lIns="508" tIns="508" rIns="508" bIns="508" rtlCol="0" anchor="ctr">
            <a:normAutofit/>
          </a:bodyPr>
          <a:lstStyle/>
          <a:p>
            <a:pPr marL="0" indent="0" algn="ctr">
              <a:buNone/>
            </a:pPr>
            <a:r>
              <a:rPr lang="en-US" sz="780" b="1" dirty="0">
                <a:solidFill>
                  <a:srgbClr val="17324D"/>
                </a:solidFill>
                <a:latin typeface="Aptos" pitchFamily="34" charset="0"/>
                <a:ea typeface="Aptos" pitchFamily="34" charset="-122"/>
                <a:cs typeface="Aptos" pitchFamily="34" charset="-120"/>
              </a:rPr>
              <a:t>Reporting / API</a:t>
            </a:r>
            <a:endParaRPr lang="en-US" sz="780" dirty="0"/>
          </a:p>
          <a:p>
            <a:pPr marL="0" indent="0" algn="ctr">
              <a:buNone/>
            </a:pPr>
            <a:r>
              <a:rPr lang="en-US" sz="780" b="1" dirty="0">
                <a:solidFill>
                  <a:srgbClr val="17324D"/>
                </a:solidFill>
                <a:latin typeface="Aptos" pitchFamily="34" charset="0"/>
                <a:ea typeface="Aptos" pitchFamily="34" charset="-122"/>
                <a:cs typeface="Aptos" pitchFamily="34" charset="-120"/>
              </a:rPr>
              <a:t>decision layer</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320040" y="164592"/>
            <a:ext cx="11521440" cy="329184"/>
          </a:xfrm>
          <a:prstGeom prst="rect">
            <a:avLst/>
          </a:prstGeom>
          <a:noFill/>
          <a:ln/>
        </p:spPr>
        <p:txBody>
          <a:bodyPr wrap="square" lIns="0" tIns="0" rIns="0" bIns="0" rtlCol="0" anchor="ctr"/>
          <a:lstStyle/>
          <a:p>
            <a:pPr marL="0" indent="0" algn="ctr">
              <a:buNone/>
            </a:pPr>
            <a:r>
              <a:rPr lang="en-US" sz="2400" b="1" dirty="0">
                <a:solidFill>
                  <a:srgbClr val="17324D"/>
                </a:solidFill>
                <a:latin typeface="Aptos Display" pitchFamily="34" charset="0"/>
                <a:ea typeface="Aptos Display" pitchFamily="34" charset="-122"/>
                <a:cs typeface="Aptos Display" pitchFamily="34" charset="-120"/>
              </a:rPr>
              <a:t>Causal Capability Platform — Conceptual Map</a:t>
            </a:r>
            <a:endParaRPr lang="en-US" sz="2400" dirty="0"/>
          </a:p>
        </p:txBody>
      </p:sp>
      <p:sp>
        <p:nvSpPr>
          <p:cNvPr id="4" name="Shape 2"/>
          <p:cNvSpPr/>
          <p:nvPr/>
        </p:nvSpPr>
        <p:spPr>
          <a:xfrm>
            <a:off x="1179576" y="804672"/>
            <a:ext cx="10808208" cy="1371600"/>
          </a:xfrm>
          <a:prstGeom prst="roundRect">
            <a:avLst>
              <a:gd name="adj" fmla="val 8000"/>
            </a:avLst>
          </a:prstGeom>
          <a:solidFill>
            <a:srgbClr val="F7FBFA"/>
          </a:solidFill>
          <a:ln w="12700">
            <a:solidFill>
              <a:srgbClr val="DDEDEA"/>
            </a:solidFill>
            <a:prstDash val="solid"/>
          </a:ln>
        </p:spPr>
      </p:sp>
      <p:sp>
        <p:nvSpPr>
          <p:cNvPr id="5" name="Shape 3"/>
          <p:cNvSpPr/>
          <p:nvPr/>
        </p:nvSpPr>
        <p:spPr>
          <a:xfrm>
            <a:off x="1179576" y="2194560"/>
            <a:ext cx="10808208" cy="2139696"/>
          </a:xfrm>
          <a:prstGeom prst="roundRect">
            <a:avLst>
              <a:gd name="adj" fmla="val 5128"/>
            </a:avLst>
          </a:prstGeom>
          <a:solidFill>
            <a:srgbClr val="F8FAFE"/>
          </a:solidFill>
          <a:ln w="12700">
            <a:solidFill>
              <a:srgbClr val="DDE6F7"/>
            </a:solidFill>
            <a:prstDash val="solid"/>
          </a:ln>
        </p:spPr>
      </p:sp>
      <p:sp>
        <p:nvSpPr>
          <p:cNvPr id="6" name="Shape 4"/>
          <p:cNvSpPr/>
          <p:nvPr/>
        </p:nvSpPr>
        <p:spPr>
          <a:xfrm>
            <a:off x="1179576" y="4425696"/>
            <a:ext cx="10808208" cy="2212848"/>
          </a:xfrm>
          <a:prstGeom prst="roundRect">
            <a:avLst>
              <a:gd name="adj" fmla="val 4959"/>
            </a:avLst>
          </a:prstGeom>
          <a:solidFill>
            <a:srgbClr val="FCFAF7"/>
          </a:solidFill>
          <a:ln w="12700">
            <a:solidFill>
              <a:srgbClr val="EFE2D0"/>
            </a:solidFill>
            <a:prstDash val="solid"/>
          </a:ln>
        </p:spPr>
      </p:sp>
      <p:sp>
        <p:nvSpPr>
          <p:cNvPr id="7" name="Text 5"/>
          <p:cNvSpPr/>
          <p:nvPr/>
        </p:nvSpPr>
        <p:spPr>
          <a:xfrm>
            <a:off x="0" y="1097280"/>
            <a:ext cx="950976" cy="786384"/>
          </a:xfrm>
          <a:prstGeom prst="rect">
            <a:avLst/>
          </a:prstGeom>
          <a:noFill/>
          <a:ln/>
        </p:spPr>
        <p:txBody>
          <a:bodyPr wrap="square" lIns="254" tIns="254" rIns="254" bIns="254" rtlCol="0" anchor="ctr">
            <a:normAutofit/>
          </a:bodyPr>
          <a:lstStyle/>
          <a:p>
            <a:pPr marL="0" indent="0" algn="r">
              <a:buNone/>
            </a:pPr>
            <a:r>
              <a:rPr lang="en-US" sz="1050" b="1" dirty="0">
                <a:solidFill>
                  <a:srgbClr val="0F766E"/>
                </a:solidFill>
                <a:latin typeface="Aptos" pitchFamily="34" charset="0"/>
                <a:ea typeface="Aptos" pitchFamily="34" charset="-122"/>
                <a:cs typeface="Aptos" pitchFamily="34" charset="-120"/>
              </a:rPr>
              <a:t>Causal</a:t>
            </a:r>
            <a:endParaRPr lang="en-US" sz="1050" dirty="0"/>
          </a:p>
          <a:p>
            <a:pPr marL="0" indent="0" algn="r">
              <a:buNone/>
            </a:pPr>
            <a:r>
              <a:rPr lang="en-US" sz="1050" b="1" dirty="0">
                <a:solidFill>
                  <a:srgbClr val="0F766E"/>
                </a:solidFill>
                <a:latin typeface="Aptos" pitchFamily="34" charset="0"/>
                <a:ea typeface="Aptos" pitchFamily="34" charset="-122"/>
                <a:cs typeface="Aptos" pitchFamily="34" charset="-120"/>
              </a:rPr>
              <a:t>Capabilities</a:t>
            </a:r>
            <a:endParaRPr lang="en-US" sz="1050" dirty="0"/>
          </a:p>
        </p:txBody>
      </p:sp>
      <p:sp>
        <p:nvSpPr>
          <p:cNvPr id="8" name="Text 6"/>
          <p:cNvSpPr/>
          <p:nvPr/>
        </p:nvSpPr>
        <p:spPr>
          <a:xfrm>
            <a:off x="-228600" y="2775204"/>
            <a:ext cx="1179576" cy="713232"/>
          </a:xfrm>
          <a:prstGeom prst="rect">
            <a:avLst/>
          </a:prstGeom>
          <a:noFill/>
          <a:ln/>
        </p:spPr>
        <p:txBody>
          <a:bodyPr wrap="square" lIns="254" tIns="254" rIns="254" bIns="254" rtlCol="0" anchor="ctr">
            <a:normAutofit/>
          </a:bodyPr>
          <a:lstStyle/>
          <a:p>
            <a:pPr marL="0" indent="0" algn="r">
              <a:buNone/>
            </a:pPr>
            <a:r>
              <a:rPr lang="en-US" sz="1050" b="1" dirty="0">
                <a:solidFill>
                  <a:srgbClr val="2D6CDF"/>
                </a:solidFill>
                <a:latin typeface="Aptos" pitchFamily="34" charset="0"/>
                <a:ea typeface="Aptos" pitchFamily="34" charset="-122"/>
                <a:cs typeface="Aptos" pitchFamily="34" charset="-120"/>
              </a:rPr>
              <a:t>McDonald’s Project</a:t>
            </a:r>
            <a:endParaRPr lang="en-US" sz="1050" dirty="0"/>
          </a:p>
          <a:p>
            <a:pPr marL="0" indent="0" algn="r">
              <a:buNone/>
            </a:pPr>
            <a:r>
              <a:rPr lang="en-US" sz="1050" b="1" dirty="0">
                <a:solidFill>
                  <a:srgbClr val="2D6CDF"/>
                </a:solidFill>
                <a:latin typeface="Aptos" pitchFamily="34" charset="0"/>
                <a:ea typeface="Aptos" pitchFamily="34" charset="-122"/>
                <a:cs typeface="Aptos" pitchFamily="34" charset="-120"/>
              </a:rPr>
              <a:t>Cases</a:t>
            </a:r>
            <a:endParaRPr lang="en-US" sz="1050" dirty="0"/>
          </a:p>
        </p:txBody>
      </p:sp>
      <p:sp>
        <p:nvSpPr>
          <p:cNvPr id="9" name="Text 7"/>
          <p:cNvSpPr/>
          <p:nvPr/>
        </p:nvSpPr>
        <p:spPr>
          <a:xfrm>
            <a:off x="0" y="5093208"/>
            <a:ext cx="1069848" cy="1231392"/>
          </a:xfrm>
          <a:prstGeom prst="rect">
            <a:avLst/>
          </a:prstGeom>
          <a:noFill/>
          <a:ln/>
        </p:spPr>
        <p:txBody>
          <a:bodyPr wrap="square" lIns="254" tIns="254" rIns="254" bIns="254" rtlCol="0" anchor="ctr">
            <a:normAutofit lnSpcReduction="10000"/>
          </a:bodyPr>
          <a:lstStyle/>
          <a:p>
            <a:pPr marL="0" indent="0" algn="r">
              <a:buNone/>
            </a:pPr>
            <a:r>
              <a:rPr lang="en-US" sz="1050" b="1" dirty="0">
                <a:solidFill>
                  <a:srgbClr val="C76B29"/>
                </a:solidFill>
                <a:latin typeface="Aptos" pitchFamily="34" charset="0"/>
                <a:ea typeface="Aptos" pitchFamily="34" charset="-122"/>
                <a:cs typeface="Aptos" pitchFamily="34" charset="-120"/>
              </a:rPr>
              <a:t>Shared Tools</a:t>
            </a:r>
            <a:endParaRPr lang="en-US" sz="1050" dirty="0"/>
          </a:p>
          <a:p>
            <a:pPr marL="0" indent="0" algn="r">
              <a:buNone/>
            </a:pPr>
            <a:r>
              <a:rPr lang="en-US" sz="1050" b="1" dirty="0">
                <a:solidFill>
                  <a:srgbClr val="C76B29"/>
                </a:solidFill>
                <a:latin typeface="Aptos" pitchFamily="34" charset="0"/>
                <a:ea typeface="Aptos" pitchFamily="34" charset="-122"/>
                <a:cs typeface="Aptos" pitchFamily="34" charset="-120"/>
              </a:rPr>
              <a:t>&amp; Methods</a:t>
            </a:r>
          </a:p>
          <a:p>
            <a:pPr marL="0" indent="0" algn="r">
              <a:buNone/>
            </a:pPr>
            <a:endParaRPr lang="en-US" sz="1050" b="1" dirty="0">
              <a:solidFill>
                <a:srgbClr val="C76B29"/>
              </a:solidFill>
              <a:latin typeface="Aptos" pitchFamily="34" charset="0"/>
            </a:endParaRPr>
          </a:p>
          <a:p>
            <a:pPr algn="r"/>
            <a:r>
              <a:rPr lang="en-US" sz="1050" i="1" dirty="0">
                <a:solidFill>
                  <a:schemeClr val="tx1">
                    <a:lumMod val="65000"/>
                    <a:lumOff val="35000"/>
                  </a:schemeClr>
                </a:solidFill>
                <a:latin typeface="Aptos" pitchFamily="34" charset="0"/>
                <a:ea typeface="Aptos" pitchFamily="34" charset="-122"/>
                <a:cs typeface="Aptos" pitchFamily="34" charset="-120"/>
              </a:rPr>
              <a:t>Reusable causal method modules, shared across all capabilities and cases</a:t>
            </a:r>
            <a:endParaRPr lang="en-US" sz="1050" i="1" dirty="0">
              <a:solidFill>
                <a:schemeClr val="tx1">
                  <a:lumMod val="65000"/>
                  <a:lumOff val="35000"/>
                </a:schemeClr>
              </a:solidFill>
            </a:endParaRPr>
          </a:p>
          <a:p>
            <a:pPr marL="0" indent="0" algn="r">
              <a:buNone/>
            </a:pPr>
            <a:endParaRPr lang="en-US" sz="1050" dirty="0"/>
          </a:p>
        </p:txBody>
      </p:sp>
      <p:sp>
        <p:nvSpPr>
          <p:cNvPr id="10" name="Text 8"/>
          <p:cNvSpPr/>
          <p:nvPr/>
        </p:nvSpPr>
        <p:spPr>
          <a:xfrm>
            <a:off x="1234440" y="950976"/>
            <a:ext cx="1691640" cy="1051560"/>
          </a:xfrm>
          <a:prstGeom prst="roundRect">
            <a:avLst>
              <a:gd name="adj" fmla="val 6957"/>
            </a:avLst>
          </a:prstGeom>
          <a:solidFill>
            <a:srgbClr val="E6F5F2"/>
          </a:solidFill>
          <a:ln w="12700">
            <a:solidFill>
              <a:srgbClr val="9CCFC5"/>
            </a:solidFill>
          </a:ln>
        </p:spPr>
        <p:txBody>
          <a:bodyPr wrap="square" lIns="762" tIns="762" rIns="762" bIns="762" rtlCol="0" anchor="ctr">
            <a:normAutofit/>
          </a:bodyPr>
          <a:lstStyle/>
          <a:p>
            <a:pPr marL="0" indent="0" algn="ctr">
              <a:buNone/>
            </a:pPr>
            <a:r>
              <a:rPr lang="en-US" sz="1400" b="1" dirty="0">
                <a:solidFill>
                  <a:srgbClr val="0F766E"/>
                </a:solidFill>
                <a:latin typeface="Aptos" pitchFamily="34" charset="0"/>
                <a:ea typeface="Aptos" pitchFamily="34" charset="-122"/>
                <a:cs typeface="Aptos" pitchFamily="34" charset="-120"/>
              </a:rPr>
              <a:t>Incremental</a:t>
            </a:r>
            <a:r>
              <a:rPr lang="en-US" sz="1400" b="1" dirty="0"/>
              <a:t> </a:t>
            </a:r>
            <a:r>
              <a:rPr lang="en-US" sz="1400" b="1" dirty="0">
                <a:solidFill>
                  <a:srgbClr val="0F766E"/>
                </a:solidFill>
                <a:latin typeface="Aptos" pitchFamily="34" charset="0"/>
                <a:ea typeface="Aptos" pitchFamily="34" charset="-122"/>
                <a:cs typeface="Aptos" pitchFamily="34" charset="-120"/>
              </a:rPr>
              <a:t>Impact</a:t>
            </a:r>
            <a:endParaRPr lang="en-US" sz="1400" b="1" dirty="0"/>
          </a:p>
          <a:p>
            <a:pPr marL="0" indent="0" algn="ctr">
              <a:buNone/>
            </a:pPr>
            <a:endParaRPr lang="en-US" sz="920" b="1" dirty="0">
              <a:solidFill>
                <a:schemeClr val="tx1">
                  <a:lumMod val="65000"/>
                  <a:lumOff val="35000"/>
                </a:schemeClr>
              </a:solidFill>
              <a:latin typeface="Aptos" pitchFamily="34" charset="0"/>
              <a:ea typeface="Aptos" pitchFamily="34" charset="-122"/>
              <a:cs typeface="Aptos" pitchFamily="34" charset="-120"/>
            </a:endParaRPr>
          </a:p>
          <a:p>
            <a:pPr marL="0" indent="0" algn="ctr">
              <a:buNone/>
            </a:pPr>
            <a:r>
              <a:rPr lang="en-US" sz="920" b="1" dirty="0">
                <a:solidFill>
                  <a:schemeClr val="tx1">
                    <a:lumMod val="65000"/>
                    <a:lumOff val="35000"/>
                  </a:schemeClr>
                </a:solidFill>
                <a:latin typeface="Aptos" pitchFamily="34" charset="0"/>
                <a:ea typeface="Aptos" pitchFamily="34" charset="-122"/>
                <a:cs typeface="Aptos" pitchFamily="34" charset="-120"/>
              </a:rPr>
              <a:t>Did the action truly create lift?</a:t>
            </a:r>
            <a:endParaRPr lang="en-US" sz="920" dirty="0">
              <a:solidFill>
                <a:schemeClr val="tx1">
                  <a:lumMod val="65000"/>
                  <a:lumOff val="35000"/>
                </a:schemeClr>
              </a:solidFill>
            </a:endParaRPr>
          </a:p>
        </p:txBody>
      </p:sp>
      <p:sp>
        <p:nvSpPr>
          <p:cNvPr id="11" name="Text 9"/>
          <p:cNvSpPr/>
          <p:nvPr/>
        </p:nvSpPr>
        <p:spPr>
          <a:xfrm>
            <a:off x="3035808" y="950976"/>
            <a:ext cx="1691640" cy="1051560"/>
          </a:xfrm>
          <a:prstGeom prst="roundRect">
            <a:avLst>
              <a:gd name="adj" fmla="val 6957"/>
            </a:avLst>
          </a:prstGeom>
          <a:solidFill>
            <a:srgbClr val="E8F0FF"/>
          </a:solidFill>
          <a:ln w="12700">
            <a:solidFill>
              <a:srgbClr val="AFC6F6"/>
            </a:solidFill>
          </a:ln>
        </p:spPr>
        <p:txBody>
          <a:bodyPr wrap="square" lIns="762" tIns="762" rIns="762" bIns="762" rtlCol="0" anchor="ctr">
            <a:normAutofit/>
          </a:bodyPr>
          <a:lstStyle/>
          <a:p>
            <a:pPr algn="ctr"/>
            <a:r>
              <a:rPr lang="en-US" sz="1400" b="1" dirty="0">
                <a:solidFill>
                  <a:srgbClr val="2D6CDF"/>
                </a:solidFill>
                <a:latin typeface="Aptos" pitchFamily="34" charset="0"/>
                <a:ea typeface="Aptos" pitchFamily="34" charset="-122"/>
                <a:cs typeface="Aptos" pitchFamily="34" charset="-120"/>
              </a:rPr>
              <a:t>Business Drivers</a:t>
            </a:r>
            <a:endParaRPr lang="en-US" sz="1400" dirty="0"/>
          </a:p>
          <a:p>
            <a:pPr marL="0" indent="0" algn="ctr">
              <a:buNone/>
            </a:pPr>
            <a:r>
              <a:rPr lang="en-US" sz="1400" b="1" dirty="0">
                <a:solidFill>
                  <a:srgbClr val="2D6CDF"/>
                </a:solidFill>
                <a:latin typeface="Aptos" pitchFamily="34" charset="0"/>
                <a:ea typeface="Aptos" pitchFamily="34" charset="-122"/>
                <a:cs typeface="Aptos" pitchFamily="34" charset="-120"/>
              </a:rPr>
              <a:t>&amp; Root Cause</a:t>
            </a:r>
          </a:p>
          <a:p>
            <a:pPr marL="0" indent="0" algn="ctr">
              <a:buNone/>
            </a:pPr>
            <a:endParaRPr lang="en-US" sz="920" dirty="0"/>
          </a:p>
          <a:p>
            <a:pPr marL="0" indent="0" algn="ctr">
              <a:buNone/>
            </a:pPr>
            <a:r>
              <a:rPr lang="en-US" sz="920" b="1" dirty="0">
                <a:solidFill>
                  <a:schemeClr val="tx1">
                    <a:lumMod val="65000"/>
                    <a:lumOff val="35000"/>
                  </a:schemeClr>
                </a:solidFill>
                <a:latin typeface="Aptos" pitchFamily="34" charset="0"/>
                <a:ea typeface="Aptos" pitchFamily="34" charset="-122"/>
                <a:cs typeface="Aptos" pitchFamily="34" charset="-120"/>
              </a:rPr>
              <a:t>What drove KPIs to move or cause anomalies?</a:t>
            </a:r>
            <a:endParaRPr lang="en-US" sz="920" dirty="0">
              <a:solidFill>
                <a:schemeClr val="tx1">
                  <a:lumMod val="65000"/>
                  <a:lumOff val="35000"/>
                </a:schemeClr>
              </a:solidFill>
            </a:endParaRPr>
          </a:p>
        </p:txBody>
      </p:sp>
      <p:sp>
        <p:nvSpPr>
          <p:cNvPr id="12" name="Text 10"/>
          <p:cNvSpPr/>
          <p:nvPr/>
        </p:nvSpPr>
        <p:spPr>
          <a:xfrm>
            <a:off x="4837176" y="950976"/>
            <a:ext cx="1691640" cy="1051560"/>
          </a:xfrm>
          <a:prstGeom prst="roundRect">
            <a:avLst>
              <a:gd name="adj" fmla="val 6957"/>
            </a:avLst>
          </a:prstGeom>
          <a:solidFill>
            <a:srgbClr val="F0EDFF"/>
          </a:solidFill>
          <a:ln w="12700">
            <a:solidFill>
              <a:srgbClr val="BFB7ED"/>
            </a:solidFill>
          </a:ln>
        </p:spPr>
        <p:txBody>
          <a:bodyPr wrap="square" lIns="762" tIns="762" rIns="762" bIns="762" rtlCol="0" anchor="ctr">
            <a:normAutofit/>
          </a:bodyPr>
          <a:lstStyle/>
          <a:p>
            <a:pPr marL="0" indent="0" algn="ctr">
              <a:buNone/>
            </a:pPr>
            <a:r>
              <a:rPr lang="en-US" sz="1400" b="1" dirty="0">
                <a:solidFill>
                  <a:srgbClr val="6D5BD0"/>
                </a:solidFill>
                <a:latin typeface="Aptos" pitchFamily="34" charset="0"/>
                <a:ea typeface="Aptos" pitchFamily="34" charset="-122"/>
                <a:cs typeface="Aptos" pitchFamily="34" charset="-120"/>
              </a:rPr>
              <a:t>Demand/Segment Shift</a:t>
            </a:r>
          </a:p>
          <a:p>
            <a:pPr marL="0" indent="0" algn="ctr">
              <a:buNone/>
            </a:pPr>
            <a:endParaRPr lang="en-US" sz="920" b="1" dirty="0">
              <a:solidFill>
                <a:srgbClr val="6D5BD0"/>
              </a:solidFill>
              <a:latin typeface="Aptos" pitchFamily="34" charset="0"/>
              <a:ea typeface="Aptos" pitchFamily="34" charset="-122"/>
              <a:cs typeface="Aptos" pitchFamily="34" charset="-120"/>
            </a:endParaRPr>
          </a:p>
          <a:p>
            <a:pPr marL="0" indent="0" algn="ctr">
              <a:buNone/>
            </a:pPr>
            <a:r>
              <a:rPr lang="en-US" sz="920" b="1" dirty="0">
                <a:solidFill>
                  <a:schemeClr val="tx1">
                    <a:lumMod val="65000"/>
                    <a:lumOff val="35000"/>
                  </a:schemeClr>
                </a:solidFill>
                <a:latin typeface="Aptos" pitchFamily="34" charset="0"/>
                <a:ea typeface="Aptos" pitchFamily="34" charset="-122"/>
                <a:cs typeface="Aptos" pitchFamily="34" charset="-120"/>
              </a:rPr>
              <a:t>What demand behavior shifted?</a:t>
            </a:r>
            <a:endParaRPr lang="en-US" sz="920" dirty="0">
              <a:solidFill>
                <a:schemeClr val="tx1">
                  <a:lumMod val="65000"/>
                  <a:lumOff val="35000"/>
                </a:schemeClr>
              </a:solidFill>
            </a:endParaRPr>
          </a:p>
        </p:txBody>
      </p:sp>
      <p:sp>
        <p:nvSpPr>
          <p:cNvPr id="13" name="Text 11"/>
          <p:cNvSpPr/>
          <p:nvPr/>
        </p:nvSpPr>
        <p:spPr>
          <a:xfrm>
            <a:off x="8435340" y="948775"/>
            <a:ext cx="1691640" cy="1051560"/>
          </a:xfrm>
          <a:prstGeom prst="roundRect">
            <a:avLst>
              <a:gd name="adj" fmla="val 6957"/>
            </a:avLst>
          </a:prstGeom>
          <a:solidFill>
            <a:srgbClr val="FFF4E6"/>
          </a:solidFill>
          <a:ln w="12700">
            <a:solidFill>
              <a:srgbClr val="E4B47C"/>
            </a:solidFill>
          </a:ln>
        </p:spPr>
        <p:txBody>
          <a:bodyPr wrap="square" lIns="762" tIns="762" rIns="762" bIns="762" rtlCol="0" anchor="ctr">
            <a:normAutofit/>
          </a:bodyPr>
          <a:lstStyle/>
          <a:p>
            <a:pPr marL="0" indent="0" algn="ctr">
              <a:buNone/>
            </a:pPr>
            <a:r>
              <a:rPr lang="en-US" sz="1400" b="1" dirty="0">
                <a:solidFill>
                  <a:srgbClr val="C76B29"/>
                </a:solidFill>
                <a:latin typeface="Aptos" pitchFamily="34" charset="0"/>
                <a:ea typeface="Aptos" pitchFamily="34" charset="-122"/>
                <a:cs typeface="Aptos" pitchFamily="34" charset="-120"/>
              </a:rPr>
              <a:t>Pathway /</a:t>
            </a:r>
            <a:endParaRPr lang="en-US" sz="1400" dirty="0"/>
          </a:p>
          <a:p>
            <a:pPr marL="0" indent="0" algn="ctr">
              <a:buNone/>
            </a:pPr>
            <a:r>
              <a:rPr lang="en-US" sz="1400" b="1" dirty="0">
                <a:solidFill>
                  <a:srgbClr val="C76B29"/>
                </a:solidFill>
                <a:latin typeface="Aptos" pitchFamily="34" charset="0"/>
                <a:ea typeface="Aptos" pitchFamily="34" charset="-122"/>
                <a:cs typeface="Aptos" pitchFamily="34" charset="-120"/>
              </a:rPr>
              <a:t>Mediation</a:t>
            </a:r>
            <a:endParaRPr lang="en-US" sz="1400" dirty="0"/>
          </a:p>
          <a:p>
            <a:pPr marL="0" indent="0" algn="ctr">
              <a:buNone/>
            </a:pPr>
            <a:endParaRPr lang="en-US" sz="920" b="1" dirty="0">
              <a:solidFill>
                <a:srgbClr val="C76B29"/>
              </a:solidFill>
              <a:latin typeface="Aptos" pitchFamily="34" charset="0"/>
              <a:ea typeface="Aptos" pitchFamily="34" charset="-122"/>
              <a:cs typeface="Aptos" pitchFamily="34" charset="-120"/>
            </a:endParaRPr>
          </a:p>
          <a:p>
            <a:pPr marL="0" indent="0" algn="ctr">
              <a:buNone/>
            </a:pPr>
            <a:r>
              <a:rPr lang="en-US" sz="920" b="1" dirty="0">
                <a:solidFill>
                  <a:schemeClr val="tx1">
                    <a:lumMod val="65000"/>
                    <a:lumOff val="35000"/>
                  </a:schemeClr>
                </a:solidFill>
                <a:latin typeface="Aptos" pitchFamily="34" charset="0"/>
                <a:ea typeface="Aptos" pitchFamily="34" charset="-122"/>
                <a:cs typeface="Aptos" pitchFamily="34" charset="-120"/>
              </a:rPr>
              <a:t>Through what mechanism did the effect happen (direct/indirect)</a:t>
            </a:r>
            <a:endParaRPr lang="en-US" sz="920" dirty="0">
              <a:solidFill>
                <a:schemeClr val="tx1">
                  <a:lumMod val="65000"/>
                  <a:lumOff val="35000"/>
                </a:schemeClr>
              </a:solidFill>
            </a:endParaRPr>
          </a:p>
        </p:txBody>
      </p:sp>
      <p:sp>
        <p:nvSpPr>
          <p:cNvPr id="14" name="Text 12"/>
          <p:cNvSpPr/>
          <p:nvPr/>
        </p:nvSpPr>
        <p:spPr>
          <a:xfrm>
            <a:off x="6640745" y="950976"/>
            <a:ext cx="1691640" cy="1051560"/>
          </a:xfrm>
          <a:prstGeom prst="roundRect">
            <a:avLst>
              <a:gd name="adj" fmla="val 6957"/>
            </a:avLst>
          </a:prstGeom>
          <a:solidFill>
            <a:srgbClr val="EAF7EA"/>
          </a:solidFill>
          <a:ln w="12700">
            <a:solidFill>
              <a:srgbClr val="B4D7B5"/>
            </a:solidFill>
          </a:ln>
        </p:spPr>
        <p:txBody>
          <a:bodyPr wrap="square" lIns="762" tIns="762" rIns="762" bIns="762" rtlCol="0" anchor="ctr">
            <a:normAutofit/>
          </a:bodyPr>
          <a:lstStyle/>
          <a:p>
            <a:pPr marL="0" indent="0" algn="ctr">
              <a:buNone/>
            </a:pPr>
            <a:r>
              <a:rPr lang="en-US" sz="1400" b="1" dirty="0">
                <a:solidFill>
                  <a:srgbClr val="2E7D32"/>
                </a:solidFill>
                <a:latin typeface="Aptos" pitchFamily="34" charset="0"/>
                <a:ea typeface="Aptos" pitchFamily="34" charset="-122"/>
                <a:cs typeface="Aptos" pitchFamily="34" charset="-120"/>
              </a:rPr>
              <a:t>Effect</a:t>
            </a:r>
            <a:endParaRPr lang="en-US" sz="1400" dirty="0"/>
          </a:p>
          <a:p>
            <a:pPr marL="0" indent="0" algn="ctr">
              <a:buNone/>
            </a:pPr>
            <a:r>
              <a:rPr lang="en-US" sz="1400" b="1" dirty="0">
                <a:solidFill>
                  <a:srgbClr val="2E7D32"/>
                </a:solidFill>
                <a:latin typeface="Aptos" pitchFamily="34" charset="0"/>
                <a:ea typeface="Aptos" pitchFamily="34" charset="-122"/>
                <a:cs typeface="Aptos" pitchFamily="34" charset="-120"/>
              </a:rPr>
              <a:t>Heterogeneity</a:t>
            </a:r>
            <a:endParaRPr lang="en-US" sz="1400" dirty="0"/>
          </a:p>
          <a:p>
            <a:pPr marL="0" indent="0" algn="ctr">
              <a:buNone/>
            </a:pPr>
            <a:endParaRPr lang="en-US" sz="920" b="1" dirty="0">
              <a:solidFill>
                <a:srgbClr val="2E7D32"/>
              </a:solidFill>
              <a:latin typeface="Aptos" pitchFamily="34" charset="0"/>
              <a:ea typeface="Aptos" pitchFamily="34" charset="-122"/>
              <a:cs typeface="Aptos" pitchFamily="34" charset="-120"/>
            </a:endParaRPr>
          </a:p>
          <a:p>
            <a:pPr marL="0" indent="0" algn="ctr">
              <a:buNone/>
            </a:pPr>
            <a:r>
              <a:rPr lang="en-US" sz="920" b="1" dirty="0">
                <a:solidFill>
                  <a:schemeClr val="tx1">
                    <a:lumMod val="65000"/>
                    <a:lumOff val="35000"/>
                  </a:schemeClr>
                </a:solidFill>
                <a:latin typeface="Aptos" pitchFamily="34" charset="0"/>
                <a:ea typeface="Aptos" pitchFamily="34" charset="-122"/>
                <a:cs typeface="Aptos" pitchFamily="34" charset="-120"/>
              </a:rPr>
              <a:t>Where, when, for whom did/will it work</a:t>
            </a:r>
            <a:endParaRPr lang="en-US" sz="920" dirty="0">
              <a:solidFill>
                <a:schemeClr val="tx1">
                  <a:lumMod val="65000"/>
                  <a:lumOff val="35000"/>
                </a:schemeClr>
              </a:solidFill>
            </a:endParaRPr>
          </a:p>
        </p:txBody>
      </p:sp>
      <p:sp>
        <p:nvSpPr>
          <p:cNvPr id="15" name="Text 13"/>
          <p:cNvSpPr/>
          <p:nvPr/>
        </p:nvSpPr>
        <p:spPr>
          <a:xfrm>
            <a:off x="10241280" y="950976"/>
            <a:ext cx="1691640" cy="1051560"/>
          </a:xfrm>
          <a:prstGeom prst="roundRect">
            <a:avLst>
              <a:gd name="adj" fmla="val 6957"/>
            </a:avLst>
          </a:prstGeom>
          <a:solidFill>
            <a:srgbClr val="F1F3F6"/>
          </a:solidFill>
          <a:ln w="12700">
            <a:solidFill>
              <a:srgbClr val="C6CDD8"/>
            </a:solidFill>
          </a:ln>
        </p:spPr>
        <p:txBody>
          <a:bodyPr wrap="square" lIns="762" tIns="762" rIns="762" bIns="762" rtlCol="0" anchor="ctr">
            <a:normAutofit/>
          </a:bodyPr>
          <a:lstStyle/>
          <a:p>
            <a:pPr marL="0" indent="0" algn="ctr">
              <a:buNone/>
            </a:pPr>
            <a:r>
              <a:rPr lang="en-US" sz="1400" b="1" dirty="0">
                <a:solidFill>
                  <a:srgbClr val="17324D"/>
                </a:solidFill>
                <a:latin typeface="Aptos" pitchFamily="34" charset="0"/>
                <a:ea typeface="Aptos" pitchFamily="34" charset="-122"/>
                <a:cs typeface="Aptos" pitchFamily="34" charset="-120"/>
              </a:rPr>
              <a:t>Decision</a:t>
            </a:r>
            <a:endParaRPr lang="en-US" sz="1400" dirty="0"/>
          </a:p>
          <a:p>
            <a:pPr marL="0" indent="0" algn="ctr">
              <a:buNone/>
            </a:pPr>
            <a:r>
              <a:rPr lang="en-US" sz="1400" b="1" dirty="0">
                <a:solidFill>
                  <a:srgbClr val="17324D"/>
                </a:solidFill>
                <a:latin typeface="Aptos" pitchFamily="34" charset="0"/>
                <a:ea typeface="Aptos" pitchFamily="34" charset="-122"/>
                <a:cs typeface="Aptos" pitchFamily="34" charset="-120"/>
              </a:rPr>
              <a:t>Optimization</a:t>
            </a:r>
            <a:endParaRPr lang="en-US" sz="1400" dirty="0"/>
          </a:p>
          <a:p>
            <a:pPr marL="0" indent="0" algn="ctr">
              <a:buNone/>
            </a:pPr>
            <a:endParaRPr lang="en-US" sz="920" b="1" dirty="0">
              <a:solidFill>
                <a:srgbClr val="17324D"/>
              </a:solidFill>
              <a:latin typeface="Aptos" pitchFamily="34" charset="0"/>
              <a:ea typeface="Aptos" pitchFamily="34" charset="-122"/>
              <a:cs typeface="Aptos" pitchFamily="34" charset="-120"/>
            </a:endParaRPr>
          </a:p>
          <a:p>
            <a:pPr marL="0" indent="0" algn="ctr">
              <a:buNone/>
            </a:pPr>
            <a:r>
              <a:rPr lang="en-US" sz="920" b="1" dirty="0">
                <a:solidFill>
                  <a:schemeClr val="tx1">
                    <a:lumMod val="65000"/>
                    <a:lumOff val="35000"/>
                  </a:schemeClr>
                </a:solidFill>
                <a:latin typeface="Aptos" pitchFamily="34" charset="0"/>
                <a:ea typeface="Aptos" pitchFamily="34" charset="-122"/>
                <a:cs typeface="Aptos" pitchFamily="34" charset="-120"/>
              </a:rPr>
              <a:t>What should we do next?</a:t>
            </a:r>
            <a:endParaRPr lang="en-US" sz="920" dirty="0">
              <a:solidFill>
                <a:schemeClr val="tx1">
                  <a:lumMod val="65000"/>
                  <a:lumOff val="35000"/>
                </a:schemeClr>
              </a:solidFill>
            </a:endParaRPr>
          </a:p>
        </p:txBody>
      </p:sp>
      <p:sp>
        <p:nvSpPr>
          <p:cNvPr id="17" name="Text 15"/>
          <p:cNvSpPr/>
          <p:nvPr/>
        </p:nvSpPr>
        <p:spPr>
          <a:xfrm>
            <a:off x="1247902" y="2275163"/>
            <a:ext cx="1691640" cy="603504"/>
          </a:xfrm>
          <a:prstGeom prst="roundRect">
            <a:avLst>
              <a:gd name="adj" fmla="val 12121"/>
            </a:avLst>
          </a:prstGeom>
          <a:solidFill>
            <a:srgbClr val="E6F5F2"/>
          </a:solidFill>
          <a:ln w="12700">
            <a:solidFill>
              <a:srgbClr val="9CCFC5"/>
            </a:solidFill>
          </a:ln>
        </p:spPr>
        <p:txBody>
          <a:bodyPr wrap="square" lIns="762" tIns="762" rIns="762" bIns="762" rtlCol="0" anchor="ctr">
            <a:normAutofit/>
          </a:bodyPr>
          <a:lstStyle/>
          <a:p>
            <a:pPr marL="0" indent="0" algn="ctr">
              <a:buNone/>
            </a:pPr>
            <a:r>
              <a:rPr lang="en-US" sz="920" b="1" dirty="0">
                <a:solidFill>
                  <a:srgbClr val="0F766E"/>
                </a:solidFill>
                <a:latin typeface="Aptos" pitchFamily="34" charset="0"/>
                <a:ea typeface="Aptos" pitchFamily="34" charset="-122"/>
                <a:cs typeface="Aptos" pitchFamily="34" charset="-120"/>
              </a:rPr>
              <a:t>DIAL</a:t>
            </a:r>
            <a:endParaRPr lang="en-US" sz="920" dirty="0"/>
          </a:p>
        </p:txBody>
      </p:sp>
      <p:sp>
        <p:nvSpPr>
          <p:cNvPr id="18" name="Text 16"/>
          <p:cNvSpPr/>
          <p:nvPr/>
        </p:nvSpPr>
        <p:spPr>
          <a:xfrm>
            <a:off x="3055027" y="2275163"/>
            <a:ext cx="1685883" cy="603504"/>
          </a:xfrm>
          <a:prstGeom prst="roundRect">
            <a:avLst>
              <a:gd name="adj" fmla="val 12121"/>
            </a:avLst>
          </a:prstGeom>
          <a:solidFill>
            <a:srgbClr val="E8F0FF"/>
          </a:solidFill>
          <a:ln w="12700">
            <a:solidFill>
              <a:srgbClr val="AFC6F6"/>
            </a:solidFill>
          </a:ln>
        </p:spPr>
        <p:txBody>
          <a:bodyPr wrap="square" lIns="762" tIns="762" rIns="762" bIns="762" rtlCol="0" anchor="ctr">
            <a:normAutofit/>
          </a:bodyPr>
          <a:lstStyle/>
          <a:p>
            <a:pPr marL="0" indent="0" algn="ctr">
              <a:buNone/>
            </a:pPr>
            <a:r>
              <a:rPr lang="en-US" sz="920" b="1" dirty="0">
                <a:solidFill>
                  <a:srgbClr val="2D6CDF"/>
                </a:solidFill>
                <a:latin typeface="Aptos" pitchFamily="34" charset="0"/>
              </a:rPr>
              <a:t>MVM</a:t>
            </a:r>
            <a:endParaRPr lang="en-US" sz="920" dirty="0"/>
          </a:p>
        </p:txBody>
      </p:sp>
      <p:sp>
        <p:nvSpPr>
          <p:cNvPr id="19" name="Text 17"/>
          <p:cNvSpPr/>
          <p:nvPr/>
        </p:nvSpPr>
        <p:spPr>
          <a:xfrm>
            <a:off x="6708142" y="2282275"/>
            <a:ext cx="1485900" cy="603504"/>
          </a:xfrm>
          <a:prstGeom prst="roundRect">
            <a:avLst>
              <a:gd name="adj" fmla="val 12121"/>
            </a:avLst>
          </a:prstGeom>
          <a:solidFill>
            <a:srgbClr val="EAF7EA"/>
          </a:solidFill>
          <a:ln w="12700">
            <a:solidFill>
              <a:srgbClr val="B4D7B5"/>
            </a:solidFill>
          </a:ln>
        </p:spPr>
        <p:txBody>
          <a:bodyPr wrap="square" lIns="762" tIns="762" rIns="762" bIns="762" rtlCol="0" anchor="ctr">
            <a:normAutofit/>
          </a:bodyPr>
          <a:lstStyle/>
          <a:p>
            <a:pPr marL="0" indent="0" algn="ctr">
              <a:buNone/>
            </a:pPr>
            <a:r>
              <a:rPr lang="en-US" sz="920" b="1" dirty="0">
                <a:solidFill>
                  <a:srgbClr val="2E7D32"/>
                </a:solidFill>
                <a:latin typeface="Aptos" pitchFamily="34" charset="0"/>
                <a:ea typeface="Aptos" pitchFamily="34" charset="-122"/>
                <a:cs typeface="Aptos" pitchFamily="34" charset="-120"/>
              </a:rPr>
              <a:t>Next Best Offer</a:t>
            </a:r>
            <a:endParaRPr lang="en-US" sz="920" dirty="0"/>
          </a:p>
        </p:txBody>
      </p:sp>
      <p:sp>
        <p:nvSpPr>
          <p:cNvPr id="20" name="Text 18"/>
          <p:cNvSpPr/>
          <p:nvPr/>
        </p:nvSpPr>
        <p:spPr>
          <a:xfrm>
            <a:off x="3055027" y="3625427"/>
            <a:ext cx="1685883" cy="603504"/>
          </a:xfrm>
          <a:prstGeom prst="roundRect">
            <a:avLst>
              <a:gd name="adj" fmla="val 12121"/>
            </a:avLst>
          </a:prstGeom>
          <a:solidFill>
            <a:srgbClr val="F0EDFF"/>
          </a:solidFill>
          <a:ln w="12700">
            <a:solidFill>
              <a:srgbClr val="BFB7ED"/>
            </a:solidFill>
          </a:ln>
        </p:spPr>
        <p:txBody>
          <a:bodyPr wrap="square" lIns="762" tIns="762" rIns="762" bIns="762" rtlCol="0" anchor="ctr">
            <a:normAutofit/>
          </a:bodyPr>
          <a:lstStyle/>
          <a:p>
            <a:pPr marL="0" indent="0" algn="ctr">
              <a:buNone/>
            </a:pPr>
            <a:r>
              <a:rPr lang="en-US" sz="920" b="1" dirty="0">
                <a:solidFill>
                  <a:srgbClr val="6D5BD0"/>
                </a:solidFill>
                <a:latin typeface="Aptos" pitchFamily="34" charset="0"/>
                <a:ea typeface="Aptos" pitchFamily="34" charset="-122"/>
                <a:cs typeface="Aptos" pitchFamily="34" charset="-120"/>
              </a:rPr>
              <a:t>Sales Forecasting</a:t>
            </a:r>
            <a:endParaRPr lang="en-US" sz="920" dirty="0"/>
          </a:p>
        </p:txBody>
      </p:sp>
      <p:sp>
        <p:nvSpPr>
          <p:cNvPr id="21" name="Text 19"/>
          <p:cNvSpPr/>
          <p:nvPr/>
        </p:nvSpPr>
        <p:spPr>
          <a:xfrm>
            <a:off x="1281091" y="3634910"/>
            <a:ext cx="1664716" cy="603504"/>
          </a:xfrm>
          <a:prstGeom prst="roundRect">
            <a:avLst>
              <a:gd name="adj" fmla="val 12121"/>
            </a:avLst>
          </a:prstGeom>
          <a:solidFill>
            <a:srgbClr val="FFF4E6"/>
          </a:solidFill>
          <a:ln w="12700">
            <a:solidFill>
              <a:srgbClr val="E4B47C"/>
            </a:solidFill>
          </a:ln>
        </p:spPr>
        <p:txBody>
          <a:bodyPr wrap="square" lIns="762" tIns="762" rIns="762" bIns="762" rtlCol="0" anchor="ctr">
            <a:normAutofit/>
          </a:bodyPr>
          <a:lstStyle/>
          <a:p>
            <a:pPr marL="0" indent="0" algn="ctr">
              <a:buNone/>
            </a:pPr>
            <a:r>
              <a:rPr lang="en-US" sz="920" b="1" dirty="0">
                <a:solidFill>
                  <a:srgbClr val="C76B29"/>
                </a:solidFill>
                <a:latin typeface="Aptos" pitchFamily="34" charset="0"/>
              </a:rPr>
              <a:t>Serum</a:t>
            </a:r>
          </a:p>
          <a:p>
            <a:pPr marL="0" indent="0" algn="ctr">
              <a:buNone/>
            </a:pPr>
            <a:r>
              <a:rPr lang="en-US" sz="920" b="1" dirty="0">
                <a:solidFill>
                  <a:srgbClr val="C76B29"/>
                </a:solidFill>
                <a:latin typeface="Aptos" pitchFamily="34" charset="0"/>
              </a:rPr>
              <a:t>(New product / campaign launch)</a:t>
            </a:r>
            <a:endParaRPr lang="en-US" sz="920" dirty="0"/>
          </a:p>
        </p:txBody>
      </p:sp>
      <p:sp>
        <p:nvSpPr>
          <p:cNvPr id="24" name="Text 22"/>
          <p:cNvSpPr/>
          <p:nvPr/>
        </p:nvSpPr>
        <p:spPr>
          <a:xfrm>
            <a:off x="1267629" y="4709160"/>
            <a:ext cx="1691640" cy="384048"/>
          </a:xfrm>
          <a:prstGeom prst="roundRect">
            <a:avLst>
              <a:gd name="adj" fmla="val 19048"/>
            </a:avLst>
          </a:prstGeom>
          <a:solidFill>
            <a:srgbClr val="FFF7ED"/>
          </a:solidFill>
          <a:ln w="12700">
            <a:solidFill>
              <a:srgbClr val="E4B47C"/>
            </a:solidFill>
          </a:ln>
        </p:spPr>
        <p:txBody>
          <a:bodyPr wrap="square" lIns="508" tIns="508" rIns="508" bIns="508" rtlCol="0" anchor="ctr">
            <a:normAutofit/>
          </a:bodyPr>
          <a:lstStyle/>
          <a:p>
            <a:pPr marL="0" indent="0" algn="ctr">
              <a:buNone/>
            </a:pPr>
            <a:r>
              <a:rPr lang="en-US" sz="780" b="1" dirty="0">
                <a:solidFill>
                  <a:srgbClr val="C76B29"/>
                </a:solidFill>
                <a:latin typeface="Aptos" pitchFamily="34" charset="0"/>
                <a:ea typeface="Aptos" pitchFamily="34" charset="-122"/>
                <a:cs typeface="Aptos" pitchFamily="34" charset="-120"/>
              </a:rPr>
              <a:t>Causal Design</a:t>
            </a:r>
            <a:endParaRPr lang="en-US" sz="780" dirty="0"/>
          </a:p>
          <a:p>
            <a:pPr marL="0" indent="0" algn="ctr">
              <a:buNone/>
            </a:pPr>
            <a:r>
              <a:rPr lang="en-US" sz="780" b="1" dirty="0">
                <a:solidFill>
                  <a:srgbClr val="C76B29"/>
                </a:solidFill>
                <a:latin typeface="Aptos" pitchFamily="34" charset="0"/>
                <a:ea typeface="Aptos" pitchFamily="34" charset="-122"/>
                <a:cs typeface="Aptos" pitchFamily="34" charset="-120"/>
              </a:rPr>
              <a:t>Intake</a:t>
            </a:r>
            <a:endParaRPr lang="en-US" sz="780" dirty="0"/>
          </a:p>
        </p:txBody>
      </p:sp>
      <p:sp>
        <p:nvSpPr>
          <p:cNvPr id="25" name="Text 23"/>
          <p:cNvSpPr/>
          <p:nvPr/>
        </p:nvSpPr>
        <p:spPr>
          <a:xfrm>
            <a:off x="1267629" y="5184648"/>
            <a:ext cx="1691640" cy="384048"/>
          </a:xfrm>
          <a:prstGeom prst="roundRect">
            <a:avLst>
              <a:gd name="adj" fmla="val 19048"/>
            </a:avLst>
          </a:prstGeom>
          <a:solidFill>
            <a:srgbClr val="E6F5F2"/>
          </a:solidFill>
          <a:ln w="12700">
            <a:solidFill>
              <a:srgbClr val="9CCFC5"/>
            </a:solidFill>
          </a:ln>
        </p:spPr>
        <p:txBody>
          <a:bodyPr wrap="square" lIns="508" tIns="508" rIns="508" bIns="508" rtlCol="0" anchor="ctr">
            <a:normAutofit/>
          </a:bodyPr>
          <a:lstStyle/>
          <a:p>
            <a:pPr marL="0" indent="0" algn="ctr">
              <a:buNone/>
            </a:pPr>
            <a:r>
              <a:rPr lang="en-US" sz="780" b="1" dirty="0">
                <a:solidFill>
                  <a:srgbClr val="0F766E"/>
                </a:solidFill>
                <a:latin typeface="Aptos" pitchFamily="34" charset="0"/>
                <a:ea typeface="Aptos" pitchFamily="34" charset="-122"/>
                <a:cs typeface="Aptos" pitchFamily="34" charset="-120"/>
              </a:rPr>
              <a:t>Experimentation</a:t>
            </a:r>
            <a:endParaRPr lang="en-US" sz="780" dirty="0"/>
          </a:p>
          <a:p>
            <a:pPr marL="0" indent="0" algn="ctr">
              <a:buNone/>
            </a:pPr>
            <a:r>
              <a:rPr lang="en-US" sz="780" b="1" dirty="0">
                <a:solidFill>
                  <a:srgbClr val="0F766E"/>
                </a:solidFill>
                <a:latin typeface="Aptos" pitchFamily="34" charset="0"/>
                <a:ea typeface="Aptos" pitchFamily="34" charset="-122"/>
                <a:cs typeface="Aptos" pitchFamily="34" charset="-120"/>
              </a:rPr>
              <a:t>A/B · geo · switchback</a:t>
            </a:r>
            <a:endParaRPr lang="en-US" sz="780" dirty="0"/>
          </a:p>
        </p:txBody>
      </p:sp>
      <p:sp>
        <p:nvSpPr>
          <p:cNvPr id="26" name="Text 24"/>
          <p:cNvSpPr/>
          <p:nvPr/>
        </p:nvSpPr>
        <p:spPr>
          <a:xfrm>
            <a:off x="1267629" y="5718048"/>
            <a:ext cx="1691640" cy="384048"/>
          </a:xfrm>
          <a:prstGeom prst="roundRect">
            <a:avLst>
              <a:gd name="adj" fmla="val 19048"/>
            </a:avLst>
          </a:prstGeom>
          <a:solidFill>
            <a:srgbClr val="E8F0FF"/>
          </a:solidFill>
          <a:ln w="12700">
            <a:solidFill>
              <a:srgbClr val="AFC6F6"/>
            </a:solidFill>
          </a:ln>
        </p:spPr>
        <p:txBody>
          <a:bodyPr wrap="square" lIns="508" tIns="508" rIns="508" bIns="508" rtlCol="0" anchor="ctr">
            <a:normAutofit/>
          </a:bodyPr>
          <a:lstStyle/>
          <a:p>
            <a:pPr marL="0" indent="0" algn="ctr">
              <a:buNone/>
            </a:pPr>
            <a:r>
              <a:rPr lang="en-US" sz="780" b="1" dirty="0">
                <a:solidFill>
                  <a:srgbClr val="2D6CDF"/>
                </a:solidFill>
                <a:latin typeface="Aptos" pitchFamily="34" charset="0"/>
                <a:ea typeface="Aptos" pitchFamily="34" charset="-122"/>
                <a:cs typeface="Aptos" pitchFamily="34" charset="-120"/>
              </a:rPr>
              <a:t>Quasi-Experiments</a:t>
            </a:r>
            <a:endParaRPr lang="en-US" sz="780" dirty="0"/>
          </a:p>
          <a:p>
            <a:pPr algn="ctr"/>
            <a:r>
              <a:rPr lang="en-US" sz="780" b="1" dirty="0">
                <a:solidFill>
                  <a:srgbClr val="2D6CDF"/>
                </a:solidFill>
                <a:latin typeface="Aptos" pitchFamily="34" charset="0"/>
                <a:ea typeface="Aptos" pitchFamily="34" charset="-122"/>
                <a:cs typeface="Aptos" pitchFamily="34" charset="-120"/>
              </a:rPr>
              <a:t>DiD · matching · synthetic control</a:t>
            </a:r>
            <a:endParaRPr lang="en-US" sz="780" dirty="0"/>
          </a:p>
        </p:txBody>
      </p:sp>
      <p:sp>
        <p:nvSpPr>
          <p:cNvPr id="29" name="Text 27"/>
          <p:cNvSpPr/>
          <p:nvPr/>
        </p:nvSpPr>
        <p:spPr>
          <a:xfrm>
            <a:off x="8637863" y="4664795"/>
            <a:ext cx="1691640" cy="384048"/>
          </a:xfrm>
          <a:prstGeom prst="roundRect">
            <a:avLst>
              <a:gd name="adj" fmla="val 19048"/>
            </a:avLst>
          </a:prstGeom>
          <a:solidFill>
            <a:srgbClr val="FFF4E6"/>
          </a:solidFill>
          <a:ln w="12700">
            <a:solidFill>
              <a:srgbClr val="E4B47C"/>
            </a:solidFill>
          </a:ln>
        </p:spPr>
        <p:txBody>
          <a:bodyPr wrap="square" lIns="508" tIns="508" rIns="508" bIns="508" rtlCol="0" anchor="ctr">
            <a:normAutofit/>
          </a:bodyPr>
          <a:lstStyle/>
          <a:p>
            <a:pPr marL="0" indent="0" algn="ctr">
              <a:buNone/>
            </a:pPr>
            <a:r>
              <a:rPr lang="en-US" sz="780" b="1" dirty="0">
                <a:solidFill>
                  <a:srgbClr val="C76B29"/>
                </a:solidFill>
                <a:latin typeface="Aptos" pitchFamily="34" charset="0"/>
                <a:ea typeface="Aptos" pitchFamily="34" charset="-122"/>
                <a:cs typeface="Aptos" pitchFamily="34" charset="-120"/>
              </a:rPr>
              <a:t>Mediation / Pathway</a:t>
            </a:r>
            <a:endParaRPr lang="en-US" sz="780" dirty="0"/>
          </a:p>
          <a:p>
            <a:pPr marL="0" indent="0" algn="ctr">
              <a:buNone/>
            </a:pPr>
            <a:r>
              <a:rPr lang="en-US" sz="780" b="1" dirty="0">
                <a:solidFill>
                  <a:srgbClr val="C76B29"/>
                </a:solidFill>
                <a:latin typeface="Aptos" pitchFamily="34" charset="0"/>
                <a:ea typeface="Aptos" pitchFamily="34" charset="-122"/>
                <a:cs typeface="Aptos" pitchFamily="34" charset="-120"/>
              </a:rPr>
              <a:t>direct · indirect</a:t>
            </a:r>
            <a:endParaRPr lang="en-US" sz="780" dirty="0"/>
          </a:p>
        </p:txBody>
      </p:sp>
      <p:sp>
        <p:nvSpPr>
          <p:cNvPr id="30" name="Text 28"/>
          <p:cNvSpPr/>
          <p:nvPr/>
        </p:nvSpPr>
        <p:spPr>
          <a:xfrm>
            <a:off x="6809063" y="4664795"/>
            <a:ext cx="1691640" cy="384048"/>
          </a:xfrm>
          <a:prstGeom prst="roundRect">
            <a:avLst>
              <a:gd name="adj" fmla="val 19048"/>
            </a:avLst>
          </a:prstGeom>
          <a:solidFill>
            <a:srgbClr val="EAF7EA"/>
          </a:solidFill>
          <a:ln w="12700">
            <a:solidFill>
              <a:srgbClr val="B4D7B5"/>
            </a:solidFill>
          </a:ln>
        </p:spPr>
        <p:txBody>
          <a:bodyPr wrap="square" lIns="508" tIns="508" rIns="508" bIns="508" rtlCol="0" anchor="ctr">
            <a:normAutofit/>
          </a:bodyPr>
          <a:lstStyle/>
          <a:p>
            <a:pPr marL="0" indent="0" algn="ctr">
              <a:buNone/>
            </a:pPr>
            <a:r>
              <a:rPr lang="en-US" sz="780" b="1" dirty="0">
                <a:solidFill>
                  <a:srgbClr val="2E7D32"/>
                </a:solidFill>
                <a:latin typeface="Aptos" pitchFamily="34" charset="0"/>
                <a:ea typeface="Aptos" pitchFamily="34" charset="-122"/>
                <a:cs typeface="Aptos" pitchFamily="34" charset="-120"/>
              </a:rPr>
              <a:t>Causal ML / Uplift</a:t>
            </a:r>
            <a:endParaRPr lang="en-US" sz="780" dirty="0"/>
          </a:p>
          <a:p>
            <a:pPr marL="0" indent="0" algn="ctr">
              <a:buNone/>
            </a:pPr>
            <a:r>
              <a:rPr lang="en-US" sz="780" b="1" dirty="0">
                <a:solidFill>
                  <a:srgbClr val="2E7D32"/>
                </a:solidFill>
                <a:latin typeface="Aptos" pitchFamily="34" charset="0"/>
                <a:ea typeface="Aptos" pitchFamily="34" charset="-122"/>
                <a:cs typeface="Aptos" pitchFamily="34" charset="-120"/>
              </a:rPr>
              <a:t>CATE · causal forest</a:t>
            </a:r>
            <a:endParaRPr lang="en-US" sz="780" dirty="0"/>
          </a:p>
        </p:txBody>
      </p:sp>
      <p:sp>
        <p:nvSpPr>
          <p:cNvPr id="31" name="Text 29"/>
          <p:cNvSpPr/>
          <p:nvPr/>
        </p:nvSpPr>
        <p:spPr>
          <a:xfrm>
            <a:off x="3013964" y="5158571"/>
            <a:ext cx="1691640" cy="384048"/>
          </a:xfrm>
          <a:prstGeom prst="roundRect">
            <a:avLst>
              <a:gd name="adj" fmla="val 19048"/>
            </a:avLst>
          </a:prstGeom>
          <a:solidFill>
            <a:srgbClr val="E8F0FF"/>
          </a:solidFill>
          <a:ln w="12700">
            <a:solidFill>
              <a:srgbClr val="AFC6F6"/>
            </a:solidFill>
          </a:ln>
        </p:spPr>
        <p:txBody>
          <a:bodyPr wrap="square" lIns="508" tIns="508" rIns="508" bIns="508" rtlCol="0" anchor="ctr">
            <a:normAutofit/>
          </a:bodyPr>
          <a:lstStyle/>
          <a:p>
            <a:pPr marL="0" indent="0" algn="ctr">
              <a:buNone/>
            </a:pPr>
            <a:r>
              <a:rPr lang="en-US" sz="780" b="1" dirty="0">
                <a:solidFill>
                  <a:srgbClr val="2D6CDF"/>
                </a:solidFill>
                <a:latin typeface="Aptos" pitchFamily="34" charset="0"/>
                <a:ea typeface="Aptos" pitchFamily="34" charset="-122"/>
                <a:cs typeface="Aptos" pitchFamily="34" charset="-120"/>
              </a:rPr>
              <a:t>Root Cause</a:t>
            </a:r>
            <a:endParaRPr lang="en-US" sz="780" dirty="0"/>
          </a:p>
          <a:p>
            <a:pPr marL="0" indent="0" algn="ctr">
              <a:buNone/>
            </a:pPr>
            <a:r>
              <a:rPr lang="en-US" sz="780" b="1" dirty="0">
                <a:solidFill>
                  <a:srgbClr val="2D6CDF"/>
                </a:solidFill>
                <a:latin typeface="Aptos" pitchFamily="34" charset="0"/>
                <a:ea typeface="Aptos" pitchFamily="34" charset="-122"/>
                <a:cs typeface="Aptos" pitchFamily="34" charset="-120"/>
              </a:rPr>
              <a:t>&amp; anomaly attribution</a:t>
            </a:r>
            <a:endParaRPr lang="en-US" sz="780" dirty="0"/>
          </a:p>
        </p:txBody>
      </p:sp>
      <p:sp>
        <p:nvSpPr>
          <p:cNvPr id="32" name="Text 30"/>
          <p:cNvSpPr/>
          <p:nvPr/>
        </p:nvSpPr>
        <p:spPr>
          <a:xfrm>
            <a:off x="4815332" y="5158571"/>
            <a:ext cx="1691640" cy="384048"/>
          </a:xfrm>
          <a:prstGeom prst="roundRect">
            <a:avLst>
              <a:gd name="adj" fmla="val 19048"/>
            </a:avLst>
          </a:prstGeom>
          <a:solidFill>
            <a:srgbClr val="F0EDFF"/>
          </a:solidFill>
          <a:ln w="12700">
            <a:solidFill>
              <a:srgbClr val="BFB7ED"/>
            </a:solidFill>
          </a:ln>
        </p:spPr>
        <p:txBody>
          <a:bodyPr wrap="square" lIns="508" tIns="508" rIns="508" bIns="508" rtlCol="0" anchor="ctr">
            <a:normAutofit/>
          </a:bodyPr>
          <a:lstStyle/>
          <a:p>
            <a:pPr marL="0" indent="0" algn="ctr">
              <a:buNone/>
            </a:pPr>
            <a:r>
              <a:rPr lang="en-US" sz="780" b="1" dirty="0">
                <a:solidFill>
                  <a:srgbClr val="6D5BD0"/>
                </a:solidFill>
                <a:latin typeface="Aptos" pitchFamily="34" charset="0"/>
                <a:ea typeface="Aptos" pitchFamily="34" charset="-122"/>
                <a:cs typeface="Aptos" pitchFamily="34" charset="-120"/>
              </a:rPr>
              <a:t>Demand Migration</a:t>
            </a:r>
            <a:endParaRPr lang="en-US" sz="780" dirty="0"/>
          </a:p>
          <a:p>
            <a:pPr marL="0" indent="0" algn="ctr">
              <a:buNone/>
            </a:pPr>
            <a:r>
              <a:rPr lang="en-US" sz="780" b="1" dirty="0">
                <a:solidFill>
                  <a:srgbClr val="6D5BD0"/>
                </a:solidFill>
                <a:latin typeface="Aptos" pitchFamily="34" charset="0"/>
                <a:ea typeface="Aptos" pitchFamily="34" charset="-122"/>
                <a:cs typeface="Aptos" pitchFamily="34" charset="-120"/>
              </a:rPr>
              <a:t>cannibalization · halo</a:t>
            </a:r>
            <a:endParaRPr lang="en-US" sz="780" dirty="0"/>
          </a:p>
        </p:txBody>
      </p:sp>
      <p:sp>
        <p:nvSpPr>
          <p:cNvPr id="33" name="Text 31"/>
          <p:cNvSpPr/>
          <p:nvPr/>
        </p:nvSpPr>
        <p:spPr>
          <a:xfrm>
            <a:off x="10466663" y="4664795"/>
            <a:ext cx="1444413" cy="384048"/>
          </a:xfrm>
          <a:prstGeom prst="roundRect">
            <a:avLst>
              <a:gd name="adj" fmla="val 19048"/>
            </a:avLst>
          </a:prstGeom>
          <a:solidFill>
            <a:srgbClr val="F1F3F6"/>
          </a:solidFill>
          <a:ln w="12700">
            <a:solidFill>
              <a:srgbClr val="C6CDD8"/>
            </a:solidFill>
          </a:ln>
        </p:spPr>
        <p:txBody>
          <a:bodyPr wrap="square" lIns="508" tIns="508" rIns="508" bIns="508" rtlCol="0" anchor="ctr">
            <a:normAutofit/>
          </a:bodyPr>
          <a:lstStyle/>
          <a:p>
            <a:pPr marL="0" indent="0" algn="ctr">
              <a:buNone/>
            </a:pPr>
            <a:r>
              <a:rPr lang="en-US" sz="780" b="1" dirty="0">
                <a:solidFill>
                  <a:srgbClr val="17324D"/>
                </a:solidFill>
                <a:latin typeface="Aptos" pitchFamily="34" charset="0"/>
                <a:ea typeface="Aptos" pitchFamily="34" charset="-122"/>
                <a:cs typeface="Aptos" pitchFamily="34" charset="-120"/>
              </a:rPr>
              <a:t>What-if</a:t>
            </a:r>
            <a:endParaRPr lang="en-US" sz="780" dirty="0"/>
          </a:p>
          <a:p>
            <a:pPr marL="0" indent="0" algn="ctr">
              <a:buNone/>
            </a:pPr>
            <a:r>
              <a:rPr lang="en-US" sz="780" b="1" dirty="0">
                <a:solidFill>
                  <a:srgbClr val="17324D"/>
                </a:solidFill>
                <a:latin typeface="Aptos" pitchFamily="34" charset="0"/>
                <a:ea typeface="Aptos" pitchFamily="34" charset="-122"/>
                <a:cs typeface="Aptos" pitchFamily="34" charset="-120"/>
              </a:rPr>
              <a:t>Simulation</a:t>
            </a:r>
            <a:endParaRPr lang="en-US" sz="780" dirty="0"/>
          </a:p>
        </p:txBody>
      </p:sp>
      <p:sp>
        <p:nvSpPr>
          <p:cNvPr id="34" name="Text 32"/>
          <p:cNvSpPr/>
          <p:nvPr/>
        </p:nvSpPr>
        <p:spPr>
          <a:xfrm>
            <a:off x="10466662" y="5140283"/>
            <a:ext cx="1444413" cy="384048"/>
          </a:xfrm>
          <a:prstGeom prst="roundRect">
            <a:avLst>
              <a:gd name="adj" fmla="val 19048"/>
            </a:avLst>
          </a:prstGeom>
          <a:solidFill>
            <a:srgbClr val="EAF7EA"/>
          </a:solidFill>
          <a:ln w="12700">
            <a:solidFill>
              <a:srgbClr val="B4D7B5"/>
            </a:solidFill>
          </a:ln>
        </p:spPr>
        <p:txBody>
          <a:bodyPr wrap="square" lIns="508" tIns="508" rIns="508" bIns="508" rtlCol="0" anchor="ctr">
            <a:normAutofit/>
          </a:bodyPr>
          <a:lstStyle/>
          <a:p>
            <a:pPr marL="0" indent="0" algn="ctr">
              <a:buNone/>
            </a:pPr>
            <a:r>
              <a:rPr lang="en-US" sz="780" b="1" dirty="0">
                <a:solidFill>
                  <a:srgbClr val="2E7D32"/>
                </a:solidFill>
                <a:latin typeface="Aptos" pitchFamily="34" charset="0"/>
                <a:ea typeface="Aptos" pitchFamily="34" charset="-122"/>
                <a:cs typeface="Aptos" pitchFamily="34" charset="-120"/>
              </a:rPr>
              <a:t>Policy</a:t>
            </a:r>
            <a:endParaRPr lang="en-US" sz="780" dirty="0"/>
          </a:p>
          <a:p>
            <a:pPr marL="0" indent="0" algn="ctr">
              <a:buNone/>
            </a:pPr>
            <a:r>
              <a:rPr lang="en-US" sz="780" b="1" dirty="0">
                <a:solidFill>
                  <a:srgbClr val="2E7D32"/>
                </a:solidFill>
                <a:latin typeface="Aptos" pitchFamily="34" charset="0"/>
                <a:ea typeface="Aptos" pitchFamily="34" charset="-122"/>
                <a:cs typeface="Aptos" pitchFamily="34" charset="-120"/>
              </a:rPr>
              <a:t>Optimization</a:t>
            </a:r>
            <a:endParaRPr lang="en-US" sz="780" dirty="0"/>
          </a:p>
        </p:txBody>
      </p:sp>
      <p:sp>
        <p:nvSpPr>
          <p:cNvPr id="35" name="Text 33"/>
          <p:cNvSpPr/>
          <p:nvPr/>
        </p:nvSpPr>
        <p:spPr>
          <a:xfrm>
            <a:off x="10448034" y="5642526"/>
            <a:ext cx="1463041" cy="384048"/>
          </a:xfrm>
          <a:prstGeom prst="roundRect">
            <a:avLst>
              <a:gd name="adj" fmla="val 19048"/>
            </a:avLst>
          </a:prstGeom>
          <a:solidFill>
            <a:srgbClr val="FFF7ED"/>
          </a:solidFill>
          <a:ln w="12700">
            <a:solidFill>
              <a:srgbClr val="E4B47C"/>
            </a:solidFill>
          </a:ln>
        </p:spPr>
        <p:txBody>
          <a:bodyPr wrap="square" lIns="508" tIns="508" rIns="508" bIns="508" rtlCol="0" anchor="ctr">
            <a:normAutofit/>
          </a:bodyPr>
          <a:lstStyle/>
          <a:p>
            <a:pPr marL="0" indent="0" algn="ctr">
              <a:buNone/>
            </a:pPr>
            <a:r>
              <a:rPr lang="en-US" sz="780" b="1" dirty="0">
                <a:solidFill>
                  <a:srgbClr val="C76B29"/>
                </a:solidFill>
                <a:latin typeface="Aptos" pitchFamily="34" charset="0"/>
                <a:ea typeface="Aptos" pitchFamily="34" charset="-122"/>
                <a:cs typeface="Aptos" pitchFamily="34" charset="-120"/>
              </a:rPr>
              <a:t>Validation</a:t>
            </a:r>
            <a:endParaRPr lang="en-US" sz="780" dirty="0"/>
          </a:p>
          <a:p>
            <a:pPr marL="0" indent="0" algn="ctr">
              <a:buNone/>
            </a:pPr>
            <a:r>
              <a:rPr lang="en-US" sz="780" b="1" dirty="0">
                <a:solidFill>
                  <a:srgbClr val="C76B29"/>
                </a:solidFill>
                <a:latin typeface="Aptos" pitchFamily="34" charset="0"/>
                <a:ea typeface="Aptos" pitchFamily="34" charset="-122"/>
                <a:cs typeface="Aptos" pitchFamily="34" charset="-120"/>
              </a:rPr>
              <a:t>refutation · sensitivity</a:t>
            </a:r>
            <a:endParaRPr lang="en-US" sz="780" dirty="0"/>
          </a:p>
        </p:txBody>
      </p:sp>
      <p:sp>
        <p:nvSpPr>
          <p:cNvPr id="37" name="Text 35"/>
          <p:cNvSpPr/>
          <p:nvPr/>
        </p:nvSpPr>
        <p:spPr>
          <a:xfrm>
            <a:off x="4842425" y="5704163"/>
            <a:ext cx="1691640" cy="384048"/>
          </a:xfrm>
          <a:prstGeom prst="roundRect">
            <a:avLst>
              <a:gd name="adj" fmla="val 19048"/>
            </a:avLst>
          </a:prstGeom>
          <a:solidFill>
            <a:srgbClr val="F0EDFF"/>
          </a:solidFill>
          <a:ln w="12700">
            <a:solidFill>
              <a:srgbClr val="BFB7ED"/>
            </a:solidFill>
          </a:ln>
        </p:spPr>
        <p:txBody>
          <a:bodyPr wrap="square" lIns="508" tIns="508" rIns="508" bIns="508" rtlCol="0" anchor="ctr">
            <a:normAutofit/>
          </a:bodyPr>
          <a:lstStyle/>
          <a:p>
            <a:pPr marL="0" indent="0" algn="ctr">
              <a:buNone/>
            </a:pPr>
            <a:r>
              <a:rPr lang="en-US" sz="780" b="1" dirty="0">
                <a:solidFill>
                  <a:srgbClr val="6D5BD0"/>
                </a:solidFill>
                <a:latin typeface="Aptos" pitchFamily="34" charset="0"/>
                <a:ea typeface="Aptos" pitchFamily="34" charset="-122"/>
                <a:cs typeface="Aptos" pitchFamily="34" charset="-120"/>
              </a:rPr>
              <a:t>Guardrails</a:t>
            </a:r>
            <a:endParaRPr lang="en-US" sz="780" dirty="0"/>
          </a:p>
          <a:p>
            <a:pPr marL="0" indent="0" algn="ctr">
              <a:buNone/>
            </a:pPr>
            <a:r>
              <a:rPr lang="en-US" sz="780" b="1" dirty="0">
                <a:solidFill>
                  <a:srgbClr val="6D5BD0"/>
                </a:solidFill>
                <a:latin typeface="Aptos" pitchFamily="34" charset="0"/>
                <a:ea typeface="Aptos" pitchFamily="34" charset="-122"/>
                <a:cs typeface="Aptos" pitchFamily="34" charset="-120"/>
              </a:rPr>
              <a:t>spillover · long-term</a:t>
            </a:r>
            <a:endParaRPr lang="en-US" sz="780" dirty="0"/>
          </a:p>
        </p:txBody>
      </p:sp>
      <p:sp>
        <p:nvSpPr>
          <p:cNvPr id="38" name="Text 36"/>
          <p:cNvSpPr/>
          <p:nvPr/>
        </p:nvSpPr>
        <p:spPr>
          <a:xfrm>
            <a:off x="3010069" y="6192181"/>
            <a:ext cx="1691640" cy="384048"/>
          </a:xfrm>
          <a:prstGeom prst="roundRect">
            <a:avLst>
              <a:gd name="adj" fmla="val 19048"/>
            </a:avLst>
          </a:prstGeom>
          <a:solidFill>
            <a:srgbClr val="F1F3F6"/>
          </a:solidFill>
          <a:ln w="12700">
            <a:solidFill>
              <a:srgbClr val="C6CDD8"/>
            </a:solidFill>
          </a:ln>
        </p:spPr>
        <p:txBody>
          <a:bodyPr wrap="square" lIns="508" tIns="508" rIns="508" bIns="508" rtlCol="0" anchor="ctr">
            <a:normAutofit/>
          </a:bodyPr>
          <a:lstStyle/>
          <a:p>
            <a:pPr marL="0" indent="0" algn="ctr">
              <a:buNone/>
            </a:pPr>
            <a:r>
              <a:rPr lang="en-US" sz="780" b="1" dirty="0">
                <a:solidFill>
                  <a:srgbClr val="17324D"/>
                </a:solidFill>
                <a:latin typeface="Aptos" pitchFamily="34" charset="0"/>
                <a:ea typeface="Aptos" pitchFamily="34" charset="-122"/>
                <a:cs typeface="Aptos" pitchFamily="34" charset="-120"/>
              </a:rPr>
              <a:t>Reporting / API</a:t>
            </a:r>
            <a:endParaRPr lang="en-US" sz="780" dirty="0"/>
          </a:p>
          <a:p>
            <a:pPr marL="0" indent="0" algn="ctr">
              <a:buNone/>
            </a:pPr>
            <a:r>
              <a:rPr lang="en-US" sz="780" b="1" dirty="0">
                <a:solidFill>
                  <a:srgbClr val="17324D"/>
                </a:solidFill>
                <a:latin typeface="Aptos" pitchFamily="34" charset="0"/>
                <a:ea typeface="Aptos" pitchFamily="34" charset="-122"/>
                <a:cs typeface="Aptos" pitchFamily="34" charset="-120"/>
              </a:rPr>
              <a:t>decision layer</a:t>
            </a:r>
            <a:endParaRPr lang="en-US" sz="780" dirty="0"/>
          </a:p>
        </p:txBody>
      </p:sp>
      <p:sp>
        <p:nvSpPr>
          <p:cNvPr id="40" name="Text 16">
            <a:extLst>
              <a:ext uri="{FF2B5EF4-FFF2-40B4-BE49-F238E27FC236}">
                <a16:creationId xmlns:a16="http://schemas.microsoft.com/office/drawing/2014/main" id="{9A520E69-7BB3-42F2-A13E-03CDC517DF09}"/>
              </a:ext>
            </a:extLst>
          </p:cNvPr>
          <p:cNvSpPr/>
          <p:nvPr/>
        </p:nvSpPr>
        <p:spPr>
          <a:xfrm>
            <a:off x="3055027" y="2953512"/>
            <a:ext cx="3583517" cy="603504"/>
          </a:xfrm>
          <a:prstGeom prst="roundRect">
            <a:avLst>
              <a:gd name="adj" fmla="val 12121"/>
            </a:avLst>
          </a:prstGeom>
          <a:solidFill>
            <a:srgbClr val="E8F0FF"/>
          </a:solidFill>
          <a:ln w="12700">
            <a:solidFill>
              <a:srgbClr val="AFC6F6"/>
            </a:solidFill>
          </a:ln>
        </p:spPr>
        <p:txBody>
          <a:bodyPr wrap="square" lIns="762" tIns="762" rIns="762" bIns="762" rtlCol="0" anchor="ctr">
            <a:normAutofit/>
          </a:bodyPr>
          <a:lstStyle/>
          <a:p>
            <a:pPr marL="0" indent="0" algn="ctr">
              <a:buNone/>
            </a:pPr>
            <a:r>
              <a:rPr lang="en-US" sz="920" b="1" dirty="0">
                <a:solidFill>
                  <a:srgbClr val="2D6CDF"/>
                </a:solidFill>
                <a:latin typeface="Aptos" pitchFamily="34" charset="0"/>
              </a:rPr>
              <a:t>CLV</a:t>
            </a:r>
            <a:endParaRPr lang="en-US" sz="920" dirty="0"/>
          </a:p>
        </p:txBody>
      </p:sp>
      <p:sp>
        <p:nvSpPr>
          <p:cNvPr id="16" name="Text 29">
            <a:extLst>
              <a:ext uri="{FF2B5EF4-FFF2-40B4-BE49-F238E27FC236}">
                <a16:creationId xmlns:a16="http://schemas.microsoft.com/office/drawing/2014/main" id="{B436B9F2-A5C9-9C31-65DF-0E96C6E4A8A3}"/>
              </a:ext>
            </a:extLst>
          </p:cNvPr>
          <p:cNvSpPr/>
          <p:nvPr/>
        </p:nvSpPr>
        <p:spPr>
          <a:xfrm>
            <a:off x="3010069" y="4709160"/>
            <a:ext cx="1691640" cy="384048"/>
          </a:xfrm>
          <a:prstGeom prst="roundRect">
            <a:avLst>
              <a:gd name="adj" fmla="val 19048"/>
            </a:avLst>
          </a:prstGeom>
          <a:solidFill>
            <a:srgbClr val="E8F0FF"/>
          </a:solidFill>
          <a:ln w="12700">
            <a:solidFill>
              <a:srgbClr val="AFC6F6"/>
            </a:solidFill>
          </a:ln>
        </p:spPr>
        <p:txBody>
          <a:bodyPr wrap="square" lIns="508" tIns="508" rIns="508" bIns="508" rtlCol="0" anchor="ctr">
            <a:normAutofit lnSpcReduction="10000"/>
          </a:bodyPr>
          <a:lstStyle/>
          <a:p>
            <a:pPr marL="0" indent="0" algn="ctr">
              <a:buNone/>
            </a:pPr>
            <a:r>
              <a:rPr lang="en-US" sz="780" b="1" dirty="0">
                <a:solidFill>
                  <a:srgbClr val="2D6CDF"/>
                </a:solidFill>
                <a:latin typeface="Aptos" pitchFamily="34" charset="0"/>
                <a:ea typeface="Aptos" pitchFamily="34" charset="-122"/>
                <a:cs typeface="Aptos" pitchFamily="34" charset="-120"/>
              </a:rPr>
              <a:t>Panel Models</a:t>
            </a:r>
          </a:p>
          <a:p>
            <a:pPr algn="ctr"/>
            <a:r>
              <a:rPr lang="en-US" sz="780" b="1" dirty="0">
                <a:solidFill>
                  <a:srgbClr val="2D6CDF"/>
                </a:solidFill>
                <a:latin typeface="Aptos" pitchFamily="34" charset="0"/>
                <a:ea typeface="Aptos" pitchFamily="34" charset="-122"/>
                <a:cs typeface="Aptos" pitchFamily="34" charset="-120"/>
              </a:rPr>
              <a:t>Fixed Effects </a:t>
            </a:r>
            <a:r>
              <a:rPr lang="en-US" sz="780" b="1" dirty="0">
                <a:solidFill>
                  <a:srgbClr val="2E7D32"/>
                </a:solidFill>
                <a:latin typeface="Aptos" pitchFamily="34" charset="0"/>
                <a:ea typeface="Aptos" pitchFamily="34" charset="-122"/>
                <a:cs typeface="Aptos" pitchFamily="34" charset="-120"/>
              </a:rPr>
              <a:t>· </a:t>
            </a:r>
            <a:r>
              <a:rPr lang="en-US" sz="780" b="1" dirty="0">
                <a:solidFill>
                  <a:srgbClr val="2D6CDF"/>
                </a:solidFill>
                <a:latin typeface="Aptos" pitchFamily="34" charset="0"/>
                <a:ea typeface="Aptos" pitchFamily="34" charset="-122"/>
                <a:cs typeface="Aptos" pitchFamily="34" charset="-120"/>
              </a:rPr>
              <a:t>Random Effects </a:t>
            </a:r>
            <a:r>
              <a:rPr lang="en-US" sz="780" b="1" dirty="0">
                <a:solidFill>
                  <a:srgbClr val="2E7D32"/>
                </a:solidFill>
                <a:latin typeface="Aptos" pitchFamily="34" charset="0"/>
                <a:ea typeface="Aptos" pitchFamily="34" charset="-122"/>
                <a:cs typeface="Aptos" pitchFamily="34" charset="-120"/>
              </a:rPr>
              <a:t>·</a:t>
            </a:r>
            <a:r>
              <a:rPr lang="en-US" sz="780" b="1" dirty="0">
                <a:solidFill>
                  <a:srgbClr val="2D6CDF"/>
                </a:solidFill>
                <a:latin typeface="Aptos" pitchFamily="34" charset="0"/>
                <a:ea typeface="Aptos" pitchFamily="34" charset="-122"/>
                <a:cs typeface="Aptos" pitchFamily="34" charset="-120"/>
              </a:rPr>
              <a:t> </a:t>
            </a:r>
            <a:r>
              <a:rPr lang="en-US" sz="780" b="1" dirty="0" err="1">
                <a:solidFill>
                  <a:srgbClr val="2D6CDF"/>
                </a:solidFill>
                <a:latin typeface="Aptos" pitchFamily="34" charset="0"/>
                <a:ea typeface="Aptos" pitchFamily="34" charset="-122"/>
                <a:cs typeface="Aptos" pitchFamily="34" charset="-120"/>
              </a:rPr>
              <a:t>Mundlak</a:t>
            </a:r>
            <a:endParaRPr lang="en-US" sz="780" dirty="0"/>
          </a:p>
        </p:txBody>
      </p:sp>
      <p:sp>
        <p:nvSpPr>
          <p:cNvPr id="23" name="Text 29">
            <a:extLst>
              <a:ext uri="{FF2B5EF4-FFF2-40B4-BE49-F238E27FC236}">
                <a16:creationId xmlns:a16="http://schemas.microsoft.com/office/drawing/2014/main" id="{BF8FC750-36B6-497A-2C44-FAB82FC5A90E}"/>
              </a:ext>
            </a:extLst>
          </p:cNvPr>
          <p:cNvSpPr/>
          <p:nvPr/>
        </p:nvSpPr>
        <p:spPr>
          <a:xfrm>
            <a:off x="4815332" y="4683083"/>
            <a:ext cx="1691640" cy="384048"/>
          </a:xfrm>
          <a:prstGeom prst="roundRect">
            <a:avLst>
              <a:gd name="adj" fmla="val 19048"/>
            </a:avLst>
          </a:prstGeom>
          <a:solidFill>
            <a:srgbClr val="E8F0FF"/>
          </a:solidFill>
          <a:ln w="12700">
            <a:solidFill>
              <a:srgbClr val="AFC6F6"/>
            </a:solidFill>
          </a:ln>
        </p:spPr>
        <p:txBody>
          <a:bodyPr wrap="square" lIns="508" tIns="508" rIns="508" bIns="508" rtlCol="0" anchor="ctr">
            <a:normAutofit/>
          </a:bodyPr>
          <a:lstStyle/>
          <a:p>
            <a:pPr marL="0" indent="0" algn="ctr">
              <a:buNone/>
            </a:pPr>
            <a:r>
              <a:rPr lang="en-US" sz="780" b="1" dirty="0">
                <a:solidFill>
                  <a:srgbClr val="2D6CDF"/>
                </a:solidFill>
                <a:latin typeface="Aptos" pitchFamily="34" charset="0"/>
                <a:ea typeface="Aptos" pitchFamily="34" charset="-122"/>
                <a:cs typeface="Aptos" pitchFamily="34" charset="-120"/>
              </a:rPr>
              <a:t>Bayesian Causal Inference</a:t>
            </a:r>
            <a:endParaRPr lang="en-US" sz="780" dirty="0"/>
          </a:p>
        </p:txBody>
      </p:sp>
      <p:sp>
        <p:nvSpPr>
          <p:cNvPr id="28" name="Text 29">
            <a:extLst>
              <a:ext uri="{FF2B5EF4-FFF2-40B4-BE49-F238E27FC236}">
                <a16:creationId xmlns:a16="http://schemas.microsoft.com/office/drawing/2014/main" id="{57994648-0446-59C1-F56F-ECE57EF6F76F}"/>
              </a:ext>
            </a:extLst>
          </p:cNvPr>
          <p:cNvSpPr/>
          <p:nvPr/>
        </p:nvSpPr>
        <p:spPr>
          <a:xfrm>
            <a:off x="3013964" y="5704163"/>
            <a:ext cx="1691640" cy="384048"/>
          </a:xfrm>
          <a:prstGeom prst="roundRect">
            <a:avLst>
              <a:gd name="adj" fmla="val 19048"/>
            </a:avLst>
          </a:prstGeom>
          <a:solidFill>
            <a:srgbClr val="E8F0FF"/>
          </a:solidFill>
          <a:ln w="12700">
            <a:solidFill>
              <a:srgbClr val="AFC6F6"/>
            </a:solidFill>
          </a:ln>
        </p:spPr>
        <p:txBody>
          <a:bodyPr wrap="square" lIns="508" tIns="508" rIns="508" bIns="508" rtlCol="0" anchor="ctr">
            <a:normAutofit/>
          </a:bodyPr>
          <a:lstStyle/>
          <a:p>
            <a:pPr marL="0" indent="0" algn="ctr">
              <a:buNone/>
            </a:pPr>
            <a:r>
              <a:rPr lang="en-US" sz="780" b="1" dirty="0">
                <a:solidFill>
                  <a:srgbClr val="2D6CDF"/>
                </a:solidFill>
                <a:latin typeface="Aptos" pitchFamily="34" charset="0"/>
                <a:ea typeface="Aptos" pitchFamily="34" charset="-122"/>
                <a:cs typeface="Aptos" pitchFamily="34" charset="-120"/>
              </a:rPr>
              <a:t>SHAP / Shapley Attribution</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26169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1E036E-5A1C-A0E0-B803-E742F0E0E58B}"/>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CA9E3D70-A0B4-051E-C0A2-186A8D259057}"/>
              </a:ext>
            </a:extLst>
          </p:cNvPr>
          <p:cNvSpPr/>
          <p:nvPr/>
        </p:nvSpPr>
        <p:spPr>
          <a:xfrm>
            <a:off x="320040" y="164592"/>
            <a:ext cx="11521440" cy="329184"/>
          </a:xfrm>
          <a:prstGeom prst="rect">
            <a:avLst/>
          </a:prstGeom>
          <a:noFill/>
          <a:ln/>
        </p:spPr>
        <p:txBody>
          <a:bodyPr wrap="square" lIns="0" tIns="0" rIns="0" bIns="0" rtlCol="0" anchor="ctr"/>
          <a:lstStyle/>
          <a:p>
            <a:pPr marL="0" indent="0" algn="ctr">
              <a:buNone/>
            </a:pPr>
            <a:r>
              <a:rPr lang="en-US" sz="2400" b="1" dirty="0">
                <a:solidFill>
                  <a:srgbClr val="17324D"/>
                </a:solidFill>
                <a:latin typeface="Aptos Display" pitchFamily="34" charset="0"/>
                <a:ea typeface="Aptos Display" pitchFamily="34" charset="-122"/>
                <a:cs typeface="Aptos Display" pitchFamily="34" charset="-120"/>
              </a:rPr>
              <a:t>Causal Capability Platform — Conceptual Map</a:t>
            </a:r>
            <a:endParaRPr lang="en-US" sz="2400" dirty="0"/>
          </a:p>
        </p:txBody>
      </p:sp>
      <p:sp>
        <p:nvSpPr>
          <p:cNvPr id="4" name="Shape 2">
            <a:extLst>
              <a:ext uri="{FF2B5EF4-FFF2-40B4-BE49-F238E27FC236}">
                <a16:creationId xmlns:a16="http://schemas.microsoft.com/office/drawing/2014/main" id="{8C1AE46F-7857-9690-4C64-03C6C788E070}"/>
              </a:ext>
            </a:extLst>
          </p:cNvPr>
          <p:cNvSpPr/>
          <p:nvPr/>
        </p:nvSpPr>
        <p:spPr>
          <a:xfrm>
            <a:off x="1179576" y="804672"/>
            <a:ext cx="10808208" cy="1371600"/>
          </a:xfrm>
          <a:prstGeom prst="roundRect">
            <a:avLst>
              <a:gd name="adj" fmla="val 8000"/>
            </a:avLst>
          </a:prstGeom>
          <a:solidFill>
            <a:srgbClr val="F7FBFA"/>
          </a:solidFill>
          <a:ln w="12700">
            <a:solidFill>
              <a:srgbClr val="DDEDEA"/>
            </a:solidFill>
            <a:prstDash val="solid"/>
          </a:ln>
        </p:spPr>
      </p:sp>
      <p:sp>
        <p:nvSpPr>
          <p:cNvPr id="5" name="Shape 3">
            <a:extLst>
              <a:ext uri="{FF2B5EF4-FFF2-40B4-BE49-F238E27FC236}">
                <a16:creationId xmlns:a16="http://schemas.microsoft.com/office/drawing/2014/main" id="{4A3DA1A4-2014-C1B5-21DD-3F8ED67166F0}"/>
              </a:ext>
            </a:extLst>
          </p:cNvPr>
          <p:cNvSpPr/>
          <p:nvPr/>
        </p:nvSpPr>
        <p:spPr>
          <a:xfrm>
            <a:off x="1179576" y="2194560"/>
            <a:ext cx="10808208" cy="2139696"/>
          </a:xfrm>
          <a:prstGeom prst="roundRect">
            <a:avLst>
              <a:gd name="adj" fmla="val 5128"/>
            </a:avLst>
          </a:prstGeom>
          <a:solidFill>
            <a:srgbClr val="F8FAFE"/>
          </a:solidFill>
          <a:ln w="12700">
            <a:solidFill>
              <a:srgbClr val="DDE6F7"/>
            </a:solidFill>
            <a:prstDash val="solid"/>
          </a:ln>
        </p:spPr>
      </p:sp>
      <p:sp>
        <p:nvSpPr>
          <p:cNvPr id="6" name="Shape 4">
            <a:extLst>
              <a:ext uri="{FF2B5EF4-FFF2-40B4-BE49-F238E27FC236}">
                <a16:creationId xmlns:a16="http://schemas.microsoft.com/office/drawing/2014/main" id="{BCC7F61C-ECFB-88A3-3A84-6DD89CEEF4E1}"/>
              </a:ext>
            </a:extLst>
          </p:cNvPr>
          <p:cNvSpPr/>
          <p:nvPr/>
        </p:nvSpPr>
        <p:spPr>
          <a:xfrm>
            <a:off x="1179576" y="4425696"/>
            <a:ext cx="10808208" cy="2432304"/>
          </a:xfrm>
          <a:prstGeom prst="roundRect">
            <a:avLst>
              <a:gd name="adj" fmla="val 4959"/>
            </a:avLst>
          </a:prstGeom>
          <a:solidFill>
            <a:srgbClr val="FCFAF7"/>
          </a:solidFill>
          <a:ln w="12700">
            <a:solidFill>
              <a:srgbClr val="EFE2D0"/>
            </a:solidFill>
            <a:prstDash val="solid"/>
          </a:ln>
        </p:spPr>
      </p:sp>
      <p:sp>
        <p:nvSpPr>
          <p:cNvPr id="7" name="Text 5">
            <a:extLst>
              <a:ext uri="{FF2B5EF4-FFF2-40B4-BE49-F238E27FC236}">
                <a16:creationId xmlns:a16="http://schemas.microsoft.com/office/drawing/2014/main" id="{FE97EE9A-CF65-9E71-A047-833A2A29B0CC}"/>
              </a:ext>
            </a:extLst>
          </p:cNvPr>
          <p:cNvSpPr/>
          <p:nvPr/>
        </p:nvSpPr>
        <p:spPr>
          <a:xfrm>
            <a:off x="0" y="1097280"/>
            <a:ext cx="950976" cy="786384"/>
          </a:xfrm>
          <a:prstGeom prst="rect">
            <a:avLst/>
          </a:prstGeom>
          <a:noFill/>
          <a:ln/>
        </p:spPr>
        <p:txBody>
          <a:bodyPr wrap="square" lIns="254" tIns="254" rIns="254" bIns="254" rtlCol="0" anchor="ctr">
            <a:normAutofit/>
          </a:bodyPr>
          <a:lstStyle/>
          <a:p>
            <a:pPr marL="0" indent="0" algn="r">
              <a:buNone/>
            </a:pPr>
            <a:r>
              <a:rPr lang="en-US" sz="1050" b="1" dirty="0">
                <a:solidFill>
                  <a:srgbClr val="0F766E"/>
                </a:solidFill>
                <a:latin typeface="Aptos" pitchFamily="34" charset="0"/>
                <a:ea typeface="Aptos" pitchFamily="34" charset="-122"/>
                <a:cs typeface="Aptos" pitchFamily="34" charset="-120"/>
              </a:rPr>
              <a:t>Causal</a:t>
            </a:r>
            <a:endParaRPr lang="en-US" sz="1050" dirty="0"/>
          </a:p>
          <a:p>
            <a:pPr marL="0" indent="0" algn="r">
              <a:buNone/>
            </a:pPr>
            <a:r>
              <a:rPr lang="en-US" sz="1050" b="1" dirty="0">
                <a:solidFill>
                  <a:srgbClr val="0F766E"/>
                </a:solidFill>
                <a:latin typeface="Aptos" pitchFamily="34" charset="0"/>
                <a:ea typeface="Aptos" pitchFamily="34" charset="-122"/>
                <a:cs typeface="Aptos" pitchFamily="34" charset="-120"/>
              </a:rPr>
              <a:t>Capabilities</a:t>
            </a:r>
            <a:endParaRPr lang="en-US" sz="1050" dirty="0"/>
          </a:p>
        </p:txBody>
      </p:sp>
      <p:sp>
        <p:nvSpPr>
          <p:cNvPr id="8" name="Text 6">
            <a:extLst>
              <a:ext uri="{FF2B5EF4-FFF2-40B4-BE49-F238E27FC236}">
                <a16:creationId xmlns:a16="http://schemas.microsoft.com/office/drawing/2014/main" id="{05DE7727-E469-E900-6853-9F4767FA2643}"/>
              </a:ext>
            </a:extLst>
          </p:cNvPr>
          <p:cNvSpPr/>
          <p:nvPr/>
        </p:nvSpPr>
        <p:spPr>
          <a:xfrm>
            <a:off x="-228600" y="2775204"/>
            <a:ext cx="1179576" cy="713232"/>
          </a:xfrm>
          <a:prstGeom prst="rect">
            <a:avLst/>
          </a:prstGeom>
          <a:noFill/>
          <a:ln/>
        </p:spPr>
        <p:txBody>
          <a:bodyPr wrap="square" lIns="254" tIns="254" rIns="254" bIns="254" rtlCol="0" anchor="ctr">
            <a:normAutofit/>
          </a:bodyPr>
          <a:lstStyle/>
          <a:p>
            <a:pPr marL="0" indent="0" algn="r">
              <a:buNone/>
            </a:pPr>
            <a:r>
              <a:rPr lang="en-US" sz="1050" b="1" dirty="0">
                <a:solidFill>
                  <a:srgbClr val="2D6CDF"/>
                </a:solidFill>
                <a:latin typeface="Aptos" pitchFamily="34" charset="0"/>
                <a:ea typeface="Aptos" pitchFamily="34" charset="-122"/>
                <a:cs typeface="Aptos" pitchFamily="34" charset="-120"/>
              </a:rPr>
              <a:t>Project</a:t>
            </a:r>
            <a:endParaRPr lang="en-US" sz="1050" dirty="0"/>
          </a:p>
          <a:p>
            <a:pPr marL="0" indent="0" algn="r">
              <a:buNone/>
            </a:pPr>
            <a:r>
              <a:rPr lang="en-US" sz="1050" b="1" dirty="0">
                <a:solidFill>
                  <a:srgbClr val="2D6CDF"/>
                </a:solidFill>
                <a:latin typeface="Aptos" pitchFamily="34" charset="0"/>
                <a:ea typeface="Aptos" pitchFamily="34" charset="-122"/>
                <a:cs typeface="Aptos" pitchFamily="34" charset="-120"/>
              </a:rPr>
              <a:t>Cases</a:t>
            </a:r>
            <a:endParaRPr lang="en-US" sz="1050" dirty="0"/>
          </a:p>
        </p:txBody>
      </p:sp>
      <p:sp>
        <p:nvSpPr>
          <p:cNvPr id="9" name="Text 7">
            <a:extLst>
              <a:ext uri="{FF2B5EF4-FFF2-40B4-BE49-F238E27FC236}">
                <a16:creationId xmlns:a16="http://schemas.microsoft.com/office/drawing/2014/main" id="{610105E4-CE54-A367-C320-FF3F9267529A}"/>
              </a:ext>
            </a:extLst>
          </p:cNvPr>
          <p:cNvSpPr/>
          <p:nvPr/>
        </p:nvSpPr>
        <p:spPr>
          <a:xfrm>
            <a:off x="0" y="5093208"/>
            <a:ext cx="1069848" cy="1231392"/>
          </a:xfrm>
          <a:prstGeom prst="rect">
            <a:avLst/>
          </a:prstGeom>
          <a:noFill/>
          <a:ln/>
        </p:spPr>
        <p:txBody>
          <a:bodyPr wrap="square" lIns="254" tIns="254" rIns="254" bIns="254" rtlCol="0" anchor="ctr">
            <a:normAutofit lnSpcReduction="10000"/>
          </a:bodyPr>
          <a:lstStyle/>
          <a:p>
            <a:pPr marL="0" indent="0" algn="r">
              <a:buNone/>
            </a:pPr>
            <a:r>
              <a:rPr lang="en-US" sz="1050" b="1" dirty="0">
                <a:solidFill>
                  <a:srgbClr val="C76B29"/>
                </a:solidFill>
                <a:latin typeface="Aptos" pitchFamily="34" charset="0"/>
                <a:ea typeface="Aptos" pitchFamily="34" charset="-122"/>
                <a:cs typeface="Aptos" pitchFamily="34" charset="-120"/>
              </a:rPr>
              <a:t>Shared Tools</a:t>
            </a:r>
            <a:endParaRPr lang="en-US" sz="1050" dirty="0"/>
          </a:p>
          <a:p>
            <a:pPr marL="0" indent="0" algn="r">
              <a:buNone/>
            </a:pPr>
            <a:r>
              <a:rPr lang="en-US" sz="1050" b="1" dirty="0">
                <a:solidFill>
                  <a:srgbClr val="C76B29"/>
                </a:solidFill>
                <a:latin typeface="Aptos" pitchFamily="34" charset="0"/>
                <a:ea typeface="Aptos" pitchFamily="34" charset="-122"/>
                <a:cs typeface="Aptos" pitchFamily="34" charset="-120"/>
              </a:rPr>
              <a:t>&amp; Methods</a:t>
            </a:r>
          </a:p>
          <a:p>
            <a:pPr marL="0" indent="0" algn="r">
              <a:buNone/>
            </a:pPr>
            <a:endParaRPr lang="en-US" sz="1050" b="1" dirty="0">
              <a:solidFill>
                <a:srgbClr val="C76B29"/>
              </a:solidFill>
              <a:latin typeface="Aptos" pitchFamily="34" charset="0"/>
            </a:endParaRPr>
          </a:p>
          <a:p>
            <a:pPr algn="r"/>
            <a:r>
              <a:rPr lang="en-US" sz="1050" i="1" dirty="0">
                <a:solidFill>
                  <a:schemeClr val="tx1">
                    <a:lumMod val="65000"/>
                    <a:lumOff val="35000"/>
                  </a:schemeClr>
                </a:solidFill>
                <a:latin typeface="Aptos" pitchFamily="34" charset="0"/>
                <a:ea typeface="Aptos" pitchFamily="34" charset="-122"/>
                <a:cs typeface="Aptos" pitchFamily="34" charset="-120"/>
              </a:rPr>
              <a:t>Reusable causal method modules, shared across all capabilities and cases</a:t>
            </a:r>
            <a:endParaRPr lang="en-US" sz="1050" i="1" dirty="0">
              <a:solidFill>
                <a:schemeClr val="tx1">
                  <a:lumMod val="65000"/>
                  <a:lumOff val="35000"/>
                </a:schemeClr>
              </a:solidFill>
            </a:endParaRPr>
          </a:p>
          <a:p>
            <a:pPr marL="0" indent="0" algn="r">
              <a:buNone/>
            </a:pPr>
            <a:endParaRPr lang="en-US" sz="1050" dirty="0"/>
          </a:p>
        </p:txBody>
      </p:sp>
      <p:sp>
        <p:nvSpPr>
          <p:cNvPr id="10" name="Text 8">
            <a:extLst>
              <a:ext uri="{FF2B5EF4-FFF2-40B4-BE49-F238E27FC236}">
                <a16:creationId xmlns:a16="http://schemas.microsoft.com/office/drawing/2014/main" id="{75CD5BAE-9FB4-A168-40A9-A7E6B4C1BA44}"/>
              </a:ext>
            </a:extLst>
          </p:cNvPr>
          <p:cNvSpPr/>
          <p:nvPr/>
        </p:nvSpPr>
        <p:spPr>
          <a:xfrm>
            <a:off x="1234440" y="950976"/>
            <a:ext cx="1691640" cy="1051560"/>
          </a:xfrm>
          <a:prstGeom prst="roundRect">
            <a:avLst>
              <a:gd name="adj" fmla="val 6957"/>
            </a:avLst>
          </a:prstGeom>
          <a:solidFill>
            <a:srgbClr val="E6F5F2"/>
          </a:solidFill>
          <a:ln w="12700">
            <a:solidFill>
              <a:srgbClr val="9CCFC5"/>
            </a:solidFill>
          </a:ln>
        </p:spPr>
        <p:txBody>
          <a:bodyPr wrap="square" lIns="762" tIns="762" rIns="762" bIns="762" rtlCol="0" anchor="ctr">
            <a:normAutofit/>
          </a:bodyPr>
          <a:lstStyle/>
          <a:p>
            <a:pPr marL="0" indent="0" algn="ctr">
              <a:buNone/>
            </a:pPr>
            <a:r>
              <a:rPr lang="en-US" sz="1400" b="1" dirty="0">
                <a:solidFill>
                  <a:srgbClr val="0F766E"/>
                </a:solidFill>
                <a:latin typeface="Aptos" pitchFamily="34" charset="0"/>
                <a:ea typeface="Aptos" pitchFamily="34" charset="-122"/>
                <a:cs typeface="Aptos" pitchFamily="34" charset="-120"/>
              </a:rPr>
              <a:t>Incremental</a:t>
            </a:r>
            <a:r>
              <a:rPr lang="en-US" sz="1400" b="1" dirty="0"/>
              <a:t> </a:t>
            </a:r>
            <a:r>
              <a:rPr lang="en-US" sz="1400" b="1" dirty="0">
                <a:solidFill>
                  <a:srgbClr val="0F766E"/>
                </a:solidFill>
                <a:latin typeface="Aptos" pitchFamily="34" charset="0"/>
                <a:ea typeface="Aptos" pitchFamily="34" charset="-122"/>
                <a:cs typeface="Aptos" pitchFamily="34" charset="-120"/>
              </a:rPr>
              <a:t>Impact</a:t>
            </a:r>
            <a:endParaRPr lang="en-US" sz="1400" b="1" dirty="0"/>
          </a:p>
          <a:p>
            <a:pPr marL="0" indent="0" algn="ctr">
              <a:buNone/>
            </a:pPr>
            <a:endParaRPr lang="en-US" sz="920" b="1" dirty="0">
              <a:solidFill>
                <a:schemeClr val="tx1">
                  <a:lumMod val="65000"/>
                  <a:lumOff val="35000"/>
                </a:schemeClr>
              </a:solidFill>
              <a:latin typeface="Aptos" pitchFamily="34" charset="0"/>
              <a:ea typeface="Aptos" pitchFamily="34" charset="-122"/>
              <a:cs typeface="Aptos" pitchFamily="34" charset="-120"/>
            </a:endParaRPr>
          </a:p>
          <a:p>
            <a:pPr marL="0" indent="0" algn="ctr">
              <a:buNone/>
            </a:pPr>
            <a:r>
              <a:rPr lang="en-US" sz="920" b="1" dirty="0">
                <a:solidFill>
                  <a:schemeClr val="tx1">
                    <a:lumMod val="65000"/>
                    <a:lumOff val="35000"/>
                  </a:schemeClr>
                </a:solidFill>
                <a:latin typeface="Aptos" pitchFamily="34" charset="0"/>
                <a:ea typeface="Aptos" pitchFamily="34" charset="-122"/>
                <a:cs typeface="Aptos" pitchFamily="34" charset="-120"/>
              </a:rPr>
              <a:t>Did the action truly create lift?</a:t>
            </a:r>
            <a:endParaRPr lang="en-US" sz="920" dirty="0">
              <a:solidFill>
                <a:schemeClr val="tx1">
                  <a:lumMod val="65000"/>
                  <a:lumOff val="35000"/>
                </a:schemeClr>
              </a:solidFill>
            </a:endParaRPr>
          </a:p>
        </p:txBody>
      </p:sp>
      <p:sp>
        <p:nvSpPr>
          <p:cNvPr id="11" name="Text 9">
            <a:extLst>
              <a:ext uri="{FF2B5EF4-FFF2-40B4-BE49-F238E27FC236}">
                <a16:creationId xmlns:a16="http://schemas.microsoft.com/office/drawing/2014/main" id="{B5C79FB7-8012-765D-FA86-02373AF17F93}"/>
              </a:ext>
            </a:extLst>
          </p:cNvPr>
          <p:cNvSpPr/>
          <p:nvPr/>
        </p:nvSpPr>
        <p:spPr>
          <a:xfrm>
            <a:off x="3035808" y="950976"/>
            <a:ext cx="1691640" cy="1051560"/>
          </a:xfrm>
          <a:prstGeom prst="roundRect">
            <a:avLst>
              <a:gd name="adj" fmla="val 6957"/>
            </a:avLst>
          </a:prstGeom>
          <a:solidFill>
            <a:srgbClr val="E8F0FF"/>
          </a:solidFill>
          <a:ln w="12700">
            <a:solidFill>
              <a:srgbClr val="AFC6F6"/>
            </a:solidFill>
          </a:ln>
        </p:spPr>
        <p:txBody>
          <a:bodyPr wrap="square" lIns="762" tIns="762" rIns="762" bIns="762" rtlCol="0" anchor="ctr">
            <a:normAutofit/>
          </a:bodyPr>
          <a:lstStyle/>
          <a:p>
            <a:pPr algn="ctr"/>
            <a:r>
              <a:rPr lang="en-US" sz="1400" b="1" dirty="0">
                <a:solidFill>
                  <a:srgbClr val="2D6CDF"/>
                </a:solidFill>
                <a:latin typeface="Aptos" pitchFamily="34" charset="0"/>
                <a:ea typeface="Aptos" pitchFamily="34" charset="-122"/>
                <a:cs typeface="Aptos" pitchFamily="34" charset="-120"/>
              </a:rPr>
              <a:t>Business Drivers</a:t>
            </a:r>
            <a:endParaRPr lang="en-US" sz="1400" dirty="0"/>
          </a:p>
          <a:p>
            <a:pPr marL="0" indent="0" algn="ctr">
              <a:buNone/>
            </a:pPr>
            <a:r>
              <a:rPr lang="en-US" sz="1400" b="1" dirty="0">
                <a:solidFill>
                  <a:srgbClr val="2D6CDF"/>
                </a:solidFill>
                <a:latin typeface="Aptos" pitchFamily="34" charset="0"/>
                <a:ea typeface="Aptos" pitchFamily="34" charset="-122"/>
                <a:cs typeface="Aptos" pitchFamily="34" charset="-120"/>
              </a:rPr>
              <a:t>&amp; Root Cause</a:t>
            </a:r>
          </a:p>
          <a:p>
            <a:pPr marL="0" indent="0" algn="ctr">
              <a:buNone/>
            </a:pPr>
            <a:endParaRPr lang="en-US" sz="920" dirty="0"/>
          </a:p>
          <a:p>
            <a:pPr marL="0" indent="0" algn="ctr">
              <a:buNone/>
            </a:pPr>
            <a:r>
              <a:rPr lang="en-US" sz="920" b="1" dirty="0">
                <a:solidFill>
                  <a:schemeClr val="tx1">
                    <a:lumMod val="65000"/>
                    <a:lumOff val="35000"/>
                  </a:schemeClr>
                </a:solidFill>
                <a:latin typeface="Aptos" pitchFamily="34" charset="0"/>
                <a:ea typeface="Aptos" pitchFamily="34" charset="-122"/>
                <a:cs typeface="Aptos" pitchFamily="34" charset="-120"/>
              </a:rPr>
              <a:t>What drove KPIs to move or cause anomalies?</a:t>
            </a:r>
            <a:endParaRPr lang="en-US" sz="920" dirty="0">
              <a:solidFill>
                <a:schemeClr val="tx1">
                  <a:lumMod val="65000"/>
                  <a:lumOff val="35000"/>
                </a:schemeClr>
              </a:solidFill>
            </a:endParaRPr>
          </a:p>
        </p:txBody>
      </p:sp>
      <p:sp>
        <p:nvSpPr>
          <p:cNvPr id="12" name="Text 10">
            <a:extLst>
              <a:ext uri="{FF2B5EF4-FFF2-40B4-BE49-F238E27FC236}">
                <a16:creationId xmlns:a16="http://schemas.microsoft.com/office/drawing/2014/main" id="{86C414F9-A485-FEB3-C514-02F3BE1E83DC}"/>
              </a:ext>
            </a:extLst>
          </p:cNvPr>
          <p:cNvSpPr/>
          <p:nvPr/>
        </p:nvSpPr>
        <p:spPr>
          <a:xfrm>
            <a:off x="4837176" y="950976"/>
            <a:ext cx="1691640" cy="1051560"/>
          </a:xfrm>
          <a:prstGeom prst="roundRect">
            <a:avLst>
              <a:gd name="adj" fmla="val 6957"/>
            </a:avLst>
          </a:prstGeom>
          <a:solidFill>
            <a:srgbClr val="F0EDFF"/>
          </a:solidFill>
          <a:ln w="12700">
            <a:solidFill>
              <a:srgbClr val="BFB7ED"/>
            </a:solidFill>
          </a:ln>
        </p:spPr>
        <p:txBody>
          <a:bodyPr wrap="square" lIns="762" tIns="762" rIns="762" bIns="762" rtlCol="0" anchor="ctr">
            <a:normAutofit/>
          </a:bodyPr>
          <a:lstStyle/>
          <a:p>
            <a:pPr marL="0" indent="0" algn="ctr">
              <a:buNone/>
            </a:pPr>
            <a:r>
              <a:rPr lang="en-US" sz="1400" b="1" dirty="0">
                <a:solidFill>
                  <a:srgbClr val="6D5BD0"/>
                </a:solidFill>
                <a:latin typeface="Aptos" pitchFamily="34" charset="0"/>
                <a:ea typeface="Aptos" pitchFamily="34" charset="-122"/>
                <a:cs typeface="Aptos" pitchFamily="34" charset="-120"/>
              </a:rPr>
              <a:t>Demand/Segment Shift</a:t>
            </a:r>
          </a:p>
          <a:p>
            <a:pPr marL="0" indent="0" algn="ctr">
              <a:buNone/>
            </a:pPr>
            <a:endParaRPr lang="en-US" sz="920" b="1" dirty="0">
              <a:solidFill>
                <a:srgbClr val="6D5BD0"/>
              </a:solidFill>
              <a:latin typeface="Aptos" pitchFamily="34" charset="0"/>
              <a:ea typeface="Aptos" pitchFamily="34" charset="-122"/>
              <a:cs typeface="Aptos" pitchFamily="34" charset="-120"/>
            </a:endParaRPr>
          </a:p>
          <a:p>
            <a:pPr marL="0" indent="0" algn="ctr">
              <a:buNone/>
            </a:pPr>
            <a:r>
              <a:rPr lang="en-US" sz="920" b="1" dirty="0">
                <a:solidFill>
                  <a:schemeClr val="tx1">
                    <a:lumMod val="65000"/>
                    <a:lumOff val="35000"/>
                  </a:schemeClr>
                </a:solidFill>
                <a:latin typeface="Aptos" pitchFamily="34" charset="0"/>
                <a:ea typeface="Aptos" pitchFamily="34" charset="-122"/>
                <a:cs typeface="Aptos" pitchFamily="34" charset="-120"/>
              </a:rPr>
              <a:t>What demand behavior shifted?</a:t>
            </a:r>
            <a:endParaRPr lang="en-US" sz="920" dirty="0">
              <a:solidFill>
                <a:schemeClr val="tx1">
                  <a:lumMod val="65000"/>
                  <a:lumOff val="35000"/>
                </a:schemeClr>
              </a:solidFill>
            </a:endParaRPr>
          </a:p>
        </p:txBody>
      </p:sp>
      <p:sp>
        <p:nvSpPr>
          <p:cNvPr id="13" name="Text 11">
            <a:extLst>
              <a:ext uri="{FF2B5EF4-FFF2-40B4-BE49-F238E27FC236}">
                <a16:creationId xmlns:a16="http://schemas.microsoft.com/office/drawing/2014/main" id="{9786F052-5E41-61F8-9F41-6D054143BDDE}"/>
              </a:ext>
            </a:extLst>
          </p:cNvPr>
          <p:cNvSpPr/>
          <p:nvPr/>
        </p:nvSpPr>
        <p:spPr>
          <a:xfrm>
            <a:off x="8435340" y="948775"/>
            <a:ext cx="1691640" cy="1051560"/>
          </a:xfrm>
          <a:prstGeom prst="roundRect">
            <a:avLst>
              <a:gd name="adj" fmla="val 6957"/>
            </a:avLst>
          </a:prstGeom>
          <a:solidFill>
            <a:srgbClr val="FFF4E6"/>
          </a:solidFill>
          <a:ln w="12700">
            <a:solidFill>
              <a:srgbClr val="E4B47C"/>
            </a:solidFill>
          </a:ln>
        </p:spPr>
        <p:txBody>
          <a:bodyPr wrap="square" lIns="762" tIns="762" rIns="762" bIns="762" rtlCol="0" anchor="ctr">
            <a:normAutofit/>
          </a:bodyPr>
          <a:lstStyle/>
          <a:p>
            <a:pPr marL="0" indent="0" algn="ctr">
              <a:buNone/>
            </a:pPr>
            <a:r>
              <a:rPr lang="en-US" sz="1400" b="1" dirty="0">
                <a:solidFill>
                  <a:srgbClr val="C76B29"/>
                </a:solidFill>
                <a:latin typeface="Aptos" pitchFamily="34" charset="0"/>
                <a:ea typeface="Aptos" pitchFamily="34" charset="-122"/>
                <a:cs typeface="Aptos" pitchFamily="34" charset="-120"/>
              </a:rPr>
              <a:t>Pathway /</a:t>
            </a:r>
            <a:endParaRPr lang="en-US" sz="1400" dirty="0"/>
          </a:p>
          <a:p>
            <a:pPr marL="0" indent="0" algn="ctr">
              <a:buNone/>
            </a:pPr>
            <a:r>
              <a:rPr lang="en-US" sz="1400" b="1" dirty="0">
                <a:solidFill>
                  <a:srgbClr val="C76B29"/>
                </a:solidFill>
                <a:latin typeface="Aptos" pitchFamily="34" charset="0"/>
                <a:ea typeface="Aptos" pitchFamily="34" charset="-122"/>
                <a:cs typeface="Aptos" pitchFamily="34" charset="-120"/>
              </a:rPr>
              <a:t>Mediation</a:t>
            </a:r>
            <a:endParaRPr lang="en-US" sz="1400" dirty="0"/>
          </a:p>
          <a:p>
            <a:pPr marL="0" indent="0" algn="ctr">
              <a:buNone/>
            </a:pPr>
            <a:endParaRPr lang="en-US" sz="920" b="1" dirty="0">
              <a:solidFill>
                <a:srgbClr val="C76B29"/>
              </a:solidFill>
              <a:latin typeface="Aptos" pitchFamily="34" charset="0"/>
              <a:ea typeface="Aptos" pitchFamily="34" charset="-122"/>
              <a:cs typeface="Aptos" pitchFamily="34" charset="-120"/>
            </a:endParaRPr>
          </a:p>
          <a:p>
            <a:pPr marL="0" indent="0" algn="ctr">
              <a:buNone/>
            </a:pPr>
            <a:r>
              <a:rPr lang="en-US" sz="920" b="1" dirty="0">
                <a:solidFill>
                  <a:schemeClr val="tx1">
                    <a:lumMod val="65000"/>
                    <a:lumOff val="35000"/>
                  </a:schemeClr>
                </a:solidFill>
                <a:latin typeface="Aptos" pitchFamily="34" charset="0"/>
                <a:ea typeface="Aptos" pitchFamily="34" charset="-122"/>
                <a:cs typeface="Aptos" pitchFamily="34" charset="-120"/>
              </a:rPr>
              <a:t>Through what mechanism did the effect happen (direct/indirect)</a:t>
            </a:r>
            <a:endParaRPr lang="en-US" sz="920" dirty="0">
              <a:solidFill>
                <a:schemeClr val="tx1">
                  <a:lumMod val="65000"/>
                  <a:lumOff val="35000"/>
                </a:schemeClr>
              </a:solidFill>
            </a:endParaRPr>
          </a:p>
        </p:txBody>
      </p:sp>
      <p:sp>
        <p:nvSpPr>
          <p:cNvPr id="14" name="Text 12">
            <a:extLst>
              <a:ext uri="{FF2B5EF4-FFF2-40B4-BE49-F238E27FC236}">
                <a16:creationId xmlns:a16="http://schemas.microsoft.com/office/drawing/2014/main" id="{4FD1A8EC-11E8-048B-74F1-C4706A050E08}"/>
              </a:ext>
            </a:extLst>
          </p:cNvPr>
          <p:cNvSpPr/>
          <p:nvPr/>
        </p:nvSpPr>
        <p:spPr>
          <a:xfrm>
            <a:off x="6640745" y="950976"/>
            <a:ext cx="1691640" cy="1051560"/>
          </a:xfrm>
          <a:prstGeom prst="roundRect">
            <a:avLst>
              <a:gd name="adj" fmla="val 6957"/>
            </a:avLst>
          </a:prstGeom>
          <a:solidFill>
            <a:srgbClr val="EAF7EA"/>
          </a:solidFill>
          <a:ln w="12700">
            <a:solidFill>
              <a:srgbClr val="B4D7B5"/>
            </a:solidFill>
          </a:ln>
        </p:spPr>
        <p:txBody>
          <a:bodyPr wrap="square" lIns="762" tIns="762" rIns="762" bIns="762" rtlCol="0" anchor="ctr">
            <a:normAutofit/>
          </a:bodyPr>
          <a:lstStyle/>
          <a:p>
            <a:pPr marL="0" indent="0" algn="ctr">
              <a:buNone/>
            </a:pPr>
            <a:r>
              <a:rPr lang="en-US" sz="1400" b="1" dirty="0">
                <a:solidFill>
                  <a:srgbClr val="2E7D32"/>
                </a:solidFill>
                <a:latin typeface="Aptos" pitchFamily="34" charset="0"/>
                <a:ea typeface="Aptos" pitchFamily="34" charset="-122"/>
                <a:cs typeface="Aptos" pitchFamily="34" charset="-120"/>
              </a:rPr>
              <a:t>Effect</a:t>
            </a:r>
            <a:endParaRPr lang="en-US" sz="1400" dirty="0"/>
          </a:p>
          <a:p>
            <a:pPr marL="0" indent="0" algn="ctr">
              <a:buNone/>
            </a:pPr>
            <a:r>
              <a:rPr lang="en-US" sz="1400" b="1" dirty="0">
                <a:solidFill>
                  <a:srgbClr val="2E7D32"/>
                </a:solidFill>
                <a:latin typeface="Aptos" pitchFamily="34" charset="0"/>
                <a:ea typeface="Aptos" pitchFamily="34" charset="-122"/>
                <a:cs typeface="Aptos" pitchFamily="34" charset="-120"/>
              </a:rPr>
              <a:t>Heterogeneity</a:t>
            </a:r>
            <a:endParaRPr lang="en-US" sz="1400" dirty="0"/>
          </a:p>
          <a:p>
            <a:pPr marL="0" indent="0" algn="ctr">
              <a:buNone/>
            </a:pPr>
            <a:endParaRPr lang="en-US" sz="920" b="1" dirty="0">
              <a:solidFill>
                <a:srgbClr val="2E7D32"/>
              </a:solidFill>
              <a:latin typeface="Aptos" pitchFamily="34" charset="0"/>
              <a:ea typeface="Aptos" pitchFamily="34" charset="-122"/>
              <a:cs typeface="Aptos" pitchFamily="34" charset="-120"/>
            </a:endParaRPr>
          </a:p>
          <a:p>
            <a:pPr marL="0" indent="0" algn="ctr">
              <a:buNone/>
            </a:pPr>
            <a:r>
              <a:rPr lang="en-US" sz="920" b="1" dirty="0">
                <a:solidFill>
                  <a:schemeClr val="tx1">
                    <a:lumMod val="65000"/>
                    <a:lumOff val="35000"/>
                  </a:schemeClr>
                </a:solidFill>
                <a:latin typeface="Aptos" pitchFamily="34" charset="0"/>
                <a:ea typeface="Aptos" pitchFamily="34" charset="-122"/>
                <a:cs typeface="Aptos" pitchFamily="34" charset="-120"/>
              </a:rPr>
              <a:t>Where, when, for whom did/will it work</a:t>
            </a:r>
            <a:endParaRPr lang="en-US" sz="920" dirty="0">
              <a:solidFill>
                <a:schemeClr val="tx1">
                  <a:lumMod val="65000"/>
                  <a:lumOff val="35000"/>
                </a:schemeClr>
              </a:solidFill>
            </a:endParaRPr>
          </a:p>
        </p:txBody>
      </p:sp>
      <p:sp>
        <p:nvSpPr>
          <p:cNvPr id="15" name="Text 13">
            <a:extLst>
              <a:ext uri="{FF2B5EF4-FFF2-40B4-BE49-F238E27FC236}">
                <a16:creationId xmlns:a16="http://schemas.microsoft.com/office/drawing/2014/main" id="{F9B8BA48-969A-5C9C-5D2A-A4E4E4FBB085}"/>
              </a:ext>
            </a:extLst>
          </p:cNvPr>
          <p:cNvSpPr/>
          <p:nvPr/>
        </p:nvSpPr>
        <p:spPr>
          <a:xfrm>
            <a:off x="10241280" y="950976"/>
            <a:ext cx="1691640" cy="1051560"/>
          </a:xfrm>
          <a:prstGeom prst="roundRect">
            <a:avLst>
              <a:gd name="adj" fmla="val 6957"/>
            </a:avLst>
          </a:prstGeom>
          <a:solidFill>
            <a:schemeClr val="accent4">
              <a:lumMod val="60000"/>
              <a:lumOff val="40000"/>
              <a:alpha val="7843"/>
            </a:schemeClr>
          </a:solidFill>
          <a:ln w="12700">
            <a:solidFill>
              <a:schemeClr val="accent4">
                <a:lumMod val="60000"/>
                <a:lumOff val="40000"/>
              </a:schemeClr>
            </a:solidFill>
          </a:ln>
        </p:spPr>
        <p:txBody>
          <a:bodyPr wrap="square" lIns="762" tIns="762" rIns="762" bIns="762" rtlCol="0" anchor="ctr">
            <a:normAutofit/>
          </a:bodyPr>
          <a:lstStyle/>
          <a:p>
            <a:pPr marL="0" indent="0" algn="ctr">
              <a:buNone/>
            </a:pPr>
            <a:r>
              <a:rPr lang="en-US" sz="1400" b="1" dirty="0">
                <a:solidFill>
                  <a:schemeClr val="accent4">
                    <a:lumMod val="75000"/>
                  </a:schemeClr>
                </a:solidFill>
                <a:latin typeface="Aptos" pitchFamily="34" charset="0"/>
                <a:ea typeface="Aptos" pitchFamily="34" charset="-122"/>
                <a:cs typeface="Aptos" pitchFamily="34" charset="-120"/>
              </a:rPr>
              <a:t>Decision</a:t>
            </a:r>
            <a:endParaRPr lang="en-US" sz="1400" dirty="0">
              <a:solidFill>
                <a:schemeClr val="accent4">
                  <a:lumMod val="75000"/>
                </a:schemeClr>
              </a:solidFill>
            </a:endParaRPr>
          </a:p>
          <a:p>
            <a:pPr marL="0" indent="0" algn="ctr">
              <a:buNone/>
            </a:pPr>
            <a:r>
              <a:rPr lang="en-US" sz="1400" b="1" dirty="0">
                <a:solidFill>
                  <a:schemeClr val="accent4">
                    <a:lumMod val="75000"/>
                  </a:schemeClr>
                </a:solidFill>
                <a:latin typeface="Aptos" pitchFamily="34" charset="0"/>
                <a:ea typeface="Aptos" pitchFamily="34" charset="-122"/>
                <a:cs typeface="Aptos" pitchFamily="34" charset="-120"/>
              </a:rPr>
              <a:t>Optimization</a:t>
            </a:r>
            <a:endParaRPr lang="en-US" sz="1400" dirty="0">
              <a:solidFill>
                <a:schemeClr val="accent4">
                  <a:lumMod val="75000"/>
                </a:schemeClr>
              </a:solidFill>
            </a:endParaRPr>
          </a:p>
          <a:p>
            <a:pPr marL="0" indent="0" algn="ctr">
              <a:buNone/>
            </a:pPr>
            <a:endParaRPr lang="en-US" sz="920" b="1" dirty="0">
              <a:solidFill>
                <a:srgbClr val="17324D"/>
              </a:solidFill>
              <a:latin typeface="Aptos" pitchFamily="34" charset="0"/>
              <a:ea typeface="Aptos" pitchFamily="34" charset="-122"/>
              <a:cs typeface="Aptos" pitchFamily="34" charset="-120"/>
            </a:endParaRPr>
          </a:p>
          <a:p>
            <a:pPr marL="0" indent="0" algn="ctr">
              <a:buNone/>
            </a:pPr>
            <a:r>
              <a:rPr lang="en-US" sz="920" b="1" dirty="0">
                <a:solidFill>
                  <a:schemeClr val="tx1">
                    <a:lumMod val="65000"/>
                    <a:lumOff val="35000"/>
                  </a:schemeClr>
                </a:solidFill>
                <a:latin typeface="Aptos" pitchFamily="34" charset="0"/>
                <a:ea typeface="Aptos" pitchFamily="34" charset="-122"/>
                <a:cs typeface="Aptos" pitchFamily="34" charset="-120"/>
              </a:rPr>
              <a:t>What should we do next?</a:t>
            </a:r>
            <a:endParaRPr lang="en-US" sz="920" dirty="0">
              <a:solidFill>
                <a:schemeClr val="tx1">
                  <a:lumMod val="65000"/>
                  <a:lumOff val="35000"/>
                </a:schemeClr>
              </a:solidFill>
            </a:endParaRPr>
          </a:p>
        </p:txBody>
      </p:sp>
      <p:sp>
        <p:nvSpPr>
          <p:cNvPr id="17" name="Text 15">
            <a:extLst>
              <a:ext uri="{FF2B5EF4-FFF2-40B4-BE49-F238E27FC236}">
                <a16:creationId xmlns:a16="http://schemas.microsoft.com/office/drawing/2014/main" id="{789633A9-A61B-EBE6-E62B-332F0C8058A8}"/>
              </a:ext>
            </a:extLst>
          </p:cNvPr>
          <p:cNvSpPr/>
          <p:nvPr/>
        </p:nvSpPr>
        <p:spPr>
          <a:xfrm>
            <a:off x="1247902" y="2275163"/>
            <a:ext cx="1691640" cy="603504"/>
          </a:xfrm>
          <a:prstGeom prst="roundRect">
            <a:avLst>
              <a:gd name="adj" fmla="val 12121"/>
            </a:avLst>
          </a:prstGeom>
          <a:solidFill>
            <a:srgbClr val="E6F5F2"/>
          </a:solidFill>
          <a:ln w="12700">
            <a:solidFill>
              <a:srgbClr val="9CCFC5"/>
            </a:solidFill>
          </a:ln>
        </p:spPr>
        <p:txBody>
          <a:bodyPr wrap="square" lIns="762" tIns="762" rIns="762" bIns="762" rtlCol="0" anchor="ctr">
            <a:normAutofit/>
          </a:bodyPr>
          <a:lstStyle/>
          <a:p>
            <a:pPr marL="0" indent="0" algn="ctr">
              <a:buNone/>
            </a:pPr>
            <a:r>
              <a:rPr lang="en-US" sz="920" b="1" dirty="0">
                <a:solidFill>
                  <a:srgbClr val="0F766E"/>
                </a:solidFill>
                <a:latin typeface="Aptos" pitchFamily="34" charset="0"/>
                <a:ea typeface="Aptos" pitchFamily="34" charset="-122"/>
                <a:cs typeface="Aptos" pitchFamily="34" charset="-120"/>
              </a:rPr>
              <a:t>DIAL</a:t>
            </a:r>
            <a:endParaRPr lang="en-US" sz="920" dirty="0"/>
          </a:p>
        </p:txBody>
      </p:sp>
      <p:sp>
        <p:nvSpPr>
          <p:cNvPr id="18" name="Text 16">
            <a:extLst>
              <a:ext uri="{FF2B5EF4-FFF2-40B4-BE49-F238E27FC236}">
                <a16:creationId xmlns:a16="http://schemas.microsoft.com/office/drawing/2014/main" id="{1B7CC349-CF91-615B-5E16-5297EE2343F7}"/>
              </a:ext>
            </a:extLst>
          </p:cNvPr>
          <p:cNvSpPr/>
          <p:nvPr/>
        </p:nvSpPr>
        <p:spPr>
          <a:xfrm>
            <a:off x="3055027" y="2275163"/>
            <a:ext cx="1685883" cy="603504"/>
          </a:xfrm>
          <a:prstGeom prst="roundRect">
            <a:avLst>
              <a:gd name="adj" fmla="val 12121"/>
            </a:avLst>
          </a:prstGeom>
          <a:solidFill>
            <a:srgbClr val="E8F0FF"/>
          </a:solidFill>
          <a:ln w="12700">
            <a:solidFill>
              <a:srgbClr val="AFC6F6"/>
            </a:solidFill>
          </a:ln>
        </p:spPr>
        <p:txBody>
          <a:bodyPr wrap="square" lIns="762" tIns="762" rIns="762" bIns="762" rtlCol="0" anchor="ctr">
            <a:normAutofit/>
          </a:bodyPr>
          <a:lstStyle/>
          <a:p>
            <a:pPr marL="0" indent="0" algn="ctr">
              <a:buNone/>
            </a:pPr>
            <a:r>
              <a:rPr lang="en-US" sz="920" b="1" dirty="0">
                <a:solidFill>
                  <a:srgbClr val="2D6CDF"/>
                </a:solidFill>
                <a:latin typeface="Aptos" pitchFamily="34" charset="0"/>
              </a:rPr>
              <a:t>MVM</a:t>
            </a:r>
            <a:endParaRPr lang="en-US" sz="920" dirty="0"/>
          </a:p>
        </p:txBody>
      </p:sp>
      <p:sp>
        <p:nvSpPr>
          <p:cNvPr id="19" name="Text 17">
            <a:extLst>
              <a:ext uri="{FF2B5EF4-FFF2-40B4-BE49-F238E27FC236}">
                <a16:creationId xmlns:a16="http://schemas.microsoft.com/office/drawing/2014/main" id="{73F4B893-3F8E-E783-26D7-06C22A995165}"/>
              </a:ext>
            </a:extLst>
          </p:cNvPr>
          <p:cNvSpPr/>
          <p:nvPr/>
        </p:nvSpPr>
        <p:spPr>
          <a:xfrm>
            <a:off x="6708142" y="2282275"/>
            <a:ext cx="1485900" cy="603504"/>
          </a:xfrm>
          <a:prstGeom prst="roundRect">
            <a:avLst>
              <a:gd name="adj" fmla="val 12121"/>
            </a:avLst>
          </a:prstGeom>
          <a:solidFill>
            <a:srgbClr val="EAF7EA"/>
          </a:solidFill>
          <a:ln w="12700">
            <a:solidFill>
              <a:srgbClr val="B4D7B5"/>
            </a:solidFill>
          </a:ln>
        </p:spPr>
        <p:txBody>
          <a:bodyPr wrap="square" lIns="762" tIns="762" rIns="762" bIns="762" rtlCol="0" anchor="ctr">
            <a:normAutofit/>
          </a:bodyPr>
          <a:lstStyle/>
          <a:p>
            <a:pPr marL="0" indent="0" algn="ctr">
              <a:buNone/>
            </a:pPr>
            <a:r>
              <a:rPr lang="en-US" sz="920" b="1" dirty="0">
                <a:solidFill>
                  <a:srgbClr val="2E7D32"/>
                </a:solidFill>
                <a:latin typeface="Aptos" pitchFamily="34" charset="0"/>
                <a:ea typeface="Aptos" pitchFamily="34" charset="-122"/>
                <a:cs typeface="Aptos" pitchFamily="34" charset="-120"/>
              </a:rPr>
              <a:t>Next Best Offer</a:t>
            </a:r>
            <a:endParaRPr lang="en-US" sz="920" dirty="0"/>
          </a:p>
        </p:txBody>
      </p:sp>
      <p:sp>
        <p:nvSpPr>
          <p:cNvPr id="20" name="Text 18">
            <a:extLst>
              <a:ext uri="{FF2B5EF4-FFF2-40B4-BE49-F238E27FC236}">
                <a16:creationId xmlns:a16="http://schemas.microsoft.com/office/drawing/2014/main" id="{753D0391-7265-75E6-4A71-41294405C57E}"/>
              </a:ext>
            </a:extLst>
          </p:cNvPr>
          <p:cNvSpPr/>
          <p:nvPr/>
        </p:nvSpPr>
        <p:spPr>
          <a:xfrm>
            <a:off x="3055027" y="3625427"/>
            <a:ext cx="1685883" cy="603504"/>
          </a:xfrm>
          <a:prstGeom prst="roundRect">
            <a:avLst>
              <a:gd name="adj" fmla="val 12121"/>
            </a:avLst>
          </a:prstGeom>
          <a:solidFill>
            <a:srgbClr val="F0EDFF"/>
          </a:solidFill>
          <a:ln w="12700">
            <a:solidFill>
              <a:srgbClr val="BFB7ED"/>
            </a:solidFill>
          </a:ln>
        </p:spPr>
        <p:txBody>
          <a:bodyPr wrap="square" lIns="762" tIns="762" rIns="762" bIns="762" rtlCol="0" anchor="ctr">
            <a:normAutofit/>
          </a:bodyPr>
          <a:lstStyle/>
          <a:p>
            <a:pPr marL="0" indent="0" algn="ctr">
              <a:buNone/>
            </a:pPr>
            <a:r>
              <a:rPr lang="en-US" sz="920" b="1" dirty="0">
                <a:solidFill>
                  <a:srgbClr val="6D5BD0"/>
                </a:solidFill>
                <a:latin typeface="Aptos" pitchFamily="34" charset="0"/>
                <a:ea typeface="Aptos" pitchFamily="34" charset="-122"/>
                <a:cs typeface="Aptos" pitchFamily="34" charset="-120"/>
              </a:rPr>
              <a:t>Sales Forecasting</a:t>
            </a:r>
            <a:endParaRPr lang="en-US" sz="920" dirty="0"/>
          </a:p>
        </p:txBody>
      </p:sp>
      <p:sp>
        <p:nvSpPr>
          <p:cNvPr id="21" name="Text 19">
            <a:extLst>
              <a:ext uri="{FF2B5EF4-FFF2-40B4-BE49-F238E27FC236}">
                <a16:creationId xmlns:a16="http://schemas.microsoft.com/office/drawing/2014/main" id="{7C8A77DB-FCE4-44B8-4277-1D7026D90F93}"/>
              </a:ext>
            </a:extLst>
          </p:cNvPr>
          <p:cNvSpPr/>
          <p:nvPr/>
        </p:nvSpPr>
        <p:spPr>
          <a:xfrm>
            <a:off x="1281091" y="3634910"/>
            <a:ext cx="1664716" cy="603504"/>
          </a:xfrm>
          <a:prstGeom prst="roundRect">
            <a:avLst>
              <a:gd name="adj" fmla="val 12121"/>
            </a:avLst>
          </a:prstGeom>
          <a:solidFill>
            <a:srgbClr val="FFF4E6"/>
          </a:solidFill>
          <a:ln w="12700">
            <a:solidFill>
              <a:srgbClr val="E4B47C"/>
            </a:solidFill>
          </a:ln>
        </p:spPr>
        <p:txBody>
          <a:bodyPr wrap="square" lIns="762" tIns="762" rIns="762" bIns="762" rtlCol="0" anchor="ctr">
            <a:normAutofit/>
          </a:bodyPr>
          <a:lstStyle/>
          <a:p>
            <a:pPr marL="0" indent="0" algn="ctr">
              <a:buNone/>
            </a:pPr>
            <a:r>
              <a:rPr lang="en-US" sz="920" b="1" dirty="0">
                <a:solidFill>
                  <a:srgbClr val="C76B29"/>
                </a:solidFill>
                <a:latin typeface="Aptos" pitchFamily="34" charset="0"/>
              </a:rPr>
              <a:t>Serum</a:t>
            </a:r>
          </a:p>
          <a:p>
            <a:pPr marL="0" indent="0" algn="ctr">
              <a:buNone/>
            </a:pPr>
            <a:r>
              <a:rPr lang="en-US" sz="920" b="1" dirty="0">
                <a:solidFill>
                  <a:srgbClr val="C76B29"/>
                </a:solidFill>
                <a:latin typeface="Aptos" pitchFamily="34" charset="0"/>
              </a:rPr>
              <a:t>(New product / campaign launch)</a:t>
            </a:r>
            <a:endParaRPr lang="en-US" sz="920" dirty="0"/>
          </a:p>
        </p:txBody>
      </p:sp>
      <p:sp>
        <p:nvSpPr>
          <p:cNvPr id="24" name="Text 22">
            <a:extLst>
              <a:ext uri="{FF2B5EF4-FFF2-40B4-BE49-F238E27FC236}">
                <a16:creationId xmlns:a16="http://schemas.microsoft.com/office/drawing/2014/main" id="{651E316E-0842-A188-C577-8EBA7C3239BE}"/>
              </a:ext>
            </a:extLst>
          </p:cNvPr>
          <p:cNvSpPr/>
          <p:nvPr/>
        </p:nvSpPr>
        <p:spPr>
          <a:xfrm>
            <a:off x="1267629" y="4481576"/>
            <a:ext cx="1691640" cy="384048"/>
          </a:xfrm>
          <a:prstGeom prst="roundRect">
            <a:avLst>
              <a:gd name="adj" fmla="val 19048"/>
            </a:avLst>
          </a:prstGeom>
          <a:solidFill>
            <a:schemeClr val="bg1">
              <a:lumMod val="95000"/>
            </a:schemeClr>
          </a:solidFill>
          <a:ln w="12700">
            <a:solidFill>
              <a:schemeClr val="bg1">
                <a:lumMod val="75000"/>
              </a:schemeClr>
            </a:solidFill>
          </a:ln>
        </p:spPr>
        <p:txBody>
          <a:bodyPr wrap="square" lIns="508" tIns="508" rIns="508" bIns="508" rtlCol="0" anchor="ctr">
            <a:normAutofit lnSpcReduction="10000"/>
          </a:bodyPr>
          <a:lstStyle/>
          <a:p>
            <a:pPr marL="0" indent="0" algn="ctr">
              <a:buNone/>
            </a:pPr>
            <a:r>
              <a:rPr lang="en-US" sz="780" b="1" dirty="0">
                <a:solidFill>
                  <a:srgbClr val="444444"/>
                </a:solidFill>
                <a:latin typeface="Aptos" pitchFamily="34" charset="0"/>
                <a:ea typeface="Aptos" pitchFamily="34" charset="-122"/>
                <a:cs typeface="Aptos" pitchFamily="34" charset="-120"/>
              </a:rPr>
              <a:t>Causal Design</a:t>
            </a:r>
            <a:r>
              <a:rPr lang="en-US" sz="780" dirty="0">
                <a:solidFill>
                  <a:srgbClr val="444444"/>
                </a:solidFill>
              </a:rPr>
              <a:t> </a:t>
            </a:r>
            <a:r>
              <a:rPr lang="en-US" sz="780" b="1" dirty="0">
                <a:solidFill>
                  <a:srgbClr val="444444"/>
                </a:solidFill>
                <a:latin typeface="Aptos" pitchFamily="34" charset="0"/>
                <a:ea typeface="Aptos" pitchFamily="34" charset="-122"/>
                <a:cs typeface="Aptos" pitchFamily="34" charset="-120"/>
              </a:rPr>
              <a:t>Intake</a:t>
            </a:r>
          </a:p>
          <a:p>
            <a:pPr algn="ctr"/>
            <a:r>
              <a:rPr lang="en-US" sz="780" b="1" dirty="0">
                <a:solidFill>
                  <a:schemeClr val="tx1">
                    <a:lumMod val="65000"/>
                    <a:lumOff val="35000"/>
                  </a:schemeClr>
                </a:solidFill>
                <a:latin typeface="Aptos" panose="020B0004020202020204" pitchFamily="34" charset="0"/>
              </a:rPr>
              <a:t>Counterfactual </a:t>
            </a:r>
            <a:r>
              <a:rPr lang="en-US" sz="780" b="1" dirty="0">
                <a:solidFill>
                  <a:schemeClr val="tx1">
                    <a:lumMod val="65000"/>
                    <a:lumOff val="35000"/>
                  </a:schemeClr>
                </a:solidFill>
                <a:latin typeface="Aptos" panose="020B0004020202020204" pitchFamily="34" charset="0"/>
                <a:ea typeface="Aptos" pitchFamily="34" charset="-122"/>
                <a:cs typeface="Aptos" pitchFamily="34" charset="-120"/>
              </a:rPr>
              <a:t>· Covariate · Baseline</a:t>
            </a:r>
            <a:endParaRPr lang="en-US" sz="780" b="1" dirty="0">
              <a:solidFill>
                <a:schemeClr val="tx1">
                  <a:lumMod val="65000"/>
                  <a:lumOff val="35000"/>
                </a:schemeClr>
              </a:solidFill>
              <a:latin typeface="Aptos" panose="020B0004020202020204" pitchFamily="34" charset="0"/>
            </a:endParaRPr>
          </a:p>
        </p:txBody>
      </p:sp>
      <p:sp>
        <p:nvSpPr>
          <p:cNvPr id="25" name="Text 23">
            <a:extLst>
              <a:ext uri="{FF2B5EF4-FFF2-40B4-BE49-F238E27FC236}">
                <a16:creationId xmlns:a16="http://schemas.microsoft.com/office/drawing/2014/main" id="{26897F1B-AA72-B2F0-6F3F-327D22C9036B}"/>
              </a:ext>
            </a:extLst>
          </p:cNvPr>
          <p:cNvSpPr/>
          <p:nvPr/>
        </p:nvSpPr>
        <p:spPr>
          <a:xfrm>
            <a:off x="1267629" y="4957064"/>
            <a:ext cx="1691640" cy="384048"/>
          </a:xfrm>
          <a:prstGeom prst="roundRect">
            <a:avLst>
              <a:gd name="adj" fmla="val 19048"/>
            </a:avLst>
          </a:prstGeom>
          <a:solidFill>
            <a:srgbClr val="E6F5F2"/>
          </a:solidFill>
          <a:ln w="12700">
            <a:solidFill>
              <a:srgbClr val="9CCFC5"/>
            </a:solidFill>
          </a:ln>
        </p:spPr>
        <p:txBody>
          <a:bodyPr wrap="square" lIns="508" tIns="508" rIns="508" bIns="508" rtlCol="0" anchor="ctr">
            <a:normAutofit/>
          </a:bodyPr>
          <a:lstStyle/>
          <a:p>
            <a:pPr marL="0" indent="0" algn="ctr">
              <a:buNone/>
            </a:pPr>
            <a:r>
              <a:rPr lang="en-US" sz="780" b="1" dirty="0">
                <a:solidFill>
                  <a:srgbClr val="0F766E"/>
                </a:solidFill>
                <a:latin typeface="Aptos" pitchFamily="34" charset="0"/>
                <a:ea typeface="Aptos" pitchFamily="34" charset="-122"/>
                <a:cs typeface="Aptos" pitchFamily="34" charset="-120"/>
              </a:rPr>
              <a:t>Experimentation</a:t>
            </a:r>
            <a:endParaRPr lang="en-US" sz="780" dirty="0"/>
          </a:p>
          <a:p>
            <a:pPr marL="0" indent="0" algn="ctr">
              <a:buNone/>
            </a:pPr>
            <a:r>
              <a:rPr lang="en-US" sz="780" b="1" dirty="0">
                <a:solidFill>
                  <a:srgbClr val="0F766E"/>
                </a:solidFill>
                <a:latin typeface="Aptos" pitchFamily="34" charset="0"/>
                <a:ea typeface="Aptos" pitchFamily="34" charset="-122"/>
                <a:cs typeface="Aptos" pitchFamily="34" charset="-120"/>
              </a:rPr>
              <a:t>A/B · geo · switchback</a:t>
            </a:r>
            <a:endParaRPr lang="en-US" sz="780" dirty="0"/>
          </a:p>
        </p:txBody>
      </p:sp>
      <p:sp>
        <p:nvSpPr>
          <p:cNvPr id="26" name="Text 24">
            <a:extLst>
              <a:ext uri="{FF2B5EF4-FFF2-40B4-BE49-F238E27FC236}">
                <a16:creationId xmlns:a16="http://schemas.microsoft.com/office/drawing/2014/main" id="{4CF28C3A-B9F3-87DD-3EC2-63B0ACBDF656}"/>
              </a:ext>
            </a:extLst>
          </p:cNvPr>
          <p:cNvSpPr/>
          <p:nvPr/>
        </p:nvSpPr>
        <p:spPr>
          <a:xfrm>
            <a:off x="1267629" y="5451180"/>
            <a:ext cx="1691640" cy="606552"/>
          </a:xfrm>
          <a:prstGeom prst="roundRect">
            <a:avLst>
              <a:gd name="adj" fmla="val 19048"/>
            </a:avLst>
          </a:prstGeom>
          <a:solidFill>
            <a:srgbClr val="E6F5F2"/>
          </a:solidFill>
          <a:ln w="12700">
            <a:solidFill>
              <a:srgbClr val="9CCFC5"/>
            </a:solidFill>
          </a:ln>
        </p:spPr>
        <p:txBody>
          <a:bodyPr wrap="square" lIns="508" tIns="508" rIns="508" bIns="508" rtlCol="0" anchor="ctr">
            <a:normAutofit lnSpcReduction="10000"/>
          </a:bodyPr>
          <a:lstStyle/>
          <a:p>
            <a:pPr algn="ctr"/>
            <a:r>
              <a:rPr lang="en-US" sz="780" b="1" dirty="0">
                <a:solidFill>
                  <a:srgbClr val="0F766E"/>
                </a:solidFill>
                <a:latin typeface="Aptos" pitchFamily="34" charset="0"/>
              </a:rPr>
              <a:t>Quasi-Experiments</a:t>
            </a:r>
          </a:p>
          <a:p>
            <a:pPr algn="ctr"/>
            <a:r>
              <a:rPr lang="en-US" sz="780" b="1" dirty="0">
                <a:solidFill>
                  <a:srgbClr val="0F766E"/>
                </a:solidFill>
                <a:latin typeface="Aptos" pitchFamily="34" charset="0"/>
              </a:rPr>
              <a:t>DiD · matching · synthetic control ·</a:t>
            </a:r>
          </a:p>
          <a:p>
            <a:pPr algn="ctr"/>
            <a:r>
              <a:rPr lang="en-US" sz="780" b="1" dirty="0">
                <a:solidFill>
                  <a:srgbClr val="0F766E"/>
                </a:solidFill>
                <a:latin typeface="Aptos" pitchFamily="34" charset="0"/>
              </a:rPr>
              <a:t>Regression Discontinuity Design / RDD ·</a:t>
            </a:r>
          </a:p>
          <a:p>
            <a:pPr algn="ctr"/>
            <a:r>
              <a:rPr lang="en-US" sz="780" b="1" dirty="0">
                <a:solidFill>
                  <a:srgbClr val="0F766E"/>
                </a:solidFill>
                <a:latin typeface="Aptos" pitchFamily="34" charset="0"/>
              </a:rPr>
              <a:t>Bayesian Structural Time Series</a:t>
            </a:r>
          </a:p>
        </p:txBody>
      </p:sp>
      <p:sp>
        <p:nvSpPr>
          <p:cNvPr id="29" name="Text 27">
            <a:extLst>
              <a:ext uri="{FF2B5EF4-FFF2-40B4-BE49-F238E27FC236}">
                <a16:creationId xmlns:a16="http://schemas.microsoft.com/office/drawing/2014/main" id="{59E8BA7C-1165-A959-5B19-F1109C4258F9}"/>
              </a:ext>
            </a:extLst>
          </p:cNvPr>
          <p:cNvSpPr/>
          <p:nvPr/>
        </p:nvSpPr>
        <p:spPr>
          <a:xfrm>
            <a:off x="8550021" y="4522893"/>
            <a:ext cx="1691640" cy="384048"/>
          </a:xfrm>
          <a:prstGeom prst="roundRect">
            <a:avLst>
              <a:gd name="adj" fmla="val 19048"/>
            </a:avLst>
          </a:prstGeom>
          <a:solidFill>
            <a:srgbClr val="FFF4E6"/>
          </a:solidFill>
          <a:ln w="12700">
            <a:solidFill>
              <a:srgbClr val="E4B47C"/>
            </a:solidFill>
          </a:ln>
        </p:spPr>
        <p:txBody>
          <a:bodyPr wrap="square" lIns="508" tIns="508" rIns="508" bIns="508" rtlCol="0" anchor="ctr">
            <a:normAutofit/>
          </a:bodyPr>
          <a:lstStyle/>
          <a:p>
            <a:pPr marL="0" indent="0" algn="ctr">
              <a:buNone/>
            </a:pPr>
            <a:r>
              <a:rPr lang="en-US" sz="780" b="1" dirty="0">
                <a:solidFill>
                  <a:srgbClr val="C76B29"/>
                </a:solidFill>
                <a:latin typeface="Aptos" pitchFamily="34" charset="0"/>
                <a:ea typeface="Aptos" pitchFamily="34" charset="-122"/>
                <a:cs typeface="Aptos" pitchFamily="34" charset="-120"/>
              </a:rPr>
              <a:t>DAG / structural causal modeling</a:t>
            </a:r>
          </a:p>
          <a:p>
            <a:pPr marL="0" indent="0" algn="ctr">
              <a:buNone/>
            </a:pPr>
            <a:r>
              <a:rPr lang="en-US" sz="780" b="1" dirty="0">
                <a:solidFill>
                  <a:srgbClr val="C76B29"/>
                </a:solidFill>
                <a:latin typeface="Aptos" pitchFamily="34" charset="0"/>
                <a:ea typeface="Aptos" pitchFamily="34" charset="-122"/>
                <a:cs typeface="Aptos" pitchFamily="34" charset="-120"/>
              </a:rPr>
              <a:t>Bayesian Network</a:t>
            </a:r>
            <a:endParaRPr lang="en-US" sz="780" dirty="0"/>
          </a:p>
        </p:txBody>
      </p:sp>
      <p:sp>
        <p:nvSpPr>
          <p:cNvPr id="30" name="Text 28">
            <a:extLst>
              <a:ext uri="{FF2B5EF4-FFF2-40B4-BE49-F238E27FC236}">
                <a16:creationId xmlns:a16="http://schemas.microsoft.com/office/drawing/2014/main" id="{D041C819-F2BE-882C-F37D-7C6D4C575A09}"/>
              </a:ext>
            </a:extLst>
          </p:cNvPr>
          <p:cNvSpPr/>
          <p:nvPr/>
        </p:nvSpPr>
        <p:spPr>
          <a:xfrm>
            <a:off x="6721221" y="4522893"/>
            <a:ext cx="1691640" cy="384048"/>
          </a:xfrm>
          <a:prstGeom prst="roundRect">
            <a:avLst>
              <a:gd name="adj" fmla="val 19048"/>
            </a:avLst>
          </a:prstGeom>
          <a:solidFill>
            <a:srgbClr val="EAF7EA"/>
          </a:solidFill>
          <a:ln w="12700">
            <a:solidFill>
              <a:srgbClr val="B4D7B5"/>
            </a:solidFill>
          </a:ln>
        </p:spPr>
        <p:txBody>
          <a:bodyPr wrap="square" lIns="508" tIns="508" rIns="508" bIns="508" rtlCol="0" anchor="ctr">
            <a:normAutofit/>
          </a:bodyPr>
          <a:lstStyle/>
          <a:p>
            <a:pPr marL="0" indent="0" algn="ctr">
              <a:buNone/>
            </a:pPr>
            <a:r>
              <a:rPr lang="en-US" sz="780" b="1" dirty="0">
                <a:solidFill>
                  <a:srgbClr val="2E7D32"/>
                </a:solidFill>
                <a:latin typeface="Aptos" pitchFamily="34" charset="0"/>
                <a:ea typeface="Aptos" pitchFamily="34" charset="-122"/>
                <a:cs typeface="Aptos" pitchFamily="34" charset="-120"/>
              </a:rPr>
              <a:t>Causal ML / Uplift</a:t>
            </a:r>
            <a:endParaRPr lang="en-US" sz="780" dirty="0"/>
          </a:p>
          <a:p>
            <a:pPr algn="ctr"/>
            <a:r>
              <a:rPr lang="en-US" sz="780" b="1" dirty="0">
                <a:solidFill>
                  <a:srgbClr val="2E7D32"/>
                </a:solidFill>
                <a:latin typeface="Aptos" pitchFamily="34" charset="0"/>
                <a:ea typeface="Aptos" pitchFamily="34" charset="-122"/>
                <a:cs typeface="Aptos" pitchFamily="34" charset="-120"/>
              </a:rPr>
              <a:t>CATE · Causal Forest · Double ML</a:t>
            </a:r>
            <a:endParaRPr lang="en-US" sz="780" dirty="0"/>
          </a:p>
        </p:txBody>
      </p:sp>
      <p:sp>
        <p:nvSpPr>
          <p:cNvPr id="32" name="Text 30">
            <a:extLst>
              <a:ext uri="{FF2B5EF4-FFF2-40B4-BE49-F238E27FC236}">
                <a16:creationId xmlns:a16="http://schemas.microsoft.com/office/drawing/2014/main" id="{A6D62B75-B255-EEA9-148D-AB97264BE6A8}"/>
              </a:ext>
            </a:extLst>
          </p:cNvPr>
          <p:cNvSpPr/>
          <p:nvPr/>
        </p:nvSpPr>
        <p:spPr>
          <a:xfrm>
            <a:off x="4837176" y="4514764"/>
            <a:ext cx="1691640" cy="384048"/>
          </a:xfrm>
          <a:prstGeom prst="roundRect">
            <a:avLst>
              <a:gd name="adj" fmla="val 19048"/>
            </a:avLst>
          </a:prstGeom>
          <a:solidFill>
            <a:srgbClr val="F0EDFF"/>
          </a:solidFill>
          <a:ln w="12700">
            <a:solidFill>
              <a:srgbClr val="BFB7ED"/>
            </a:solidFill>
          </a:ln>
        </p:spPr>
        <p:txBody>
          <a:bodyPr wrap="square" lIns="508" tIns="508" rIns="508" bIns="508" rtlCol="0" anchor="ctr">
            <a:normAutofit/>
          </a:bodyPr>
          <a:lstStyle/>
          <a:p>
            <a:pPr marL="0" indent="0" algn="ctr">
              <a:buNone/>
            </a:pPr>
            <a:r>
              <a:rPr lang="en-US" sz="780" b="1" dirty="0">
                <a:solidFill>
                  <a:srgbClr val="6D5BD0"/>
                </a:solidFill>
                <a:latin typeface="Aptos" pitchFamily="34" charset="0"/>
                <a:ea typeface="Aptos" pitchFamily="34" charset="-122"/>
                <a:cs typeface="Aptos" pitchFamily="34" charset="-120"/>
              </a:rPr>
              <a:t>Demand Migration</a:t>
            </a:r>
            <a:endParaRPr lang="en-US" sz="780" dirty="0"/>
          </a:p>
          <a:p>
            <a:pPr algn="ctr"/>
            <a:r>
              <a:rPr lang="en-US" sz="780" b="1" dirty="0">
                <a:solidFill>
                  <a:srgbClr val="6D5BD0"/>
                </a:solidFill>
                <a:latin typeface="Aptos" pitchFamily="34" charset="0"/>
                <a:ea typeface="Aptos" pitchFamily="34" charset="-122"/>
                <a:cs typeface="Aptos" pitchFamily="34" charset="-120"/>
              </a:rPr>
              <a:t>cannibalization · halo · carry over</a:t>
            </a:r>
            <a:endParaRPr lang="en-US" sz="780" dirty="0"/>
          </a:p>
        </p:txBody>
      </p:sp>
      <p:sp>
        <p:nvSpPr>
          <p:cNvPr id="33" name="Text 31">
            <a:extLst>
              <a:ext uri="{FF2B5EF4-FFF2-40B4-BE49-F238E27FC236}">
                <a16:creationId xmlns:a16="http://schemas.microsoft.com/office/drawing/2014/main" id="{0AECA673-8F98-05CC-B8E7-A5272E9EAC19}"/>
              </a:ext>
            </a:extLst>
          </p:cNvPr>
          <p:cNvSpPr/>
          <p:nvPr/>
        </p:nvSpPr>
        <p:spPr>
          <a:xfrm>
            <a:off x="10378821" y="4522893"/>
            <a:ext cx="1444413" cy="384048"/>
          </a:xfrm>
          <a:prstGeom prst="roundRect">
            <a:avLst>
              <a:gd name="adj" fmla="val 19048"/>
            </a:avLst>
          </a:prstGeom>
          <a:solidFill>
            <a:srgbClr val="FFD966">
              <a:alpha val="14902"/>
            </a:srgbClr>
          </a:solidFill>
          <a:ln w="12700">
            <a:solidFill>
              <a:schemeClr val="accent4">
                <a:lumMod val="60000"/>
                <a:lumOff val="40000"/>
              </a:schemeClr>
            </a:solidFill>
          </a:ln>
        </p:spPr>
        <p:txBody>
          <a:bodyPr wrap="square" lIns="508" tIns="508" rIns="508" bIns="508" rtlCol="0" anchor="ctr">
            <a:normAutofit/>
          </a:bodyPr>
          <a:lstStyle/>
          <a:p>
            <a:pPr marL="0" indent="0" algn="ctr">
              <a:buNone/>
            </a:pPr>
            <a:r>
              <a:rPr lang="en-US" sz="780" b="1" dirty="0">
                <a:solidFill>
                  <a:schemeClr val="accent4">
                    <a:lumMod val="75000"/>
                  </a:schemeClr>
                </a:solidFill>
                <a:latin typeface="Aptos" pitchFamily="34" charset="0"/>
                <a:ea typeface="Aptos" pitchFamily="34" charset="-122"/>
                <a:cs typeface="Aptos" pitchFamily="34" charset="-120"/>
              </a:rPr>
              <a:t>What-if</a:t>
            </a:r>
            <a:endParaRPr lang="en-US" sz="780" dirty="0">
              <a:solidFill>
                <a:schemeClr val="accent4">
                  <a:lumMod val="75000"/>
                </a:schemeClr>
              </a:solidFill>
            </a:endParaRPr>
          </a:p>
          <a:p>
            <a:pPr marL="0" indent="0" algn="ctr">
              <a:buNone/>
            </a:pPr>
            <a:r>
              <a:rPr lang="en-US" sz="780" b="1" dirty="0">
                <a:solidFill>
                  <a:schemeClr val="accent4">
                    <a:lumMod val="75000"/>
                  </a:schemeClr>
                </a:solidFill>
                <a:latin typeface="Aptos" pitchFamily="34" charset="0"/>
                <a:ea typeface="Aptos" pitchFamily="34" charset="-122"/>
                <a:cs typeface="Aptos" pitchFamily="34" charset="-120"/>
              </a:rPr>
              <a:t>Simulation</a:t>
            </a:r>
            <a:endParaRPr lang="en-US" sz="780" dirty="0">
              <a:solidFill>
                <a:schemeClr val="accent4">
                  <a:lumMod val="75000"/>
                </a:schemeClr>
              </a:solidFill>
            </a:endParaRPr>
          </a:p>
        </p:txBody>
      </p:sp>
      <p:sp>
        <p:nvSpPr>
          <p:cNvPr id="34" name="Text 32">
            <a:extLst>
              <a:ext uri="{FF2B5EF4-FFF2-40B4-BE49-F238E27FC236}">
                <a16:creationId xmlns:a16="http://schemas.microsoft.com/office/drawing/2014/main" id="{B9275B29-2EC8-0B13-CFDF-3CD4BDE6573D}"/>
              </a:ext>
            </a:extLst>
          </p:cNvPr>
          <p:cNvSpPr/>
          <p:nvPr/>
        </p:nvSpPr>
        <p:spPr>
          <a:xfrm>
            <a:off x="10378820" y="4998381"/>
            <a:ext cx="1444413" cy="384048"/>
          </a:xfrm>
          <a:prstGeom prst="roundRect">
            <a:avLst>
              <a:gd name="adj" fmla="val 19048"/>
            </a:avLst>
          </a:prstGeom>
          <a:solidFill>
            <a:srgbClr val="FFD966">
              <a:alpha val="14902"/>
            </a:srgbClr>
          </a:solidFill>
          <a:ln w="12700">
            <a:solidFill>
              <a:schemeClr val="accent4">
                <a:lumMod val="60000"/>
                <a:lumOff val="40000"/>
              </a:schemeClr>
            </a:solidFill>
          </a:ln>
        </p:spPr>
        <p:txBody>
          <a:bodyPr wrap="square" lIns="508" tIns="508" rIns="508" bIns="508" rtlCol="0" anchor="ctr">
            <a:normAutofit/>
          </a:bodyPr>
          <a:lstStyle/>
          <a:p>
            <a:pPr marL="0" indent="0" algn="ctr">
              <a:buNone/>
            </a:pPr>
            <a:r>
              <a:rPr lang="en-US" sz="780" b="1" dirty="0">
                <a:solidFill>
                  <a:schemeClr val="accent4">
                    <a:lumMod val="75000"/>
                  </a:schemeClr>
                </a:solidFill>
                <a:latin typeface="Aptos" pitchFamily="34" charset="0"/>
                <a:ea typeface="Aptos" pitchFamily="34" charset="-122"/>
                <a:cs typeface="Aptos" pitchFamily="34" charset="-120"/>
              </a:rPr>
              <a:t>Policy</a:t>
            </a:r>
            <a:endParaRPr lang="en-US" sz="780" dirty="0">
              <a:solidFill>
                <a:schemeClr val="accent4">
                  <a:lumMod val="75000"/>
                </a:schemeClr>
              </a:solidFill>
            </a:endParaRPr>
          </a:p>
          <a:p>
            <a:pPr marL="0" indent="0" algn="ctr">
              <a:buNone/>
            </a:pPr>
            <a:r>
              <a:rPr lang="en-US" sz="780" b="1" dirty="0">
                <a:solidFill>
                  <a:schemeClr val="accent4">
                    <a:lumMod val="75000"/>
                  </a:schemeClr>
                </a:solidFill>
                <a:latin typeface="Aptos" pitchFamily="34" charset="0"/>
                <a:ea typeface="Aptos" pitchFamily="34" charset="-122"/>
                <a:cs typeface="Aptos" pitchFamily="34" charset="-120"/>
              </a:rPr>
              <a:t>Optimization</a:t>
            </a:r>
            <a:endParaRPr lang="en-US" sz="780" dirty="0">
              <a:solidFill>
                <a:schemeClr val="accent4">
                  <a:lumMod val="75000"/>
                </a:schemeClr>
              </a:solidFill>
            </a:endParaRPr>
          </a:p>
        </p:txBody>
      </p:sp>
      <p:sp>
        <p:nvSpPr>
          <p:cNvPr id="35" name="Text 33">
            <a:extLst>
              <a:ext uri="{FF2B5EF4-FFF2-40B4-BE49-F238E27FC236}">
                <a16:creationId xmlns:a16="http://schemas.microsoft.com/office/drawing/2014/main" id="{CA008CC4-50D6-9C04-431F-4AA9D96A11FF}"/>
              </a:ext>
            </a:extLst>
          </p:cNvPr>
          <p:cNvSpPr/>
          <p:nvPr/>
        </p:nvSpPr>
        <p:spPr>
          <a:xfrm>
            <a:off x="10360192" y="5500624"/>
            <a:ext cx="1463041" cy="384048"/>
          </a:xfrm>
          <a:prstGeom prst="roundRect">
            <a:avLst>
              <a:gd name="adj" fmla="val 19048"/>
            </a:avLst>
          </a:prstGeom>
          <a:solidFill>
            <a:srgbClr val="FFD966">
              <a:alpha val="14902"/>
            </a:srgbClr>
          </a:solidFill>
          <a:ln w="12700">
            <a:solidFill>
              <a:schemeClr val="accent4">
                <a:lumMod val="60000"/>
                <a:lumOff val="40000"/>
              </a:schemeClr>
            </a:solidFill>
          </a:ln>
        </p:spPr>
        <p:txBody>
          <a:bodyPr wrap="square" lIns="508" tIns="508" rIns="508" bIns="508" rtlCol="0" anchor="ctr">
            <a:normAutofit/>
          </a:bodyPr>
          <a:lstStyle/>
          <a:p>
            <a:pPr marL="0" indent="0" algn="ctr">
              <a:buNone/>
            </a:pPr>
            <a:r>
              <a:rPr lang="en-US" sz="780" b="1" dirty="0">
                <a:solidFill>
                  <a:schemeClr val="accent4">
                    <a:lumMod val="75000"/>
                  </a:schemeClr>
                </a:solidFill>
                <a:latin typeface="Aptos" pitchFamily="34" charset="0"/>
                <a:ea typeface="Aptos" pitchFamily="34" charset="-122"/>
                <a:cs typeface="Aptos" pitchFamily="34" charset="-120"/>
              </a:rPr>
              <a:t>Validation</a:t>
            </a:r>
            <a:endParaRPr lang="en-US" sz="780" dirty="0">
              <a:solidFill>
                <a:schemeClr val="accent4">
                  <a:lumMod val="75000"/>
                </a:schemeClr>
              </a:solidFill>
            </a:endParaRPr>
          </a:p>
          <a:p>
            <a:pPr marL="0" indent="0" algn="ctr">
              <a:buNone/>
            </a:pPr>
            <a:r>
              <a:rPr lang="en-US" sz="780" b="1" dirty="0">
                <a:solidFill>
                  <a:schemeClr val="accent4">
                    <a:lumMod val="75000"/>
                  </a:schemeClr>
                </a:solidFill>
                <a:latin typeface="Aptos" pitchFamily="34" charset="0"/>
                <a:ea typeface="Aptos" pitchFamily="34" charset="-122"/>
                <a:cs typeface="Aptos" pitchFamily="34" charset="-120"/>
              </a:rPr>
              <a:t>refutation · sensitivity</a:t>
            </a:r>
            <a:endParaRPr lang="en-US" sz="780" dirty="0">
              <a:solidFill>
                <a:schemeClr val="accent4">
                  <a:lumMod val="75000"/>
                </a:schemeClr>
              </a:solidFill>
            </a:endParaRPr>
          </a:p>
        </p:txBody>
      </p:sp>
      <p:sp>
        <p:nvSpPr>
          <p:cNvPr id="37" name="Text 35">
            <a:extLst>
              <a:ext uri="{FF2B5EF4-FFF2-40B4-BE49-F238E27FC236}">
                <a16:creationId xmlns:a16="http://schemas.microsoft.com/office/drawing/2014/main" id="{16B6BF15-91BF-5E0D-DBD4-FD8AC60D4B8C}"/>
              </a:ext>
            </a:extLst>
          </p:cNvPr>
          <p:cNvSpPr/>
          <p:nvPr/>
        </p:nvSpPr>
        <p:spPr>
          <a:xfrm>
            <a:off x="4831080" y="4974163"/>
            <a:ext cx="1691640" cy="384048"/>
          </a:xfrm>
          <a:prstGeom prst="roundRect">
            <a:avLst>
              <a:gd name="adj" fmla="val 19048"/>
            </a:avLst>
          </a:prstGeom>
          <a:solidFill>
            <a:srgbClr val="F0EDFF"/>
          </a:solidFill>
          <a:ln w="12700">
            <a:solidFill>
              <a:srgbClr val="BFB7ED"/>
            </a:solidFill>
          </a:ln>
        </p:spPr>
        <p:txBody>
          <a:bodyPr wrap="square" lIns="508" tIns="508" rIns="508" bIns="508" rtlCol="0" anchor="ctr">
            <a:normAutofit/>
          </a:bodyPr>
          <a:lstStyle/>
          <a:p>
            <a:pPr marL="0" indent="0" algn="ctr">
              <a:buNone/>
            </a:pPr>
            <a:r>
              <a:rPr lang="en-US" sz="780" b="1" dirty="0">
                <a:solidFill>
                  <a:srgbClr val="6D5BD0"/>
                </a:solidFill>
                <a:latin typeface="Aptos" pitchFamily="34" charset="0"/>
                <a:ea typeface="Aptos" pitchFamily="34" charset="-122"/>
                <a:cs typeface="Aptos" pitchFamily="34" charset="-120"/>
              </a:rPr>
              <a:t>Guardrails</a:t>
            </a:r>
            <a:endParaRPr lang="en-US" sz="780" dirty="0"/>
          </a:p>
          <a:p>
            <a:pPr marL="0" indent="0" algn="ctr">
              <a:buNone/>
            </a:pPr>
            <a:r>
              <a:rPr lang="en-US" sz="780" b="1" dirty="0">
                <a:solidFill>
                  <a:srgbClr val="6D5BD0"/>
                </a:solidFill>
                <a:latin typeface="Aptos" pitchFamily="34" charset="0"/>
                <a:ea typeface="Aptos" pitchFamily="34" charset="-122"/>
                <a:cs typeface="Aptos" pitchFamily="34" charset="-120"/>
              </a:rPr>
              <a:t>spillover · long-term</a:t>
            </a:r>
            <a:endParaRPr lang="en-US" sz="780" dirty="0"/>
          </a:p>
        </p:txBody>
      </p:sp>
      <p:sp>
        <p:nvSpPr>
          <p:cNvPr id="40" name="Text 16">
            <a:extLst>
              <a:ext uri="{FF2B5EF4-FFF2-40B4-BE49-F238E27FC236}">
                <a16:creationId xmlns:a16="http://schemas.microsoft.com/office/drawing/2014/main" id="{CCA1F8B2-E70A-D5CA-0F32-F8070AE63FC3}"/>
              </a:ext>
            </a:extLst>
          </p:cNvPr>
          <p:cNvSpPr/>
          <p:nvPr/>
        </p:nvSpPr>
        <p:spPr>
          <a:xfrm>
            <a:off x="3055027" y="2953512"/>
            <a:ext cx="3583517" cy="603504"/>
          </a:xfrm>
          <a:prstGeom prst="roundRect">
            <a:avLst>
              <a:gd name="adj" fmla="val 12121"/>
            </a:avLst>
          </a:prstGeom>
          <a:solidFill>
            <a:srgbClr val="E8F0FF"/>
          </a:solidFill>
          <a:ln w="12700">
            <a:solidFill>
              <a:srgbClr val="AFC6F6"/>
            </a:solidFill>
          </a:ln>
        </p:spPr>
        <p:txBody>
          <a:bodyPr wrap="square" lIns="762" tIns="762" rIns="762" bIns="762" rtlCol="0" anchor="ctr">
            <a:normAutofit/>
          </a:bodyPr>
          <a:lstStyle/>
          <a:p>
            <a:pPr marL="0" indent="0" algn="ctr">
              <a:buNone/>
            </a:pPr>
            <a:r>
              <a:rPr lang="en-US" sz="920" b="1" dirty="0">
                <a:solidFill>
                  <a:srgbClr val="2D6CDF"/>
                </a:solidFill>
                <a:latin typeface="Aptos" pitchFamily="34" charset="0"/>
              </a:rPr>
              <a:t>CLV</a:t>
            </a:r>
            <a:endParaRPr lang="en-US" sz="920" dirty="0"/>
          </a:p>
        </p:txBody>
      </p:sp>
      <p:sp>
        <p:nvSpPr>
          <p:cNvPr id="16" name="Text 29">
            <a:extLst>
              <a:ext uri="{FF2B5EF4-FFF2-40B4-BE49-F238E27FC236}">
                <a16:creationId xmlns:a16="http://schemas.microsoft.com/office/drawing/2014/main" id="{03C38286-591B-ECFB-07D4-1E291701FD78}"/>
              </a:ext>
            </a:extLst>
          </p:cNvPr>
          <p:cNvSpPr/>
          <p:nvPr/>
        </p:nvSpPr>
        <p:spPr>
          <a:xfrm>
            <a:off x="3035808" y="4507653"/>
            <a:ext cx="1691640" cy="384048"/>
          </a:xfrm>
          <a:prstGeom prst="roundRect">
            <a:avLst>
              <a:gd name="adj" fmla="val 19048"/>
            </a:avLst>
          </a:prstGeom>
          <a:solidFill>
            <a:srgbClr val="E8F0FF"/>
          </a:solidFill>
          <a:ln w="12700">
            <a:solidFill>
              <a:srgbClr val="AFC6F6"/>
            </a:solidFill>
          </a:ln>
        </p:spPr>
        <p:txBody>
          <a:bodyPr wrap="square" lIns="508" tIns="508" rIns="508" bIns="508" rtlCol="0" anchor="ctr">
            <a:normAutofit lnSpcReduction="10000"/>
          </a:bodyPr>
          <a:lstStyle/>
          <a:p>
            <a:pPr marL="0" indent="0" algn="ctr">
              <a:buNone/>
            </a:pPr>
            <a:r>
              <a:rPr lang="en-US" sz="780" b="1" dirty="0">
                <a:solidFill>
                  <a:srgbClr val="2D6CDF"/>
                </a:solidFill>
                <a:latin typeface="Aptos" pitchFamily="34" charset="0"/>
                <a:ea typeface="Aptos" pitchFamily="34" charset="-122"/>
                <a:cs typeface="Aptos" pitchFamily="34" charset="-120"/>
              </a:rPr>
              <a:t>Panel Models</a:t>
            </a:r>
          </a:p>
          <a:p>
            <a:pPr algn="ctr"/>
            <a:r>
              <a:rPr lang="en-US" sz="780" b="1" dirty="0">
                <a:solidFill>
                  <a:srgbClr val="2D6CDF"/>
                </a:solidFill>
                <a:latin typeface="Aptos" pitchFamily="34" charset="0"/>
                <a:ea typeface="Aptos" pitchFamily="34" charset="-122"/>
                <a:cs typeface="Aptos" pitchFamily="34" charset="-120"/>
              </a:rPr>
              <a:t>Fixed Effects </a:t>
            </a:r>
            <a:r>
              <a:rPr lang="en-US" sz="780" b="1" dirty="0">
                <a:solidFill>
                  <a:srgbClr val="2E7D32"/>
                </a:solidFill>
                <a:latin typeface="Aptos" pitchFamily="34" charset="0"/>
                <a:ea typeface="Aptos" pitchFamily="34" charset="-122"/>
                <a:cs typeface="Aptos" pitchFamily="34" charset="-120"/>
              </a:rPr>
              <a:t>· </a:t>
            </a:r>
            <a:r>
              <a:rPr lang="en-US" sz="780" b="1" dirty="0">
                <a:solidFill>
                  <a:srgbClr val="2D6CDF"/>
                </a:solidFill>
                <a:latin typeface="Aptos" pitchFamily="34" charset="0"/>
                <a:ea typeface="Aptos" pitchFamily="34" charset="-122"/>
                <a:cs typeface="Aptos" pitchFamily="34" charset="-120"/>
              </a:rPr>
              <a:t>Random Effects </a:t>
            </a:r>
            <a:r>
              <a:rPr lang="en-US" sz="780" b="1" dirty="0">
                <a:solidFill>
                  <a:srgbClr val="2E7D32"/>
                </a:solidFill>
                <a:latin typeface="Aptos" pitchFamily="34" charset="0"/>
                <a:ea typeface="Aptos" pitchFamily="34" charset="-122"/>
                <a:cs typeface="Aptos" pitchFamily="34" charset="-120"/>
              </a:rPr>
              <a:t>·</a:t>
            </a:r>
            <a:r>
              <a:rPr lang="en-US" sz="780" b="1" dirty="0">
                <a:solidFill>
                  <a:srgbClr val="2D6CDF"/>
                </a:solidFill>
                <a:latin typeface="Aptos" pitchFamily="34" charset="0"/>
                <a:ea typeface="Aptos" pitchFamily="34" charset="-122"/>
                <a:cs typeface="Aptos" pitchFamily="34" charset="-120"/>
              </a:rPr>
              <a:t> </a:t>
            </a:r>
            <a:r>
              <a:rPr lang="en-US" sz="780" b="1" dirty="0" err="1">
                <a:solidFill>
                  <a:srgbClr val="2D6CDF"/>
                </a:solidFill>
                <a:latin typeface="Aptos" pitchFamily="34" charset="0"/>
                <a:ea typeface="Aptos" pitchFamily="34" charset="-122"/>
                <a:cs typeface="Aptos" pitchFamily="34" charset="-120"/>
              </a:rPr>
              <a:t>Mundlak</a:t>
            </a:r>
            <a:endParaRPr lang="en-US" sz="780" dirty="0"/>
          </a:p>
        </p:txBody>
      </p:sp>
      <p:sp>
        <p:nvSpPr>
          <p:cNvPr id="23" name="Text 29">
            <a:extLst>
              <a:ext uri="{FF2B5EF4-FFF2-40B4-BE49-F238E27FC236}">
                <a16:creationId xmlns:a16="http://schemas.microsoft.com/office/drawing/2014/main" id="{F4D804F8-284E-7905-CFD4-7863016806FF}"/>
              </a:ext>
            </a:extLst>
          </p:cNvPr>
          <p:cNvSpPr/>
          <p:nvPr/>
        </p:nvSpPr>
        <p:spPr>
          <a:xfrm>
            <a:off x="3067896" y="5462015"/>
            <a:ext cx="1691640" cy="384048"/>
          </a:xfrm>
          <a:prstGeom prst="roundRect">
            <a:avLst>
              <a:gd name="adj" fmla="val 19048"/>
            </a:avLst>
          </a:prstGeom>
          <a:solidFill>
            <a:srgbClr val="E8F0FF"/>
          </a:solidFill>
          <a:ln w="12700">
            <a:solidFill>
              <a:srgbClr val="AFC6F6"/>
            </a:solidFill>
          </a:ln>
        </p:spPr>
        <p:txBody>
          <a:bodyPr wrap="square" lIns="508" tIns="508" rIns="508" bIns="508" rtlCol="0" anchor="ctr">
            <a:normAutofit lnSpcReduction="10000"/>
          </a:bodyPr>
          <a:lstStyle/>
          <a:p>
            <a:pPr algn="ctr"/>
            <a:r>
              <a:rPr lang="en-US" sz="780" b="1" dirty="0">
                <a:solidFill>
                  <a:srgbClr val="2D6CDF"/>
                </a:solidFill>
                <a:latin typeface="Aptos" pitchFamily="34" charset="0"/>
              </a:rPr>
              <a:t>Bayesian Causal Modeling</a:t>
            </a:r>
          </a:p>
          <a:p>
            <a:pPr algn="ctr"/>
            <a:r>
              <a:rPr lang="en-US" sz="780" b="1" dirty="0">
                <a:solidFill>
                  <a:srgbClr val="2D6CDF"/>
                </a:solidFill>
                <a:latin typeface="Aptos" pitchFamily="34" charset="0"/>
              </a:rPr>
              <a:t>priors · uncertainty · hierarchical pooling</a:t>
            </a:r>
          </a:p>
        </p:txBody>
      </p:sp>
      <p:sp>
        <p:nvSpPr>
          <p:cNvPr id="28" name="Text 29">
            <a:extLst>
              <a:ext uri="{FF2B5EF4-FFF2-40B4-BE49-F238E27FC236}">
                <a16:creationId xmlns:a16="http://schemas.microsoft.com/office/drawing/2014/main" id="{79BFACC1-5EAB-7B96-0FDD-1A394E1087DF}"/>
              </a:ext>
            </a:extLst>
          </p:cNvPr>
          <p:cNvSpPr/>
          <p:nvPr/>
        </p:nvSpPr>
        <p:spPr>
          <a:xfrm>
            <a:off x="3035808" y="4943856"/>
            <a:ext cx="1691640" cy="384048"/>
          </a:xfrm>
          <a:prstGeom prst="roundRect">
            <a:avLst>
              <a:gd name="adj" fmla="val 19048"/>
            </a:avLst>
          </a:prstGeom>
          <a:solidFill>
            <a:srgbClr val="E8F0FF"/>
          </a:solidFill>
          <a:ln w="12700">
            <a:solidFill>
              <a:srgbClr val="AFC6F6"/>
            </a:solidFill>
          </a:ln>
        </p:spPr>
        <p:txBody>
          <a:bodyPr wrap="square" lIns="508" tIns="508" rIns="508" bIns="508" rtlCol="0" anchor="ctr">
            <a:normAutofit/>
          </a:bodyPr>
          <a:lstStyle/>
          <a:p>
            <a:pPr marL="0" indent="0" algn="ctr">
              <a:buNone/>
            </a:pPr>
            <a:r>
              <a:rPr lang="en-US" sz="780" b="1" dirty="0">
                <a:solidFill>
                  <a:srgbClr val="2D6CDF"/>
                </a:solidFill>
                <a:latin typeface="Aptos" pitchFamily="34" charset="0"/>
                <a:ea typeface="Aptos" pitchFamily="34" charset="-122"/>
                <a:cs typeface="Aptos" pitchFamily="34" charset="-120"/>
              </a:rPr>
              <a:t>SHAP / Shapley Attribution</a:t>
            </a:r>
            <a:endParaRPr lang="en-US" sz="780" dirty="0"/>
          </a:p>
        </p:txBody>
      </p:sp>
      <p:sp>
        <p:nvSpPr>
          <p:cNvPr id="39" name="Text 35">
            <a:extLst>
              <a:ext uri="{FF2B5EF4-FFF2-40B4-BE49-F238E27FC236}">
                <a16:creationId xmlns:a16="http://schemas.microsoft.com/office/drawing/2014/main" id="{35677D98-07CF-930F-664D-73292B5B7C72}"/>
              </a:ext>
            </a:extLst>
          </p:cNvPr>
          <p:cNvSpPr/>
          <p:nvPr/>
        </p:nvSpPr>
        <p:spPr>
          <a:xfrm>
            <a:off x="3039703" y="5990674"/>
            <a:ext cx="3524461" cy="384048"/>
          </a:xfrm>
          <a:prstGeom prst="roundRect">
            <a:avLst>
              <a:gd name="adj" fmla="val 19048"/>
            </a:avLst>
          </a:prstGeom>
          <a:solidFill>
            <a:srgbClr val="F0EDFF"/>
          </a:solidFill>
          <a:ln w="12700">
            <a:solidFill>
              <a:srgbClr val="BFB7ED"/>
            </a:solidFill>
          </a:ln>
        </p:spPr>
        <p:txBody>
          <a:bodyPr wrap="square" lIns="508" tIns="508" rIns="508" bIns="508" rtlCol="0" anchor="ctr">
            <a:normAutofit/>
          </a:bodyPr>
          <a:lstStyle/>
          <a:p>
            <a:pPr marL="0" indent="0" algn="ctr">
              <a:buNone/>
            </a:pPr>
            <a:r>
              <a:rPr lang="en-US" sz="780" b="1" dirty="0">
                <a:solidFill>
                  <a:srgbClr val="6D5BD0"/>
                </a:solidFill>
                <a:latin typeface="Aptos" pitchFamily="34" charset="0"/>
                <a:ea typeface="Aptos" pitchFamily="34" charset="-122"/>
                <a:cs typeface="Aptos" pitchFamily="34" charset="-120"/>
              </a:rPr>
              <a:t>Instrument Variables</a:t>
            </a:r>
            <a:endParaRPr lang="en-US" sz="780" dirty="0"/>
          </a:p>
        </p:txBody>
      </p:sp>
      <p:sp>
        <p:nvSpPr>
          <p:cNvPr id="22" name="Text 17">
            <a:extLst>
              <a:ext uri="{FF2B5EF4-FFF2-40B4-BE49-F238E27FC236}">
                <a16:creationId xmlns:a16="http://schemas.microsoft.com/office/drawing/2014/main" id="{A760A15B-9572-6254-CAE7-FA0A25F97796}"/>
              </a:ext>
            </a:extLst>
          </p:cNvPr>
          <p:cNvSpPr/>
          <p:nvPr/>
        </p:nvSpPr>
        <p:spPr>
          <a:xfrm>
            <a:off x="8468108" y="2290742"/>
            <a:ext cx="1485900" cy="603504"/>
          </a:xfrm>
          <a:prstGeom prst="roundRect">
            <a:avLst>
              <a:gd name="adj" fmla="val 12121"/>
            </a:avLst>
          </a:prstGeom>
          <a:solidFill>
            <a:srgbClr val="FFF4E6"/>
          </a:solidFill>
          <a:ln w="12700">
            <a:solidFill>
              <a:srgbClr val="E4B47C"/>
            </a:solidFill>
          </a:ln>
        </p:spPr>
        <p:txBody>
          <a:bodyPr wrap="square" lIns="762" tIns="762" rIns="762" bIns="762" rtlCol="0" anchor="ctr">
            <a:normAutofit/>
          </a:bodyPr>
          <a:lstStyle/>
          <a:p>
            <a:pPr algn="ctr"/>
            <a:r>
              <a:rPr lang="en-US" sz="920" b="1" dirty="0">
                <a:solidFill>
                  <a:srgbClr val="C76B29"/>
                </a:solidFill>
                <a:latin typeface="Aptos" pitchFamily="34" charset="0"/>
              </a:rPr>
              <a:t>Buyer Flow Analysis</a:t>
            </a:r>
          </a:p>
        </p:txBody>
      </p:sp>
      <p:sp>
        <p:nvSpPr>
          <p:cNvPr id="41" name="Text 22">
            <a:extLst>
              <a:ext uri="{FF2B5EF4-FFF2-40B4-BE49-F238E27FC236}">
                <a16:creationId xmlns:a16="http://schemas.microsoft.com/office/drawing/2014/main" id="{AE31AFCC-24E5-033D-A399-6F82DF41B26A}"/>
              </a:ext>
            </a:extLst>
          </p:cNvPr>
          <p:cNvSpPr/>
          <p:nvPr/>
        </p:nvSpPr>
        <p:spPr>
          <a:xfrm>
            <a:off x="10360192" y="5990674"/>
            <a:ext cx="1501988" cy="384048"/>
          </a:xfrm>
          <a:prstGeom prst="roundRect">
            <a:avLst>
              <a:gd name="adj" fmla="val 19048"/>
            </a:avLst>
          </a:prstGeom>
          <a:solidFill>
            <a:schemeClr val="bg1">
              <a:lumMod val="95000"/>
            </a:schemeClr>
          </a:solidFill>
          <a:ln w="12700">
            <a:solidFill>
              <a:schemeClr val="bg1">
                <a:lumMod val="75000"/>
              </a:schemeClr>
            </a:solidFill>
          </a:ln>
        </p:spPr>
        <p:txBody>
          <a:bodyPr wrap="square" lIns="508" tIns="508" rIns="508" bIns="508" rtlCol="0" anchor="ctr">
            <a:normAutofit/>
          </a:bodyPr>
          <a:lstStyle/>
          <a:p>
            <a:pPr marL="0" indent="0" algn="ctr">
              <a:buNone/>
            </a:pPr>
            <a:r>
              <a:rPr lang="en-US" sz="780" b="1" dirty="0">
                <a:solidFill>
                  <a:srgbClr val="444444"/>
                </a:solidFill>
                <a:latin typeface="Aptos" pitchFamily="34" charset="0"/>
                <a:ea typeface="Aptos" pitchFamily="34" charset="-122"/>
                <a:cs typeface="Aptos" pitchFamily="34" charset="-120"/>
              </a:rPr>
              <a:t>Governance</a:t>
            </a:r>
          </a:p>
          <a:p>
            <a:pPr algn="ctr"/>
            <a:r>
              <a:rPr lang="en-US" sz="780" b="1" dirty="0">
                <a:solidFill>
                  <a:schemeClr val="tx1">
                    <a:lumMod val="65000"/>
                    <a:lumOff val="35000"/>
                  </a:schemeClr>
                </a:solidFill>
                <a:latin typeface="Aptos" panose="020B0004020202020204" pitchFamily="34" charset="0"/>
              </a:rPr>
              <a:t>Playbook</a:t>
            </a:r>
          </a:p>
        </p:txBody>
      </p:sp>
      <p:sp>
        <p:nvSpPr>
          <p:cNvPr id="44" name="Text 27">
            <a:extLst>
              <a:ext uri="{FF2B5EF4-FFF2-40B4-BE49-F238E27FC236}">
                <a16:creationId xmlns:a16="http://schemas.microsoft.com/office/drawing/2014/main" id="{6AC56701-2801-B0B4-6A78-D766C5812276}"/>
              </a:ext>
            </a:extLst>
          </p:cNvPr>
          <p:cNvSpPr/>
          <p:nvPr/>
        </p:nvSpPr>
        <p:spPr>
          <a:xfrm>
            <a:off x="8550021" y="4998381"/>
            <a:ext cx="1691640" cy="384048"/>
          </a:xfrm>
          <a:prstGeom prst="roundRect">
            <a:avLst>
              <a:gd name="adj" fmla="val 19048"/>
            </a:avLst>
          </a:prstGeom>
          <a:solidFill>
            <a:srgbClr val="FFF4E6"/>
          </a:solidFill>
          <a:ln w="12700">
            <a:solidFill>
              <a:srgbClr val="E4B47C"/>
            </a:solidFill>
          </a:ln>
        </p:spPr>
        <p:txBody>
          <a:bodyPr wrap="square" lIns="508" tIns="508" rIns="508" bIns="508" rtlCol="0" anchor="ctr">
            <a:normAutofit/>
          </a:bodyPr>
          <a:lstStyle/>
          <a:p>
            <a:pPr marL="0" indent="0" algn="ctr">
              <a:buNone/>
            </a:pPr>
            <a:r>
              <a:rPr lang="en-US" sz="780" b="1" dirty="0">
                <a:solidFill>
                  <a:srgbClr val="C76B29"/>
                </a:solidFill>
                <a:latin typeface="Aptos" pitchFamily="34" charset="0"/>
                <a:ea typeface="Aptos" pitchFamily="34" charset="-122"/>
                <a:cs typeface="Aptos" pitchFamily="34" charset="-120"/>
              </a:rPr>
              <a:t>Structural Causal Model (SCM)</a:t>
            </a:r>
            <a:endParaRPr lang="en-US" sz="780" dirty="0"/>
          </a:p>
        </p:txBody>
      </p:sp>
      <p:sp>
        <p:nvSpPr>
          <p:cNvPr id="48" name="Text 24">
            <a:extLst>
              <a:ext uri="{FF2B5EF4-FFF2-40B4-BE49-F238E27FC236}">
                <a16:creationId xmlns:a16="http://schemas.microsoft.com/office/drawing/2014/main" id="{E7FFFB57-35D5-A620-B237-8C30956A014B}"/>
              </a:ext>
            </a:extLst>
          </p:cNvPr>
          <p:cNvSpPr/>
          <p:nvPr/>
        </p:nvSpPr>
        <p:spPr>
          <a:xfrm>
            <a:off x="1284562" y="6374722"/>
            <a:ext cx="3363638" cy="384048"/>
          </a:xfrm>
          <a:prstGeom prst="roundRect">
            <a:avLst>
              <a:gd name="adj" fmla="val 19048"/>
            </a:avLst>
          </a:prstGeom>
          <a:solidFill>
            <a:srgbClr val="E6F5F2"/>
          </a:solidFill>
          <a:ln w="12700">
            <a:solidFill>
              <a:srgbClr val="9CCFC5"/>
            </a:solidFill>
          </a:ln>
        </p:spPr>
        <p:txBody>
          <a:bodyPr wrap="square" lIns="508" tIns="508" rIns="508" bIns="508" rtlCol="0" anchor="ctr">
            <a:normAutofit/>
          </a:bodyPr>
          <a:lstStyle/>
          <a:p>
            <a:pPr algn="ctr"/>
            <a:r>
              <a:rPr lang="en-US" sz="780" b="1" dirty="0">
                <a:solidFill>
                  <a:srgbClr val="0F766E"/>
                </a:solidFill>
                <a:latin typeface="Aptos" pitchFamily="34" charset="0"/>
              </a:rPr>
              <a:t>Covariate Adjustment</a:t>
            </a:r>
          </a:p>
          <a:p>
            <a:pPr algn="ctr"/>
            <a:r>
              <a:rPr lang="en-US" sz="780" b="1" dirty="0">
                <a:solidFill>
                  <a:srgbClr val="0F766E"/>
                </a:solidFill>
                <a:latin typeface="Aptos" pitchFamily="34" charset="0"/>
              </a:rPr>
              <a:t>regression controls · treatment indicator</a:t>
            </a:r>
          </a:p>
        </p:txBody>
      </p:sp>
    </p:spTree>
    <p:extLst>
      <p:ext uri="{BB962C8B-B14F-4D97-AF65-F5344CB8AC3E}">
        <p14:creationId xmlns:p14="http://schemas.microsoft.com/office/powerpoint/2010/main" val="18466882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C6329686-FE8B-41BC-075D-6FA8A5637065}"/>
              </a:ext>
            </a:extLst>
          </p:cNvPr>
          <p:cNvGrpSpPr/>
          <p:nvPr/>
        </p:nvGrpSpPr>
        <p:grpSpPr>
          <a:xfrm>
            <a:off x="2709476" y="0"/>
            <a:ext cx="6773047" cy="6858000"/>
            <a:chOff x="2709476" y="0"/>
            <a:chExt cx="6773047" cy="6858000"/>
          </a:xfrm>
        </p:grpSpPr>
        <p:pic>
          <p:nvPicPr>
            <p:cNvPr id="3" name="Picture 2">
              <a:extLst>
                <a:ext uri="{FF2B5EF4-FFF2-40B4-BE49-F238E27FC236}">
                  <a16:creationId xmlns:a16="http://schemas.microsoft.com/office/drawing/2014/main" id="{0283314F-C9D8-6A88-88C8-CAFD766687FE}"/>
                </a:ext>
              </a:extLst>
            </p:cNvPr>
            <p:cNvPicPr>
              <a:picLocks noChangeAspect="1"/>
            </p:cNvPicPr>
            <p:nvPr/>
          </p:nvPicPr>
          <p:blipFill>
            <a:blip r:embed="rId3"/>
            <a:stretch>
              <a:fillRect/>
            </a:stretch>
          </p:blipFill>
          <p:spPr>
            <a:xfrm>
              <a:off x="2709476" y="0"/>
              <a:ext cx="6773047" cy="6858000"/>
            </a:xfrm>
            <a:prstGeom prst="rect">
              <a:avLst/>
            </a:prstGeom>
          </p:spPr>
        </p:pic>
        <p:pic>
          <p:nvPicPr>
            <p:cNvPr id="4" name="Picture 3">
              <a:extLst>
                <a:ext uri="{FF2B5EF4-FFF2-40B4-BE49-F238E27FC236}">
                  <a16:creationId xmlns:a16="http://schemas.microsoft.com/office/drawing/2014/main" id="{BC83982A-B02F-9EBA-9391-79FAE017F702}"/>
                </a:ext>
              </a:extLst>
            </p:cNvPr>
            <p:cNvPicPr>
              <a:picLocks noChangeAspect="1"/>
            </p:cNvPicPr>
            <p:nvPr/>
          </p:nvPicPr>
          <p:blipFill>
            <a:blip r:embed="rId4"/>
            <a:stretch>
              <a:fillRect/>
            </a:stretch>
          </p:blipFill>
          <p:spPr>
            <a:xfrm>
              <a:off x="3033102" y="3429000"/>
              <a:ext cx="1060534" cy="795401"/>
            </a:xfrm>
            <a:prstGeom prst="rect">
              <a:avLst/>
            </a:prstGeom>
          </p:spPr>
        </p:pic>
        <p:sp>
          <p:nvSpPr>
            <p:cNvPr id="6" name="Rectangle 5">
              <a:extLst>
                <a:ext uri="{FF2B5EF4-FFF2-40B4-BE49-F238E27FC236}">
                  <a16:creationId xmlns:a16="http://schemas.microsoft.com/office/drawing/2014/main" id="{567153B2-CCB2-AE45-BFDC-447A76EE1C4D}"/>
                </a:ext>
              </a:extLst>
            </p:cNvPr>
            <p:cNvSpPr/>
            <p:nvPr/>
          </p:nvSpPr>
          <p:spPr>
            <a:xfrm>
              <a:off x="8187267" y="3327400"/>
              <a:ext cx="1060534" cy="8970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 name="TextBox 8">
            <a:extLst>
              <a:ext uri="{FF2B5EF4-FFF2-40B4-BE49-F238E27FC236}">
                <a16:creationId xmlns:a16="http://schemas.microsoft.com/office/drawing/2014/main" id="{DE5F72DC-639A-AEA3-16D1-E3807013F908}"/>
              </a:ext>
            </a:extLst>
          </p:cNvPr>
          <p:cNvSpPr txBox="1"/>
          <p:nvPr/>
        </p:nvSpPr>
        <p:spPr>
          <a:xfrm>
            <a:off x="514351" y="5727143"/>
            <a:ext cx="3486150" cy="1015663"/>
          </a:xfrm>
          <a:prstGeom prst="rect">
            <a:avLst/>
          </a:prstGeom>
        </p:spPr>
        <p:style>
          <a:lnRef idx="2">
            <a:schemeClr val="accent5"/>
          </a:lnRef>
          <a:fillRef idx="1">
            <a:schemeClr val="lt1"/>
          </a:fillRef>
          <a:effectRef idx="0">
            <a:schemeClr val="accent5"/>
          </a:effectRef>
          <a:fontRef idx="minor">
            <a:schemeClr val="dk1"/>
          </a:fontRef>
        </p:style>
        <p:txBody>
          <a:bodyPr wrap="square">
            <a:spAutoFit/>
          </a:bodyPr>
          <a:lstStyle>
            <a:lvl1pPr marL="171450" indent="-171450">
              <a:buFont typeface="Arial" panose="020B0604020202020204" pitchFamily="34" charset="0"/>
              <a:buChar char="•"/>
              <a:defRPr sz="1000">
                <a:solidFill>
                  <a:schemeClr val="dk1"/>
                </a:solidFill>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b="1" dirty="0"/>
              <a:t>Response Modeling</a:t>
            </a:r>
            <a:r>
              <a:rPr lang="en-US" dirty="0"/>
              <a:t>: predicts likely buyers </a:t>
            </a:r>
          </a:p>
          <a:p>
            <a:r>
              <a:rPr lang="en-US" b="1" dirty="0"/>
              <a:t>Uplift / Causal ML</a:t>
            </a:r>
            <a:r>
              <a:rPr lang="en-US" dirty="0"/>
              <a:t>: predicts incremental responders </a:t>
            </a:r>
          </a:p>
          <a:p>
            <a:r>
              <a:rPr lang="en-US" b="1" dirty="0"/>
              <a:t>Attribution Analysis</a:t>
            </a:r>
            <a:r>
              <a:rPr lang="en-US" dirty="0"/>
              <a:t>: identifies influential touchpoints </a:t>
            </a:r>
          </a:p>
          <a:p>
            <a:r>
              <a:rPr lang="en-US" b="1" dirty="0"/>
              <a:t>Next-Best-Action</a:t>
            </a:r>
            <a:r>
              <a:rPr lang="en-US" dirty="0"/>
              <a:t>: recommends the best next intervention</a:t>
            </a:r>
          </a:p>
          <a:p>
            <a:r>
              <a:rPr lang="en-US" b="1" dirty="0"/>
              <a:t>Budget &amp; Channel Opt</a:t>
            </a:r>
            <a:r>
              <a:rPr lang="en-US" dirty="0"/>
              <a:t>.: allocates investment for maximum incremental return</a:t>
            </a:r>
          </a:p>
        </p:txBody>
      </p:sp>
      <p:sp>
        <p:nvSpPr>
          <p:cNvPr id="7" name="TextBox 6">
            <a:extLst>
              <a:ext uri="{FF2B5EF4-FFF2-40B4-BE49-F238E27FC236}">
                <a16:creationId xmlns:a16="http://schemas.microsoft.com/office/drawing/2014/main" id="{889BFCC5-BEC2-F5B2-6E60-7C69056A16EC}"/>
              </a:ext>
            </a:extLst>
          </p:cNvPr>
          <p:cNvSpPr txBox="1"/>
          <p:nvPr/>
        </p:nvSpPr>
        <p:spPr>
          <a:xfrm>
            <a:off x="8324849" y="5591382"/>
            <a:ext cx="3661977" cy="1169551"/>
          </a:xfrm>
          <a:prstGeom prst="rect">
            <a:avLst/>
          </a:prstGeom>
        </p:spPr>
        <p:style>
          <a:lnRef idx="2">
            <a:schemeClr val="accent5"/>
          </a:lnRef>
          <a:fillRef idx="1">
            <a:schemeClr val="lt1"/>
          </a:fillRef>
          <a:effectRef idx="0">
            <a:schemeClr val="accent5"/>
          </a:effectRef>
          <a:fontRef idx="minor">
            <a:schemeClr val="dk1"/>
          </a:fontRef>
        </p:style>
        <p:txBody>
          <a:bodyPr wrap="square">
            <a:spAutoFit/>
          </a:bodyPr>
          <a:lstStyle>
            <a:lvl1pPr marL="171450" indent="-171450">
              <a:buFont typeface="Arial" panose="020B0604020202020204" pitchFamily="34" charset="0"/>
              <a:buChar char="•"/>
              <a:defRPr sz="1000">
                <a:solidFill>
                  <a:schemeClr val="dk1"/>
                </a:solidFill>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dirty="0"/>
              <a:t>Who is likely to purchase Product X?</a:t>
            </a:r>
          </a:p>
          <a:p>
            <a:r>
              <a:rPr lang="en-US" dirty="0"/>
              <a:t>Who will buy because of the offer / launch exposure?</a:t>
            </a:r>
          </a:p>
          <a:p>
            <a:r>
              <a:rPr lang="en-US" dirty="0"/>
              <a:t>Which channels or touchpoints influenced the purchase journey?</a:t>
            </a:r>
          </a:p>
          <a:p>
            <a:r>
              <a:rPr lang="en-US" dirty="0"/>
              <a:t>What is the best next intervention for each customer?</a:t>
            </a:r>
          </a:p>
          <a:p>
            <a:r>
              <a:rPr lang="en-US" dirty="0"/>
              <a:t>Which channels, segments, or markets deserve more investment?</a:t>
            </a:r>
          </a:p>
        </p:txBody>
      </p:sp>
      <p:sp>
        <p:nvSpPr>
          <p:cNvPr id="5" name="TextBox 4">
            <a:extLst>
              <a:ext uri="{FF2B5EF4-FFF2-40B4-BE49-F238E27FC236}">
                <a16:creationId xmlns:a16="http://schemas.microsoft.com/office/drawing/2014/main" id="{BA9FD7B6-1BBE-76ED-CDFE-C3783A77AC05}"/>
              </a:ext>
            </a:extLst>
          </p:cNvPr>
          <p:cNvSpPr txBox="1"/>
          <p:nvPr/>
        </p:nvSpPr>
        <p:spPr>
          <a:xfrm>
            <a:off x="1178986" y="343523"/>
            <a:ext cx="2914650" cy="1015663"/>
          </a:xfrm>
          <a:prstGeom prst="rect">
            <a:avLst/>
          </a:prstGeom>
          <a:ln w="28575">
            <a:solidFill>
              <a:srgbClr val="C00000"/>
            </a:solidFill>
          </a:ln>
        </p:spPr>
        <p:style>
          <a:lnRef idx="2">
            <a:schemeClr val="accent6"/>
          </a:lnRef>
          <a:fillRef idx="1">
            <a:schemeClr val="lt1"/>
          </a:fillRef>
          <a:effectRef idx="0">
            <a:schemeClr val="accent6"/>
          </a:effectRef>
          <a:fontRef idx="minor">
            <a:schemeClr val="dk1"/>
          </a:fontRef>
        </p:style>
        <p:txBody>
          <a:bodyPr wrap="square">
            <a:spAutoFit/>
          </a:bodyPr>
          <a:lstStyle/>
          <a:p>
            <a:r>
              <a:rPr lang="en-US" sz="1000" b="1" dirty="0"/>
              <a:t>Was the new product/feature successful?</a:t>
            </a:r>
          </a:p>
          <a:p>
            <a:pPr marL="171450" indent="-171450">
              <a:buFont typeface="Arial" panose="020B0604020202020204" pitchFamily="34" charset="0"/>
              <a:buChar char="•"/>
            </a:pPr>
            <a:r>
              <a:rPr lang="en-US" sz="1000" dirty="0"/>
              <a:t>How were new product top-line KPIs?</a:t>
            </a:r>
          </a:p>
          <a:p>
            <a:pPr marL="171450" indent="-171450">
              <a:buFont typeface="Arial" panose="020B0604020202020204" pitchFamily="34" charset="0"/>
              <a:buChar char="•"/>
            </a:pPr>
            <a:r>
              <a:rPr lang="en-US" sz="1000" dirty="0"/>
              <a:t>Did Product X create incremental sales?</a:t>
            </a:r>
          </a:p>
          <a:p>
            <a:pPr marL="171450" indent="-171450">
              <a:buFont typeface="Arial" panose="020B0604020202020204" pitchFamily="34" charset="0"/>
              <a:buChar char="•"/>
            </a:pPr>
            <a:r>
              <a:rPr lang="en-US" sz="1000" dirty="0"/>
              <a:t>Did it cannibalize existing products? </a:t>
            </a:r>
          </a:p>
          <a:p>
            <a:pPr marL="171450" indent="-171450">
              <a:buFont typeface="Arial" panose="020B0604020202020204" pitchFamily="34" charset="0"/>
              <a:buChar char="•"/>
            </a:pPr>
            <a:r>
              <a:rPr lang="en-US" sz="1000" dirty="0"/>
              <a:t>Did it create Halo effect?</a:t>
            </a:r>
          </a:p>
          <a:p>
            <a:pPr marL="171450" indent="-171450">
              <a:buFont typeface="Arial" panose="020B0604020202020204" pitchFamily="34" charset="0"/>
              <a:buChar char="•"/>
            </a:pPr>
            <a:r>
              <a:rPr lang="en-US" sz="1000" dirty="0"/>
              <a:t>How should we scale the launch more broadly?</a:t>
            </a:r>
          </a:p>
        </p:txBody>
      </p:sp>
      <p:sp>
        <p:nvSpPr>
          <p:cNvPr id="11" name="TextBox 10">
            <a:extLst>
              <a:ext uri="{FF2B5EF4-FFF2-40B4-BE49-F238E27FC236}">
                <a16:creationId xmlns:a16="http://schemas.microsoft.com/office/drawing/2014/main" id="{B43B7F87-0129-8E5A-632F-0D3589FBC832}"/>
              </a:ext>
            </a:extLst>
          </p:cNvPr>
          <p:cNvSpPr txBox="1"/>
          <p:nvPr/>
        </p:nvSpPr>
        <p:spPr>
          <a:xfrm>
            <a:off x="4144734" y="6645517"/>
            <a:ext cx="4152122" cy="230832"/>
          </a:xfrm>
          <a:prstGeom prst="rect">
            <a:avLst/>
          </a:prstGeom>
          <a:noFill/>
        </p:spPr>
        <p:txBody>
          <a:bodyPr wrap="square">
            <a:spAutoFit/>
          </a:bodyPr>
          <a:lstStyle/>
          <a:p>
            <a:r>
              <a:rPr lang="en-US" sz="900" dirty="0"/>
              <a:t>Expected Incremental Profit = Uplift × Margin − Offer Cost−Cannibalization Risk</a:t>
            </a:r>
          </a:p>
        </p:txBody>
      </p:sp>
      <p:sp>
        <p:nvSpPr>
          <p:cNvPr id="10" name="TextBox 9">
            <a:extLst>
              <a:ext uri="{FF2B5EF4-FFF2-40B4-BE49-F238E27FC236}">
                <a16:creationId xmlns:a16="http://schemas.microsoft.com/office/drawing/2014/main" id="{34612765-501A-88E8-BBED-AAD7F6C9EEA9}"/>
              </a:ext>
            </a:extLst>
          </p:cNvPr>
          <p:cNvSpPr txBox="1"/>
          <p:nvPr/>
        </p:nvSpPr>
        <p:spPr>
          <a:xfrm>
            <a:off x="7106717" y="1061781"/>
            <a:ext cx="6098240" cy="2585323"/>
          </a:xfrm>
          <a:prstGeom prst="rect">
            <a:avLst/>
          </a:prstGeom>
          <a:noFill/>
        </p:spPr>
        <p:txBody>
          <a:bodyPr wrap="square">
            <a:spAutoFit/>
          </a:bodyPr>
          <a:lstStyle/>
          <a:p>
            <a:r>
              <a:rPr lang="en-US" dirty="0">
                <a:solidFill>
                  <a:srgbClr val="FF0000"/>
                </a:solidFill>
              </a:rPr>
              <a:t>Panel fixed-effects regression can be used for causal driver analysis by comparing changes within the same restaurant and controlling for measured confounding factors. However, because those feature changes occur naturally and may be driven by unobserved business conditions, the causal interpretation depends heavily on modeling assumptions. A/B testing provides a cleaner counterfactual through random assignment, while </a:t>
            </a:r>
            <a:r>
              <a:rPr lang="en-US" dirty="0" err="1">
                <a:solidFill>
                  <a:srgbClr val="FF0000"/>
                </a:solidFill>
              </a:rPr>
              <a:t>DiD</a:t>
            </a:r>
            <a:r>
              <a:rPr lang="en-US" dirty="0">
                <a:solidFill>
                  <a:srgbClr val="FF0000"/>
                </a:solidFill>
              </a:rPr>
              <a:t> provides a more explicit counterfactual through a defined treatment event and a comparison group.</a:t>
            </a:r>
          </a:p>
        </p:txBody>
      </p:sp>
    </p:spTree>
    <p:extLst>
      <p:ext uri="{BB962C8B-B14F-4D97-AF65-F5344CB8AC3E}">
        <p14:creationId xmlns:p14="http://schemas.microsoft.com/office/powerpoint/2010/main" val="278718522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6CD56C-8068-25E5-BBEE-767E2ACD869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F08A473-2AAC-D8D9-B2BD-E1EBFA55DC88}"/>
              </a:ext>
            </a:extLst>
          </p:cNvPr>
          <p:cNvPicPr>
            <a:picLocks noChangeAspect="1"/>
          </p:cNvPicPr>
          <p:nvPr/>
        </p:nvPicPr>
        <p:blipFill>
          <a:blip r:embed="rId2"/>
          <a:srcRect b="51481"/>
          <a:stretch>
            <a:fillRect/>
          </a:stretch>
        </p:blipFill>
        <p:spPr>
          <a:xfrm>
            <a:off x="1524000" y="0"/>
            <a:ext cx="9144000" cy="3327400"/>
          </a:xfrm>
          <a:prstGeom prst="rect">
            <a:avLst/>
          </a:prstGeom>
        </p:spPr>
      </p:pic>
      <p:pic>
        <p:nvPicPr>
          <p:cNvPr id="4" name="Picture 3">
            <a:extLst>
              <a:ext uri="{FF2B5EF4-FFF2-40B4-BE49-F238E27FC236}">
                <a16:creationId xmlns:a16="http://schemas.microsoft.com/office/drawing/2014/main" id="{EB0CE1D6-B266-6DBC-8C34-7A5F715485C8}"/>
              </a:ext>
            </a:extLst>
          </p:cNvPr>
          <p:cNvPicPr>
            <a:picLocks noChangeAspect="1"/>
          </p:cNvPicPr>
          <p:nvPr/>
        </p:nvPicPr>
        <p:blipFill>
          <a:blip r:embed="rId3"/>
          <a:srcRect b="16050"/>
          <a:stretch>
            <a:fillRect/>
          </a:stretch>
        </p:blipFill>
        <p:spPr>
          <a:xfrm>
            <a:off x="1857438" y="3327400"/>
            <a:ext cx="7032561" cy="3322697"/>
          </a:xfrm>
          <a:prstGeom prst="rect">
            <a:avLst/>
          </a:prstGeom>
        </p:spPr>
      </p:pic>
    </p:spTree>
    <p:extLst>
      <p:ext uri="{BB962C8B-B14F-4D97-AF65-F5344CB8AC3E}">
        <p14:creationId xmlns:p14="http://schemas.microsoft.com/office/powerpoint/2010/main" val="15412424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E486C6-7E21-EBE2-379E-93B185B0F72E}"/>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30E67CC9-5DB8-0361-618F-416DDFE3BFFD}"/>
              </a:ext>
            </a:extLst>
          </p:cNvPr>
          <p:cNvPicPr>
            <a:picLocks noChangeAspect="1"/>
          </p:cNvPicPr>
          <p:nvPr/>
        </p:nvPicPr>
        <p:blipFill>
          <a:blip r:embed="rId2"/>
          <a:srcRect b="42222"/>
          <a:stretch>
            <a:fillRect/>
          </a:stretch>
        </p:blipFill>
        <p:spPr>
          <a:xfrm>
            <a:off x="1524000" y="0"/>
            <a:ext cx="8229600" cy="3566160"/>
          </a:xfrm>
          <a:prstGeom prst="rect">
            <a:avLst/>
          </a:prstGeom>
        </p:spPr>
      </p:pic>
      <p:pic>
        <p:nvPicPr>
          <p:cNvPr id="4" name="Picture 3">
            <a:extLst>
              <a:ext uri="{FF2B5EF4-FFF2-40B4-BE49-F238E27FC236}">
                <a16:creationId xmlns:a16="http://schemas.microsoft.com/office/drawing/2014/main" id="{F940A9C1-A969-1298-D6D0-937F3C98501A}"/>
              </a:ext>
            </a:extLst>
          </p:cNvPr>
          <p:cNvPicPr>
            <a:picLocks noChangeAspect="1"/>
          </p:cNvPicPr>
          <p:nvPr/>
        </p:nvPicPr>
        <p:blipFill>
          <a:blip r:embed="rId3"/>
          <a:srcRect b="53704"/>
          <a:stretch>
            <a:fillRect/>
          </a:stretch>
        </p:blipFill>
        <p:spPr>
          <a:xfrm>
            <a:off x="1353560" y="3683000"/>
            <a:ext cx="8958839" cy="3115724"/>
          </a:xfrm>
          <a:prstGeom prst="rect">
            <a:avLst/>
          </a:prstGeom>
        </p:spPr>
      </p:pic>
    </p:spTree>
    <p:extLst>
      <p:ext uri="{BB962C8B-B14F-4D97-AF65-F5344CB8AC3E}">
        <p14:creationId xmlns:p14="http://schemas.microsoft.com/office/powerpoint/2010/main" val="27948724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ABADBB1-D7D5-A7DB-DFC4-CD8FCF50CE7C}"/>
              </a:ext>
            </a:extLst>
          </p:cNvPr>
          <p:cNvPicPr>
            <a:picLocks noChangeAspect="1"/>
          </p:cNvPicPr>
          <p:nvPr/>
        </p:nvPicPr>
        <p:blipFill>
          <a:blip r:embed="rId2"/>
          <a:stretch>
            <a:fillRect/>
          </a:stretch>
        </p:blipFill>
        <p:spPr>
          <a:xfrm>
            <a:off x="3239" y="0"/>
            <a:ext cx="12185522" cy="6858000"/>
          </a:xfrm>
          <a:prstGeom prst="rect">
            <a:avLst/>
          </a:prstGeom>
        </p:spPr>
      </p:pic>
    </p:spTree>
    <p:extLst>
      <p:ext uri="{BB962C8B-B14F-4D97-AF65-F5344CB8AC3E}">
        <p14:creationId xmlns:p14="http://schemas.microsoft.com/office/powerpoint/2010/main" val="35782582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1DE51BB-FE70-214C-B5BC-9CDA2DB273E7}"/>
              </a:ext>
            </a:extLst>
          </p:cNvPr>
          <p:cNvPicPr>
            <a:picLocks noChangeAspect="1"/>
          </p:cNvPicPr>
          <p:nvPr/>
        </p:nvPicPr>
        <p:blipFill>
          <a:blip r:embed="rId2"/>
          <a:stretch>
            <a:fillRect/>
          </a:stretch>
        </p:blipFill>
        <p:spPr>
          <a:xfrm>
            <a:off x="3239" y="0"/>
            <a:ext cx="12185522" cy="6858000"/>
          </a:xfrm>
          <a:prstGeom prst="rect">
            <a:avLst/>
          </a:prstGeom>
        </p:spPr>
      </p:pic>
    </p:spTree>
    <p:extLst>
      <p:ext uri="{BB962C8B-B14F-4D97-AF65-F5344CB8AC3E}">
        <p14:creationId xmlns:p14="http://schemas.microsoft.com/office/powerpoint/2010/main" val="14547822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AB9F34F-E3BF-AE33-9BE0-68AE91A456D7}"/>
              </a:ext>
            </a:extLst>
          </p:cNvPr>
          <p:cNvPicPr>
            <a:picLocks noChangeAspect="1"/>
          </p:cNvPicPr>
          <p:nvPr/>
        </p:nvPicPr>
        <p:blipFill>
          <a:blip r:embed="rId2"/>
          <a:stretch>
            <a:fillRect/>
          </a:stretch>
        </p:blipFill>
        <p:spPr>
          <a:xfrm>
            <a:off x="3239" y="0"/>
            <a:ext cx="12185522" cy="6858000"/>
          </a:xfrm>
          <a:prstGeom prst="rect">
            <a:avLst/>
          </a:prstGeom>
        </p:spPr>
      </p:pic>
    </p:spTree>
    <p:extLst>
      <p:ext uri="{BB962C8B-B14F-4D97-AF65-F5344CB8AC3E}">
        <p14:creationId xmlns:p14="http://schemas.microsoft.com/office/powerpoint/2010/main" val="16892829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EB834CB-DCE7-134B-E50A-7E8B2EF82F09}"/>
              </a:ext>
            </a:extLst>
          </p:cNvPr>
          <p:cNvPicPr>
            <a:picLocks noChangeAspect="1"/>
          </p:cNvPicPr>
          <p:nvPr/>
        </p:nvPicPr>
        <p:blipFill>
          <a:blip r:embed="rId2"/>
          <a:stretch>
            <a:fillRect/>
          </a:stretch>
        </p:blipFill>
        <p:spPr>
          <a:xfrm>
            <a:off x="3239" y="0"/>
            <a:ext cx="12185522" cy="6858000"/>
          </a:xfrm>
          <a:prstGeom prst="rect">
            <a:avLst/>
          </a:prstGeom>
        </p:spPr>
      </p:pic>
    </p:spTree>
    <p:extLst>
      <p:ext uri="{BB962C8B-B14F-4D97-AF65-F5344CB8AC3E}">
        <p14:creationId xmlns:p14="http://schemas.microsoft.com/office/powerpoint/2010/main" val="264831874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CBC0889-E440-5166-420D-705718C992A5}"/>
              </a:ext>
            </a:extLst>
          </p:cNvPr>
          <p:cNvPicPr>
            <a:picLocks noChangeAspect="1"/>
          </p:cNvPicPr>
          <p:nvPr/>
        </p:nvPicPr>
        <p:blipFill>
          <a:blip r:embed="rId2"/>
          <a:stretch>
            <a:fillRect/>
          </a:stretch>
        </p:blipFill>
        <p:spPr>
          <a:xfrm>
            <a:off x="952500" y="0"/>
            <a:ext cx="10287000" cy="6858000"/>
          </a:xfrm>
          <a:prstGeom prst="rect">
            <a:avLst/>
          </a:prstGeom>
        </p:spPr>
      </p:pic>
      <p:sp>
        <p:nvSpPr>
          <p:cNvPr id="5" name="TextBox 4">
            <a:extLst>
              <a:ext uri="{FF2B5EF4-FFF2-40B4-BE49-F238E27FC236}">
                <a16:creationId xmlns:a16="http://schemas.microsoft.com/office/drawing/2014/main" id="{CCBA53AB-6B63-4CFC-0968-161E6B99329A}"/>
              </a:ext>
            </a:extLst>
          </p:cNvPr>
          <p:cNvSpPr txBox="1"/>
          <p:nvPr/>
        </p:nvSpPr>
        <p:spPr>
          <a:xfrm>
            <a:off x="5143500" y="4176870"/>
            <a:ext cx="7048500" cy="246221"/>
          </a:xfrm>
          <a:prstGeom prst="rect">
            <a:avLst/>
          </a:prstGeom>
          <a:noFill/>
        </p:spPr>
        <p:txBody>
          <a:bodyPr wrap="square">
            <a:spAutoFit/>
          </a:bodyPr>
          <a:lstStyle/>
          <a:p>
            <a:r>
              <a:rPr lang="en-US" sz="1000" b="1" dirty="0">
                <a:solidFill>
                  <a:srgbClr val="FF0000"/>
                </a:solidFill>
              </a:rPr>
              <a:t>DR pseudo outcome=Base </a:t>
            </a:r>
            <a:r>
              <a:rPr lang="en-US" sz="1000" b="1" dirty="0" err="1">
                <a:solidFill>
                  <a:srgbClr val="FF0000"/>
                </a:solidFill>
              </a:rPr>
              <a:t>uplift+Observed</a:t>
            </a:r>
            <a:r>
              <a:rPr lang="en-US" sz="1000" b="1" dirty="0">
                <a:solidFill>
                  <a:srgbClr val="FF0000"/>
                </a:solidFill>
              </a:rPr>
              <a:t> error correction weighted by treatment probability</a:t>
            </a:r>
          </a:p>
        </p:txBody>
      </p:sp>
    </p:spTree>
    <p:extLst>
      <p:ext uri="{BB962C8B-B14F-4D97-AF65-F5344CB8AC3E}">
        <p14:creationId xmlns:p14="http://schemas.microsoft.com/office/powerpoint/2010/main" val="42817467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EEADD139-C6AD-67B4-7562-2E03E0C22252}"/>
              </a:ext>
            </a:extLst>
          </p:cNvPr>
          <p:cNvPicPr>
            <a:picLocks noChangeAspect="1"/>
          </p:cNvPicPr>
          <p:nvPr/>
        </p:nvPicPr>
        <p:blipFill>
          <a:blip r:embed="rId2"/>
          <a:stretch>
            <a:fillRect/>
          </a:stretch>
        </p:blipFill>
        <p:spPr>
          <a:xfrm>
            <a:off x="1524000" y="0"/>
            <a:ext cx="9144000" cy="6858000"/>
          </a:xfrm>
          <a:prstGeom prst="rect">
            <a:avLst/>
          </a:prstGeom>
        </p:spPr>
      </p:pic>
    </p:spTree>
    <p:extLst>
      <p:ext uri="{BB962C8B-B14F-4D97-AF65-F5344CB8AC3E}">
        <p14:creationId xmlns:p14="http://schemas.microsoft.com/office/powerpoint/2010/main" val="20430478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27982F0-9C32-CA7C-2A05-12DDF8E61387}"/>
              </a:ext>
            </a:extLst>
          </p:cNvPr>
          <p:cNvPicPr>
            <a:picLocks noChangeAspect="1"/>
          </p:cNvPicPr>
          <p:nvPr/>
        </p:nvPicPr>
        <p:blipFill>
          <a:blip r:embed="rId2"/>
          <a:stretch>
            <a:fillRect/>
          </a:stretch>
        </p:blipFill>
        <p:spPr>
          <a:xfrm>
            <a:off x="3239" y="0"/>
            <a:ext cx="12185522" cy="6858000"/>
          </a:xfrm>
          <a:prstGeom prst="rect">
            <a:avLst/>
          </a:prstGeom>
        </p:spPr>
      </p:pic>
    </p:spTree>
    <p:extLst>
      <p:ext uri="{BB962C8B-B14F-4D97-AF65-F5344CB8AC3E}">
        <p14:creationId xmlns:p14="http://schemas.microsoft.com/office/powerpoint/2010/main" val="19433753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20C2626-E872-1A83-3513-09A220435B86}"/>
              </a:ext>
            </a:extLst>
          </p:cNvPr>
          <p:cNvPicPr>
            <a:picLocks noChangeAspect="1"/>
          </p:cNvPicPr>
          <p:nvPr/>
        </p:nvPicPr>
        <p:blipFill>
          <a:blip r:embed="rId2"/>
          <a:stretch>
            <a:fillRect/>
          </a:stretch>
        </p:blipFill>
        <p:spPr>
          <a:xfrm>
            <a:off x="2962333" y="0"/>
            <a:ext cx="6267334" cy="6858000"/>
          </a:xfrm>
          <a:prstGeom prst="rect">
            <a:avLst/>
          </a:prstGeom>
        </p:spPr>
      </p:pic>
    </p:spTree>
    <p:extLst>
      <p:ext uri="{BB962C8B-B14F-4D97-AF65-F5344CB8AC3E}">
        <p14:creationId xmlns:p14="http://schemas.microsoft.com/office/powerpoint/2010/main" val="386017061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FC4A88D-5054-1DD8-085E-7F05A795CEF0}"/>
              </a:ext>
            </a:extLst>
          </p:cNvPr>
          <p:cNvPicPr>
            <a:picLocks noChangeAspect="1"/>
          </p:cNvPicPr>
          <p:nvPr/>
        </p:nvPicPr>
        <p:blipFill>
          <a:blip r:embed="rId2"/>
          <a:stretch>
            <a:fillRect/>
          </a:stretch>
        </p:blipFill>
        <p:spPr>
          <a:xfrm>
            <a:off x="952500" y="0"/>
            <a:ext cx="10287000" cy="6858000"/>
          </a:xfrm>
          <a:prstGeom prst="rect">
            <a:avLst/>
          </a:prstGeom>
        </p:spPr>
      </p:pic>
    </p:spTree>
    <p:extLst>
      <p:ext uri="{BB962C8B-B14F-4D97-AF65-F5344CB8AC3E}">
        <p14:creationId xmlns:p14="http://schemas.microsoft.com/office/powerpoint/2010/main" val="124848816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910</Words>
  <Application>Microsoft Office PowerPoint</Application>
  <PresentationFormat>Widescreen</PresentationFormat>
  <Paragraphs>243</Paragraphs>
  <Slides>17</Slides>
  <Notes>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Causal Capability Platform</dc:title>
  <dc:subject>Causal Capability Platform conceptual map</dc:subject>
  <dc:creator>OpenAI</dc:creator>
  <cp:lastModifiedBy>Cheng Qian</cp:lastModifiedBy>
  <cp:revision>3</cp:revision>
  <dcterms:created xsi:type="dcterms:W3CDTF">2026-06-19T14:26:19Z</dcterms:created>
  <dcterms:modified xsi:type="dcterms:W3CDTF">2026-08-03T18:49:40Z</dcterms:modified>
</cp:coreProperties>
</file>