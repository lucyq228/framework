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84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754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2140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Capability Platform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554480" y="2880360"/>
            <a:ext cx="9098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9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→ Project Cases → Shared Tools &amp; Methods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0" y="3703320"/>
            <a:ext cx="1920240" cy="512064"/>
          </a:xfrm>
          <a:prstGeom prst="roundRect">
            <a:avLst>
              <a:gd name="adj" fmla="val 14286"/>
            </a:avLst>
          </a:prstGeom>
          <a:solidFill>
            <a:srgbClr val="E6F5F2"/>
          </a:solidFill>
          <a:ln w="12700">
            <a:solidFill>
              <a:srgbClr val="9CCFC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47488" y="3703320"/>
            <a:ext cx="1920240" cy="512064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AFC6F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51776" y="3703320"/>
            <a:ext cx="1920240" cy="512064"/>
          </a:xfrm>
          <a:prstGeom prst="roundRect">
            <a:avLst>
              <a:gd name="adj" fmla="val 14286"/>
            </a:avLst>
          </a:prstGeom>
          <a:solidFill>
            <a:srgbClr val="F0EDFF"/>
          </a:solidFill>
          <a:ln w="12700">
            <a:solidFill>
              <a:srgbClr val="BFB7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Lego Modules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27448" y="3959352"/>
            <a:ext cx="256032" cy="0"/>
          </a:xfrm>
          <a:prstGeom prst="line">
            <a:avLst/>
          </a:prstGeom>
          <a:noFill/>
          <a:ln w="15240">
            <a:solidFill>
              <a:srgbClr val="AAB2B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31736" y="3959352"/>
            <a:ext cx="256032" cy="0"/>
          </a:xfrm>
          <a:prstGeom prst="line">
            <a:avLst/>
          </a:prstGeom>
          <a:noFill/>
          <a:ln w="15240">
            <a:solidFill>
              <a:srgbClr val="AAB2BD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Capability Platform — Conceptual 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53035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9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causal “Lego modules” can be assembled across capabilities and project cases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79576" y="804672"/>
            <a:ext cx="10808208" cy="137160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" y="2194560"/>
            <a:ext cx="10808208" cy="2139696"/>
          </a:xfrm>
          <a:prstGeom prst="roundRect">
            <a:avLst>
              <a:gd name="adj" fmla="val 5128"/>
            </a:avLst>
          </a:prstGeom>
          <a:solidFill>
            <a:srgbClr val="F8FAFE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576" y="4425696"/>
            <a:ext cx="10808208" cy="2212848"/>
          </a:xfrm>
          <a:prstGeom prst="roundRect">
            <a:avLst>
              <a:gd name="adj" fmla="val 4959"/>
            </a:avLst>
          </a:prstGeom>
          <a:solidFill>
            <a:srgbClr val="FCFAF7"/>
          </a:solidFill>
          <a:ln w="12700">
            <a:solidFill>
              <a:srgbClr val="EFE2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33272"/>
            <a:ext cx="950976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1</a:t>
            </a:r>
            <a:endParaRPr lang="en-US" sz="1050" dirty="0"/>
          </a:p>
          <a:p>
            <a:pPr marL="0" indent="0" algn="r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</a:t>
            </a:r>
            <a:endParaRPr lang="en-US" sz="1050" dirty="0"/>
          </a:p>
          <a:p>
            <a:pPr marL="0" indent="0" algn="r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" y="2834640"/>
            <a:ext cx="9509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2</a:t>
            </a:r>
            <a:endParaRPr lang="en-US" sz="1050" dirty="0"/>
          </a:p>
          <a:p>
            <a:pPr marL="0" indent="0" algn="r">
              <a:buNone/>
            </a:pPr>
            <a:r>
              <a:rPr lang="en-US" sz="105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</a:t>
            </a:r>
            <a:endParaRPr lang="en-US" sz="1050" dirty="0"/>
          </a:p>
          <a:p>
            <a:pPr marL="0" indent="0" algn="r">
              <a:buNone/>
            </a:pPr>
            <a:r>
              <a:rPr lang="en-US" sz="105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" y="5093208"/>
            <a:ext cx="95097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3</a:t>
            </a:r>
            <a:endParaRPr lang="en-US" sz="1050" dirty="0"/>
          </a:p>
          <a:p>
            <a:pPr marL="0" indent="0" algn="r">
              <a:buNone/>
            </a:pPr>
            <a:r>
              <a:rPr lang="en-US" sz="105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Tools</a:t>
            </a:r>
            <a:endParaRPr lang="en-US" sz="1050" dirty="0"/>
          </a:p>
          <a:p>
            <a:pPr marL="0" indent="0" algn="r">
              <a:buNone/>
            </a:pPr>
            <a:r>
              <a:rPr lang="en-US" sz="105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Methods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34440" y="950976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E6F5F2"/>
          </a:solidFill>
          <a:ln w="12700">
            <a:solidFill>
              <a:srgbClr val="9CCF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Incremental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it work?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3035808" y="950976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E8F0FF"/>
          </a:solidFill>
          <a:ln w="12700">
            <a:solidFill>
              <a:srgbClr val="AFC6F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&amp;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Drivers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did KPI move?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837176" y="950976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0EDFF"/>
          </a:solidFill>
          <a:ln w="12700">
            <a:solidFill>
              <a:srgbClr val="BFB7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Shift &amp;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 Behavior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behavior shifted?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638544" y="950976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4E6"/>
          </a:solidFill>
          <a:ln w="12700">
            <a:solidFill>
              <a:srgbClr val="E4B47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Pathway /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Mediation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did it work?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8439912" y="950976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EAF7EA"/>
          </a:solidFill>
          <a:ln w="12700">
            <a:solidFill>
              <a:srgbClr val="B4D7B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Heterogeneity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/ for whom?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10241280" y="950976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1F3F6"/>
          </a:solidFill>
          <a:ln w="12700">
            <a:solidFill>
              <a:srgbClr val="C6CD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we do next?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234440" y="2286000"/>
            <a:ext cx="10698480" cy="219456"/>
          </a:xfrm>
          <a:prstGeom prst="rect">
            <a:avLst/>
          </a:prstGeom>
          <a:solidFill>
            <a:srgbClr val="F8FAFE"/>
          </a:solidFill>
          <a:ln>
            <a:solidFill>
              <a:srgbClr val="F8FAFE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project cases can span multiple capabilities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615184"/>
            <a:ext cx="3090672" cy="603504"/>
          </a:xfrm>
          <a:prstGeom prst="roundRect">
            <a:avLst>
              <a:gd name="adj" fmla="val 12121"/>
            </a:avLst>
          </a:prstGeom>
          <a:solidFill>
            <a:srgbClr val="E6F5F2"/>
          </a:solidFill>
          <a:ln w="12700">
            <a:solidFill>
              <a:srgbClr val="9CCF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Launch Measurement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+ demand shift + decision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489704" y="2615184"/>
            <a:ext cx="3090672" cy="603504"/>
          </a:xfrm>
          <a:prstGeom prst="roundRect">
            <a:avLst>
              <a:gd name="adj" fmla="val 12121"/>
            </a:avLst>
          </a:prstGeom>
          <a:solidFill>
            <a:srgbClr val="E8F0FF"/>
          </a:solidFill>
          <a:ln w="12700">
            <a:solidFill>
              <a:srgbClr val="AFC6F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Growth Decomposition / MVM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+ pathway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7744968" y="2615184"/>
            <a:ext cx="4151376" cy="603504"/>
          </a:xfrm>
          <a:prstGeom prst="roundRect">
            <a:avLst>
              <a:gd name="adj" fmla="val 12121"/>
            </a:avLst>
          </a:prstGeom>
          <a:solidFill>
            <a:srgbClr val="EAF7EA"/>
          </a:solidFill>
          <a:ln w="12700">
            <a:solidFill>
              <a:srgbClr val="B4D7B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/ Coupon Incrementality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+ heterogeneity + optimization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234440" y="3438144"/>
            <a:ext cx="3090672" cy="603504"/>
          </a:xfrm>
          <a:prstGeom prst="roundRect">
            <a:avLst>
              <a:gd name="adj" fmla="val 12121"/>
            </a:avLst>
          </a:prstGeom>
          <a:solidFill>
            <a:srgbClr val="F0EDFF"/>
          </a:solidFill>
          <a:ln w="12700">
            <a:solidFill>
              <a:srgbClr val="BFB7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 Decline / Anomaly Diagnosis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+ demand shift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489704" y="3438144"/>
            <a:ext cx="3090672" cy="603504"/>
          </a:xfrm>
          <a:prstGeom prst="roundRect">
            <a:avLst>
              <a:gd name="adj" fmla="val 12121"/>
            </a:avLst>
          </a:prstGeom>
          <a:solidFill>
            <a:srgbClr val="FFF4E6"/>
          </a:solidFill>
          <a:ln w="12700">
            <a:solidFill>
              <a:srgbClr val="E4B47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/ Category Demand Shift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 behavior + mediation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744968" y="3438144"/>
            <a:ext cx="4151376" cy="603504"/>
          </a:xfrm>
          <a:prstGeom prst="roundRect">
            <a:avLst>
              <a:gd name="adj" fmla="val 12121"/>
            </a:avLst>
          </a:prstGeom>
          <a:solidFill>
            <a:srgbClr val="F1F3F6"/>
          </a:solidFill>
          <a:ln w="12700">
            <a:solidFill>
              <a:srgbClr val="C6CD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/ Store Targeting &amp; Rollout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heterogeneity + decision optimization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1234440" y="4517136"/>
            <a:ext cx="10698480" cy="219456"/>
          </a:xfrm>
          <a:prstGeom prst="rect">
            <a:avLst/>
          </a:prstGeom>
          <a:solidFill>
            <a:srgbClr val="FCFAF7"/>
          </a:solidFill>
          <a:ln>
            <a:solidFill>
              <a:srgbClr val="FCFAF7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causal method modules — shared across all capabilities and cases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4919472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E4B47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Design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035808" y="4919472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6F5F2"/>
          </a:solidFill>
          <a:ln w="12700">
            <a:solidFill>
              <a:srgbClr val="9CCFC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Experimentation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A/B · geo · switchback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837176" y="4919472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8F0FF"/>
          </a:solidFill>
          <a:ln w="12700">
            <a:solidFill>
              <a:srgbClr val="AFC6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Quasi-Experiments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· synthetic control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638544" y="4919472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0EDFF"/>
          </a:solidFill>
          <a:ln w="12700">
            <a:solidFill>
              <a:srgbClr val="BFB7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/ Weighting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PSM · IPW · DR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8439912" y="4919472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1F3F6"/>
          </a:solidFill>
          <a:ln w="12700">
            <a:solidFill>
              <a:srgbClr val="C6CD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DAG / SCM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structure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0241280" y="4919472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 w="12700">
            <a:solidFill>
              <a:srgbClr val="E4B47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Mediation / Pathway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· indirect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234440" y="53949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AF7EA"/>
          </a:solidFill>
          <a:ln w="12700">
            <a:solidFill>
              <a:srgbClr val="B4D7B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ML / Uplift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 · causal forest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3035808" y="53949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8F0FF"/>
          </a:solidFill>
          <a:ln w="12700">
            <a:solidFill>
              <a:srgbClr val="AFC6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anomaly attribution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837176" y="53949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0EDFF"/>
          </a:solidFill>
          <a:ln w="12700">
            <a:solidFill>
              <a:srgbClr val="BFB7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Migration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 · halo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638544" y="53949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1F3F6"/>
          </a:solidFill>
          <a:ln w="12700">
            <a:solidFill>
              <a:srgbClr val="C6CD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What-if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8439912" y="53949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AF7EA"/>
          </a:solidFill>
          <a:ln w="12700">
            <a:solidFill>
              <a:srgbClr val="B4D7B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0241280" y="53949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E4B47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refutation · sensitivity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3936492" y="5870448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8F0FF"/>
          </a:solidFill>
          <a:ln w="12700">
            <a:solidFill>
              <a:srgbClr val="AFC6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 Store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library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5737860" y="5870448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0EDFF"/>
          </a:solidFill>
          <a:ln w="12700">
            <a:solidFill>
              <a:srgbClr val="BFB7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spillover · long-term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7539228" y="5870448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1F3F6"/>
          </a:solidFill>
          <a:ln w="12700">
            <a:solidFill>
              <a:srgbClr val="C6CD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/ API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layer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2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Capability Platform — Conceptual 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79576" y="804672"/>
            <a:ext cx="10808208" cy="1371600"/>
          </a:xfrm>
          <a:prstGeom prst="roundRect">
            <a:avLst>
              <a:gd name="adj" fmla="val 8000"/>
            </a:avLst>
          </a:prstGeom>
          <a:solidFill>
            <a:srgbClr val="F7FBFA"/>
          </a:solidFill>
          <a:ln w="12700">
            <a:solidFill>
              <a:srgbClr val="DDED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" y="2194560"/>
            <a:ext cx="10808208" cy="2139696"/>
          </a:xfrm>
          <a:prstGeom prst="roundRect">
            <a:avLst>
              <a:gd name="adj" fmla="val 5128"/>
            </a:avLst>
          </a:prstGeom>
          <a:solidFill>
            <a:srgbClr val="F8FAFE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576" y="4425696"/>
            <a:ext cx="10808208" cy="2212848"/>
          </a:xfrm>
          <a:prstGeom prst="roundRect">
            <a:avLst>
              <a:gd name="adj" fmla="val 4959"/>
            </a:avLst>
          </a:prstGeom>
          <a:solidFill>
            <a:srgbClr val="FCFAF7"/>
          </a:solidFill>
          <a:ln w="12700">
            <a:solidFill>
              <a:srgbClr val="EFE2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1097280"/>
            <a:ext cx="950976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</a:t>
            </a:r>
            <a:endParaRPr lang="en-US" sz="1050" dirty="0"/>
          </a:p>
          <a:p>
            <a:pPr marL="0" indent="0" algn="r">
              <a:buNone/>
            </a:pPr>
            <a:r>
              <a:rPr lang="en-US" sz="10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-228600" y="2775204"/>
            <a:ext cx="11795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McDonald’s Project</a:t>
            </a:r>
            <a:endParaRPr lang="en-US" sz="1050" dirty="0"/>
          </a:p>
          <a:p>
            <a:pPr marL="0" indent="0" algn="r">
              <a:buNone/>
            </a:pPr>
            <a:r>
              <a:rPr lang="en-US" sz="105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0" y="5093208"/>
            <a:ext cx="1069848" cy="1231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Tools</a:t>
            </a:r>
            <a:endParaRPr lang="en-US" sz="1050" dirty="0"/>
          </a:p>
          <a:p>
            <a:pPr marL="0" indent="0" algn="r">
              <a:buNone/>
            </a:pPr>
            <a:r>
              <a:rPr lang="en-US" sz="105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Methods</a:t>
            </a:r>
          </a:p>
          <a:p>
            <a:pPr marL="0" indent="0" algn="r">
              <a:buNone/>
            </a:pPr>
            <a:endParaRPr lang="en-US" sz="1050" b="1" dirty="0">
              <a:solidFill>
                <a:srgbClr val="C76B29"/>
              </a:solidFill>
              <a:latin typeface="Aptos" pitchFamily="34" charset="0"/>
            </a:endParaRPr>
          </a:p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causal method modules, shared across all capabilities and cases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34440" y="950976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E6F5F2"/>
          </a:solidFill>
          <a:ln w="12700">
            <a:solidFill>
              <a:srgbClr val="9CCF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Incremental</a:t>
            </a:r>
            <a:r>
              <a:rPr lang="en-US" sz="1400" b="1" dirty="0"/>
              <a:t> </a:t>
            </a: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400" b="1" dirty="0"/>
          </a:p>
          <a:p>
            <a:pPr marL="0" indent="0" algn="ctr">
              <a:buNone/>
            </a:pPr>
            <a:endParaRPr lang="en-US" sz="920" b="1" dirty="0">
              <a:solidFill>
                <a:schemeClr val="tx1">
                  <a:lumMod val="65000"/>
                  <a:lumOff val="35000"/>
                </a:schemeClr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92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action truly create lift?</a:t>
            </a:r>
            <a:endParaRPr lang="en-US" sz="92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035808" y="950976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E8F0FF"/>
          </a:solidFill>
          <a:ln w="12700">
            <a:solidFill>
              <a:srgbClr val="AFC6F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Drivers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Root Cause</a:t>
            </a:r>
          </a:p>
          <a:p>
            <a:pPr marL="0" indent="0" algn="ctr">
              <a:buNone/>
            </a:pP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drove KPIs to move or cause anomalies?</a:t>
            </a:r>
            <a:endParaRPr lang="en-US" sz="92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37176" y="950976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0EDFF"/>
          </a:solidFill>
          <a:ln w="12700">
            <a:solidFill>
              <a:srgbClr val="BFB7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Demand/Segment Shift</a:t>
            </a:r>
          </a:p>
          <a:p>
            <a:pPr marL="0" indent="0" algn="ctr">
              <a:buNone/>
            </a:pPr>
            <a:endParaRPr lang="en-US" sz="920" b="1" dirty="0">
              <a:solidFill>
                <a:srgbClr val="6D5BD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92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demand behavior shifted?</a:t>
            </a:r>
            <a:endParaRPr lang="en-US" sz="92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35340" y="948775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4E6"/>
          </a:solidFill>
          <a:ln w="12700">
            <a:solidFill>
              <a:srgbClr val="E4B47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Pathway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Mediation</a:t>
            </a:r>
            <a:endParaRPr lang="en-US" sz="1400" dirty="0"/>
          </a:p>
          <a:p>
            <a:pPr marL="0" indent="0" algn="ctr">
              <a:buNone/>
            </a:pPr>
            <a:endParaRPr lang="en-US" sz="920" b="1" dirty="0">
              <a:solidFill>
                <a:srgbClr val="C76B2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92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 what mechanism did the effect happen (direct/indirect)</a:t>
            </a:r>
            <a:endParaRPr lang="en-US" sz="92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40745" y="950976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EAF7EA"/>
          </a:solidFill>
          <a:ln w="12700">
            <a:solidFill>
              <a:srgbClr val="B4D7B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Heterogeneity</a:t>
            </a:r>
            <a:endParaRPr lang="en-US" sz="1400" dirty="0"/>
          </a:p>
          <a:p>
            <a:pPr marL="0" indent="0" algn="ctr">
              <a:buNone/>
            </a:pPr>
            <a:endParaRPr lang="en-US" sz="920" b="1" dirty="0">
              <a:solidFill>
                <a:srgbClr val="2E7D32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92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Where, when, for whom did/will it work</a:t>
            </a:r>
            <a:endParaRPr lang="en-US" sz="92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41280" y="950976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1F3F6"/>
          </a:solidFill>
          <a:ln w="12700">
            <a:solidFill>
              <a:srgbClr val="C6CD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</a:t>
            </a:r>
            <a:endParaRPr lang="en-US" sz="1400" dirty="0"/>
          </a:p>
          <a:p>
            <a:pPr marL="0" indent="0" algn="ctr">
              <a:buNone/>
            </a:pPr>
            <a:endParaRPr lang="en-US" sz="920" b="1" dirty="0">
              <a:solidFill>
                <a:srgbClr val="17324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92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we do next?</a:t>
            </a:r>
            <a:endParaRPr lang="en-US" sz="92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47902" y="2275163"/>
            <a:ext cx="1691640" cy="603504"/>
          </a:xfrm>
          <a:prstGeom prst="roundRect">
            <a:avLst>
              <a:gd name="adj" fmla="val 12121"/>
            </a:avLst>
          </a:prstGeom>
          <a:solidFill>
            <a:srgbClr val="E6F5F2"/>
          </a:solidFill>
          <a:ln w="12700">
            <a:solidFill>
              <a:srgbClr val="9CCFC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055027" y="2275163"/>
            <a:ext cx="1685883" cy="603504"/>
          </a:xfrm>
          <a:prstGeom prst="roundRect">
            <a:avLst>
              <a:gd name="adj" fmla="val 12121"/>
            </a:avLst>
          </a:prstGeom>
          <a:solidFill>
            <a:srgbClr val="E8F0FF"/>
          </a:solidFill>
          <a:ln w="12700">
            <a:solidFill>
              <a:srgbClr val="AFC6F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D6CDF"/>
                </a:solidFill>
                <a:latin typeface="Aptos" pitchFamily="34" charset="0"/>
              </a:rPr>
              <a:t>MVM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708142" y="2282275"/>
            <a:ext cx="1485900" cy="603504"/>
          </a:xfrm>
          <a:prstGeom prst="roundRect">
            <a:avLst>
              <a:gd name="adj" fmla="val 12121"/>
            </a:avLst>
          </a:prstGeom>
          <a:solidFill>
            <a:srgbClr val="EAF7EA"/>
          </a:solidFill>
          <a:ln w="12700">
            <a:solidFill>
              <a:srgbClr val="B4D7B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Best Offer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3055027" y="3625427"/>
            <a:ext cx="1685883" cy="603504"/>
          </a:xfrm>
          <a:prstGeom prst="roundRect">
            <a:avLst>
              <a:gd name="adj" fmla="val 12121"/>
            </a:avLst>
          </a:prstGeom>
          <a:solidFill>
            <a:srgbClr val="F0EDFF"/>
          </a:solidFill>
          <a:ln w="12700">
            <a:solidFill>
              <a:srgbClr val="BFB7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Forecasting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1281091" y="3634910"/>
            <a:ext cx="1664716" cy="603504"/>
          </a:xfrm>
          <a:prstGeom prst="roundRect">
            <a:avLst>
              <a:gd name="adj" fmla="val 12121"/>
            </a:avLst>
          </a:prstGeom>
          <a:solidFill>
            <a:srgbClr val="FFF4E6"/>
          </a:solidFill>
          <a:ln w="12700">
            <a:solidFill>
              <a:srgbClr val="E4B47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C76B29"/>
                </a:solidFill>
                <a:latin typeface="Aptos" pitchFamily="34" charset="0"/>
              </a:rPr>
              <a:t>Serum</a:t>
            </a:r>
          </a:p>
          <a:p>
            <a:pPr marL="0" indent="0" algn="ctr">
              <a:buNone/>
            </a:pPr>
            <a:r>
              <a:rPr lang="en-US" sz="920" b="1" dirty="0">
                <a:solidFill>
                  <a:srgbClr val="C76B29"/>
                </a:solidFill>
                <a:latin typeface="Aptos" pitchFamily="34" charset="0"/>
              </a:rPr>
              <a:t>(New product / campaign launch)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267629" y="47091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E4B47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Design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267629" y="5184648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6F5F2"/>
          </a:solidFill>
          <a:ln w="12700">
            <a:solidFill>
              <a:srgbClr val="9CCFC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Experimentation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A/B · geo · switchback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267629" y="5718048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8F0FF"/>
          </a:solidFill>
          <a:ln w="12700">
            <a:solidFill>
              <a:srgbClr val="AFC6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Quasi-Experiments</a:t>
            </a:r>
            <a:endParaRPr lang="en-US" sz="780" dirty="0"/>
          </a:p>
          <a:p>
            <a:pPr algn="ctr"/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· matching · synthetic control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8637863" y="4664795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 w="12700">
            <a:solidFill>
              <a:srgbClr val="E4B47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Mediation / Pathway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· indirect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809063" y="4664795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AF7EA"/>
          </a:solidFill>
          <a:ln w="12700">
            <a:solidFill>
              <a:srgbClr val="B4D7B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ML / Uplift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 · causal forest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3013964" y="5158571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8F0FF"/>
          </a:solidFill>
          <a:ln w="12700">
            <a:solidFill>
              <a:srgbClr val="AFC6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anomaly attribution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815332" y="5158571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0EDFF"/>
          </a:solidFill>
          <a:ln w="12700">
            <a:solidFill>
              <a:srgbClr val="BFB7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Migration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cannibalization · halo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10466663" y="4664795"/>
            <a:ext cx="1444413" cy="384048"/>
          </a:xfrm>
          <a:prstGeom prst="roundRect">
            <a:avLst>
              <a:gd name="adj" fmla="val 19048"/>
            </a:avLst>
          </a:prstGeom>
          <a:solidFill>
            <a:srgbClr val="F1F3F6"/>
          </a:solidFill>
          <a:ln w="12700">
            <a:solidFill>
              <a:srgbClr val="C6CD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What-if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0466662" y="5140283"/>
            <a:ext cx="1444413" cy="384048"/>
          </a:xfrm>
          <a:prstGeom prst="roundRect">
            <a:avLst>
              <a:gd name="adj" fmla="val 19048"/>
            </a:avLst>
          </a:prstGeom>
          <a:solidFill>
            <a:srgbClr val="EAF7EA"/>
          </a:solidFill>
          <a:ln w="12700">
            <a:solidFill>
              <a:srgbClr val="B4D7B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0448034" y="5642526"/>
            <a:ext cx="1463041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E4B47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C76B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refutation · sensitivity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4842425" y="5704163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0EDFF"/>
          </a:solidFill>
          <a:ln w="12700">
            <a:solidFill>
              <a:srgbClr val="BFB7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spillover · long-term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3010069" y="6192181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F1F3F6"/>
          </a:solidFill>
          <a:ln w="12700">
            <a:solidFill>
              <a:srgbClr val="C6CD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/ API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layer</a:t>
            </a:r>
            <a:endParaRPr lang="en-US" sz="78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9A520E69-7BB3-42F2-A13E-03CDC517DF09}"/>
              </a:ext>
            </a:extLst>
          </p:cNvPr>
          <p:cNvSpPr/>
          <p:nvPr/>
        </p:nvSpPr>
        <p:spPr>
          <a:xfrm>
            <a:off x="3055027" y="2953512"/>
            <a:ext cx="3583517" cy="603504"/>
          </a:xfrm>
          <a:prstGeom prst="roundRect">
            <a:avLst>
              <a:gd name="adj" fmla="val 12121"/>
            </a:avLst>
          </a:prstGeom>
          <a:solidFill>
            <a:srgbClr val="E8F0FF"/>
          </a:solidFill>
          <a:ln w="12700">
            <a:solidFill>
              <a:srgbClr val="AFC6F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D6CDF"/>
                </a:solidFill>
                <a:latin typeface="Aptos" pitchFamily="34" charset="0"/>
              </a:rPr>
              <a:t>CLV</a:t>
            </a:r>
            <a:endParaRPr lang="en-US" sz="920" dirty="0"/>
          </a:p>
        </p:txBody>
      </p:sp>
      <p:sp>
        <p:nvSpPr>
          <p:cNvPr id="16" name="Text 29">
            <a:extLst>
              <a:ext uri="{FF2B5EF4-FFF2-40B4-BE49-F238E27FC236}">
                <a16:creationId xmlns:a16="http://schemas.microsoft.com/office/drawing/2014/main" id="{B436B9F2-A5C9-9C31-65DF-0E96C6E4A8A3}"/>
              </a:ext>
            </a:extLst>
          </p:cNvPr>
          <p:cNvSpPr/>
          <p:nvPr/>
        </p:nvSpPr>
        <p:spPr>
          <a:xfrm>
            <a:off x="3010069" y="47091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8F0FF"/>
          </a:solidFill>
          <a:ln w="12700">
            <a:solidFill>
              <a:srgbClr val="AFC6F6"/>
            </a:solidFill>
          </a:ln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Models</a:t>
            </a:r>
          </a:p>
          <a:p>
            <a:pPr algn="ctr"/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Effects </a:t>
            </a:r>
            <a:r>
              <a:rPr lang="en-US" sz="78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</a:t>
            </a:r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Effects </a:t>
            </a:r>
            <a:r>
              <a:rPr lang="en-US" sz="78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780" b="1" dirty="0" err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Mundlak</a:t>
            </a:r>
            <a:endParaRPr lang="en-US" sz="780" dirty="0"/>
          </a:p>
        </p:txBody>
      </p:sp>
      <p:sp>
        <p:nvSpPr>
          <p:cNvPr id="23" name="Text 29">
            <a:extLst>
              <a:ext uri="{FF2B5EF4-FFF2-40B4-BE49-F238E27FC236}">
                <a16:creationId xmlns:a16="http://schemas.microsoft.com/office/drawing/2014/main" id="{BF8FC750-36B6-497A-2C44-FAB82FC5A90E}"/>
              </a:ext>
            </a:extLst>
          </p:cNvPr>
          <p:cNvSpPr/>
          <p:nvPr/>
        </p:nvSpPr>
        <p:spPr>
          <a:xfrm>
            <a:off x="4815332" y="4683083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8F0FF"/>
          </a:solidFill>
          <a:ln w="12700">
            <a:solidFill>
              <a:srgbClr val="AFC6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Bayesian Causal Inference</a:t>
            </a:r>
            <a:endParaRPr lang="en-US" sz="780" dirty="0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57994648-0446-59C1-F56F-ECE57EF6F76F}"/>
              </a:ext>
            </a:extLst>
          </p:cNvPr>
          <p:cNvSpPr/>
          <p:nvPr/>
        </p:nvSpPr>
        <p:spPr>
          <a:xfrm>
            <a:off x="3013964" y="5704163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8F0FF"/>
          </a:solidFill>
          <a:ln w="12700">
            <a:solidFill>
              <a:srgbClr val="AFC6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 / Shapley Attribution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</Words>
  <Application>Microsoft Office PowerPoint</Application>
  <PresentationFormat>Widescreen</PresentationFormat>
  <Paragraphs>150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 Capability Platform</dc:title>
  <dc:subject>Causal Capability Platform conceptual map</dc:subject>
  <dc:creator>OpenAI</dc:creator>
  <cp:lastModifiedBy>Cheng Qian</cp:lastModifiedBy>
  <cp:revision>2</cp:revision>
  <dcterms:created xsi:type="dcterms:W3CDTF">2026-06-19T14:26:19Z</dcterms:created>
  <dcterms:modified xsi:type="dcterms:W3CDTF">2026-06-19T15:07:00Z</dcterms:modified>
</cp:coreProperties>
</file>